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5" r:id="rId2"/>
  </p:sldMasterIdLst>
  <p:notesMasterIdLst>
    <p:notesMasterId r:id="rId24"/>
  </p:notesMasterIdLst>
  <p:handoutMasterIdLst>
    <p:handoutMasterId r:id="rId25"/>
  </p:handoutMasterIdLst>
  <p:sldIdLst>
    <p:sldId id="257" r:id="rId3"/>
    <p:sldId id="261" r:id="rId4"/>
    <p:sldId id="262" r:id="rId5"/>
    <p:sldId id="264" r:id="rId6"/>
    <p:sldId id="263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8" r:id="rId15"/>
    <p:sldId id="273" r:id="rId16"/>
    <p:sldId id="274" r:id="rId17"/>
    <p:sldId id="277" r:id="rId18"/>
    <p:sldId id="275" r:id="rId19"/>
    <p:sldId id="276" r:id="rId20"/>
    <p:sldId id="279" r:id="rId21"/>
    <p:sldId id="280" r:id="rId22"/>
    <p:sldId id="260" r:id="rId23"/>
  </p:sldIdLst>
  <p:sldSz cx="12192000" cy="6858000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  <p:cmAuthor id="2" name="편하늘" initials="편" lastIdx="3" clrIdx="1">
    <p:extLst>
      <p:ext uri="{19B8F6BF-5375-455C-9EA6-DF929625EA0E}">
        <p15:presenceInfo xmlns:p15="http://schemas.microsoft.com/office/powerpoint/2012/main" userId="S::1102444016@soongsil.ac.kr::b9ebc181-39dc-45ef-8c38-868373cf86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3" autoAdjust="0"/>
    <p:restoredTop sz="84947" autoAdjust="0"/>
  </p:normalViewPr>
  <p:slideViewPr>
    <p:cSldViewPr snapToGrid="0">
      <p:cViewPr>
        <p:scale>
          <a:sx n="92" d="100"/>
          <a:sy n="92" d="100"/>
        </p:scale>
        <p:origin x="1656" y="48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2846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1954" y="53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2025. 7. 8.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2025. 7. 8.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18807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ko-KR" b="1" dirty="0"/>
              <a:t>1. Pixel-saliency</a:t>
            </a:r>
          </a:p>
          <a:p>
            <a:r>
              <a:rPr lang="ko-KR" altLang="en-US" b="1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입력 </a:t>
            </a:r>
            <a:r>
              <a:rPr lang="en" altLang="ko-KR" dirty="0"/>
              <a:t>xxx</a:t>
            </a:r>
            <a:r>
              <a:rPr lang="ko-KR" altLang="en-US" dirty="0"/>
              <a:t>의 각 픽셀이 엔트로피 손실에 얼마나 기여하는지</a:t>
            </a:r>
            <a:r>
              <a:rPr lang="en-US" altLang="ko-KR" dirty="0"/>
              <a:t>, ∇</a:t>
            </a:r>
            <a:r>
              <a:rPr lang="en" altLang="ko-KR" dirty="0" err="1"/>
              <a:t>xLEnt</a:t>
            </a:r>
            <a:r>
              <a:rPr lang="en" altLang="ko-KR" dirty="0"/>
              <a:t>\</a:t>
            </a:r>
            <a:r>
              <a:rPr lang="en" altLang="ko-KR" dirty="0" err="1"/>
              <a:t>nabla_x</a:t>
            </a:r>
            <a:r>
              <a:rPr lang="en" altLang="ko-KR" dirty="0"/>
              <a:t> L_{\rm Ent}∇x​</a:t>
            </a:r>
            <a:r>
              <a:rPr lang="en" altLang="ko-KR" dirty="0" err="1"/>
              <a:t>LEnt</a:t>
            </a:r>
            <a:r>
              <a:rPr lang="en" altLang="ko-KR" dirty="0"/>
              <a:t>​</a:t>
            </a:r>
            <a:r>
              <a:rPr lang="ko-KR" altLang="en-US" dirty="0"/>
              <a:t>로 표현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장점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공간 해상도를 그대로 보존해 “어느 위치의 </a:t>
            </a:r>
            <a:r>
              <a:rPr lang="ko-KR" altLang="en-US" dirty="0" err="1"/>
              <a:t>픽셀”이</a:t>
            </a:r>
            <a:r>
              <a:rPr lang="ko-KR" altLang="en-US" dirty="0"/>
              <a:t> 손실 감소에 중요한지 직관적으로 확인 가능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단점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노이즈에 극도로 민감해</a:t>
            </a:r>
            <a:r>
              <a:rPr lang="en-US" altLang="ko-KR" dirty="0"/>
              <a:t>, </a:t>
            </a:r>
            <a:r>
              <a:rPr lang="ko-KR" altLang="en-US" dirty="0"/>
              <a:t>실제 </a:t>
            </a:r>
            <a:r>
              <a:rPr lang="en" altLang="ko-KR" dirty="0"/>
              <a:t>retrieval </a:t>
            </a:r>
            <a:r>
              <a:rPr lang="ko-KR" altLang="en-US" dirty="0"/>
              <a:t>시 “진짜 의미 있는” </a:t>
            </a:r>
            <a:r>
              <a:rPr lang="en" altLang="ko-KR" dirty="0"/>
              <a:t>gradient </a:t>
            </a:r>
            <a:r>
              <a:rPr lang="ko-KR" altLang="en-US" dirty="0"/>
              <a:t>방향을 잡기 어려움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차원이 너무 커서</a:t>
            </a:r>
            <a:r>
              <a:rPr lang="en-US" altLang="ko-KR" dirty="0"/>
              <a:t>(</a:t>
            </a:r>
            <a:r>
              <a:rPr lang="ko-KR" altLang="en-US" dirty="0"/>
              <a:t>이미지 해상도</a:t>
            </a:r>
            <a:r>
              <a:rPr lang="en-US" altLang="ko-KR" dirty="0"/>
              <a:t>×3) </a:t>
            </a:r>
            <a:r>
              <a:rPr lang="ko-KR" altLang="en-US" dirty="0"/>
              <a:t>계산</a:t>
            </a:r>
            <a:r>
              <a:rPr lang="en-US" altLang="ko-KR" dirty="0"/>
              <a:t>·</a:t>
            </a:r>
            <a:r>
              <a:rPr lang="ko-KR" altLang="en-US" dirty="0"/>
              <a:t>검색 비용 매우 높음</a:t>
            </a:r>
            <a:r>
              <a:rPr lang="en-US" altLang="ko-KR" dirty="0"/>
              <a:t>.</a:t>
            </a:r>
          </a:p>
          <a:p>
            <a:endParaRPr kumimoji="1" lang="en-US" altLang="ko-KR" dirty="0"/>
          </a:p>
          <a:p>
            <a:r>
              <a:rPr lang="en" altLang="ko-KR" b="1" dirty="0"/>
              <a:t>2. Feature-saliency</a:t>
            </a:r>
          </a:p>
          <a:p>
            <a:r>
              <a:rPr lang="ko-KR" altLang="en-US" b="1" dirty="0"/>
              <a:t>정의</a:t>
            </a:r>
            <a:r>
              <a:rPr lang="en-US" altLang="ko-KR" dirty="0"/>
              <a:t>: </a:t>
            </a:r>
            <a:r>
              <a:rPr lang="ko-KR" altLang="en-US" dirty="0"/>
              <a:t>모델 </a:t>
            </a:r>
            <a:r>
              <a:rPr lang="en" altLang="ko-KR" dirty="0"/>
              <a:t>backbone</a:t>
            </a:r>
            <a:r>
              <a:rPr lang="ko-KR" altLang="en-US" dirty="0"/>
              <a:t>의 중간 표현 </a:t>
            </a:r>
            <a:r>
              <a:rPr lang="en" altLang="ko-KR" dirty="0" err="1"/>
              <a:t>hhh</a:t>
            </a:r>
            <a:r>
              <a:rPr lang="ko-KR" altLang="en-US" dirty="0" err="1"/>
              <a:t>에</a:t>
            </a:r>
            <a:r>
              <a:rPr lang="ko-KR" altLang="en-US" dirty="0"/>
              <a:t> 대한 </a:t>
            </a:r>
            <a:r>
              <a:rPr lang="en" altLang="ko-KR" dirty="0"/>
              <a:t>gradient ∇</a:t>
            </a:r>
            <a:r>
              <a:rPr lang="en" altLang="ko-KR" dirty="0" err="1"/>
              <a:t>hLEnt</a:t>
            </a:r>
            <a:r>
              <a:rPr lang="en" altLang="ko-KR" dirty="0"/>
              <a:t>\</a:t>
            </a:r>
            <a:r>
              <a:rPr lang="en" altLang="ko-KR" dirty="0" err="1"/>
              <a:t>nabla_h</a:t>
            </a:r>
            <a:r>
              <a:rPr lang="en" altLang="ko-KR" dirty="0"/>
              <a:t> L_{\rm Ent}∇h​</a:t>
            </a:r>
            <a:r>
              <a:rPr lang="en" altLang="ko-KR" dirty="0" err="1"/>
              <a:t>LEnt</a:t>
            </a:r>
            <a:r>
              <a:rPr lang="en" altLang="ko-KR" dirty="0"/>
              <a:t>​.</a:t>
            </a:r>
          </a:p>
          <a:p>
            <a:r>
              <a:rPr lang="ko-KR" altLang="en-US" b="1" dirty="0"/>
              <a:t>장점</a:t>
            </a:r>
            <a:r>
              <a:rPr lang="en-US" altLang="ko-KR" dirty="0"/>
              <a:t>:</a:t>
            </a:r>
          </a:p>
          <a:p>
            <a:pPr lvl="1"/>
            <a:r>
              <a:rPr lang="ko-KR" altLang="en-US" dirty="0"/>
              <a:t>픽셀보다는 노이즈가 적고</a:t>
            </a:r>
            <a:r>
              <a:rPr lang="en-US" altLang="ko-KR" dirty="0"/>
              <a:t>, </a:t>
            </a:r>
            <a:r>
              <a:rPr lang="ko-KR" altLang="en-US" dirty="0"/>
              <a:t>보다 추상화된 의미론적 정보가 반영됨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“</a:t>
            </a:r>
            <a:r>
              <a:rPr lang="ko-KR" altLang="en-US" dirty="0"/>
              <a:t>어떤 개체</a:t>
            </a:r>
            <a:r>
              <a:rPr lang="en-US" altLang="ko-KR" dirty="0"/>
              <a:t>·</a:t>
            </a:r>
            <a:r>
              <a:rPr lang="ko-KR" altLang="en-US" dirty="0"/>
              <a:t>구조</a:t>
            </a:r>
            <a:r>
              <a:rPr lang="en-US" altLang="ko-KR" dirty="0"/>
              <a:t>(</a:t>
            </a:r>
            <a:r>
              <a:rPr lang="en" altLang="ko-KR" dirty="0"/>
              <a:t>feature map </a:t>
            </a:r>
            <a:r>
              <a:rPr lang="ko-KR" altLang="en-US" dirty="0"/>
              <a:t>차원</a:t>
            </a:r>
            <a:r>
              <a:rPr lang="en-US" altLang="ko-KR" dirty="0"/>
              <a:t>)</a:t>
            </a:r>
            <a:r>
              <a:rPr lang="ko-KR" altLang="en-US" dirty="0"/>
              <a:t>가” 중요한지 알 수 있음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단점</a:t>
            </a:r>
            <a:r>
              <a:rPr lang="en-US" altLang="ko-KR" dirty="0"/>
              <a:t>:</a:t>
            </a:r>
          </a:p>
          <a:p>
            <a:pPr lvl="1"/>
            <a:r>
              <a:rPr lang="en" altLang="ko-KR" dirty="0"/>
              <a:t>pixel</a:t>
            </a:r>
            <a:r>
              <a:rPr lang="ko-KR" altLang="en-US" dirty="0"/>
              <a:t>과 마찬가지로 </a:t>
            </a:r>
            <a:r>
              <a:rPr lang="en" altLang="ko-KR" dirty="0"/>
              <a:t>back-propagation</a:t>
            </a:r>
            <a:r>
              <a:rPr lang="ko-KR" altLang="en-US" dirty="0"/>
              <a:t>이 필요해 테스트 타임 계산 비용이 증가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레이어 선택</a:t>
            </a:r>
            <a:r>
              <a:rPr lang="en-US" altLang="ko-KR" dirty="0"/>
              <a:t>(</a:t>
            </a:r>
            <a:r>
              <a:rPr lang="ko-KR" altLang="en-US" dirty="0"/>
              <a:t>어느 계층의 </a:t>
            </a:r>
            <a:r>
              <a:rPr lang="ko-KR" altLang="en-US" dirty="0" err="1"/>
              <a:t>피쳐를</a:t>
            </a:r>
            <a:r>
              <a:rPr lang="ko-KR" altLang="en-US" dirty="0"/>
              <a:t> 쓸지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따라 </a:t>
            </a:r>
            <a:r>
              <a:rPr lang="en" altLang="ko-KR" dirty="0"/>
              <a:t>saliency </a:t>
            </a:r>
            <a:r>
              <a:rPr lang="ko-KR" altLang="en-US" dirty="0"/>
              <a:t>특성이 달라져 튜닝이 필요</a:t>
            </a:r>
            <a:r>
              <a:rPr lang="en-US" altLang="ko-KR" dirty="0"/>
              <a:t>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7037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계산 이점</a:t>
            </a:r>
            <a:r>
              <a:rPr lang="en-US" altLang="ko-KR" dirty="0"/>
              <a:t>:</a:t>
            </a:r>
          </a:p>
          <a:p>
            <a:r>
              <a:rPr lang="en" altLang="ko-KR" dirty="0"/>
              <a:t>closed-form </a:t>
            </a:r>
            <a:r>
              <a:rPr lang="ko-KR" altLang="en-US" dirty="0"/>
              <a:t>식으로 도출되어</a:t>
            </a:r>
            <a:r>
              <a:rPr lang="en-US" altLang="ko-KR" dirty="0"/>
              <a:t>, </a:t>
            </a:r>
            <a:r>
              <a:rPr lang="ko-KR" altLang="en-US" b="1" dirty="0"/>
              <a:t>추가 </a:t>
            </a:r>
            <a:r>
              <a:rPr lang="ko-KR" altLang="en-US" b="1" dirty="0" err="1"/>
              <a:t>역전파</a:t>
            </a:r>
            <a:r>
              <a:rPr lang="ko-KR" altLang="en-US" b="1" dirty="0"/>
              <a:t> 없이</a:t>
            </a:r>
            <a:r>
              <a:rPr lang="ko-KR" altLang="en-US" dirty="0"/>
              <a:t> </a:t>
            </a:r>
            <a:r>
              <a:rPr lang="en" altLang="ko-KR" dirty="0"/>
              <a:t>forward </a:t>
            </a:r>
            <a:r>
              <a:rPr lang="ko-KR" altLang="en-US" dirty="0"/>
              <a:t>단계에서 얻은 </a:t>
            </a:r>
            <a:r>
              <a:rPr lang="en" altLang="ko-KR" dirty="0"/>
              <a:t>zzz</a:t>
            </a:r>
            <a:r>
              <a:rPr lang="ko-KR" altLang="en-US" dirty="0"/>
              <a:t>와 </a:t>
            </a:r>
            <a:r>
              <a:rPr lang="en" altLang="ko-KR" dirty="0" err="1"/>
              <a:t>ppp</a:t>
            </a:r>
            <a:r>
              <a:rPr lang="ko-KR" altLang="en-US" dirty="0"/>
              <a:t>만으로 즉시 계산 가능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장점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차원 수가 클래스 개수</a:t>
            </a:r>
            <a:r>
              <a:rPr lang="en-US" altLang="ko-KR" dirty="0"/>
              <a:t>(</a:t>
            </a:r>
            <a:r>
              <a:rPr lang="en" altLang="ko-KR" dirty="0"/>
              <a:t>C)</a:t>
            </a:r>
            <a:r>
              <a:rPr lang="ko-KR" altLang="en-US" dirty="0" err="1"/>
              <a:t>에</a:t>
            </a:r>
            <a:r>
              <a:rPr lang="ko-KR" altLang="en-US" dirty="0"/>
              <a:t> 불과해 매우 경량</a:t>
            </a:r>
            <a:r>
              <a:rPr lang="en-US" altLang="ko-KR" dirty="0"/>
              <a:t>(</a:t>
            </a:r>
            <a:r>
              <a:rPr lang="ko-KR" altLang="en-US" dirty="0"/>
              <a:t>메모리</a:t>
            </a:r>
            <a:r>
              <a:rPr lang="en-US" altLang="ko-KR" dirty="0"/>
              <a:t>·</a:t>
            </a:r>
            <a:r>
              <a:rPr lang="ko-KR" altLang="en-US" dirty="0"/>
              <a:t>검색 비용 낮음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모든 도메인</a:t>
            </a:r>
            <a:r>
              <a:rPr lang="en-US" altLang="ko-KR" dirty="0"/>
              <a:t>·</a:t>
            </a:r>
            <a:r>
              <a:rPr lang="ko-KR" altLang="en-US" dirty="0"/>
              <a:t>작업</a:t>
            </a:r>
            <a:r>
              <a:rPr lang="en-US" altLang="ko-KR" dirty="0"/>
              <a:t>(</a:t>
            </a:r>
            <a:r>
              <a:rPr lang="ko-KR" altLang="en-US" dirty="0"/>
              <a:t>분류</a:t>
            </a:r>
            <a:r>
              <a:rPr lang="en-US" altLang="ko-KR" dirty="0"/>
              <a:t>·</a:t>
            </a:r>
            <a:r>
              <a:rPr lang="ko-KR" altLang="en-US" dirty="0"/>
              <a:t>분할</a:t>
            </a:r>
            <a:r>
              <a:rPr lang="en-US" altLang="ko-KR" dirty="0"/>
              <a:t>·</a:t>
            </a:r>
            <a:r>
              <a:rPr lang="ko-KR" altLang="en-US" dirty="0" err="1"/>
              <a:t>어드버서리</a:t>
            </a:r>
            <a:r>
              <a:rPr lang="ko-KR" altLang="en-US" dirty="0"/>
              <a:t> 방어</a:t>
            </a:r>
            <a:r>
              <a:rPr lang="en-US" altLang="ko-KR" dirty="0"/>
              <a:t>)</a:t>
            </a:r>
            <a:r>
              <a:rPr lang="ko-KR" altLang="en-US" dirty="0"/>
              <a:t>에서 일관된 성능 이득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단점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픽셀</a:t>
            </a:r>
            <a:r>
              <a:rPr lang="en-US" altLang="ko-KR" dirty="0"/>
              <a:t>·</a:t>
            </a:r>
            <a:r>
              <a:rPr lang="ko-KR" altLang="en-US" dirty="0" err="1"/>
              <a:t>피쳐</a:t>
            </a:r>
            <a:r>
              <a:rPr lang="ko-KR" altLang="en-US" dirty="0"/>
              <a:t> </a:t>
            </a:r>
            <a:r>
              <a:rPr lang="en" altLang="ko-KR" dirty="0"/>
              <a:t>saliency</a:t>
            </a:r>
            <a:r>
              <a:rPr lang="ko-KR" altLang="en-US" dirty="0" err="1"/>
              <a:t>처럼</a:t>
            </a:r>
            <a:r>
              <a:rPr lang="ko-KR" altLang="en-US" dirty="0"/>
              <a:t> 공간적</a:t>
            </a:r>
            <a:r>
              <a:rPr lang="en-US" altLang="ko-KR" dirty="0"/>
              <a:t>·</a:t>
            </a:r>
            <a:r>
              <a:rPr lang="ko-KR" altLang="en-US" dirty="0"/>
              <a:t>시각적 정보가 없고</a:t>
            </a:r>
            <a:r>
              <a:rPr lang="en-US" altLang="ko-KR" dirty="0"/>
              <a:t>, </a:t>
            </a:r>
            <a:r>
              <a:rPr lang="ko-KR" altLang="en-US" dirty="0"/>
              <a:t>분류 헤드 차원에서만 동작해 </a:t>
            </a:r>
            <a:r>
              <a:rPr lang="en" altLang="ko-KR" dirty="0"/>
              <a:t>coarse.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3895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C26CC-0CB2-2FCD-494B-943CB1BB4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DFC3C8-7A4F-4FC1-A35B-AC4E961AD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074BF03-AF0E-71DC-312E-A58420F6D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b="1" dirty="0"/>
              <a:t>계산 이점</a:t>
            </a:r>
            <a:r>
              <a:rPr lang="en-US" altLang="ko-KR" dirty="0"/>
              <a:t>:</a:t>
            </a:r>
          </a:p>
          <a:p>
            <a:r>
              <a:rPr lang="en" altLang="ko-KR" dirty="0"/>
              <a:t>closed-form </a:t>
            </a:r>
            <a:r>
              <a:rPr lang="ko-KR" altLang="en-US" dirty="0"/>
              <a:t>식으로 도출되어</a:t>
            </a:r>
            <a:r>
              <a:rPr lang="en-US" altLang="ko-KR" dirty="0"/>
              <a:t>, </a:t>
            </a:r>
            <a:r>
              <a:rPr lang="ko-KR" altLang="en-US" b="1" dirty="0"/>
              <a:t>추가 </a:t>
            </a:r>
            <a:r>
              <a:rPr lang="ko-KR" altLang="en-US" b="1" dirty="0" err="1"/>
              <a:t>역전파</a:t>
            </a:r>
            <a:r>
              <a:rPr lang="ko-KR" altLang="en-US" b="1" dirty="0"/>
              <a:t> 없이</a:t>
            </a:r>
            <a:r>
              <a:rPr lang="ko-KR" altLang="en-US" dirty="0"/>
              <a:t> </a:t>
            </a:r>
            <a:r>
              <a:rPr lang="en" altLang="ko-KR" dirty="0"/>
              <a:t>forward </a:t>
            </a:r>
            <a:r>
              <a:rPr lang="ko-KR" altLang="en-US" dirty="0"/>
              <a:t>단계에서 얻은 </a:t>
            </a:r>
            <a:r>
              <a:rPr lang="en" altLang="ko-KR" dirty="0"/>
              <a:t>zzz</a:t>
            </a:r>
            <a:r>
              <a:rPr lang="ko-KR" altLang="en-US" dirty="0"/>
              <a:t>와 </a:t>
            </a:r>
            <a:r>
              <a:rPr lang="en" altLang="ko-KR" dirty="0" err="1"/>
              <a:t>ppp</a:t>
            </a:r>
            <a:r>
              <a:rPr lang="ko-KR" altLang="en-US" dirty="0"/>
              <a:t>만으로 즉시 계산 가능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장점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차원 수가 클래스 개수</a:t>
            </a:r>
            <a:r>
              <a:rPr lang="en-US" altLang="ko-KR" dirty="0"/>
              <a:t>(</a:t>
            </a:r>
            <a:r>
              <a:rPr lang="en" altLang="ko-KR" dirty="0"/>
              <a:t>C)</a:t>
            </a:r>
            <a:r>
              <a:rPr lang="ko-KR" altLang="en-US" dirty="0" err="1"/>
              <a:t>에</a:t>
            </a:r>
            <a:r>
              <a:rPr lang="ko-KR" altLang="en-US" dirty="0"/>
              <a:t> 불과해 매우 경량</a:t>
            </a:r>
            <a:r>
              <a:rPr lang="en-US" altLang="ko-KR" dirty="0"/>
              <a:t>(</a:t>
            </a:r>
            <a:r>
              <a:rPr lang="ko-KR" altLang="en-US" dirty="0"/>
              <a:t>메모리</a:t>
            </a:r>
            <a:r>
              <a:rPr lang="en-US" altLang="ko-KR" dirty="0"/>
              <a:t>·</a:t>
            </a:r>
            <a:r>
              <a:rPr lang="ko-KR" altLang="en-US" dirty="0"/>
              <a:t>검색 비용 낮음</a:t>
            </a:r>
            <a:r>
              <a:rPr lang="en-US" altLang="ko-KR" dirty="0"/>
              <a:t>).</a:t>
            </a:r>
          </a:p>
          <a:p>
            <a:r>
              <a:rPr lang="ko-KR" altLang="en-US" dirty="0"/>
              <a:t>모든 도메인</a:t>
            </a:r>
            <a:r>
              <a:rPr lang="en-US" altLang="ko-KR" dirty="0"/>
              <a:t>·</a:t>
            </a:r>
            <a:r>
              <a:rPr lang="ko-KR" altLang="en-US" dirty="0"/>
              <a:t>작업</a:t>
            </a:r>
            <a:r>
              <a:rPr lang="en-US" altLang="ko-KR" dirty="0"/>
              <a:t>(</a:t>
            </a:r>
            <a:r>
              <a:rPr lang="ko-KR" altLang="en-US" dirty="0"/>
              <a:t>분류</a:t>
            </a:r>
            <a:r>
              <a:rPr lang="en-US" altLang="ko-KR" dirty="0"/>
              <a:t>·</a:t>
            </a:r>
            <a:r>
              <a:rPr lang="ko-KR" altLang="en-US" dirty="0"/>
              <a:t>분할</a:t>
            </a:r>
            <a:r>
              <a:rPr lang="en-US" altLang="ko-KR" dirty="0"/>
              <a:t>·</a:t>
            </a:r>
            <a:r>
              <a:rPr lang="ko-KR" altLang="en-US" dirty="0" err="1"/>
              <a:t>어드버서리</a:t>
            </a:r>
            <a:r>
              <a:rPr lang="ko-KR" altLang="en-US" dirty="0"/>
              <a:t> 방어</a:t>
            </a:r>
            <a:r>
              <a:rPr lang="en-US" altLang="ko-KR" dirty="0"/>
              <a:t>)</a:t>
            </a:r>
            <a:r>
              <a:rPr lang="ko-KR" altLang="en-US" dirty="0"/>
              <a:t>에서 일관된 성능 이득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단점</a:t>
            </a:r>
            <a:r>
              <a:rPr lang="en-US" altLang="ko-KR" dirty="0"/>
              <a:t>:</a:t>
            </a:r>
          </a:p>
          <a:p>
            <a:r>
              <a:rPr lang="ko-KR" altLang="en-US" dirty="0"/>
              <a:t>픽셀</a:t>
            </a:r>
            <a:r>
              <a:rPr lang="en-US" altLang="ko-KR" dirty="0"/>
              <a:t>·</a:t>
            </a:r>
            <a:r>
              <a:rPr lang="ko-KR" altLang="en-US" dirty="0" err="1"/>
              <a:t>피쳐</a:t>
            </a:r>
            <a:r>
              <a:rPr lang="ko-KR" altLang="en-US" dirty="0"/>
              <a:t> </a:t>
            </a:r>
            <a:r>
              <a:rPr lang="en" altLang="ko-KR" dirty="0"/>
              <a:t>saliency</a:t>
            </a:r>
            <a:r>
              <a:rPr lang="ko-KR" altLang="en-US" dirty="0" err="1"/>
              <a:t>처럼</a:t>
            </a:r>
            <a:r>
              <a:rPr lang="ko-KR" altLang="en-US" dirty="0"/>
              <a:t> 공간적</a:t>
            </a:r>
            <a:r>
              <a:rPr lang="en-US" altLang="ko-KR" dirty="0"/>
              <a:t>·</a:t>
            </a:r>
            <a:r>
              <a:rPr lang="ko-KR" altLang="en-US" dirty="0"/>
              <a:t>시각적 정보가 없고</a:t>
            </a:r>
            <a:r>
              <a:rPr lang="en-US" altLang="ko-KR" dirty="0"/>
              <a:t>, </a:t>
            </a:r>
            <a:r>
              <a:rPr lang="ko-KR" altLang="en-US" dirty="0"/>
              <a:t>분류 헤드 차원에서만 동작해 </a:t>
            </a:r>
            <a:r>
              <a:rPr lang="en" altLang="ko-KR" dirty="0"/>
              <a:t>coarse.</a:t>
            </a:r>
          </a:p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86F71-FE6A-F35F-43E8-40B66BA65C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58725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BDC1A-D716-763D-7299-531B8EE97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CE8352-296C-EDC8-0371-F2752534A0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BA862E-770C-384A-D485-B93694A3E0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E6F03E-7FA9-FB49-CF98-2C22CA692F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118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91B3E-A907-7411-ECD4-C718F399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33663D-FAC7-9CC0-7563-2FA9A5D9E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501D9A-E6DF-5DF9-B9EF-43E78F3FB2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059A25-5E7A-313E-88E2-93348E0B4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510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285B2-8B31-4830-1486-ECA5E7CEA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A80C3D-080F-5A01-7C12-140955748B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69AA4D-30C1-AD82-2393-2E9BCA5B90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1B9359-77EB-DF41-0B98-DBA12EA77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332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1DD1B-F32F-3696-C3F0-1DABE32B3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7EA072-65E4-DB8C-6455-9ACC8BAC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09DC333-7EE6-113B-53B4-20A69B9265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22DE11-2066-4693-2C30-9C9D060896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458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ACACC-5150-42F3-9340-0A423E01F3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D59D95-D688-2573-0EA7-2A1EDB301D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695CFC1-3B11-9D9F-36F6-5EF4C2D892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ADBCD2-6EF5-9304-096E-EDFABB9DB4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9589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C23DA-9DA5-00C6-366A-F4A76E35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E8CF3B-94D6-807B-9BAD-6F18C63FE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117BAE5-2656-758E-AC67-E42508FAF4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A43B3-C5CD-CBEE-7879-1017341C67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311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87A6C-5A27-5564-C5CD-DC3BABB5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8E0D48A-107E-FB4A-26F4-366F766281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31929A-9BAE-2DA6-6933-F5042DBAF6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A4D6DAB-DCF8-CB9A-4DA5-0C07EBB90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3382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A2CA06-D00D-96D1-32D5-03F1C35EB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826423E-BF83-6E64-8DC5-047E1EC07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E3395D0-71BC-E88E-4627-3CDA0C8C93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975317-B127-71B8-8592-A08EBB176D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4859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833FB-A932-87F9-85E0-27E7DC2E3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738A6EA-A428-64B4-60FD-20E288701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E3694A-8EAE-BC6E-9BA9-D003021E21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D23873-1829-922B-13C9-F57B44E701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4684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439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 dirty="0">
              <a:solidFill>
                <a:schemeClr val="accent2">
                  <a:lumMod val="50000"/>
                </a:schemeClr>
              </a:solidFill>
              <a:latin typeface="Corbel" panose="020B0503020204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52A7C40-6EDC-5148-B154-A68DF9CCA265}"/>
              </a:ext>
            </a:extLst>
          </p:cNvPr>
          <p:cNvGrpSpPr/>
          <p:nvPr userDrawn="1"/>
        </p:nvGrpSpPr>
        <p:grpSpPr>
          <a:xfrm>
            <a:off x="3868451" y="4221088"/>
            <a:ext cx="3931282" cy="792088"/>
            <a:chOff x="827584" y="5517232"/>
            <a:chExt cx="2948461" cy="79208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2421234D-30E1-C444-9C10-442BAD6E17E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517232"/>
              <a:ext cx="1734462" cy="72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2AD3F52-407F-FD40-997E-699FE28AF26B}"/>
                </a:ext>
              </a:extLst>
            </p:cNvPr>
            <p:cNvSpPr txBox="1"/>
            <p:nvPr userDrawn="1"/>
          </p:nvSpPr>
          <p:spPr>
            <a:xfrm>
              <a:off x="2483768" y="5704026"/>
              <a:ext cx="1292277" cy="60529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2000"/>
                </a:lnSpc>
              </a:pPr>
              <a:r>
                <a:rPr lang="en-US" sz="40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2000"/>
                </a:lnSpc>
              </a:pPr>
              <a:r>
                <a:rPr lang="en-US" sz="18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8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0067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413908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F90C2B4-BF74-6744-A1CC-033C7E9B91ED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14BE7F3A-ED04-524F-A4F1-9F7573BCDA4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F2B9A1C-78C6-5F47-8940-F4E741C02469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dirty="0">
              <a:solidFill>
                <a:prstClr val="white"/>
              </a:solidFill>
              <a:latin typeface="Corbel" panose="020B0503020204020204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46B7E3B-6136-B440-8BB2-FBC052C1CD0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6" name="Picture 2" descr="숭실대학교 로고">
              <a:extLst>
                <a:ext uri="{FF2B5EF4-FFF2-40B4-BE49-F238E27FC236}">
                  <a16:creationId xmlns:a16="http://schemas.microsoft.com/office/drawing/2014/main" id="{C04B6D2B-8A94-B142-BC47-E1CF62EBCBB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B1E585A-7FD4-7F43-A83A-8DA4DD75A304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A469D99-20DF-4A42-A06A-8AAB1EA1FCF5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0" name="Picture 2" descr="숭실대학교 로고">
              <a:extLst>
                <a:ext uri="{FF2B5EF4-FFF2-40B4-BE49-F238E27FC236}">
                  <a16:creationId xmlns:a16="http://schemas.microsoft.com/office/drawing/2014/main" id="{E6BF0C0C-88A6-B645-9F2F-BE7128B9F5C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558D9D-0A52-6348-964A-6E7A56A83A03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anose="020B0503020204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32994A-5376-864D-ABBB-D7619C927A9B}"/>
              </a:ext>
            </a:extLst>
          </p:cNvPr>
          <p:cNvGrpSpPr/>
          <p:nvPr userDrawn="1"/>
        </p:nvGrpSpPr>
        <p:grpSpPr>
          <a:xfrm>
            <a:off x="8208235" y="6016508"/>
            <a:ext cx="3515914" cy="724861"/>
            <a:chOff x="827584" y="5805264"/>
            <a:chExt cx="2178982" cy="43204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9286454C-EB5C-6C43-AD4B-59991888BE8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52CECE5B-3D7C-534B-B7FF-5C3A3EF7B589}"/>
                </a:ext>
              </a:extLst>
            </p:cNvPr>
            <p:cNvSpPr txBox="1"/>
            <p:nvPr userDrawn="1"/>
          </p:nvSpPr>
          <p:spPr>
            <a:xfrm>
              <a:off x="2066198" y="5934025"/>
              <a:ext cx="940368" cy="2871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6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600" spc="-15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600" spc="-15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4DC9759-2D39-6342-B857-D85A2EAA1634}"/>
              </a:ext>
            </a:extLst>
          </p:cNvPr>
          <p:cNvGrpSpPr/>
          <p:nvPr userDrawn="1"/>
        </p:nvGrpSpPr>
        <p:grpSpPr>
          <a:xfrm>
            <a:off x="143339" y="6093297"/>
            <a:ext cx="3437151" cy="652853"/>
            <a:chOff x="827584" y="5805264"/>
            <a:chExt cx="2365121" cy="432048"/>
          </a:xfrm>
        </p:grpSpPr>
        <p:pic>
          <p:nvPicPr>
            <p:cNvPr id="8" name="Picture 2" descr="숭실대학교 로고">
              <a:extLst>
                <a:ext uri="{FF2B5EF4-FFF2-40B4-BE49-F238E27FC236}">
                  <a16:creationId xmlns:a16="http://schemas.microsoft.com/office/drawing/2014/main" id="{7F25E809-A7D8-BC4B-8B0A-5D317684629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BE382B-9EFD-FE4F-8462-C46BA9C4EE03}"/>
                </a:ext>
              </a:extLst>
            </p:cNvPr>
            <p:cNvSpPr txBox="1"/>
            <p:nvPr userDrawn="1"/>
          </p:nvSpPr>
          <p:spPr>
            <a:xfrm>
              <a:off x="2066198" y="5918441"/>
              <a:ext cx="1126507" cy="3157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500"/>
                </a:lnSpc>
              </a:pPr>
              <a:r>
                <a:rPr lang="en-US" sz="32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500"/>
                </a:lnSpc>
              </a:pPr>
              <a:r>
                <a:rPr lang="en-US" sz="14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4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485C3FF-8E9C-4D4F-906C-EC39755DF58A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9" name="Picture 2" descr="숭실대학교 로고">
              <a:extLst>
                <a:ext uri="{FF2B5EF4-FFF2-40B4-BE49-F238E27FC236}">
                  <a16:creationId xmlns:a16="http://schemas.microsoft.com/office/drawing/2014/main" id="{C615A142-2D92-D04F-8E99-9AA21DD4452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A606131-78BB-6544-8972-DB41BB2696EE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F1A320-D0BB-9B49-87FF-5D14B0314E6C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7" name="Picture 2" descr="숭실대학교 로고">
              <a:extLst>
                <a:ext uri="{FF2B5EF4-FFF2-40B4-BE49-F238E27FC236}">
                  <a16:creationId xmlns:a16="http://schemas.microsoft.com/office/drawing/2014/main" id="{C535D48B-8EC0-3C4C-91D5-206A80EFBAC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BF3B131-E1C6-8C44-A2AE-8FBAE278ED45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E9AC152-29D4-6345-98BD-7FF3ACF816FE}"/>
              </a:ext>
            </a:extLst>
          </p:cNvPr>
          <p:cNvGrpSpPr/>
          <p:nvPr userDrawn="1"/>
        </p:nvGrpSpPr>
        <p:grpSpPr>
          <a:xfrm>
            <a:off x="143339" y="6341258"/>
            <a:ext cx="2983902" cy="472118"/>
            <a:chOff x="827584" y="5805264"/>
            <a:chExt cx="2237926" cy="472118"/>
          </a:xfrm>
        </p:grpSpPr>
        <p:pic>
          <p:nvPicPr>
            <p:cNvPr id="11" name="Picture 2" descr="숭실대학교 로고">
              <a:extLst>
                <a:ext uri="{FF2B5EF4-FFF2-40B4-BE49-F238E27FC236}">
                  <a16:creationId xmlns:a16="http://schemas.microsoft.com/office/drawing/2014/main" id="{FE2AABF5-D942-6A4B-82C5-773AC8FFCF5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9" t="22902" r="50435" b="20960"/>
            <a:stretch/>
          </p:blipFill>
          <p:spPr bwMode="auto">
            <a:xfrm>
              <a:off x="827584" y="5805264"/>
              <a:ext cx="1310622" cy="4320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3FDA9A0-C09B-F944-9161-B127E415081C}"/>
                </a:ext>
              </a:extLst>
            </p:cNvPr>
            <p:cNvSpPr txBox="1"/>
            <p:nvPr userDrawn="1"/>
          </p:nvSpPr>
          <p:spPr>
            <a:xfrm>
              <a:off x="2066198" y="5877272"/>
              <a:ext cx="99931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ts val="1200"/>
                </a:lnSpc>
              </a:pPr>
              <a:r>
                <a:rPr lang="en-US" sz="2400" spc="300" dirty="0">
                  <a:latin typeface="Corbel" panose="020B0503020204020204" pitchFamily="34" charset="0"/>
                  <a:cs typeface="Times New Roman" panose="02020603050405020304" pitchFamily="18" charset="0"/>
                </a:rPr>
                <a:t>HAI</a:t>
              </a:r>
            </a:p>
            <a:p>
              <a:pPr algn="l">
                <a:lnSpc>
                  <a:spcPts val="1200"/>
                </a:lnSpc>
              </a:pPr>
              <a:r>
                <a:rPr lang="en-US" sz="1100" spc="0" dirty="0">
                  <a:latin typeface="Corbel" panose="020B0503020204020204" pitchFamily="34" charset="0"/>
                  <a:cs typeface="Times New Roman" panose="02020603050405020304" pitchFamily="18" charset="0"/>
                </a:rPr>
                <a:t>Human-centered AI</a:t>
              </a:r>
              <a:endParaRPr lang="en-KR" sz="1100" spc="0" dirty="0">
                <a:latin typeface="Corbel" panose="020B0503020204020204" pitchFamily="34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0849522-1E40-0049-A66A-5CFF68A06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925" y="1904304"/>
            <a:ext cx="10847683" cy="1296144"/>
          </a:xfrm>
        </p:spPr>
        <p:txBody>
          <a:bodyPr>
            <a:normAutofit fontScale="90000"/>
          </a:bodyPr>
          <a:lstStyle/>
          <a:p>
            <a:r>
              <a:rPr lang="en-US" b="1" dirty="0">
                <a:cs typeface="Times New Roman" panose="02020603050405020304" pitchFamily="18" charset="0"/>
              </a:rPr>
              <a:t>PTTA: Purifying Malicious Samples for Test-Time Model Adaptation</a:t>
            </a:r>
            <a:endParaRPr lang="en-KR" b="1" dirty="0">
              <a:cs typeface="Times New Roman" panose="02020603050405020304" pitchFamily="18" charset="0"/>
            </a:endParaRPr>
          </a:p>
        </p:txBody>
      </p:sp>
      <p:sp>
        <p:nvSpPr>
          <p:cNvPr id="5" name="부제목 4">
            <a:extLst>
              <a:ext uri="{FF2B5EF4-FFF2-40B4-BE49-F238E27FC236}">
                <a16:creationId xmlns:a16="http://schemas.microsoft.com/office/drawing/2014/main" id="{3B9364B0-10F8-B7A0-4642-F25293BD8A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5819" y="3573016"/>
            <a:ext cx="5400363" cy="541736"/>
          </a:xfrm>
        </p:spPr>
        <p:txBody>
          <a:bodyPr/>
          <a:lstStyle/>
          <a:p>
            <a:r>
              <a:rPr lang="en-US" altLang="ko-KR" dirty="0" err="1"/>
              <a:t>Hyunoh</a:t>
            </a:r>
            <a:r>
              <a:rPr lang="en-US" altLang="ko-KR" dirty="0"/>
              <a:t> Kang</a:t>
            </a:r>
            <a:endParaRPr lang="ko-KR" altLang="en-US" dirty="0"/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C1D96A54-999D-9330-32FF-E828B9716FCE}"/>
              </a:ext>
            </a:extLst>
          </p:cNvPr>
          <p:cNvSpPr txBox="1">
            <a:spLocks/>
          </p:cNvSpPr>
          <p:nvPr/>
        </p:nvSpPr>
        <p:spPr>
          <a:xfrm>
            <a:off x="720925" y="3081489"/>
            <a:ext cx="10847683" cy="5760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1" hangingPunct="1">
              <a:spcBef>
                <a:spcPct val="0"/>
              </a:spcBef>
              <a:buNone/>
              <a:defRPr sz="4000" kern="1200" spc="-30" baseline="0">
                <a:solidFill>
                  <a:schemeClr val="tx1"/>
                </a:solidFill>
                <a:latin typeface="Corbel" panose="020B0503020204020204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en-US" sz="2000" dirty="0">
                <a:cs typeface="Times New Roman" panose="02020603050405020304" pitchFamily="18" charset="0"/>
              </a:rPr>
              <a:t>ICML 2025</a:t>
            </a:r>
            <a:endParaRPr lang="en-KR" sz="20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488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C3E18C21-3321-51F4-703B-920D627E03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ko-KR" dirty="0"/>
              <a:t>Test-Time Adaptation (TTA)</a:t>
            </a:r>
          </a:p>
          <a:p>
            <a:pPr lvl="1"/>
            <a:r>
              <a:rPr kumimoji="1" lang="en" altLang="ko-KR" dirty="0"/>
              <a:t>goes beyond large-scale and heavy pre-training</a:t>
            </a:r>
          </a:p>
          <a:p>
            <a:pPr lvl="1"/>
            <a:r>
              <a:rPr kumimoji="1" lang="en" altLang="ko-KR" dirty="0"/>
              <a:t>utilizes unlabeled test samples to enhance the online prediction performance of pretrained models</a:t>
            </a:r>
          </a:p>
          <a:p>
            <a:pPr lvl="1"/>
            <a:endParaRPr kumimoji="1" lang="en" altLang="ko-KR" dirty="0"/>
          </a:p>
          <a:p>
            <a:pPr lvl="1"/>
            <a:r>
              <a:rPr kumimoji="1" lang="en" altLang="ko-KR" dirty="0"/>
              <a:t>Since TTA algorithms seek to avoid human supervision and intervention</a:t>
            </a:r>
          </a:p>
          <a:p>
            <a:pPr lvl="1"/>
            <a:r>
              <a:rPr kumimoji="1" lang="en" altLang="ko-KR" dirty="0"/>
              <a:t>adopt self-supervised tasks</a:t>
            </a:r>
          </a:p>
          <a:p>
            <a:pPr lvl="2"/>
            <a:r>
              <a:rPr kumimoji="1" lang="en" altLang="ko-KR" dirty="0"/>
              <a:t>Entropy Minimization (Wang et al., 2021)</a:t>
            </a:r>
          </a:p>
          <a:p>
            <a:pPr lvl="2"/>
            <a:r>
              <a:rPr kumimoji="1" lang="en" altLang="ko-KR" dirty="0"/>
              <a:t>Consistency Learning (Wang et al., 2022)</a:t>
            </a:r>
          </a:p>
          <a:p>
            <a:pPr lvl="2">
              <a:buFont typeface="Wingdings" pitchFamily="2" charset="2"/>
              <a:buChar char="Ø"/>
            </a:pPr>
            <a:r>
              <a:rPr kumimoji="1" lang="en" altLang="ko-KR" dirty="0"/>
              <a:t>models’ biases &amp; catastrophic forgetting</a:t>
            </a:r>
          </a:p>
          <a:p>
            <a:pPr lvl="1">
              <a:buFont typeface="Wingdings" pitchFamily="2" charset="2"/>
              <a:buChar char="Ø"/>
            </a:pPr>
            <a:r>
              <a:rPr kumimoji="1" lang="en" altLang="ko-KR" b="1" dirty="0"/>
              <a:t>selecting benign samples</a:t>
            </a:r>
            <a:endParaRPr kumimoji="1" lang="ko-KR" altLang="en-US" b="1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19A2DD4D-D083-1CB8-9594-503BF65BE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6554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CF05F-15BD-4845-C605-5216CF5D8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2BB07B2-8B46-D493-0FAE-A5EF55779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" altLang="ko-KR" dirty="0"/>
              <a:t>selecting benign samples</a:t>
            </a:r>
          </a:p>
          <a:p>
            <a:pPr lvl="1"/>
            <a:r>
              <a:rPr kumimoji="1" lang="en" altLang="ko-KR" dirty="0"/>
              <a:t>filter and discard a portion of test samples</a:t>
            </a:r>
          </a:p>
          <a:p>
            <a:pPr lvl="2"/>
            <a:r>
              <a:rPr kumimoji="1" lang="en" altLang="ko-KR" dirty="0"/>
              <a:t>data scarcity issues</a:t>
            </a:r>
          </a:p>
          <a:p>
            <a:pPr lvl="1"/>
            <a:r>
              <a:rPr kumimoji="1" lang="en" altLang="ko-KR" dirty="0"/>
              <a:t>encounter a trade-off</a:t>
            </a:r>
          </a:p>
          <a:p>
            <a:pPr lvl="2"/>
            <a:r>
              <a:rPr kumimoji="1" lang="en" altLang="ko-KR" dirty="0"/>
              <a:t>stable optimization</a:t>
            </a:r>
          </a:p>
          <a:p>
            <a:pPr lvl="2"/>
            <a:r>
              <a:rPr kumimoji="1" lang="en" altLang="ko-KR" dirty="0"/>
              <a:t>comprehensive use of test samples</a:t>
            </a:r>
          </a:p>
          <a:p>
            <a:pPr lvl="2"/>
            <a:endParaRPr kumimoji="1" lang="en" altLang="ko-KR" dirty="0"/>
          </a:p>
          <a:p>
            <a:pPr lvl="2"/>
            <a:endParaRPr kumimoji="1" lang="en" altLang="ko-KR" dirty="0"/>
          </a:p>
          <a:p>
            <a:pPr>
              <a:buFont typeface="Wingdings" pitchFamily="2" charset="2"/>
              <a:buChar char="Ø"/>
            </a:pPr>
            <a:r>
              <a:rPr kumimoji="1" lang="en" altLang="ko-KR" dirty="0"/>
              <a:t>purify malicious samples </a:t>
            </a:r>
          </a:p>
          <a:p>
            <a:pPr marL="0" indent="0">
              <a:buNone/>
            </a:pPr>
            <a:r>
              <a:rPr kumimoji="1" lang="en" altLang="ko-KR" dirty="0"/>
              <a:t>      by using retrieved benign sample</a:t>
            </a:r>
            <a:r>
              <a:rPr kumimoji="1" lang="en-US" altLang="ko-KR" dirty="0"/>
              <a:t>s</a:t>
            </a:r>
            <a:endParaRPr kumimoji="1" lang="en" altLang="ko-KR" dirty="0"/>
          </a:p>
          <a:p>
            <a:pPr lvl="1"/>
            <a:endParaRPr kumimoji="1"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78DDD9F-015C-8934-D3F8-AA36AF4BA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Introduction</a:t>
            </a:r>
            <a:endParaRPr kumimoji="1" lang="ko-KR" altLang="en-US" dirty="0"/>
          </a:p>
        </p:txBody>
      </p:sp>
      <p:pic>
        <p:nvPicPr>
          <p:cNvPr id="5" name="그림 4" descr="텍스트, 번호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CBB0EA9-2553-BBAD-3C37-780218AE89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1199" y="2418346"/>
            <a:ext cx="7046422" cy="443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711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625B4-9F65-BB6C-D26D-654851965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스크린샷, 도표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D6F469C-8C1F-6EF7-97FA-46613FF2A2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484" y="1232736"/>
            <a:ext cx="5753033" cy="4772025"/>
          </a:xfr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1042E7F0-A992-F601-8B48-07FB2B4E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Overview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852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37804-19BE-88F6-52C7-DDB44F1E4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7441FA44-CA66-2492-0631-365B46B0F6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ko-KR" dirty="0"/>
                  <a:t>Entropy Minimization</a:t>
                </a:r>
              </a:p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endParaRPr kumimoji="1" lang="en-US" altLang="ko-KR" dirty="0"/>
              </a:p>
              <a:p>
                <a:pPr lvl="1"/>
                <a:r>
                  <a:rPr kumimoji="1" lang="en-US" altLang="ko-KR" dirty="0"/>
                  <a:t>Indicator function </a:t>
                </a:r>
                <a14:m>
                  <m:oMath xmlns:m="http://schemas.openxmlformats.org/officeDocument/2006/math">
                    <m:r>
                      <a:rPr kumimoji="1" lang="en-US" altLang="ko-K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𝕀</m:t>
                    </m:r>
                  </m:oMath>
                </a14:m>
                <a:r>
                  <a:rPr kumimoji="1" lang="en" altLang="ko-KR" dirty="0"/>
                  <a:t>: selection mechanism</a:t>
                </a:r>
              </a:p>
              <a:p>
                <a:pPr lvl="2"/>
                <a:r>
                  <a:rPr kumimoji="1" lang="en" altLang="ko-KR" dirty="0"/>
                  <a:t>Entropy</a:t>
                </a:r>
              </a:p>
              <a:p>
                <a:pPr lvl="2"/>
                <a:r>
                  <a:rPr kumimoji="1" lang="en" altLang="ko-KR" dirty="0"/>
                  <a:t>Cosine similarity</a:t>
                </a:r>
              </a:p>
              <a:p>
                <a:pPr lvl="2"/>
                <a:r>
                  <a:rPr kumimoji="1" lang="en" altLang="ko-KR" dirty="0"/>
                  <a:t>PLPD</a:t>
                </a:r>
              </a:p>
              <a:p>
                <a:pPr lvl="2"/>
                <a:r>
                  <a:rPr kumimoji="1" lang="en" altLang="ko-KR" dirty="0"/>
                  <a:t>Etc..</a:t>
                </a:r>
              </a:p>
              <a:p>
                <a:pPr lvl="1"/>
                <a:endParaRPr kumimoji="1" lang="en" altLang="ko-KR" dirty="0"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7441FA44-CA66-2492-0631-365B46B0F6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E17EB723-4838-4F31-C55D-4DC63931D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pic>
        <p:nvPicPr>
          <p:cNvPr id="6" name="그림 5" descr="텍스트, 폰트, 화이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2A52A1A-23E4-B9CA-B202-576B292F1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8350" y="1904331"/>
            <a:ext cx="7772400" cy="119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608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A8F64-244B-C664-04CD-ECBA850D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1B3DC390-F7A0-B970-8958-197D3044D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endParaRPr kumimoji="1"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F289345-4A0F-8D0B-CE49-FF84B3402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Preliminary</a:t>
            </a:r>
            <a:endParaRPr kumimoji="1" lang="ko-KR" altLang="en-US" dirty="0"/>
          </a:p>
        </p:txBody>
      </p:sp>
      <p:pic>
        <p:nvPicPr>
          <p:cNvPr id="4" name="그림 3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4108AB-7322-7DF4-6E49-17712A2BB1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7121" y="0"/>
            <a:ext cx="5937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4244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37FC3F-1323-CFD2-CA2E-040358D6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CFC5768-9785-AADE-DF1C-1E8B2A810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Pipeline of Methods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25ECD1C-A73A-669E-14C2-79DD3594B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내용 개체 틀 7" descr="텍스트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2D0A51-D0BC-AB4D-04B4-186CD1DC81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1565326"/>
            <a:ext cx="11471275" cy="4251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073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00123-5515-5BA7-AAED-15EBC253A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C3A35656-7034-6D8C-C6F8-CCAEA8BB1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91B35452-4E25-DA12-3462-D60344464B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saliency information</a:t>
                </a:r>
              </a:p>
              <a:p>
                <a:pPr lvl="1"/>
                <a:r>
                  <a:rPr lang="en" altLang="ko-KR" dirty="0"/>
                  <a:t>first-order derivative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" altLang="ko-KR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" altLang="ko-KR" i="1" dirty="0" err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altLang="ko-KR" dirty="0"/>
              </a:p>
              <a:p>
                <a:pPr lvl="1"/>
                <a:r>
                  <a:rPr lang="en" altLang="ko-KR" dirty="0"/>
                  <a:t>judge how pixels in the image affect the model’s</a:t>
                </a:r>
              </a:p>
              <a:p>
                <a:pPr lvl="1"/>
                <a:r>
                  <a:rPr lang="en" altLang="ko-KR" dirty="0"/>
                  <a:t>indicates the importance of each pixel</a:t>
                </a:r>
              </a:p>
              <a:p>
                <a:pPr lvl="1"/>
                <a:r>
                  <a:rPr lang="en" altLang="ko-KR" dirty="0"/>
                  <a:t>measures which individual pixels need to be changed the most in order to minimize the objective function</a:t>
                </a:r>
              </a:p>
              <a:p>
                <a:pPr lvl="1"/>
                <a:endParaRPr lang="en" altLang="ko-KR" dirty="0"/>
              </a:p>
              <a:p>
                <a:pPr lvl="1">
                  <a:buFont typeface="Wingdings" pitchFamily="2" charset="2"/>
                  <a:buChar char="Ø"/>
                </a:pPr>
                <a:r>
                  <a:rPr lang="en" altLang="ko-KR" dirty="0"/>
                  <a:t>samples contributing similarly to the objective function exhibit aligned directions of their saliency information </a:t>
                </a:r>
                <a14:m>
                  <m:oMath xmlns:m="http://schemas.openxmlformats.org/officeDocument/2006/math"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" altLang="ko-KR" dirty="0"/>
                  <a:t> saliency information of Entropy Minimization: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  <m:r>
                      <a:rPr lang="en" altLang="ko-KR" i="1" dirty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l-GR" altLang="ko-KR" i="1" dirty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l-GR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" altLang="ko-KR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" altLang="ko-KR" i="1" dirty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ko-KR" altLang="en-US" dirty="0"/>
              </a:p>
            </p:txBody>
          </p:sp>
        </mc:Choice>
        <mc:Fallback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91B35452-4E25-DA12-3462-D60344464B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287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59046F-418B-D1B5-C5A9-724F5D4EB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4C82B55-446D-BD89-942B-F0C854E86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F951FE8D-18F3-4E14-E2EF-85BCCDB320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saliency indicator</a:t>
                </a:r>
              </a:p>
              <a:p>
                <a:pPr lvl="1"/>
                <a:r>
                  <a:rPr lang="en" altLang="ko-KR" dirty="0"/>
                  <a:t>Pixel-saliency indicator: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</m:oMath>
                </a14:m>
                <a:endParaRPr lang="en" altLang="ko-KR" dirty="0"/>
              </a:p>
              <a:p>
                <a:pPr lvl="2"/>
                <a:r>
                  <a:rPr lang="en" altLang="ko-KR" dirty="0"/>
                  <a:t>encodes the contribution to objective functions in the high-dimensional sample space, which preserves spatial or temporal information</a:t>
                </a:r>
              </a:p>
              <a:p>
                <a:pPr lvl="2"/>
                <a:r>
                  <a:rPr lang="en" altLang="ko-KR" dirty="0"/>
                  <a:t>vulnerable to pixels that are irrelevant to the model prediction</a:t>
                </a:r>
              </a:p>
              <a:p>
                <a:pPr lvl="1"/>
                <a:endParaRPr lang="en" altLang="ko-KR" dirty="0"/>
              </a:p>
              <a:p>
                <a:pPr lvl="1"/>
                <a:r>
                  <a:rPr lang="en" altLang="ko-KR" dirty="0"/>
                  <a:t>Feature-saliency indicator: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</m:oMath>
                </a14:m>
                <a:endParaRPr lang="en" altLang="ko-KR" dirty="0"/>
              </a:p>
              <a:p>
                <a:pPr lvl="2"/>
                <a:r>
                  <a:rPr lang="en" altLang="ko-KR" dirty="0"/>
                  <a:t>encodes images, it reduces the interference of irrelevant pixels</a:t>
                </a:r>
              </a:p>
              <a:p>
                <a:pPr lvl="2"/>
                <a:r>
                  <a:rPr lang="en" altLang="ko-KR" dirty="0"/>
                  <a:t>possess semantic information and are more closely related to the model’s final decisions</a:t>
                </a:r>
              </a:p>
              <a:p>
                <a:pPr lvl="2"/>
                <a:endParaRPr lang="en" altLang="ko-KR" dirty="0"/>
              </a:p>
              <a:p>
                <a:pPr lvl="1"/>
                <a:r>
                  <a:rPr lang="en" altLang="ko-KR" dirty="0"/>
                  <a:t>They need backprop</a:t>
                </a:r>
              </a:p>
            </p:txBody>
          </p:sp>
        </mc:Choice>
        <mc:Fallback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F951FE8D-18F3-4E14-E2EF-85BCCDB32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378189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1AD3C-F6D6-EB16-1CD5-6C643914E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7061A9B-0A44-A731-01A2-D2056EEB7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A6A6C220-8D93-A5E3-F750-2B22B823B4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saliency indicator</a:t>
                </a:r>
              </a:p>
              <a:p>
                <a:pPr lvl="1"/>
                <a:r>
                  <a:rPr lang="en" altLang="ko-KR" dirty="0"/>
                  <a:t>Logit-saliency indicator: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</m:oMath>
                </a14:m>
                <a:endParaRPr lang="en" altLang="ko-KR" dirty="0"/>
              </a:p>
              <a:p>
                <a:pPr lvl="1"/>
                <a:r>
                  <a:rPr lang="en" altLang="ko-KR" dirty="0"/>
                  <a:t>directly encodes the impact of test samples on the model’s final decisions</a:t>
                </a:r>
              </a:p>
              <a:p>
                <a:pPr lvl="1"/>
                <a:endParaRPr lang="en" altLang="ko-KR" dirty="0"/>
              </a:p>
              <a:p>
                <a:pPr lvl="1"/>
                <a:r>
                  <a:rPr lang="en" altLang="ko-KR" dirty="0"/>
                  <a:t>can be directly calculated without the need of backpropagating gradients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  <m:d>
                      <m:dPr>
                        <m:ctrlPr>
                          <a:rPr lang="en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l-GR" altLang="ko-KR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l-GR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" altLang="ko-KR" i="1" dirty="0">
                        <a:latin typeface="Cambria Math" panose="02040503050406030204" pitchFamily="18" charset="0"/>
                      </a:rPr>
                      <m:t> = −</m:t>
                    </m:r>
                    <m:d>
                      <m:dPr>
                        <m:ctrlPr>
                          <a:rPr lang="en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 · 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" altLang="ko-KR" i="1" dirty="0">
                        <a:latin typeface="Cambria Math" panose="02040503050406030204" pitchFamily="18" charset="0"/>
                      </a:rPr>
                      <m:t>⊙</m:t>
                    </m:r>
                    <m:r>
                      <a:rPr lang="en" altLang="ko-KR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" altLang="ko-KR" dirty="0"/>
              </a:p>
            </p:txBody>
          </p:sp>
        </mc:Choice>
        <mc:Fallback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A6A6C220-8D93-A5E3-F750-2B22B823B4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6856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46B72-BF25-C4D8-2A87-B4CA3A653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D54F20ED-8CE6-DA31-2D5C-8F1D9E6B8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EB814C5A-A4F5-2ADC-A240-DFDBBDF1B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ko-KR" dirty="0"/>
                  <a:t>saliency indicator</a:t>
                </a:r>
              </a:p>
              <a:p>
                <a:pPr lvl="1"/>
                <a:r>
                  <a:rPr lang="en" altLang="ko-KR" dirty="0"/>
                  <a:t>Logit-saliency indicator: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dirty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</m:oMath>
                </a14:m>
                <a:endParaRPr lang="en" altLang="ko-KR" dirty="0"/>
              </a:p>
              <a:p>
                <a:pPr lvl="1"/>
                <a:r>
                  <a:rPr lang="en" altLang="ko-KR" dirty="0"/>
                  <a:t>directly encodes the impact of test samples on the model’s final decisions</a:t>
                </a:r>
              </a:p>
              <a:p>
                <a:pPr lvl="1"/>
                <a:endParaRPr lang="en" altLang="ko-KR" dirty="0"/>
              </a:p>
              <a:p>
                <a:pPr lvl="1"/>
                <a:r>
                  <a:rPr lang="en" altLang="ko-KR" dirty="0"/>
                  <a:t>can be directly calculated without the need of backpropagating gradients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" altLang="ko-KR" i="0" dirty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𝐸𝑛𝑡</m:t>
                        </m:r>
                      </m:sub>
                    </m:sSub>
                    <m:d>
                      <m:dPr>
                        <m:ctrlPr>
                          <a:rPr lang="en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l-GR" altLang="ko-KR" i="1" dirty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l-GR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" altLang="ko-KR" i="1" dirty="0">
                        <a:latin typeface="Cambria Math" panose="02040503050406030204" pitchFamily="18" charset="0"/>
                      </a:rPr>
                      <m:t> = −</m:t>
                    </m:r>
                    <m:d>
                      <m:dPr>
                        <m:ctrlPr>
                          <a:rPr lang="en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 − 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 · </m:t>
                        </m:r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n" altLang="ko-KR" i="1" dirty="0">
                        <a:latin typeface="Cambria Math" panose="02040503050406030204" pitchFamily="18" charset="0"/>
                      </a:rPr>
                      <m:t>⊙</m:t>
                    </m:r>
                    <m:r>
                      <a:rPr lang="en" altLang="ko-KR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" altLang="ko-KR" dirty="0"/>
              </a:p>
            </p:txBody>
          </p:sp>
        </mc:Choice>
        <mc:Fallback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EB814C5A-A4F5-2ADC-A240-DFDBBDF1B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업로드한 이미지">
            <a:extLst>
              <a:ext uri="{FF2B5EF4-FFF2-40B4-BE49-F238E27FC236}">
                <a16:creationId xmlns:a16="http://schemas.microsoft.com/office/drawing/2014/main" id="{B44C762D-D9CF-FAA5-27B1-BC0CD04AA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78905"/>
            <a:ext cx="12192000" cy="439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713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56C70-F2BE-9A48-464D-A3A02226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3280A8E-8923-918A-7541-9F919156C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C1276A4B-3C82-8350-41D9-E829A598A9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Benign Sample Retrieval</a:t>
                </a:r>
                <a:endParaRPr lang="en" altLang="ko-KR" dirty="0"/>
              </a:p>
              <a:p>
                <a:pPr lvl="1"/>
                <a:r>
                  <a:rPr lang="en" altLang="ko-KR" dirty="0"/>
                  <a:t>gradients corresponding to benign samples x+ and those corresponding to malicious samples x− have opposite directions</a:t>
                </a:r>
              </a:p>
              <a:p>
                <a:pPr lvl="1"/>
                <a:endParaRPr lang="en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" altLang="ko-KR" i="1" dirty="0" smtClean="0">
                        <a:latin typeface="Cambria Math" panose="02040503050406030204" pitchFamily="18" charset="0"/>
                      </a:rPr>
                      <m:t>𝐶𝑜𝑠𝑖𝑛𝑒</m:t>
                    </m:r>
                    <m:d>
                      <m:dPr>
                        <m:ctrlPr>
                          <a:rPr lang="en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" altLang="ko-KR" i="0" dirty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i="1" dirty="0" err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" altLang="ko-KR" i="1" dirty="0" err="1" smtClean="0">
                                <a:latin typeface="Cambria Math" panose="02040503050406030204" pitchFamily="18" charset="0"/>
                              </a:rPr>
                              <m:t>𝐸𝑛𝑡</m:t>
                            </m:r>
                          </m:sub>
                        </m:sSub>
                        <m:d>
                          <m:dPr>
                            <m:ctrlPr>
                              <a:rPr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l-GR" altLang="ko-KR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l-GR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" altLang="ko-KR" i="1" dirty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" altLang="ko-KR" i="0" dirty="0" smtClean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" altLang="ko-KR" i="1" dirty="0" err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i="1" dirty="0" err="1" smtClean="0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" altLang="ko-KR" i="1" dirty="0" err="1" smtClean="0">
                                <a:latin typeface="Cambria Math" panose="02040503050406030204" pitchFamily="18" charset="0"/>
                              </a:rPr>
                              <m:t>𝐸𝑛𝑡</m:t>
                            </m:r>
                          </m:sub>
                        </m:sSub>
                        <m:d>
                          <m:dPr>
                            <m:ctrlPr>
                              <a:rPr lang="en" altLang="ko-K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ko-KR" i="1" dirty="0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l-GR" altLang="ko-KR" i="1" dirty="0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l-GR" altLang="ko-KR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" altLang="ko-KR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" altLang="ko-KR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" altLang="ko-KR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</m:sup>
                                </m:sSup>
                              </m:e>
                            </m:d>
                          </m:e>
                        </m:d>
                      </m:e>
                    </m:d>
                    <m:r>
                      <a:rPr lang="en" altLang="ko-KR" i="1" dirty="0">
                        <a:latin typeface="Cambria Math" panose="02040503050406030204" pitchFamily="18" charset="0"/>
                      </a:rPr>
                      <m:t> &lt; 0</m:t>
                    </m:r>
                  </m:oMath>
                </a14:m>
                <a:endParaRPr lang="en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=1−</m:t>
                    </m:r>
                    <m:r>
                      <a:rPr lang="en" altLang="ko-KR" i="1" dirty="0">
                        <a:latin typeface="Cambria Math" panose="02040503050406030204" pitchFamily="18" charset="0"/>
                      </a:rPr>
                      <m:t>𝐶𝑜𝑠𝑖𝑛𝑒</m:t>
                    </m:r>
                    <m:d>
                      <m:dPr>
                        <m:ctrlPr>
                          <a:rPr lang="en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" altLang="ko-KR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" altLang="ko-K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" altLang="ko-KR" i="1" dirty="0" err="1">
                                <a:latin typeface="Cambria Math" panose="02040503050406030204" pitchFamily="18" charset="0"/>
                              </a:rPr>
                              <m:t>𝐸𝑛𝑡</m:t>
                            </m:r>
                          </m:sub>
                        </m:sSub>
                        <m:d>
                          <m:dPr>
                            <m:ctrlPr>
                              <a:rPr lang="en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ko-KR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l-GR" altLang="ko-K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l-GR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" altLang="ko-KR" dirty="0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b>
                        </m:sSub>
                        <m:sSub>
                          <m:sSubPr>
                            <m:ctrlPr>
                              <a:rPr lang="en" altLang="ko-KR" i="1" dirty="0" err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" altLang="ko-KR" i="1" dirty="0" err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" altLang="ko-KR" i="1" dirty="0" err="1">
                                <a:latin typeface="Cambria Math" panose="02040503050406030204" pitchFamily="18" charset="0"/>
                              </a:rPr>
                              <m:t>𝐸𝑛𝑡</m:t>
                            </m:r>
                          </m:sub>
                        </m:sSub>
                        <m:d>
                          <m:dPr>
                            <m:ctrlPr>
                              <a:rPr lang="en" altLang="ko-K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" altLang="ko-KR" i="1" dirty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l-GR" altLang="ko-KR" i="1" dirty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l-GR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dirty="0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</m:oMath>
                </a14:m>
                <a:endParaRPr lang="en" altLang="ko-KR" dirty="0"/>
              </a:p>
              <a:p>
                <a:pPr lvl="1"/>
                <a:endParaRPr lang="en" altLang="ko-KR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arg</m:t>
                        </m:r>
                      </m:fName>
                      <m:e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e>
                              <m:li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1≤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𝑚𝑏</m:t>
                                    </m:r>
                                  </m:sub>
                                </m:sSub>
                              </m:lim>
                            </m:limLow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𝑠𝑎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func>
                  </m:oMath>
                </a14:m>
                <a:endParaRPr lang="en" altLang="ko-KR" dirty="0"/>
              </a:p>
            </p:txBody>
          </p:sp>
        </mc:Choice>
        <mc:Fallback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C1276A4B-3C82-8350-41D9-E829A598A9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183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AC04D-7CE8-CEC4-F5E4-65F7498D6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F550789-EFB7-9E8D-31DE-4A23769561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3757BFF3-BF54-AF25-B707-ECBCE044A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Benign Sample Retrieval</a:t>
            </a:r>
            <a:endParaRPr lang="en" altLang="ko-KR" dirty="0"/>
          </a:p>
          <a:p>
            <a:pPr lvl="1"/>
            <a:r>
              <a:rPr lang="en-US" altLang="ko-KR" dirty="0"/>
              <a:t>Memory bank</a:t>
            </a:r>
            <a:endParaRPr lang="en" altLang="ko-KR" dirty="0"/>
          </a:p>
          <a:p>
            <a:pPr lvl="1"/>
            <a:endParaRPr lang="en" altLang="ko-KR" dirty="0"/>
          </a:p>
        </p:txBody>
      </p:sp>
      <p:pic>
        <p:nvPicPr>
          <p:cNvPr id="4" name="그림 3" descr="텍스트, 영수증, 폰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AC7270-BCEB-308E-3965-867CA657B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023" y="2487970"/>
            <a:ext cx="9900459" cy="306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1260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BEBA-EFFD-E8C5-6131-E88036AA3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3934792C-557D-C68C-EDFA-A961DE18C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Methods</a:t>
            </a:r>
            <a:endParaRPr kumimoji="1"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B8B008BD-4736-6E67-48B7-363DF1B9B5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ko-KR" dirty="0"/>
                  <a:t>Malicious Sample Purification</a:t>
                </a:r>
                <a:endParaRPr lang="en" altLang="ko-KR" dirty="0"/>
              </a:p>
              <a:p>
                <a:pPr lvl="1"/>
                <a:r>
                  <a:rPr lang="en" altLang="ko-KR" dirty="0"/>
                  <a:t>Using </a:t>
                </a:r>
                <a:r>
                  <a:rPr lang="en" altLang="ko-KR" dirty="0" err="1"/>
                  <a:t>mixup</a:t>
                </a:r>
                <a:endParaRPr lang="en" altLang="ko-KR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" altLang="ko-KR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ko-KR" i="1" dirty="0">
                        <a:latin typeface="Cambria Math" panose="02040503050406030204" pitchFamily="18" charset="0"/>
                      </a:rPr>
                      <m:t>𝜆</m:t>
                    </m:r>
                    <m:sSub>
                      <m:sSub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" altLang="ko-KR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l-GR" altLang="ko-KR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sSubSup>
                      <m:sSub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" altLang="ko-KR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" altLang="ko-KR" i="1" dirty="0" err="1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l-GR" altLang="ko-KR" i="1" dirty="0">
                        <a:latin typeface="Cambria Math" panose="02040503050406030204" pitchFamily="18" charset="0"/>
                      </a:rPr>
                      <m:t>𝜆</m:t>
                    </m:r>
                    <m:acc>
                      <m:accPr>
                        <m:chr m:val="̂"/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ko-KR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" altLang="ko-KR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acc>
                    <m:r>
                      <a:rPr lang="en" altLang="ko-KR" i="1" dirty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" altLang="ko-KR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" altLang="ko-KR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l-GR" altLang="ko-KR" i="1" dirty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d>
                    <m:sSubSup>
                      <m:sSub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ko-KR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</m:oMath>
                </a14:m>
                <a:endParaRPr lang="en" altLang="ko-KR" dirty="0"/>
              </a:p>
              <a:p>
                <a:pPr lvl="1"/>
                <a:endParaRPr lang="en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=1/(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" altLang="ko-KR" dirty="0"/>
                  <a:t>, K decides that the top-K samples with the largest saliency distance are retrieved from the scope</a:t>
                </a:r>
              </a:p>
              <a:p>
                <a:pPr lvl="1"/>
                <a:endParaRPr lang="en" altLang="ko-KR" dirty="0"/>
              </a:p>
              <a:p>
                <a:pPr lvl="1"/>
                <a:endParaRPr lang="en" altLang="ko-KR" dirty="0"/>
              </a:p>
              <a:p>
                <a:pPr lvl="1"/>
                <a:r>
                  <a:rPr lang="en" altLang="ko-KR" dirty="0"/>
                  <a:t> </a:t>
                </a:r>
              </a:p>
              <a:p>
                <a:pPr lvl="1"/>
                <a:endParaRPr lang="en" altLang="ko-KR" dirty="0"/>
              </a:p>
              <a:p>
                <a:pPr lvl="1"/>
                <a:endParaRPr lang="en" altLang="ko-KR" dirty="0"/>
              </a:p>
            </p:txBody>
          </p:sp>
        </mc:Choice>
        <mc:Fallback>
          <p:sp>
            <p:nvSpPr>
              <p:cNvPr id="10" name="내용 개체 틀 9">
                <a:extLst>
                  <a:ext uri="{FF2B5EF4-FFF2-40B4-BE49-F238E27FC236}">
                    <a16:creationId xmlns:a16="http://schemas.microsoft.com/office/drawing/2014/main" id="{B8B008BD-4736-6E67-48B7-363DF1B9B5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그림 3" descr="텍스트, 폰트, 화이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EC045A2-D2B5-E2C6-E087-DFE0618C70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342" y="4986522"/>
            <a:ext cx="5814595" cy="994804"/>
          </a:xfrm>
          <a:prstGeom prst="rect">
            <a:avLst/>
          </a:prstGeom>
        </p:spPr>
      </p:pic>
      <p:pic>
        <p:nvPicPr>
          <p:cNvPr id="6" name="그림 5" descr="폰트, 화이트, 텍스트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2A346D-B752-5E1F-4E2B-96BDDEB19E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9539" y="5155852"/>
            <a:ext cx="3306858" cy="64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72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14E8B-F389-87AD-1B9B-F288DEF217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CBE447-4E6C-9D9A-F938-2242410F3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7E356867-B00B-37E2-D197-A7A512BAF5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" altLang="ko-KR" dirty="0"/>
              <a:t>   </a:t>
            </a:r>
          </a:p>
        </p:txBody>
      </p:sp>
      <p:pic>
        <p:nvPicPr>
          <p:cNvPr id="11" name="내용 개체 틀 8">
            <a:extLst>
              <a:ext uri="{FF2B5EF4-FFF2-40B4-BE49-F238E27FC236}">
                <a16:creationId xmlns:a16="http://schemas.microsoft.com/office/drawing/2014/main" id="{9849F74D-F526-6B43-3160-D8EFE9D974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45" y="1304925"/>
            <a:ext cx="10247110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564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54323-FF7F-C8BC-4ED4-CBEB78E78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52797E83-5F3F-AAB5-ACA6-8F44B6A11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EF53DC64-9735-4B37-E769-D69E37CBB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" altLang="ko-KR" dirty="0"/>
          </a:p>
        </p:txBody>
      </p:sp>
      <p:pic>
        <p:nvPicPr>
          <p:cNvPr id="7" name="내용 개체 틀 4">
            <a:extLst>
              <a:ext uri="{FF2B5EF4-FFF2-40B4-BE49-F238E27FC236}">
                <a16:creationId xmlns:a16="http://schemas.microsoft.com/office/drawing/2014/main" id="{A41AD582-23E3-D536-B181-C08583FDE0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478" y="1304925"/>
            <a:ext cx="1071504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3339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D74C7-D02B-3214-ED3B-E4C2E7DED1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1374D2B-1DAA-7D66-16D0-72621BA5D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24E567BD-E1ED-9A89-2340-F791B7D70E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" altLang="ko-KR" dirty="0"/>
          </a:p>
        </p:txBody>
      </p:sp>
      <p:pic>
        <p:nvPicPr>
          <p:cNvPr id="5" name="내용 개체 틀 3">
            <a:extLst>
              <a:ext uri="{FF2B5EF4-FFF2-40B4-BE49-F238E27FC236}">
                <a16:creationId xmlns:a16="http://schemas.microsoft.com/office/drawing/2014/main" id="{E6E29BC2-A69C-C62B-BE61-5B1BF23D2B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038" y="1304925"/>
            <a:ext cx="10077925" cy="4772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44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E9F20-024D-911A-F5A7-250840F4B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4FBA52C-1AB9-88EA-0E08-1EE562E3F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Experiments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47679262-C18C-B3D2-FBCB-7829A7FC2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" altLang="ko-KR" dirty="0"/>
          </a:p>
        </p:txBody>
      </p:sp>
      <p:pic>
        <p:nvPicPr>
          <p:cNvPr id="8" name="내용 개체 틀 3" descr="텍스트, 스크린샷, 폰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6555539-BC8F-0B22-45B2-E53D00D35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6560" y="146845"/>
            <a:ext cx="8718882" cy="656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77221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117873-B7C8-440B-4B21-B844DB74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231FC74-E0F6-B37F-0051-F02CB5C0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Ablation Studies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CF7654EF-6B2F-BFD6-B38E-79235B84E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" altLang="ko-KR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CE0E212-45C3-92B7-AC49-AE86A4F6F2CE}"/>
              </a:ext>
            </a:extLst>
          </p:cNvPr>
          <p:cNvGrpSpPr/>
          <p:nvPr/>
        </p:nvGrpSpPr>
        <p:grpSpPr>
          <a:xfrm>
            <a:off x="1674674" y="1304764"/>
            <a:ext cx="9361326" cy="5553236"/>
            <a:chOff x="413909" y="1304764"/>
            <a:chExt cx="11187767" cy="6636700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BA07C21-D365-4E4F-9352-49B7936ACC0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0324" y="1304764"/>
              <a:ext cx="11011352" cy="2290056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68A5CA1-B039-A1DA-130E-BD8675381C6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41541"/>
            <a:stretch>
              <a:fillRect/>
            </a:stretch>
          </p:blipFill>
          <p:spPr>
            <a:xfrm>
              <a:off x="413909" y="3331584"/>
              <a:ext cx="5289060" cy="3259517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25FAD16-B0C9-00DC-12E1-264C47C5380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58446" b="482"/>
            <a:stretch>
              <a:fillRect/>
            </a:stretch>
          </p:blipFill>
          <p:spPr>
            <a:xfrm>
              <a:off x="5756878" y="3427935"/>
              <a:ext cx="5289060" cy="2290056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8D0EF5BF-9BF1-1D2F-379C-E47518B13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756878" y="5814342"/>
              <a:ext cx="5289060" cy="212712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121494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36D20-A931-45A4-DBC9-84A25995D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693444A-06CD-9061-550F-9416461812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ko-KR" dirty="0"/>
              <a:t>Ablation Studies</a:t>
            </a:r>
            <a:endParaRPr kumimoji="1" lang="ko-KR" altLang="en-US" dirty="0"/>
          </a:p>
        </p:txBody>
      </p:sp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9EAB6C2A-B2EA-B78A-C9E6-C62DA9A5D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DF2E58C-EC42-1A5E-5EA4-3C607E72A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444" y="1773382"/>
            <a:ext cx="11459112" cy="3311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884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236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13528</TotalTime>
  <Words>781</Words>
  <Application>Microsoft Macintosh PowerPoint</Application>
  <PresentationFormat>와이드스크린</PresentationFormat>
  <Paragraphs>143</Paragraphs>
  <Slides>21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21</vt:i4>
      </vt:variant>
    </vt:vector>
  </HeadingPairs>
  <TitlesOfParts>
    <vt:vector size="32" baseType="lpstr">
      <vt:lpstr>맑은 고딕</vt:lpstr>
      <vt:lpstr>Yoon 윤고딕 115_TT</vt:lpstr>
      <vt:lpstr>Arial</vt:lpstr>
      <vt:lpstr>Cambria Math</vt:lpstr>
      <vt:lpstr>Candara</vt:lpstr>
      <vt:lpstr>Corbel</vt:lpstr>
      <vt:lpstr>Times New Roman</vt:lpstr>
      <vt:lpstr>Wingdings</vt:lpstr>
      <vt:lpstr>Wingdings 3</vt:lpstr>
      <vt:lpstr>Office 테마</vt:lpstr>
      <vt:lpstr>1_Office 테마</vt:lpstr>
      <vt:lpstr>PTTA: Purifying Malicious Samples for Test-Time Model Adaptation</vt:lpstr>
      <vt:lpstr>Introduction</vt:lpstr>
      <vt:lpstr>Introduction</vt:lpstr>
      <vt:lpstr>Overview</vt:lpstr>
      <vt:lpstr>Preliminary</vt:lpstr>
      <vt:lpstr>Preliminary</vt:lpstr>
      <vt:lpstr>Pipeline of Methods</vt:lpstr>
      <vt:lpstr>Methods</vt:lpstr>
      <vt:lpstr>Methods</vt:lpstr>
      <vt:lpstr>Methods</vt:lpstr>
      <vt:lpstr>Methods</vt:lpstr>
      <vt:lpstr>Methods</vt:lpstr>
      <vt:lpstr>Methods</vt:lpstr>
      <vt:lpstr>Methods</vt:lpstr>
      <vt:lpstr>Experiments</vt:lpstr>
      <vt:lpstr>Experiments</vt:lpstr>
      <vt:lpstr>Experiments</vt:lpstr>
      <vt:lpstr>Experiments</vt:lpstr>
      <vt:lpstr>Ablation Studies</vt:lpstr>
      <vt:lpstr>Ablation Studies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3030</cp:revision>
  <dcterms:created xsi:type="dcterms:W3CDTF">2013-05-08T06:38:33Z</dcterms:created>
  <dcterms:modified xsi:type="dcterms:W3CDTF">2025-07-08T07:57:36Z</dcterms:modified>
</cp:coreProperties>
</file>