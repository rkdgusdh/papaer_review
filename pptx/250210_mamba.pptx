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4" r:id="rId1"/>
    <p:sldMasterId id="2147483665" r:id="rId2"/>
  </p:sldMasterIdLst>
  <p:notesMasterIdLst>
    <p:notesMasterId r:id="rId88"/>
  </p:notesMasterIdLst>
  <p:handoutMasterIdLst>
    <p:handoutMasterId r:id="rId89"/>
  </p:handoutMasterIdLst>
  <p:sldIdLst>
    <p:sldId id="256" r:id="rId3"/>
    <p:sldId id="257" r:id="rId4"/>
    <p:sldId id="331" r:id="rId5"/>
    <p:sldId id="333" r:id="rId6"/>
    <p:sldId id="334" r:id="rId7"/>
    <p:sldId id="335" r:id="rId8"/>
    <p:sldId id="337" r:id="rId9"/>
    <p:sldId id="339" r:id="rId10"/>
    <p:sldId id="343" r:id="rId11"/>
    <p:sldId id="344" r:id="rId12"/>
    <p:sldId id="360" r:id="rId13"/>
    <p:sldId id="361" r:id="rId14"/>
    <p:sldId id="362" r:id="rId15"/>
    <p:sldId id="363" r:id="rId16"/>
    <p:sldId id="338" r:id="rId17"/>
    <p:sldId id="341" r:id="rId18"/>
    <p:sldId id="342" r:id="rId19"/>
    <p:sldId id="345" r:id="rId20"/>
    <p:sldId id="346" r:id="rId21"/>
    <p:sldId id="347" r:id="rId22"/>
    <p:sldId id="348" r:id="rId23"/>
    <p:sldId id="349" r:id="rId24"/>
    <p:sldId id="350" r:id="rId25"/>
    <p:sldId id="351" r:id="rId26"/>
    <p:sldId id="352" r:id="rId27"/>
    <p:sldId id="353" r:id="rId28"/>
    <p:sldId id="354" r:id="rId29"/>
    <p:sldId id="355" r:id="rId30"/>
    <p:sldId id="358" r:id="rId31"/>
    <p:sldId id="357" r:id="rId32"/>
    <p:sldId id="359" r:id="rId33"/>
    <p:sldId id="364" r:id="rId34"/>
    <p:sldId id="365" r:id="rId35"/>
    <p:sldId id="366" r:id="rId36"/>
    <p:sldId id="367" r:id="rId37"/>
    <p:sldId id="368" r:id="rId38"/>
    <p:sldId id="369" r:id="rId39"/>
    <p:sldId id="370" r:id="rId40"/>
    <p:sldId id="371" r:id="rId41"/>
    <p:sldId id="372" r:id="rId42"/>
    <p:sldId id="373" r:id="rId43"/>
    <p:sldId id="374" r:id="rId44"/>
    <p:sldId id="375" r:id="rId45"/>
    <p:sldId id="376" r:id="rId46"/>
    <p:sldId id="377" r:id="rId47"/>
    <p:sldId id="378" r:id="rId48"/>
    <p:sldId id="379" r:id="rId49"/>
    <p:sldId id="380" r:id="rId50"/>
    <p:sldId id="381" r:id="rId51"/>
    <p:sldId id="382" r:id="rId52"/>
    <p:sldId id="383" r:id="rId53"/>
    <p:sldId id="384" r:id="rId54"/>
    <p:sldId id="385" r:id="rId55"/>
    <p:sldId id="386" r:id="rId56"/>
    <p:sldId id="387" r:id="rId57"/>
    <p:sldId id="389" r:id="rId58"/>
    <p:sldId id="390" r:id="rId59"/>
    <p:sldId id="391" r:id="rId60"/>
    <p:sldId id="392" r:id="rId61"/>
    <p:sldId id="393" r:id="rId62"/>
    <p:sldId id="394" r:id="rId63"/>
    <p:sldId id="395" r:id="rId64"/>
    <p:sldId id="396" r:id="rId65"/>
    <p:sldId id="397" r:id="rId66"/>
    <p:sldId id="398" r:id="rId67"/>
    <p:sldId id="399" r:id="rId68"/>
    <p:sldId id="400" r:id="rId69"/>
    <p:sldId id="402" r:id="rId70"/>
    <p:sldId id="356" r:id="rId71"/>
    <p:sldId id="405" r:id="rId72"/>
    <p:sldId id="403" r:id="rId73"/>
    <p:sldId id="406" r:id="rId74"/>
    <p:sldId id="407" r:id="rId75"/>
    <p:sldId id="408" r:id="rId76"/>
    <p:sldId id="409" r:id="rId77"/>
    <p:sldId id="410" r:id="rId78"/>
    <p:sldId id="412" r:id="rId79"/>
    <p:sldId id="413" r:id="rId80"/>
    <p:sldId id="414" r:id="rId81"/>
    <p:sldId id="415" r:id="rId82"/>
    <p:sldId id="416" r:id="rId83"/>
    <p:sldId id="417" r:id="rId84"/>
    <p:sldId id="418" r:id="rId85"/>
    <p:sldId id="419" r:id="rId86"/>
    <p:sldId id="330" r:id="rId87"/>
  </p:sldIdLst>
  <p:sldSz cx="12192000" cy="6858000"/>
  <p:notesSz cx="9928225" cy="6797675"/>
  <p:embeddedFontLst>
    <p:embeddedFont>
      <p:font typeface="맑은 고딕" panose="020B0503020000020004" pitchFamily="34" charset="-127"/>
      <p:regular r:id="rId90"/>
      <p:bold r:id="rId91"/>
    </p:embeddedFont>
    <p:embeddedFont>
      <p:font typeface="Cambria Math" panose="02040503050406030204" pitchFamily="18" charset="0"/>
      <p:regular r:id="rId92"/>
    </p:embeddedFont>
    <p:embeddedFont>
      <p:font typeface="Candara" panose="020E0502030303020204" pitchFamily="34" charset="0"/>
      <p:regular r:id="rId93"/>
      <p:bold r:id="rId94"/>
      <p:italic r:id="rId95"/>
      <p:boldItalic r:id="rId96"/>
    </p:embeddedFont>
    <p:embeddedFont>
      <p:font typeface="Corbel" panose="020B0503020204020204" pitchFamily="34" charset="0"/>
      <p:regular r:id="rId97"/>
      <p:bold r:id="rId98"/>
      <p:italic r:id="rId99"/>
      <p:boldItalic r:id="rId100"/>
    </p:embeddedFont>
    <p:embeddedFont>
      <p:font typeface="Wingdings 3" pitchFamily="2" charset="2"/>
      <p:regular r:id="rId10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mon lee" initials="s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8571"/>
    <a:srgbClr val="0E429D"/>
    <a:srgbClr val="A9BBBC"/>
    <a:srgbClr val="FF3B30"/>
    <a:srgbClr val="FF9500"/>
    <a:srgbClr val="FFDE7E"/>
    <a:srgbClr val="DED7E6"/>
    <a:srgbClr val="E6B9B6"/>
    <a:srgbClr val="FCD8BB"/>
    <a:srgbClr val="F3F0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85" autoAdjust="0"/>
    <p:restoredTop sz="86870"/>
  </p:normalViewPr>
  <p:slideViewPr>
    <p:cSldViewPr snapToGrid="0">
      <p:cViewPr varScale="1">
        <p:scale>
          <a:sx n="109" d="100"/>
          <a:sy n="109" d="100"/>
        </p:scale>
        <p:origin x="1000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59" d="100"/>
          <a:sy n="159" d="100"/>
        </p:scale>
        <p:origin x="2728" y="192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commentAuthors" Target="commentAuthors.xml"/><Relationship Id="rId5" Type="http://schemas.openxmlformats.org/officeDocument/2006/relationships/slide" Target="slides/slide3.xml"/><Relationship Id="rId90" Type="http://schemas.openxmlformats.org/officeDocument/2006/relationships/font" Target="fonts/font1.fntdata"/><Relationship Id="rId95" Type="http://schemas.openxmlformats.org/officeDocument/2006/relationships/font" Target="fonts/font6.fntdata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notesMaster" Target="notesMasters/notesMaster1.xml"/><Relationship Id="rId91" Type="http://schemas.openxmlformats.org/officeDocument/2006/relationships/font" Target="fonts/font2.fntdata"/><Relationship Id="rId9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font" Target="fonts/font5.fntdata"/><Relationship Id="rId99" Type="http://schemas.openxmlformats.org/officeDocument/2006/relationships/font" Target="fonts/font10.fntdata"/><Relationship Id="rId101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font" Target="fonts/font8.fntdata"/><Relationship Id="rId104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font" Target="fonts/font11.fntdata"/><Relationship Id="rId105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font" Target="fonts/font4.fntdata"/><Relationship Id="rId98" Type="http://schemas.openxmlformats.org/officeDocument/2006/relationships/font" Target="fonts/font9.fntdata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81CB499-57DE-4459-8164-C24C1927EE22}" type="datetime1">
              <a:rPr lang="ko-KR" altLang="en-US"/>
              <a:pPr lvl="0">
                <a:defRPr lang="ko-KR" altLang="en-US"/>
              </a:pPr>
              <a:t>2025. 2. 5.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8708606D-7016-48C6-AD55-6C46873277CB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26B28A4-0406-4D64-A121-EFDA8C66E1AC}" type="datetime1">
              <a:rPr lang="ko-KR" altLang="en-US"/>
              <a:pPr lvl="0">
                <a:defRPr lang="ko-KR" altLang="en-US"/>
              </a:pPr>
              <a:t>2025. 2. 5.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698750" y="487363"/>
            <a:ext cx="45307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17" tIns="46058" rIns="92117" bIns="46058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7"/>
            <a:ext cx="7942580" cy="3058953"/>
          </a:xfrm>
          <a:prstGeom prst="rect">
            <a:avLst/>
          </a:prstGeom>
        </p:spPr>
        <p:txBody>
          <a:bodyPr vert="horz" lIns="92117" tIns="46058" rIns="92117" bIns="46058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7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562CCEFF-A2AE-45F8-B6D1-C9F23FC7D7B9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796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889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sz="1200" dirty="0" err="1"/>
              <a:t>맘바는</a:t>
            </a:r>
            <a:r>
              <a:rPr kumimoji="1" lang="ko-KR" altLang="en-US" sz="1200" dirty="0"/>
              <a:t> 타임</a:t>
            </a:r>
            <a:r>
              <a:rPr kumimoji="1" lang="en-US" altLang="ko-KR" sz="1200" dirty="0"/>
              <a:t> </a:t>
            </a:r>
            <a:r>
              <a:rPr kumimoji="1" lang="ko-KR" altLang="en-US" sz="1200" dirty="0"/>
              <a:t>시리즈 데이터를 다루는 모델이다</a:t>
            </a:r>
            <a:r>
              <a:rPr kumimoji="1" lang="en-US" altLang="ko-KR" sz="1200" dirty="0"/>
              <a:t>.</a:t>
            </a:r>
            <a:r>
              <a:rPr kumimoji="1" lang="ko-KR" altLang="en-US" sz="1200" dirty="0"/>
              <a:t> 모델 </a:t>
            </a:r>
            <a:r>
              <a:rPr kumimoji="1" lang="ko-KR" altLang="en-US" sz="1200" dirty="0" err="1"/>
              <a:t>아키텍쳐의</a:t>
            </a:r>
            <a:r>
              <a:rPr kumimoji="1" lang="ko-KR" altLang="en-US" sz="1200" dirty="0"/>
              <a:t> 이름은 </a:t>
            </a:r>
            <a:r>
              <a:rPr kumimoji="1" lang="en-US" altLang="ko-KR" sz="1200" dirty="0"/>
              <a:t>selective State Space Model</a:t>
            </a:r>
            <a:r>
              <a:rPr kumimoji="1" lang="ko-KR" altLang="en-US" sz="1200" dirty="0"/>
              <a:t>이고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이는 기존 </a:t>
            </a:r>
            <a:r>
              <a:rPr kumimoji="1" lang="en-US" altLang="ko-KR" sz="1200" dirty="0"/>
              <a:t>Sequential data</a:t>
            </a:r>
            <a:r>
              <a:rPr kumimoji="1" lang="ko-KR" altLang="en-US" sz="1200" dirty="0" err="1"/>
              <a:t>를</a:t>
            </a:r>
            <a:r>
              <a:rPr kumimoji="1" lang="ko-KR" altLang="en-US" sz="1200" dirty="0"/>
              <a:t> 처리했던 </a:t>
            </a:r>
            <a:r>
              <a:rPr kumimoji="1" lang="en-US" altLang="ko-KR" sz="1200" dirty="0"/>
              <a:t>Transformer</a:t>
            </a:r>
            <a:r>
              <a:rPr kumimoji="1" lang="ko-KR" altLang="en-US" sz="1200" dirty="0"/>
              <a:t>와는 완전히 다른 </a:t>
            </a:r>
            <a:r>
              <a:rPr kumimoji="1" lang="en-US" altLang="ko-KR" sz="1200" dirty="0"/>
              <a:t>foundation model</a:t>
            </a:r>
            <a:r>
              <a:rPr kumimoji="1" lang="ko-KR" altLang="en-US" sz="1200" dirty="0"/>
              <a:t>로 </a:t>
            </a:r>
            <a:r>
              <a:rPr kumimoji="1" lang="en-US" altLang="ko-KR" sz="1200" dirty="0"/>
              <a:t>Attention</a:t>
            </a:r>
            <a:r>
              <a:rPr kumimoji="1" lang="ko-KR" altLang="en-US" sz="1200" dirty="0"/>
              <a:t>을 사용하지 않는다</a:t>
            </a:r>
            <a:r>
              <a:rPr kumimoji="1" lang="en-US" altLang="ko-KR" sz="1200" dirty="0"/>
              <a:t>.</a:t>
            </a:r>
            <a:endParaRPr kumimoji="1"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963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5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현존하는 트랜스포머 모델의 주요 </a:t>
            </a:r>
            <a:r>
              <a:rPr kumimoji="1" lang="ko-KR" altLang="en-US" dirty="0" err="1"/>
              <a:t>매써드인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어텐션은</a:t>
            </a:r>
            <a:r>
              <a:rPr kumimoji="1" lang="ko-KR" altLang="en-US" dirty="0"/>
              <a:t> 모든 입력 토큰들을 하나의 행렬로 해서 계산을 해 병렬 학습이 가능합니다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이로 인해 비약적인 학습 속도 상승을 가져온다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그러나 디코딩 과정에서 한 토큰을 </a:t>
            </a:r>
            <a:r>
              <a:rPr kumimoji="1" lang="ko-KR" altLang="en-US" dirty="0" err="1"/>
              <a:t>생성할때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이전 모든 토큰들을 곱해야 하기에 </a:t>
            </a:r>
            <a:r>
              <a:rPr kumimoji="1" lang="en-US" altLang="ko-KR" dirty="0"/>
              <a:t>n^2</a:t>
            </a:r>
            <a:r>
              <a:rPr kumimoji="1" lang="ko-KR" altLang="en-US" dirty="0"/>
              <a:t>의 </a:t>
            </a:r>
            <a:r>
              <a:rPr kumimoji="1" lang="ko-KR" altLang="en-US" dirty="0" err="1"/>
              <a:t>시간복잡도를</a:t>
            </a:r>
            <a:r>
              <a:rPr kumimoji="1" lang="ko-KR" altLang="en-US" dirty="0"/>
              <a:t> 가지게 된다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이는 </a:t>
            </a:r>
            <a:r>
              <a:rPr kumimoji="1" lang="en-US" altLang="ko-KR" dirty="0" err="1"/>
              <a:t>kv</a:t>
            </a:r>
            <a:r>
              <a:rPr kumimoji="1" lang="en-US" altLang="ko-KR" dirty="0"/>
              <a:t> cache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사용함으로 </a:t>
            </a:r>
            <a:r>
              <a:rPr kumimoji="1" lang="en-US" altLang="ko-KR" dirty="0"/>
              <a:t>n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줄었지만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현재 </a:t>
            </a:r>
            <a:r>
              <a:rPr kumimoji="1" lang="en-US" altLang="ko-KR" dirty="0" err="1"/>
              <a:t>llm</a:t>
            </a:r>
            <a:r>
              <a:rPr kumimoji="1" lang="ko-KR" altLang="en-US" dirty="0"/>
              <a:t>은 너무나도 많은 토큰을 입력으로 다루기에 </a:t>
            </a:r>
            <a:r>
              <a:rPr kumimoji="1" lang="en-US" altLang="ko-KR" dirty="0" err="1"/>
              <a:t>kv</a:t>
            </a:r>
            <a:r>
              <a:rPr kumimoji="1" lang="en-US" altLang="ko-KR" dirty="0"/>
              <a:t> cache</a:t>
            </a:r>
            <a:r>
              <a:rPr kumimoji="1" lang="ko-KR" altLang="en-US" dirty="0"/>
              <a:t>자체도 문제가 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선형적인 생성시간증가도 상당히 치명적이다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958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28C24-DFB8-AC2C-A1F6-5922D8E30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9FEAE3-4570-632C-7C04-AF7237B52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FFEC8D-5E79-DAA2-1345-FC7690CC1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Transformer</a:t>
            </a:r>
            <a:r>
              <a:rPr kumimoji="1" lang="ko-KR" altLang="en-US" dirty="0"/>
              <a:t>와 달리 </a:t>
            </a:r>
            <a:r>
              <a:rPr kumimoji="1" lang="en-US" altLang="ko-KR" dirty="0"/>
              <a:t>RNN</a:t>
            </a:r>
            <a:r>
              <a:rPr kumimoji="1" lang="ko-KR" altLang="en-US" dirty="0"/>
              <a:t>계열의 시퀀스 모델들은 다음 타임 스텝에 대한 메모리를 만들기 위해서는 반드시 이전 </a:t>
            </a:r>
            <a:r>
              <a:rPr kumimoji="1" lang="ko-KR" altLang="en-US" dirty="0" err="1"/>
              <a:t>타임스탭에</a:t>
            </a:r>
            <a:r>
              <a:rPr kumimoji="1" lang="ko-KR" altLang="en-US" dirty="0"/>
              <a:t> 대한 메모리를 필요로 한다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이로인해</a:t>
            </a:r>
            <a:r>
              <a:rPr kumimoji="1" lang="ko-KR" altLang="en-US" dirty="0"/>
              <a:t> 병렬화가 불가능하고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학습시간이 느리다</a:t>
            </a:r>
            <a:endParaRPr kumimoji="1" lang="en-US" altLang="ko-KR" dirty="0"/>
          </a:p>
          <a:p>
            <a:r>
              <a:rPr kumimoji="1" lang="ko-KR" altLang="en-US" dirty="0"/>
              <a:t>그러나 현재 메모리는 이전 메모리에 만 영향을 받기에 메모리에는 모든 정보가 다 담겨있다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따라서 비용이 낮고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빠른 추론이 가능하다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056E44-5027-32B6-04D7-B1D5B949F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261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B9F36-0915-FAD7-EB95-5399FE9DB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2A2FB7-D513-6EA1-B37D-D182924B6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43D43D-06EE-24A2-9DD3-3F85C857A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Transformer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RNN</a:t>
            </a:r>
            <a:r>
              <a:rPr kumimoji="1" lang="ko-KR" altLang="en-US" dirty="0"/>
              <a:t>의 특징들을 비교해보면 둘은 서로 트레이드 오프이다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현재 트랜스포머를 쓰는 이유는 성능차이 때문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트랜스포머는 더 낮은 비용으로 디코딩을 하기위해서 </a:t>
            </a:r>
            <a:r>
              <a:rPr kumimoji="1" lang="en-US" altLang="ko-KR" dirty="0" err="1"/>
              <a:t>kv</a:t>
            </a:r>
            <a:r>
              <a:rPr kumimoji="1" lang="en-US" altLang="ko-KR" dirty="0"/>
              <a:t> cache</a:t>
            </a:r>
            <a:r>
              <a:rPr kumimoji="1" lang="ko-KR" altLang="en-US" dirty="0"/>
              <a:t>의 저장하는 값을 </a:t>
            </a:r>
            <a:r>
              <a:rPr kumimoji="1" lang="ko-KR" altLang="en-US" dirty="0" err="1"/>
              <a:t>선택한다던가</a:t>
            </a:r>
            <a:r>
              <a:rPr kumimoji="1" lang="en-US" altLang="ko-KR" dirty="0"/>
              <a:t>, SRAM/DRAM</a:t>
            </a:r>
            <a:r>
              <a:rPr kumimoji="1" lang="ko-KR" altLang="en-US" dirty="0"/>
              <a:t>을 적절히 활용해 계산 속도를 높였다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 err="1"/>
              <a:t>Rnn</a:t>
            </a:r>
            <a:r>
              <a:rPr kumimoji="1" lang="ko-KR" altLang="en-US" dirty="0"/>
              <a:t>은 </a:t>
            </a:r>
            <a:r>
              <a:rPr kumimoji="1" lang="ko-KR" altLang="en-US" dirty="0" err="1"/>
              <a:t>어떻게든</a:t>
            </a:r>
            <a:r>
              <a:rPr kumimoji="1" lang="ko-KR" altLang="en-US" dirty="0"/>
              <a:t> 성능을 높이기 위해서 메모리에 최대한 저장을 잘 </a:t>
            </a:r>
            <a:r>
              <a:rPr kumimoji="1" lang="ko-KR" altLang="en-US" dirty="0" err="1"/>
              <a:t>할려고</a:t>
            </a:r>
            <a:r>
              <a:rPr kumimoji="1" lang="ko-KR" altLang="en-US" dirty="0"/>
              <a:t> 하거나</a:t>
            </a:r>
            <a:r>
              <a:rPr kumimoji="1" lang="en-US" altLang="ko-KR" dirty="0"/>
              <a:t>, </a:t>
            </a:r>
            <a:r>
              <a:rPr kumimoji="1" lang="ko-KR" altLang="en-US" dirty="0"/>
              <a:t>병렬화를 시도했다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1A1442-E64F-5290-BF59-F36CB14FB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467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F72B9-CE8F-3EE2-FCEF-5023AA2B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5AD12C-B27F-B461-F7BB-6981DB1CC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DA569A-1666-D5BA-DE64-054827910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따라서 </a:t>
            </a:r>
            <a:r>
              <a:rPr kumimoji="1" lang="ko-KR" altLang="en-US" dirty="0" err="1"/>
              <a:t>맘바가</a:t>
            </a:r>
            <a:r>
              <a:rPr kumimoji="1" lang="ko-KR" altLang="en-US" dirty="0"/>
              <a:t> 등장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en-US" altLang="ko-KR" dirty="0" err="1"/>
              <a:t>Rnn</a:t>
            </a:r>
            <a:r>
              <a:rPr kumimoji="1" lang="ko-KR" altLang="en-US" dirty="0" err="1"/>
              <a:t>처럼</a:t>
            </a:r>
            <a:r>
              <a:rPr kumimoji="1" lang="ko-KR" altLang="en-US" dirty="0"/>
              <a:t> 이전 메모리에만 영향을 받기에 </a:t>
            </a:r>
            <a:r>
              <a:rPr kumimoji="1" lang="en-US" altLang="ko-KR" dirty="0"/>
              <a:t>low cost</a:t>
            </a:r>
          </a:p>
          <a:p>
            <a:r>
              <a:rPr kumimoji="1" lang="en-US" altLang="ko-KR" dirty="0"/>
              <a:t>Structed </a:t>
            </a:r>
            <a:r>
              <a:rPr kumimoji="1" lang="en-US" altLang="ko-KR" dirty="0" err="1"/>
              <a:t>ssm</a:t>
            </a:r>
            <a:r>
              <a:rPr kumimoji="1" lang="en-US" altLang="ko-KR" dirty="0"/>
              <a:t> </a:t>
            </a:r>
            <a:r>
              <a:rPr kumimoji="1" lang="ko-KR" altLang="en-US" dirty="0"/>
              <a:t>쓰니까 메모리에 저장 잘됨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병렬 학습도 가능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8C8D15-19DE-14FE-02F7-2FD2869AE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671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93214-7478-662F-AE85-0AC91F2B5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E5E622-921B-EC03-7CF3-93DAAE791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24DDC0-0734-4EC7-DCF4-94FC16482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err="1"/>
              <a:t>위와같은</a:t>
            </a:r>
            <a:r>
              <a:rPr kumimoji="1" lang="ko-KR" altLang="en-US" dirty="0"/>
              <a:t> 신호데이터 들도 이제 학습에서 </a:t>
            </a:r>
            <a:r>
              <a:rPr kumimoji="1" lang="ko-KR" altLang="en-US" dirty="0" err="1"/>
              <a:t>쓸텐데</a:t>
            </a:r>
            <a:r>
              <a:rPr kumimoji="1" lang="en-US" altLang="ko-KR" dirty="0"/>
              <a:t> </a:t>
            </a:r>
            <a:r>
              <a:rPr kumimoji="1" lang="ko-KR" altLang="en-US" dirty="0"/>
              <a:t>잘 안됨</a:t>
            </a:r>
            <a:r>
              <a:rPr kumimoji="1" lang="en-US" altLang="ko-KR" dirty="0"/>
              <a:t>	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63688D-3516-3763-5469-BE069DC3E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453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D77FA-DDE3-9357-8C94-DCD05AE81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6B9988-757E-77AA-7A99-4D3D3FF3C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298510-820D-1D74-4343-44A6E5C1F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신호데이터는 언어보다 훨씬 연속적이고 </a:t>
            </a:r>
            <a:r>
              <a:rPr kumimoji="1" lang="en-US" altLang="ko-KR" dirty="0"/>
              <a:t>context</a:t>
            </a:r>
            <a:r>
              <a:rPr kumimoji="1" lang="ko-KR" altLang="en-US" dirty="0"/>
              <a:t>가 길어서 잘 못함</a:t>
            </a:r>
            <a:endParaRPr kumimoji="1" lang="en-US" altLang="ko-KR" dirty="0"/>
          </a:p>
          <a:p>
            <a:r>
              <a:rPr kumimoji="1" lang="ko-KR" altLang="en-US" dirty="0"/>
              <a:t>예를 들어 소리는 </a:t>
            </a:r>
            <a:r>
              <a:rPr kumimoji="1" lang="ko-KR" altLang="en-US" dirty="0" err="1"/>
              <a:t>셈플링하기</a:t>
            </a:r>
            <a:r>
              <a:rPr kumimoji="1" lang="ko-KR" altLang="en-US" dirty="0"/>
              <a:t> 나름이고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기본적인 샘플링만 해도 </a:t>
            </a:r>
            <a:r>
              <a:rPr kumimoji="1" lang="en-US" altLang="ko-KR" dirty="0"/>
              <a:t>1</a:t>
            </a:r>
            <a:r>
              <a:rPr kumimoji="1" lang="ko-KR" altLang="en-US" dirty="0"/>
              <a:t>초에 </a:t>
            </a:r>
            <a:r>
              <a:rPr kumimoji="1" lang="en-US" altLang="ko-KR" dirty="0"/>
              <a:t>44100</a:t>
            </a:r>
            <a:r>
              <a:rPr kumimoji="1" lang="ko-KR" altLang="en-US" dirty="0"/>
              <a:t>번 샘플링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 err="1"/>
              <a:t>맘바는</a:t>
            </a:r>
            <a:r>
              <a:rPr kumimoji="1" lang="ko-KR" altLang="en-US" dirty="0"/>
              <a:t> 연속적인 데이터를 잘 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과거정보를 잘 압축한다고 함</a:t>
            </a:r>
            <a:r>
              <a:rPr kumimoji="1" lang="en-US" altLang="ko-KR" dirty="0"/>
              <a:t>(..?)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E39BFD-C57B-4457-1F30-243119E8D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11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D644B-1D2A-46A6-47B6-0C418E72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57D10F-DA10-8C28-9F83-45ABAF46C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AD3C79-3111-F2E3-0896-25F7BCB12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대한 간단한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overview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입니다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 다음과 같은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3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가지 표현을 가지고 있습니다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146D35-EA05-49A0-4D8D-E33A3C4AE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4226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0B6F3-226A-D6E2-1F6C-F4C33B32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6B7B37-EA0C-6E65-3118-2F719C029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C25787-5699-C724-AAD2-B64B5C7AC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먼저 앞서 설명한 신호와 같은 연속표현의 데이터를 처리 가능합니다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9FB0AC-73F2-B3FF-0AF7-6F174C64C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1761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26FE9-9420-92E8-DA21-B234586E1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12DF26-6F9D-251A-706B-6DCCF8D77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A5E405-4D6A-C13D-9EBB-5E0E9AEA1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또한 재귀적 표현을 통해서 효율적이고 빠른 추론이 가능합니다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2D16C6-A8A3-F0C6-5044-03A41E0C0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9603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56BAA-E09E-79B4-3B65-200C7F72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850D3A-5F3B-2D3F-94BD-2F94EF39C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27B9F1-450F-13F4-11CF-B6A274BBC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빠른 추론과 더불어 학습에서는 병렬 학습이 가능해 빠른 학습도 가능케 합니다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299E56-BDC0-0348-43DB-423F6CC68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477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3F377-C683-20AA-C384-FEB80AECB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B1CCDA-C906-6498-EEF9-B3CB81A09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752E58-84DE-E230-E43E-17E5F66BF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Control engineering(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진짜 제어와 관련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(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센서 등등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))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과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system identification(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통게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이용해서 수학적 모델 만들기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)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에서 원래 사용되던 모델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어떤 시스템을 설명하기위해 최소한의 변수들이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포함되어있다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최종적으로는 시스템의 가능한 상태를 정의함으로써 수학적으로 풀고자 한 문제를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표현한것을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이라고 한다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EDB93E-8155-213D-5B29-DB5A698BF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0693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1C344-D582-42E3-BF26-C7F5363F0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06C417-D51A-9D4B-FCE4-CBE2E0969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8DAD54-43CD-6295-7FE1-490F56877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이렇게만 말하면 어려우니 예시로 미로를 탐색해보는 상황을 가정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미로라는 시스템을 설명하기 위해서 현재상태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예측한다음상태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액션을 변수로 취하고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문제를 미로에서 탈출로 할 시 사진과 같은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State Space Represent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가 만들어진다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현재 상태에는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x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값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y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값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출구까지 거리가 값으로 있을 수 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10203B-1AE6-744F-91BA-E9CB54473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6468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F774D-BE17-9C73-2B3E-EC31B3427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CFA72B-9A70-7AF0-6586-BB2F71CA8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81E73E-7E69-7D0A-C907-9D2E29E07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이제 이를 수식으로 확인해보자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input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으로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x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받아서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y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출력한다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아까 미로 예시를 다시 가져와 설명하자면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x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time t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에서의 상태를 도달하게 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action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이라 볼 수 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즉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t-1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y(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좌로 이동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우로 이동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)</a:t>
            </a:r>
          </a:p>
          <a:p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H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현재 상황이고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y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할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action</a:t>
            </a: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277E23-B2D0-9315-EE39-C0D54BEE75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6757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E6529-4107-CDD4-9FBA-1134065D5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568327-F85A-49BA-A630-365D06260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834C8E-3FDA-7162-2B33-CBA7D7B88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 </a:t>
            </a:r>
            <a:r>
              <a:rPr lang="ko-KR" altLang="en-US" dirty="0"/>
              <a:t>연속 표현</a:t>
            </a:r>
            <a:r>
              <a:rPr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처리할 수 있으며</a:t>
            </a:r>
            <a:r>
              <a:rPr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</a:t>
            </a:r>
            <a:r>
              <a:rPr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이를 통해 시퀀스 데이터의 연속성을 자연스럽게 모델링할 수 있다</a:t>
            </a:r>
            <a:r>
              <a:rPr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 상태 방정식과 출력 방정식이 존재한다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상태를 업데이트하는 공식은 다음과 같고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</a:t>
            </a: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출력 방정식은 다음과 같다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hyperparameter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15CE02-3D14-5C84-1845-5399DAE5B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3551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1D059-DB21-17BB-9DDD-D81DE6F5E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B0D921-3976-68A8-4BDD-827F2FD7C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761EB6-8350-B875-F470-5842392FB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수식을 그림을 통해 시각화해서 설명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근데 행렬 관련은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틀려있으니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그건 신경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x</a:t>
            </a: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 matrix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hidden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 시간에 따라 어떻게 변하는지를 정의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B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입력이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hidden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어떻게 영향을 미치는지 정의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상태가 어떻게 출력으로 변화하는지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입력이 출력에 어떻게 영향을 미치는지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생략가능한데 왜 생략가능한지는 조금 이따 설명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3AE6B6-B48B-2182-5B31-C090FAEC8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1806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B32F0-2481-E65D-C513-4DE89791B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A44705-2CA1-C252-EB88-30F3093D7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5A639A-8C5C-3093-4020-ADA69A91F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두 방정식을 </a:t>
            </a:r>
            <a:r>
              <a:rPr lang="ko-KR" altLang="en-US" dirty="0" err="1"/>
              <a:t>시각화하면</a:t>
            </a:r>
            <a:r>
              <a:rPr lang="ko-KR" altLang="en-US" dirty="0"/>
              <a:t> 다음과 같은 아키텍처가 나온다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F16527-89F3-BCE2-CCFB-3CE092A5C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4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A1420-554B-351C-F45F-6BDCD740E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B0240F-CC9A-D260-B8AE-66FDAC185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D9963A-C941-433B-7DF6-A20DEF108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</a:t>
            </a:r>
            <a:r>
              <a:rPr lang="ko-KR" altLang="en-US" dirty="0" err="1"/>
              <a:t>아키텍쳐의</a:t>
            </a:r>
            <a:r>
              <a:rPr lang="ko-KR" altLang="en-US" dirty="0"/>
              <a:t> 흐름을 다시 시각화 해서 설명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어떤 입력 신호 </a:t>
            </a:r>
            <a:r>
              <a:rPr lang="en" altLang="ko-KR" b="1" i="1" dirty="0">
                <a:effectLst/>
              </a:rPr>
              <a:t>x(t)</a:t>
            </a:r>
            <a:r>
              <a:rPr lang="ko-KR" altLang="en-US" dirty="0"/>
              <a:t>가 있다고 가정합니다</a:t>
            </a:r>
            <a:r>
              <a:rPr lang="en-US" altLang="ko-KR" dirty="0"/>
              <a:t>. </a:t>
            </a:r>
            <a:r>
              <a:rPr lang="ko-KR" altLang="en-US" dirty="0"/>
              <a:t>이 신호는 먼저 시스템에 입력이 어떻게 영향을 미치는지 설명하는 행렬 </a:t>
            </a:r>
            <a:r>
              <a:rPr lang="en" altLang="ko-KR" dirty="0"/>
              <a:t>B</a:t>
            </a:r>
            <a:r>
              <a:rPr lang="ko-KR" altLang="en-US" dirty="0" err="1"/>
              <a:t>에</a:t>
            </a:r>
            <a:r>
              <a:rPr lang="ko-KR" altLang="en-US" dirty="0"/>
              <a:t> 의해 곱해집니다</a:t>
            </a:r>
            <a:endParaRPr lang="en-US" altLang="ko-KR" dirty="0"/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4CC4FD-E403-4E02-09AA-1118CC23F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7977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B4CBE-2D82-BD09-6290-D949E7DC8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11B8EA-C1DC-3545-D8CC-A6F84E3BD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882357-0590-F24F-4BF2-9E7F83A31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업데이트된 상태</a:t>
            </a:r>
            <a:r>
              <a:rPr lang="en-US" altLang="ko-KR" dirty="0"/>
              <a:t>(</a:t>
            </a:r>
            <a:r>
              <a:rPr lang="ko-KR" altLang="en-US" dirty="0"/>
              <a:t>신경망의 숨겨진 상태와 유사</a:t>
            </a:r>
            <a:r>
              <a:rPr lang="en-US" altLang="ko-KR" dirty="0"/>
              <a:t>)</a:t>
            </a:r>
            <a:r>
              <a:rPr lang="ko-KR" altLang="en-US" dirty="0"/>
              <a:t>는 환경의 핵심 </a:t>
            </a:r>
            <a:r>
              <a:rPr lang="en-US" altLang="ko-KR" dirty="0"/>
              <a:t>"</a:t>
            </a:r>
            <a:r>
              <a:rPr lang="ko-KR" altLang="en-US" dirty="0"/>
              <a:t>지식</a:t>
            </a:r>
            <a:r>
              <a:rPr lang="en-US" altLang="ko-KR" dirty="0"/>
              <a:t>"</a:t>
            </a:r>
            <a:r>
              <a:rPr lang="ko-KR" altLang="en-US" dirty="0"/>
              <a:t>을 포함하는 잠재 공간입니다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우리는 상태에 행렬 </a:t>
            </a:r>
            <a:r>
              <a:rPr lang="en" altLang="ko-KR" dirty="0"/>
              <a:t>A</a:t>
            </a:r>
            <a:r>
              <a:rPr lang="ko-KR" altLang="en-US" dirty="0" err="1"/>
              <a:t>를</a:t>
            </a:r>
            <a:r>
              <a:rPr lang="ko-KR" altLang="en-US" dirty="0"/>
              <a:t> 곱하여 시스템의 내부 상태가 어떻게 연결되어 있는지를 나타냅니다</a:t>
            </a:r>
            <a:r>
              <a:rPr lang="en-US" altLang="ko-KR" dirty="0"/>
              <a:t>.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CB470D-6BD2-C696-432E-5F7B2F05E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8326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3FFF5-5650-23F4-146F-7111A574E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19E084-2248-C3E8-6642-E9A29DE4C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1106D8-0025-D8CE-A366-1099376CB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그런 다음</a:t>
            </a:r>
            <a:r>
              <a:rPr lang="en-US" altLang="ko-KR" dirty="0"/>
              <a:t>, </a:t>
            </a:r>
            <a:r>
              <a:rPr lang="ko-KR" altLang="en-US" dirty="0"/>
              <a:t>우리는 </a:t>
            </a:r>
            <a:r>
              <a:rPr lang="ko-KR" altLang="en-US" i="1" dirty="0">
                <a:effectLst/>
              </a:rPr>
              <a:t>행렬 </a:t>
            </a:r>
            <a:r>
              <a:rPr lang="en" altLang="ko-KR" i="1" dirty="0">
                <a:effectLst/>
              </a:rPr>
              <a:t>C</a:t>
            </a:r>
            <a:r>
              <a:rPr lang="ko-KR" altLang="en-US" dirty="0" err="1"/>
              <a:t>를</a:t>
            </a:r>
            <a:r>
              <a:rPr lang="ko-KR" altLang="en-US" dirty="0"/>
              <a:t> 사용하여 상태를 출력으로 변환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6B2D4B-76A0-D0D6-2236-88C7F80C7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4275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E3AF7-10E0-3424-4206-A4876917F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92BA48-3377-EA08-7CC5-109944B44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BEC78D-5D88-45F8-86CE-6AEA1213F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</a:t>
            </a:r>
            <a:r>
              <a:rPr lang="en-US" altLang="ko-KR" dirty="0"/>
              <a:t>, </a:t>
            </a:r>
            <a:r>
              <a:rPr lang="ko-KR" altLang="en-US" dirty="0"/>
              <a:t>우리는 </a:t>
            </a:r>
            <a:r>
              <a:rPr lang="ko-KR" altLang="en-US" i="1" dirty="0">
                <a:effectLst/>
              </a:rPr>
              <a:t>행렬 </a:t>
            </a:r>
            <a:r>
              <a:rPr lang="en" altLang="ko-KR" i="1" dirty="0">
                <a:effectLst/>
              </a:rPr>
              <a:t>D</a:t>
            </a:r>
            <a:r>
              <a:rPr lang="ko-KR" altLang="en-US" dirty="0" err="1"/>
              <a:t>를</a:t>
            </a:r>
            <a:r>
              <a:rPr lang="ko-KR" altLang="en-US" dirty="0"/>
              <a:t> 사용하여 입력에서 출력으로 직접 신호를 제공할 수 있습니다</a:t>
            </a:r>
            <a:r>
              <a:rPr lang="en-US" altLang="ko-KR" dirty="0"/>
              <a:t>. </a:t>
            </a:r>
            <a:r>
              <a:rPr lang="ko-KR" altLang="en-US" dirty="0"/>
              <a:t>이는 </a:t>
            </a:r>
            <a:r>
              <a:rPr lang="ko-KR" altLang="en-US" dirty="0" err="1"/>
              <a:t>스킵</a:t>
            </a:r>
            <a:r>
              <a:rPr lang="ko-KR" altLang="en-US" dirty="0"/>
              <a:t> 커넥션</a:t>
            </a:r>
            <a:r>
              <a:rPr lang="en-US" altLang="ko-KR" i="1" dirty="0">
                <a:effectLst/>
              </a:rPr>
              <a:t>(</a:t>
            </a:r>
            <a:r>
              <a:rPr lang="en" altLang="ko-KR" i="1" dirty="0">
                <a:effectLst/>
              </a:rPr>
              <a:t>skip-connection)</a:t>
            </a:r>
            <a:r>
              <a:rPr lang="ko-KR" altLang="en-US" dirty="0"/>
              <a:t>이라고도 불립니다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9A0C82-74F9-C7DB-BD2B-368AB7709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3534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6F69C-EAE2-1C08-9BC8-BD266B2AF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49C728-895B-6344-5E61-F4EE3C551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AD3011-A316-F97E-9728-50F905FD5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i="1" dirty="0">
                <a:effectLst/>
              </a:rPr>
              <a:t>행렬 </a:t>
            </a:r>
            <a:r>
              <a:rPr lang="en" altLang="ko-KR" i="1" dirty="0">
                <a:effectLst/>
              </a:rPr>
              <a:t>D</a:t>
            </a:r>
            <a:r>
              <a:rPr lang="ko-KR" altLang="en-US" dirty="0"/>
              <a:t>가 </a:t>
            </a:r>
            <a:r>
              <a:rPr lang="ko-KR" altLang="en-US" dirty="0" err="1"/>
              <a:t>스킵</a:t>
            </a:r>
            <a:r>
              <a:rPr lang="ko-KR" altLang="en-US" dirty="0"/>
              <a:t> 커넥션과 유사하기 때문에</a:t>
            </a:r>
            <a:r>
              <a:rPr lang="en-US" altLang="ko-KR" dirty="0"/>
              <a:t>, </a:t>
            </a:r>
            <a:r>
              <a:rPr lang="en" altLang="ko-KR" dirty="0"/>
              <a:t>SSM</a:t>
            </a:r>
            <a:r>
              <a:rPr lang="ko-KR" altLang="en-US" dirty="0"/>
              <a:t>은 종종 </a:t>
            </a:r>
            <a:r>
              <a:rPr lang="ko-KR" altLang="en-US" i="1" dirty="0" err="1">
                <a:effectLst/>
              </a:rPr>
              <a:t>스킵</a:t>
            </a:r>
            <a:r>
              <a:rPr lang="ko-KR" altLang="en-US" i="1" dirty="0">
                <a:effectLst/>
              </a:rPr>
              <a:t> 커넥션 </a:t>
            </a:r>
            <a:r>
              <a:rPr lang="ko-KR" altLang="en-US" dirty="0"/>
              <a:t>없이 아래와 같이 간주됩니다</a:t>
            </a:r>
            <a:r>
              <a:rPr lang="en-US" altLang="ko-KR" dirty="0"/>
              <a:t>.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260A27-5C48-DC0C-3FDE-A2BA31942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6212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A5956-281E-2484-21DD-C3AD19219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DBBC7E-0252-0788-1DDA-A0BD68788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6AF9C4-591A-EB2C-2C2A-6FB736014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따라서 행렬 </a:t>
            </a:r>
            <a:r>
              <a:rPr lang="en-US" altLang="ko-KR" dirty="0"/>
              <a:t>ABC</a:t>
            </a:r>
            <a:r>
              <a:rPr lang="ko-KR" altLang="en-US" dirty="0" err="1"/>
              <a:t>에만</a:t>
            </a:r>
            <a:r>
              <a:rPr lang="ko-KR" altLang="en-US" dirty="0"/>
              <a:t> 집중한다</a:t>
            </a:r>
            <a:endParaRPr lang="en-US" altLang="ko-KR" dirty="0"/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0892E0-FAE6-7766-E1D4-822EE2CE7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3747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E3CED-0900-F4B4-35C1-D39F3E8D6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D74682-591A-C053-B5A2-915C51608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A503B9-FEE4-AAFC-C9FD-D9BCC1688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행렬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ABC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학습하지 않는 지정된 변수이기에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lang="en" altLang="ko-KR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Linear Time Invariant System</a:t>
            </a:r>
            <a:r>
              <a:rPr kumimoji="1" lang="ko-KR" altLang="en-US" b="0" i="0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이다</a:t>
            </a:r>
            <a:r>
              <a:rPr kumimoji="1" lang="en-US" altLang="ko-KR" b="0" i="0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r>
              <a:rPr kumimoji="1" lang="ko-KR" altLang="en-US" b="0" i="0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선형성을 가지고 있고 이와 더불어 시불변성을 가지고 있다</a:t>
            </a:r>
            <a:r>
              <a:rPr kumimoji="1" lang="en-US" altLang="ko-KR" b="0" i="0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endParaRPr kumimoji="1" lang="en-US" altLang="ko-KR" b="0" i="0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b="0" i="0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시불변성이란</a:t>
            </a:r>
            <a:r>
              <a:rPr kumimoji="1" lang="ko-KR" altLang="en-US" b="0" i="0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lang="en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input</a:t>
            </a:r>
            <a:r>
              <a:rPr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 </a:t>
            </a:r>
            <a:r>
              <a:rPr lang="en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time-shift</a:t>
            </a:r>
            <a:r>
              <a:rPr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되었을 때도</a:t>
            </a:r>
            <a:r>
              <a:rPr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</a:t>
            </a:r>
            <a:r>
              <a:rPr lang="en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output</a:t>
            </a:r>
            <a:r>
              <a:rPr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도 동일한 크기만큼 </a:t>
            </a:r>
            <a:r>
              <a:rPr lang="en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time-shift </a:t>
            </a:r>
            <a:r>
              <a:rPr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된다는 것</a:t>
            </a:r>
            <a:r>
              <a:rPr kumimoji="1" lang="ko-KR" altLang="en-US" b="0" i="0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의미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같은 인풋에 대해 시간이 지나도 같은 아웃풋을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내놓는것</a:t>
            </a:r>
            <a:endParaRPr kumimoji="1" lang="en-US" altLang="ko-KR" b="0" i="0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EBBC5A-C75F-76EC-6981-7FDEBD172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1914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CB461-252A-55E7-231E-6D62BA423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F9FD3B-650E-814E-9D2A-2FA35F99F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36DB2D-C96D-1FC0-C69A-5D362845D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지금까지의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봤을때는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그래서 뭐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?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할 수 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지금부터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사용했을때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얻을 수 있는 장점에 대해서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 연속표현을 사용함에도 시스템을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이산화하여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사용할 수 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따라서 본래의 상태 방정식인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상미분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방정식을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오일러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방식을 통해서 풀이하면 다음과 같은 식을 얻을 수 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이를 통해서 이산 표현을 사용가능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7B9EAF-54DE-A1A6-4DA2-A0C958761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9818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B9B0-1436-E6A5-A016-13CC6ED39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A973DD-1CF0-0205-3F05-4D8FCBE54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2793D0-7607-BB59-FD06-434A69AED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이렇게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continuous 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discrete SSM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으로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사용한다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이로 인허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text,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graph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와 같은 이산데이터도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사용가능하다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endParaRPr kumimoji="1" lang="en-US" altLang="ko-KR" b="0" i="0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250578-1391-150B-EDBA-AAECA400CE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4167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61438-DE0A-E400-8060-C69536B2E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D26612-EE10-5C42-0934-01052B265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8456B3-B2E5-D135-284E-453678A83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이산화 된 방정식들을 보면 어떤 모델의 수식과 굉장히 유사하다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AD7A75-6F0F-85C8-5C50-C5AB5925CE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5662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82B37-A9DD-3623-2A21-125B1D716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3EF515-0100-32DF-5D87-96350C048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B32C08-980C-ED32-7F5B-C07CBFF7E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각 타임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스탭에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계산을 시각화 한 내용입니다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맨처음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타임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스탭에서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Ah_-1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 무시되어서 다음과 같은 연산이 이루어 집니다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그후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타임스탭에서는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이전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히든을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가져와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히든을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업데이트 하고 업데이트된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히든을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바탕으로 출력을 생성합니다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이를 반복하게 됩니다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9D4602-FB6F-3C52-A596-1F4F6535DB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1454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C6D2C-F05E-9020-53CE-25F028C8A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42D329-38FD-5636-8D35-8A9C52D9F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9918BC-57A1-1085-586E-5C8B9310D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 표현을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RNN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처럼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생각하고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의 이산화시스템을 다시 시각화 해보면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RNN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과 동일한 형태가 나옵니다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4C083D-81BC-382A-18E2-63C38DFF6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2572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BB9A-2B02-0A19-7AAD-DED66479A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A72823-BB97-7D2E-10B6-8702A3B74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F4E698-EC8A-51DD-773D-C503AB4CB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또한 다음과 같이 펼칠</a:t>
            </a:r>
            <a:r>
              <a:rPr lang="en-US" altLang="ko-KR" dirty="0"/>
              <a:t>(</a:t>
            </a:r>
            <a:r>
              <a:rPr lang="ko-KR" altLang="en-US" dirty="0"/>
              <a:t>또는 펼쳐</a:t>
            </a:r>
            <a:r>
              <a:rPr lang="en-US" altLang="ko-KR" dirty="0"/>
              <a:t>) </a:t>
            </a:r>
            <a:r>
              <a:rPr lang="ko-KR" altLang="en-US" dirty="0"/>
              <a:t>수 있다</a:t>
            </a:r>
            <a:endParaRPr lang="en-US" altLang="ko-KR" dirty="0"/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이를 통해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이산화된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버전은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RNN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의 기본 방법론을 이용함을 살펴볼 수 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r>
              <a:rPr lang="ko-KR" altLang="en-US" dirty="0"/>
              <a:t>이 기술은 </a:t>
            </a:r>
            <a:r>
              <a:rPr lang="en" altLang="ko-KR" dirty="0"/>
              <a:t>RNN</a:t>
            </a:r>
            <a:r>
              <a:rPr lang="ko-KR" altLang="en-US" dirty="0"/>
              <a:t>의 장단점을 모두 제공합니다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빠른 추론과 느린 훈련입니다</a:t>
            </a:r>
            <a:r>
              <a:rPr lang="en-US" altLang="ko-KR" dirty="0"/>
              <a:t>.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92BE2A-B2B0-DCA8-9722-BE34DD7C3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2757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6098E-0D76-9720-7983-82F81B811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75D9C7-BE83-A7B6-B8EA-9976A65919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9CCEE9-2ABD-EAF4-DD28-D43799A7E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분명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rnn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 이런 모델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아키텍쳐로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인해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vanishing/exploding gradient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문제와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어떻게든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메모리에 값들을 잘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저장할려는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많은 노력들이 있었다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그럼에도 사실상 트랜스포머와 비교될 정도의 퍼포먼스는 보여주지 못했는데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그럼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RNN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과 무엇이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다른가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A1A949-FC4E-1845-EA36-314486275A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9169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07795-4767-CE4B-7B82-F589BBF8C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0A6E62-EA54-A54D-7415-F2D71C396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42E40A-7A6B-1118-A940-C2541FDE8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먼저 성능과 관련해서 무엇이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다른지는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후에 개량된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통해서 얘기해 볼 것이고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</a:t>
            </a: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특징과 관련해서 얘기를 먼저 해보자면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RNN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과 똑같은 원리로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discreate domain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에서도 사용할 수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있는것은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맞다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하지만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우리가 가진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파라미터는 도함수를 운용하는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A, B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바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B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바가 아니다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따라서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학습중에서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이산화 행렬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AB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가 아닌 연속 행렬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AB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저장하고 사용한다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  <a:b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</a:b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의 장점은 이러한 연속적인 흐름을 기반으로 시스템의 미세한 변화를 더 잘 모델링할 수 있다는 점입니다</a:t>
            </a:r>
            <a:r>
              <a:rPr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시간 변화가 연속적인 시스템에서 데이터를 잘 반영할 수 있기 때문에 시스템의 물리적 성질을 더 정확하게 반영할 수 있습니다</a:t>
            </a:r>
            <a:r>
              <a:rPr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RNN</a:t>
            </a:r>
            <a:r>
              <a:rPr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의 한계는 시간의 연속성을 명확하게 다루지 않기 때문에</a:t>
            </a:r>
            <a:r>
              <a:rPr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 </a:t>
            </a:r>
            <a:r>
              <a:rPr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시간에 따른 미세한 변화를 반영하는 데에는 한계가 있을 수 있다는 점입니다</a:t>
            </a:r>
            <a:r>
              <a:rPr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연속적인 시간 흐름을 반영하지 않는 구조이므로</a:t>
            </a:r>
            <a:r>
              <a:rPr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</a:t>
            </a:r>
            <a:r>
              <a:rPr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물리적 시간 흐름이 중요한 문제에 대해서는 성능이 제한적일 수 있습니다</a:t>
            </a:r>
            <a:r>
              <a:rPr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1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724EE9-AE75-9EBD-0AD1-F2061A0DAB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9241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9A36E-EA84-8013-F13D-4B736CB22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419402-FEE6-7C41-339C-0C8D1DF65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BD8027-8A68-013B-8A1B-AD66A8208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그 다음 다뤄볼 내용은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의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convolutional representation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과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관련해서입니다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먼저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convolution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하면 당연히 앞에 사진과 같은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cnn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에서 사용되는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2d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이미지용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convolution kernel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떠올리실 겁니다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108BD6-F98B-7136-67C3-BD15031B4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3326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B0E90-641A-C7D6-E1D9-33A20B52F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A2ED8E-0146-9D44-9170-C5C2415C6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FFACFA-A83D-E10F-6693-3725BDA4A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그러나 </a:t>
            </a:r>
            <a:r>
              <a:rPr lang="ko-KR" altLang="en-US" dirty="0"/>
              <a:t>우리는 이미지가 아닌 텍스트 등과 같은 </a:t>
            </a:r>
            <a:r>
              <a:rPr lang="en-US" altLang="ko-KR" dirty="0"/>
              <a:t>1</a:t>
            </a:r>
            <a:r>
              <a:rPr lang="ko-KR" altLang="en-US" dirty="0"/>
              <a:t>차원 데이터를 다루고 있기 때문에 </a:t>
            </a:r>
            <a:r>
              <a:rPr lang="en-US" altLang="ko-KR" dirty="0"/>
              <a:t>1</a:t>
            </a:r>
            <a:r>
              <a:rPr lang="ko-KR" altLang="en-US" dirty="0"/>
              <a:t>차원 관점으로 바꿔서 생각할 필요가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358714-34D6-CF06-490A-89BB74AE0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9955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F96DB-F54A-EC45-A8A4-DDE55D935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22AE0A-C9F6-5900-D658-500116C0E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1A6423-CD39-ED5F-A9DB-72BBD2B1D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convolutional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얘기가 나왔을까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?</a:t>
            </a: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재귀적 표현 수식을 보면서 다시 생각해보자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B7998A-1CE2-947C-F261-2C588EEF6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0302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A60C8-8356-8273-9435-2D5ADC752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254237-CA87-8D49-AD94-4C6A1BEB7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E94DAF-4B9E-F8ED-6807-DB27606F1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T=0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부터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3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까지 표현한 수식입니다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히든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상태를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가져오는것을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이전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히든과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동등한 값으로 계속 대입해주면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y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값의 식에서 비슷한 부분을 찾을 수 있습니다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AF25EA-6AC2-B447-4850-0776A12B9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0249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B5F16-95B3-C7AF-0F01-AC797E122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437052-5481-6055-3070-9F6AFC254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E8294C-D89B-A51A-F997-B08E76AA1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따라서 커널을 다음과 같은 식으로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출력은 다음과 같은 식으로 정의 할 수 있습니다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K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의 값은 시퀀스의 길이와 같게 됩니다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그림을 통해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convolution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임을 좀 더 직관적으로 확인 해봅시다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D7DB07-3FC7-DC14-F050-2BA22A87DC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992800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1B0B4-9054-04BD-3BA6-B03CF6223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FC6754-FEBB-874D-56FE-77D77253B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0B6D53-AF85-1A95-CED4-10BCFC87B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먼저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input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 커널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K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의 수에서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1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뺀만큼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앞에 패딩이 됩니다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아까 수식을 통해서 보셨다면 이는 수학적으로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당연하다는걸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이해하실 수 있습니다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Kernel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의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Stride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1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로 해서 계속 커널을 우측으로 옮겨 봅시다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8D0162-2CC0-8BFA-73DF-C9D739710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2194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ED6DB-BF62-8628-8A5A-EB46AEDFB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F53296-0823-B524-03F4-40920F00A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651BA-3809-F355-1E98-E77182CFD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772BBF-CDBA-63B1-85B7-2A6F2C9AB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78640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56D66-A3DD-FA3A-052D-BBE4D0768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7FCD4C-DA7D-BC8E-A0B2-00453C121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188DF6-73DD-97EC-2CA3-56E31A37C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dirty="0"/>
              <a:t>SSM</a:t>
            </a:r>
            <a:r>
              <a:rPr lang="ko-KR" altLang="en-US" dirty="0"/>
              <a:t>을 </a:t>
            </a:r>
            <a:r>
              <a:rPr lang="ko-KR" altLang="en-US" dirty="0" err="1"/>
              <a:t>컨볼루션으로</a:t>
            </a:r>
            <a:r>
              <a:rPr lang="ko-KR" altLang="en-US" dirty="0"/>
              <a:t> 표현하는 주요 이점은 그것이 </a:t>
            </a:r>
            <a:r>
              <a:rPr lang="ko-KR" altLang="en-US" dirty="0" err="1"/>
              <a:t>컨볼루션</a:t>
            </a:r>
            <a:r>
              <a:rPr lang="ko-KR" altLang="en-US" dirty="0"/>
              <a:t> 신경망</a:t>
            </a:r>
            <a:r>
              <a:rPr lang="en-US" altLang="ko-KR" dirty="0"/>
              <a:t>(</a:t>
            </a:r>
            <a:r>
              <a:rPr lang="en" altLang="ko-KR" dirty="0"/>
              <a:t>CNNs)</a:t>
            </a:r>
            <a:r>
              <a:rPr lang="ko-KR" altLang="en-US" dirty="0" err="1"/>
              <a:t>처럼</a:t>
            </a:r>
            <a:r>
              <a:rPr lang="ko-KR" altLang="en-US" dirty="0"/>
              <a:t> 병렬적으로 훈련될 수 있다는 것</a:t>
            </a:r>
            <a:endParaRPr lang="en-US" altLang="ko-KR" dirty="0"/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RNN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과 달리 이전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히든이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계산 되지 않아도 위와 같이 동일한 커널을 계속 곱해버리면 되기 때문에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55E28D-00BE-1585-A5B4-C0E6495E7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47576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C7CEB-D548-3A64-D9D3-C0C5C77CD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DF3C5F-A99B-9B6F-4549-0167BB95B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DE1043-5221-C4C4-E6B3-4B4B3F358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그럼 이 병렬화가 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RNN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에서는 불가능한가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?</a:t>
            </a: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기술적으로 안되는 이유는 크게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2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가지이다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먼저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RNN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time-variant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하다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 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 모든 매트릭스가 고정된 값이다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(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좀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있다가는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아니지만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)</a:t>
            </a: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그러나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RNN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 시간에 따라 가중치가 업데이트 되기에 다음과 같은 연산이 불가하다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두번째언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RNN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activation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함수 등을 사용하기에 비선형적이다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따라서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과 같은 연산이 성립되지 않는다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4BA49B-0343-CF58-B802-5C9A0CE24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53239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B2107-8296-E0D7-5D89-2A3A2B1EF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9FF5CA-D4A1-4D3B-D3B9-F79A63CC9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CCDF83-A465-1CB1-BBC2-EBB4D7C01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지금까지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Mamba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기본이 되는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State Space Model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의 특징 들을 배워 보았다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연속 표현을 입력으로 받는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 이를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이산화시킨다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물론 이산 표현 데이터 자체를 입력으로 받기도 한다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이산화한 데이터를 가지고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recurrent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혹은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convolutional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하게 사용한다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그럼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recurrent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convolutional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 각각 언제 사용하는가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Recurrent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이전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히든만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가지고 오면 되기에 빠른 추론이 가능하지만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이로인해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이전값에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의존적이기에 병렬 학습이 불가능하다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이와 반대로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convolutioinal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이전값과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독립적인 연산이 가능해 병렬 학습이 가능하지만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고정된 커널 크기로 인해 추론에서는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RNN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처럼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빠르지 않다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0D0302-D5C2-8186-5EBC-3C16FD053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95798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7BB87-916B-CA35-D629-0B9C29041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2B909D-4D63-9754-901E-CF4A80DA2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515802-AD3B-B597-9B51-B721B18E7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따라서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 둘의 장점만 살려서 학습때에서는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convolutional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representation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사용하고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추론때에는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recurrent representation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사용한다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7AEAE6-7A3D-FC5F-B485-338830FD2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0733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8DB1-1C82-A3D3-C947-151105042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5FA88C-725C-E17A-68B1-27C4BDD15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119C56-80A7-8CE5-5384-A34CC1EC6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이렇게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학습에는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convolution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추론에는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recursion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사용한 레이어를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LSSL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이라고 한다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이를 깊게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일반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deep neural network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처럼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쌓을때는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기존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standard sequence model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인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resnet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이나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transformer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와 같이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normalization layer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residual connection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추가한다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32F097-1B9D-4762-AAC9-5D165FD3F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5262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4B46D-66AC-D582-4610-C874C31E0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11D715-593A-D550-AC76-7CB09B570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ED044D-8123-9364-8762-97434776A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이제 잠시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LSSL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변수들의 차원에 대해서 짚고 넘어가겠습니다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앞서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설명드렸던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수식입니다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스칼라 인풋을 받아 스칼라 아웃풋을 내는데요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우리는 기본적으로 인풋을 스칼라로 넣지 않고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또한 아웃풋을 스칼라로 받지 않습니다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예를 들어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language model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이라면 한 토큰을 스칼라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1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로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받지않고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d_model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로 차원을 확장하는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워드임베딩을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사용합니다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7294FC-2B3E-8894-700B-76BA6ED5A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702221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092EA-F03D-B47C-84B7-14AEAFE1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D0F206-D706-9F91-99C3-39EAB4247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70BE3A-3187-3FF9-F2CB-62397BE3B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따라서 인풋 아웃풋 둘 다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d_model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로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될수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있게 다음과 같이 식을 변경해주면 될 것입니다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그러나 실상은 이와 같이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dimension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정의 하지는 않습니다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B67858-3EA9-97CA-8CE4-0032E35F1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45105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66C9A-7001-96AA-3F2F-3CDAB9DD7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DE8B2A-F8BD-B928-3A2C-10963C843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8E856D-0547-AA58-D965-853FD58E2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실제로는 위와 같이 정의 합니다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첫번째 이유는 차원 불일치로 발생하는 정보손실 때문입니다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예를 들어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d_model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보다 클 시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x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d_model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의 차원에서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B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와 곱해져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차원으로 축소되어 버립니다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반대의 경우는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h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n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차원에서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와 곱해져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d_model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차원으로 축소되어 버린다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두번째 이유는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d_model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개의 독립적인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system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구축을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위해서입니다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와같이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정의시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B83D36-F647-0DE7-9026-4EED0A939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53163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FFCB8-1430-A1FF-987F-6512E45CF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E873B6-78A4-6DA4-D72C-6230D6DCA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D17A54-188F-6DF0-393D-832CC33CF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D5CDAC-3361-BE06-1F04-0AE411C5A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28187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7BCD8-5345-51E6-99CD-6D3FCF1FF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7B9653-2CE7-7339-BDA2-BBCAB915E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5ECCDD-79A8-E2C2-D457-B093BEA7B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5BAFEC-2707-F0D1-7853-71F41DF77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00046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ABA40-2C8B-A7A8-A446-67964D474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167DED-EED0-F167-1D36-18E862AE2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DF4A19-D3EF-23BC-D14F-9A1248370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0A515B-BC0E-9F96-7798-585E13590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53466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3743B-2A77-389E-E02C-4947B34BE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8A2AB5-82BD-8CB5-B63B-E4942B86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28FC0F-7C8F-0F45-D9F4-BC672BA57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0BC5BD-3883-DC8A-BD83-58317D20F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25388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3CF62-94A4-F4AC-E41E-5C2A8099D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1BC5A3-3889-6DFE-F6EC-10C978D6D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336096-F8C6-D0E3-F457-5604CAF90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실제로는 위와 같이 정의 합니다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첫번째 이유는 차원 불일치로 발생하는 정보손실 때문입니다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예를 들어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d_model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보다 클 시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x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d_model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의 차원에서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B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와 곱해져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차원으로 축소되어 버립니다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반대의 경우는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h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n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차원에서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와 곱해져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d_model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차원으로 축소되어 버린다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두번째 이유는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d_model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개의 독립적인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system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구축을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위해서입니다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A,B,C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헹렬이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학습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가능할시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d_model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개의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ABC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행렬이 만들어지므로 차원별로 다른 시퀀스를 학습하는 독립적인 시스템 구축가능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902761-44C1-33E5-7B5D-9E2A4707D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69648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3B8DB-45E3-5410-7B87-24EF9B4A2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35950B-3116-2EC9-47DA-D84441A39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A6C9F1-4CE4-8A1A-F7ED-21CD929CC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이제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파라이터와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관련하여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 matrix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집중한다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행렬은 메모리를 업데이트하기에 상당히 중요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허나 구조가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RNN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그대로 따라가기에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기울기 측면에서 불안정하다는 것도 그대로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딸려옴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따라서 초기 랜덤 이니셜 값을 사용하면 최적화하기 어려움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초기 생성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의 따라 몇개의 이전 토큰 만 볼지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몇십개가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봐질지가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차이가난다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3E8D1D-A824-146F-EA05-C82746030D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16280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F5186-744B-AB8D-D14F-0C79C12A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09A88C-12CC-C43B-B608-C9E55C3DF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5F4F61-9A08-2F03-C584-9D22B4F2F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 matrix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정하는 문제에 대해서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HiPPO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라는 방법론을 살펴보겠습니다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아 참고로 오늘 보는 논문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1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개빼고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3-4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개는 전부 한 공통 저자가 작성하였습니다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우선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Hippo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LSSL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레이어가 만들어지기 전에 선행된 연구인데요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Rnn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의 메모리를 더 잘 저장하기 위해서 발견된 방안입니다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긴시쿼스를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처리할 때 이전 정보를 잃는 문제와 장기의존성 학습 문제를 개선하였습니다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앞에서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설명드렸다시피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이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 matrix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rnn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의 것과 기능적 기술적 유사하기에 이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hippo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사용함으로써 성능을 증가시킵니다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	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먼저 이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히포는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상당히 수학적이기에 </a:t>
            </a:r>
            <a:r>
              <a:rPr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라게르</a:t>
            </a:r>
            <a:r>
              <a:rPr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(</a:t>
            </a:r>
            <a:r>
              <a:rPr lang="en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Laguerre) </a:t>
            </a:r>
            <a:r>
              <a:rPr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다항식</a:t>
            </a:r>
            <a:r>
              <a:rPr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</a:t>
            </a:r>
            <a:r>
              <a:rPr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르장드르</a:t>
            </a:r>
            <a:r>
              <a:rPr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(</a:t>
            </a:r>
            <a:r>
              <a:rPr lang="en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Legendre) </a:t>
            </a:r>
            <a:r>
              <a:rPr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다항식</a:t>
            </a:r>
            <a:r>
              <a:rPr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</a:t>
            </a:r>
            <a:r>
              <a:rPr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그리고 다항식 투영 연산자</a:t>
            </a:r>
            <a:r>
              <a:rPr lang="en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(Polynomial Projection Operator) </a:t>
            </a:r>
            <a:r>
              <a:rPr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등을 선행으로 알고 있어야 합니다</a:t>
            </a:r>
            <a:r>
              <a:rPr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그렇기에 자세히 설명하지는 않겠습니다</a:t>
            </a:r>
            <a:endParaRPr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아무튼 사진과 같은 방법에서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g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위 사진과 같이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f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와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g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의 차이를 줄여주는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계수로 갖는 직교하는 다항식의 선형결합으로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u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scaled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르장드르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다항식으로 선택했더니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다음과 같은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B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행렬을 얻을 수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있었댑니다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30C6F6-0F87-5FF4-688F-E5F660E1F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77175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0354-BA23-98EE-2D8B-7F7952F5B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7BCD75-BCBD-5A9D-BE13-4229E5B87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2ED830-AE49-A8A2-DF20-005544960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여기서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B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사용하지 않고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그대로 사용하게 됩니다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(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오래된건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0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으로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해서 잊고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자기자신은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n+1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로 선형적 증가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최근건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쌔게 기억하는 느낌의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행렬인거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같음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정확히는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-1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곱해서 음수로 쓰는데 원인은 모르겠습니다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hippo framework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사용하면서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추가적인 훈련을 시키거나 하곤 했습니다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6EB358-ED50-5FF9-3098-7A756E29C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58041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6AC4-7247-AA00-A15D-2B9FCE694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BE894B-750F-AC81-A889-699066647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258CC1-3047-7EBF-E31B-E7BBB8F0C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이제 마지막 배경지식인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structured State Space, S4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대해서 설명하겠습니다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LSSL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에서 계산을 위와 같이 하는데 하나의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bottleneck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확인해 보실 수 있을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것니다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9886F3-5DA3-805B-E8FE-BC72ABFEE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60253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9E693-1E89-FF0B-A634-54E8698A8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A70409-77B2-5F96-8D81-402C667B4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B8C75A-E935-8D57-56FF-6052494DA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N by n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사이즈를 가지고 있는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행렬이 상당히 많이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제곱되어서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사용되는 것 입니다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B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n by 1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이거나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1 by n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이어사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O(N)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의 타임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컴플렉시티를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가지는데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이와 같이 행해지는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O(n^2)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의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타임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컴플렉시티를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가지기에 병목현상이 발생합니다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D8723C-3F17-5484-978C-252296450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98385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9A3DB-E54A-2B26-5328-11EBA17F5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E78F85-200D-675B-9F52-0E0379AEA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18BF42-E3F5-856D-1778-E55EC57F7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이를 해결하기 위해서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S4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논문은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행렬의 대각화를 제안한다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사실상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s4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논문에서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제안한건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아니고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S4D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에서 제안했다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S4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논문에서는 대각화가 필요한데 안된다 하면서</a:t>
            </a:r>
            <a:r>
              <a:rPr lang="en" altLang="ko-KR" dirty="0"/>
              <a:t> </a:t>
            </a:r>
            <a:r>
              <a:rPr lang="en-US" altLang="ko-KR" dirty="0"/>
              <a:t>Diagonal</a:t>
            </a:r>
            <a:r>
              <a:rPr lang="en" altLang="ko-KR" dirty="0"/>
              <a:t> Plus Low-Rank</a:t>
            </a:r>
            <a:r>
              <a:rPr lang="ko-KR" altLang="en-US" dirty="0" err="1"/>
              <a:t>를</a:t>
            </a:r>
            <a:r>
              <a:rPr lang="ko-KR" altLang="en-US" dirty="0"/>
              <a:t> 제안하면서 연산을 줄였고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S4D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에서 마침내 대각화 기법인 </a:t>
            </a:r>
            <a:r>
              <a:rPr lang="en" altLang="ko-KR" dirty="0"/>
              <a:t>diagonal plus low-rank</a:t>
            </a:r>
            <a:r>
              <a:rPr lang="ko-KR" altLang="en-US" dirty="0" err="1"/>
              <a:t>를</a:t>
            </a:r>
            <a:r>
              <a:rPr lang="ko-KR" altLang="en-US" dirty="0"/>
              <a:t> 제안함으로써 완전한 대각화를 이룬다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어떻게 이루는지는 생략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근데 정확히 처음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diaagonal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 가능한지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밝힌것은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출처 두번째로 적힌 논문에서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IBM researcher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도와주다가 발견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아무튼 대각화를 통해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행렬 계산도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O(N)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으로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낮춰 병목 제거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BB61A4-87AB-F17E-4BB4-5D76C82A54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38731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43CC2-2D25-C91B-7DD7-729B15B7F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336CFA-4229-CEDD-CC28-C9027FE2B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3D5A8C-1E16-4808-7471-E7C62DA1C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이제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맘바의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대해서 알아 봅시다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A3E20E-3B2B-2601-9267-62D132040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19997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52BB8-A121-CA4F-87B3-83154FDD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820DCE-7D24-5DF2-9167-A9121683A5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4D330F-0005-8581-FA3B-055A87B3D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이제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맘바의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대해서 알아 봅시다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맘바는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두가지 큰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매써드를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제안합니다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첫번째는 언어 선택과 관련한 문제이고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두번째는 첫번쨰 문제를 해결하면서 나온 문제를 해결한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매써드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입니다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5BF15A-A87B-5D50-5150-DAF6F298F9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16862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7348A-3E8D-1BDD-2BFE-2F92E8020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D8FC47-0B5F-E215-E771-ED3A298B0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12DBC6-FB76-D3F4-778B-C1FE808D3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i="0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선택 </a:t>
            </a:r>
            <a:r>
              <a:rPr kumimoji="1" lang="ko-KR" altLang="en-US" i="0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매커니즘</a:t>
            </a:r>
            <a:r>
              <a:rPr kumimoji="1" lang="ko-KR" altLang="en-US" i="0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중에 </a:t>
            </a:r>
            <a:endParaRPr kumimoji="1" lang="en-US" altLang="ko-KR" i="0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i="0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Selective copying</a:t>
            </a:r>
            <a:r>
              <a:rPr kumimoji="1" lang="ko-KR" altLang="en-US" i="0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</a:t>
            </a:r>
            <a:r>
              <a:rPr kumimoji="1" lang="ko-KR" altLang="en-US" i="0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대해서 먼저 봅시다</a:t>
            </a:r>
            <a:endParaRPr kumimoji="1" lang="en-US" altLang="ko-KR" i="0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i="0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이건 </a:t>
            </a:r>
            <a:r>
              <a:rPr kumimoji="1" lang="en-US" altLang="ko-KR" i="0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task</a:t>
            </a:r>
            <a:r>
              <a:rPr kumimoji="1" lang="ko-KR" altLang="en-US" i="0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지 </a:t>
            </a:r>
            <a:r>
              <a:rPr kumimoji="1" lang="ko-KR" altLang="en-US" i="0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매써드는</a:t>
            </a:r>
            <a:r>
              <a:rPr kumimoji="1" lang="ko-KR" altLang="en-US" i="0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아닙니다</a:t>
            </a:r>
            <a:endParaRPr kumimoji="1" lang="en-US" altLang="ko-KR" i="0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i="0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i="0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필요한거</a:t>
            </a:r>
            <a:r>
              <a:rPr kumimoji="1" lang="ko-KR" altLang="en-US" i="0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선택 혹은 </a:t>
            </a:r>
            <a:r>
              <a:rPr kumimoji="1" lang="ko-KR" altLang="en-US" i="0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불필요한거</a:t>
            </a:r>
            <a:r>
              <a:rPr kumimoji="1" lang="ko-KR" altLang="en-US" i="0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제거</a:t>
            </a:r>
            <a:endParaRPr kumimoji="1" lang="en-US" altLang="ko-KR" i="0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i="0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이걸 </a:t>
            </a:r>
            <a:r>
              <a:rPr kumimoji="1" lang="en-US" altLang="ko-KR" i="0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ko-KR" altLang="en-US" i="0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 잘 하지 못 한다</a:t>
            </a:r>
            <a:endParaRPr kumimoji="1" lang="en-US" altLang="ko-KR" i="0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i="0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lang="ko-KR" altLang="en-US" i="0" dirty="0"/>
              <a:t>이는 </a:t>
            </a:r>
            <a:r>
              <a:rPr lang="ko-KR" altLang="en-US" b="1" i="0" dirty="0"/>
              <a:t>선형 시간 불변성</a:t>
            </a:r>
            <a:r>
              <a:rPr lang="en-US" altLang="ko-KR" b="1" i="0" dirty="0"/>
              <a:t>(LTI, linear Time </a:t>
            </a:r>
            <a:r>
              <a:rPr lang="en-US" altLang="ko-KR" b="1" i="0" dirty="0" err="1"/>
              <a:t>Invarient</a:t>
            </a:r>
            <a:r>
              <a:rPr lang="en-US" altLang="ko-KR" b="1" i="0" dirty="0"/>
              <a:t>)</a:t>
            </a:r>
            <a:r>
              <a:rPr lang="ko-KR" altLang="en-US" i="0" dirty="0"/>
              <a:t> 때문입니다</a:t>
            </a:r>
            <a:r>
              <a:rPr lang="en-US" altLang="ko-KR" i="0" dirty="0"/>
              <a:t>.</a:t>
            </a:r>
          </a:p>
          <a:p>
            <a:r>
              <a:rPr lang="ko-KR" altLang="en-US" i="0" dirty="0"/>
              <a:t>앞서 본 것처럼</a:t>
            </a:r>
            <a:r>
              <a:rPr lang="en-US" altLang="ko-KR" i="0" dirty="0"/>
              <a:t>, </a:t>
            </a:r>
            <a:r>
              <a:rPr lang="ko-KR" altLang="en-US" i="0" dirty="0"/>
              <a:t>행렬 </a:t>
            </a:r>
            <a:r>
              <a:rPr lang="en" altLang="ko-KR" i="0" dirty="0"/>
              <a:t>A, B, C</a:t>
            </a:r>
            <a:r>
              <a:rPr lang="ko-KR" altLang="en-US" i="0" dirty="0"/>
              <a:t>는 </a:t>
            </a:r>
            <a:r>
              <a:rPr lang="en" altLang="ko-KR" i="0" dirty="0"/>
              <a:t>SSM</a:t>
            </a:r>
            <a:r>
              <a:rPr lang="ko-KR" altLang="en-US" i="0" dirty="0"/>
              <a:t>이 생성하는 모든 토큰에 대해 동일합니다</a:t>
            </a:r>
            <a:r>
              <a:rPr lang="en-US" altLang="ko-KR" i="0" dirty="0"/>
              <a:t>.</a:t>
            </a:r>
          </a:p>
          <a:p>
            <a:r>
              <a:rPr lang="ko-KR" altLang="en-US" i="0" dirty="0"/>
              <a:t>결과적으로</a:t>
            </a:r>
            <a:r>
              <a:rPr lang="en-US" altLang="ko-KR" i="0" dirty="0"/>
              <a:t>, </a:t>
            </a:r>
            <a:r>
              <a:rPr lang="en" altLang="ko-KR" i="0" dirty="0"/>
              <a:t>SSM</a:t>
            </a:r>
            <a:r>
              <a:rPr lang="ko-KR" altLang="en-US" i="0" dirty="0"/>
              <a:t>은 내용 인식 추론을 수행할 수 없습니다</a:t>
            </a:r>
            <a:r>
              <a:rPr lang="en-US" altLang="ko-KR" i="0" dirty="0"/>
              <a:t>. </a:t>
            </a:r>
            <a:r>
              <a:rPr lang="ko-KR" altLang="en-US" i="0" dirty="0"/>
              <a:t>고정된 </a:t>
            </a:r>
            <a:r>
              <a:rPr lang="en" altLang="ko-KR" i="0" dirty="0"/>
              <a:t>A, B, C </a:t>
            </a:r>
            <a:r>
              <a:rPr lang="ko-KR" altLang="en-US" i="0" dirty="0"/>
              <a:t>행렬 때문에 각 토큰을 동등하게 취급하기 때문입니다</a:t>
            </a:r>
            <a:r>
              <a:rPr lang="en-US" altLang="ko-KR" i="0" dirty="0"/>
              <a:t>.</a:t>
            </a:r>
          </a:p>
          <a:p>
            <a:r>
              <a:rPr lang="ko-KR" altLang="en-US" i="0" dirty="0"/>
              <a:t>이는 우리가 </a:t>
            </a:r>
            <a:r>
              <a:rPr lang="en" altLang="ko-KR" i="0" dirty="0"/>
              <a:t>SSM</a:t>
            </a:r>
            <a:r>
              <a:rPr lang="ko-KR" altLang="en-US" i="0" dirty="0"/>
              <a:t>이 입력</a:t>
            </a:r>
            <a:r>
              <a:rPr lang="en-US" altLang="ko-KR" i="0" dirty="0"/>
              <a:t>(</a:t>
            </a:r>
            <a:r>
              <a:rPr lang="ko-KR" altLang="en-US" i="0" dirty="0"/>
              <a:t>프롬프트</a:t>
            </a:r>
            <a:r>
              <a:rPr lang="en-US" altLang="ko-KR" i="0" dirty="0"/>
              <a:t>)</a:t>
            </a:r>
            <a:r>
              <a:rPr lang="ko-KR" altLang="en-US" i="0" dirty="0" err="1"/>
              <a:t>에</a:t>
            </a:r>
            <a:r>
              <a:rPr lang="ko-KR" altLang="en-US" i="0" dirty="0"/>
              <a:t> 대해 추론하기를 원하는 문제입니다</a:t>
            </a:r>
            <a:r>
              <a:rPr lang="en-US" altLang="ko-KR" i="0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i="0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3DBA24-4B32-8C4F-E22E-8CB40C891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64514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7AC42-4872-743C-EECF-6AD1A2D31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B9461E-1915-71C0-FACF-1FD9AB198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E31935-6D70-C3CC-23E5-9B3C88D16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dirty="0"/>
              <a:t>SSM</a:t>
            </a:r>
            <a:r>
              <a:rPr lang="ko-KR" altLang="en-US" dirty="0"/>
              <a:t>이 성능이 떨어지는 두 번째 작업은 </a:t>
            </a:r>
            <a:r>
              <a:rPr lang="ko-KR" altLang="en-US" b="1" dirty="0">
                <a:effectLst/>
              </a:rPr>
              <a:t>유도 헤드</a:t>
            </a:r>
            <a:r>
              <a:rPr lang="en-US" altLang="ko-KR" b="1" dirty="0">
                <a:effectLst/>
              </a:rPr>
              <a:t>(</a:t>
            </a:r>
            <a:r>
              <a:rPr lang="en" altLang="ko-KR" b="1" dirty="0">
                <a:effectLst/>
              </a:rPr>
              <a:t>induction heads)</a:t>
            </a:r>
            <a:r>
              <a:rPr lang="ko-KR" altLang="en-US" dirty="0"/>
              <a:t>로</a:t>
            </a:r>
            <a:r>
              <a:rPr lang="en-US" altLang="ko-KR" dirty="0"/>
              <a:t>, </a:t>
            </a:r>
            <a:r>
              <a:rPr lang="ko-KR" altLang="en-US" dirty="0"/>
              <a:t>입력에서 발견된 패턴을 재현하는 것이 목표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위 예에서</a:t>
            </a:r>
            <a:r>
              <a:rPr lang="en-US" altLang="ko-KR" dirty="0"/>
              <a:t>, </a:t>
            </a:r>
            <a:r>
              <a:rPr lang="ko-KR" altLang="en-US" dirty="0"/>
              <a:t>우리는 기본적으로 한 번의 </a:t>
            </a:r>
            <a:r>
              <a:rPr lang="ko-KR" altLang="en-US" dirty="0" err="1"/>
              <a:t>프롬프팅을</a:t>
            </a:r>
            <a:r>
              <a:rPr lang="ko-KR" altLang="en-US" dirty="0"/>
              <a:t> 수행하고 있습니다</a:t>
            </a:r>
            <a:r>
              <a:rPr lang="en-US" altLang="ko-KR" dirty="0"/>
              <a:t>. </a:t>
            </a:r>
            <a:r>
              <a:rPr lang="ko-KR" altLang="en-US" dirty="0"/>
              <a:t>여기에서 우리는 모델에게 </a:t>
            </a:r>
            <a:r>
              <a:rPr lang="en-US" altLang="ko-KR" dirty="0"/>
              <a:t>"</a:t>
            </a:r>
            <a:r>
              <a:rPr lang="en" altLang="ko-KR" b="1" dirty="0">
                <a:effectLst/>
              </a:rPr>
              <a:t>Q:</a:t>
            </a:r>
            <a:r>
              <a:rPr lang="en" altLang="ko-KR" dirty="0"/>
              <a:t>" </a:t>
            </a:r>
            <a:r>
              <a:rPr lang="ko-KR" altLang="en-US" dirty="0"/>
              <a:t>후에 </a:t>
            </a:r>
            <a:r>
              <a:rPr lang="en-US" altLang="ko-KR" dirty="0"/>
              <a:t>"</a:t>
            </a:r>
            <a:r>
              <a:rPr lang="en" altLang="ko-KR" b="1" dirty="0">
                <a:effectLst/>
              </a:rPr>
              <a:t>A:</a:t>
            </a:r>
            <a:r>
              <a:rPr lang="en" altLang="ko-KR" dirty="0"/>
              <a:t>" </a:t>
            </a:r>
            <a:r>
              <a:rPr lang="ko-KR" altLang="en-US" dirty="0"/>
              <a:t>응답을 제공하도록 </a:t>
            </a:r>
            <a:r>
              <a:rPr lang="en-US" altLang="ko-KR" dirty="0"/>
              <a:t>"</a:t>
            </a:r>
            <a:r>
              <a:rPr lang="ko-KR" altLang="en-US" dirty="0"/>
              <a:t>가르치려고</a:t>
            </a:r>
            <a:r>
              <a:rPr lang="en-US" altLang="ko-KR" dirty="0"/>
              <a:t>" </a:t>
            </a:r>
            <a:r>
              <a:rPr lang="ko-KR" altLang="en-US" dirty="0"/>
              <a:t>시도합니다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그러나 </a:t>
            </a:r>
            <a:r>
              <a:rPr lang="en" altLang="ko-KR" dirty="0"/>
              <a:t>SSM</a:t>
            </a:r>
            <a:r>
              <a:rPr lang="ko-KR" altLang="en-US" dirty="0"/>
              <a:t>이 시간 불변성을 가지고 있기 때문에</a:t>
            </a:r>
            <a:r>
              <a:rPr lang="en-US" altLang="ko-KR" dirty="0"/>
              <a:t>, </a:t>
            </a:r>
            <a:r>
              <a:rPr lang="ko-KR" altLang="en-US" dirty="0"/>
              <a:t>이전 토큰 중 어떤 것을 기억할지 선택할 수 없습니다</a:t>
            </a:r>
            <a:r>
              <a:rPr lang="en-US" altLang="ko-KR" dirty="0"/>
              <a:t>.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37CD81-E5CE-B73A-CAC9-B58F1F721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30419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588C4-4F9E-B318-198C-A3848971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02777E-B6B3-8BC5-E708-8EEAE7F3F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48A89E-3520-E905-6A4C-40ACAD79C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이를 행렬 </a:t>
            </a:r>
            <a:r>
              <a:rPr lang="en" altLang="ko-KR" dirty="0"/>
              <a:t>B</a:t>
            </a:r>
            <a:r>
              <a:rPr lang="ko-KR" altLang="en-US" dirty="0" err="1"/>
              <a:t>에</a:t>
            </a:r>
            <a:r>
              <a:rPr lang="ko-KR" altLang="en-US" dirty="0"/>
              <a:t> 집중하여 설명해 봅시다</a:t>
            </a:r>
            <a:r>
              <a:rPr lang="en-US" altLang="ko-KR" dirty="0"/>
              <a:t>. </a:t>
            </a:r>
            <a:r>
              <a:rPr lang="ko-KR" altLang="en-US" dirty="0"/>
              <a:t>입력 </a:t>
            </a:r>
            <a:r>
              <a:rPr lang="en" altLang="ko-KR" b="1" dirty="0">
                <a:effectLst/>
              </a:rPr>
              <a:t>x</a:t>
            </a:r>
            <a:r>
              <a:rPr lang="ko-KR" altLang="en-US" dirty="0"/>
              <a:t>가 무엇이든 관계없이 행렬 </a:t>
            </a:r>
            <a:r>
              <a:rPr lang="en" altLang="ko-KR" dirty="0"/>
              <a:t>B</a:t>
            </a:r>
            <a:r>
              <a:rPr lang="ko-KR" altLang="en-US" dirty="0"/>
              <a:t>는 정확히 동일하게 유지되므로 </a:t>
            </a:r>
            <a:r>
              <a:rPr lang="en" altLang="ko-KR" b="1" dirty="0">
                <a:effectLst/>
              </a:rPr>
              <a:t>x</a:t>
            </a:r>
            <a:r>
              <a:rPr lang="ko-KR" altLang="en-US" dirty="0"/>
              <a:t>와 독립적입니다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35419F-8BB3-ABCD-222C-271E6D3B0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89409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76B39-E91F-DF98-926F-F671A7B49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7BA5B8-94BB-2E27-55FA-111BA02D6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531C15-B599-DC0E-A343-99D51264D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마찬가지로</a:t>
            </a:r>
            <a:r>
              <a:rPr lang="en-US" altLang="ko-KR" dirty="0"/>
              <a:t>, </a:t>
            </a:r>
            <a:r>
              <a:rPr lang="en" altLang="ko-KR" dirty="0"/>
              <a:t>A</a:t>
            </a:r>
            <a:r>
              <a:rPr lang="ko-KR" altLang="en-US" dirty="0"/>
              <a:t>와 </a:t>
            </a:r>
            <a:r>
              <a:rPr lang="en" altLang="ko-KR" dirty="0"/>
              <a:t>C</a:t>
            </a:r>
            <a:r>
              <a:rPr lang="ko-KR" altLang="en-US" dirty="0"/>
              <a:t>도 입력에 관계없이 고정되어 있습니다</a:t>
            </a:r>
            <a:r>
              <a:rPr lang="en-US" altLang="ko-KR" dirty="0"/>
              <a:t>. </a:t>
            </a:r>
            <a:r>
              <a:rPr lang="ko-KR" altLang="en-US" dirty="0"/>
              <a:t>이는 지금까지 본 </a:t>
            </a:r>
            <a:r>
              <a:rPr lang="en" altLang="ko-KR" dirty="0"/>
              <a:t>SSM</a:t>
            </a:r>
            <a:r>
              <a:rPr lang="ko-KR" altLang="en-US" dirty="0"/>
              <a:t>의 </a:t>
            </a:r>
            <a:r>
              <a:rPr lang="ko-KR" altLang="en-US" i="1" dirty="0">
                <a:effectLst/>
              </a:rPr>
              <a:t>정적</a:t>
            </a:r>
            <a:r>
              <a:rPr lang="ko-KR" altLang="en-US" dirty="0"/>
              <a:t>인 특성을 보여줍니다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lang="ko-KR" altLang="en-US" dirty="0"/>
              <a:t>비교적으로</a:t>
            </a:r>
            <a:r>
              <a:rPr lang="en-US" altLang="ko-KR" dirty="0"/>
              <a:t>, </a:t>
            </a:r>
            <a:r>
              <a:rPr lang="ko-KR" altLang="en-US" dirty="0"/>
              <a:t>이러한 작업들은 트랜스포머에게는 상대적으로 쉽습니다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트랜스포머는 입력 시퀀스에 따라 동적으로 </a:t>
            </a:r>
            <a:r>
              <a:rPr lang="ko-KR" altLang="en-US" dirty="0" err="1"/>
              <a:t>어텐션을</a:t>
            </a:r>
            <a:r>
              <a:rPr lang="ko-KR" altLang="en-US" dirty="0"/>
              <a:t> 변경할 수 있습니다</a:t>
            </a:r>
            <a:r>
              <a:rPr lang="en-US" altLang="ko-KR" dirty="0"/>
              <a:t>. </a:t>
            </a:r>
            <a:r>
              <a:rPr lang="ko-KR" altLang="en-US" dirty="0"/>
              <a:t>그들은 시퀀스의 다른 부분을 선택적으로 </a:t>
            </a:r>
            <a:r>
              <a:rPr lang="en-US" altLang="ko-KR" dirty="0"/>
              <a:t>"</a:t>
            </a:r>
            <a:r>
              <a:rPr lang="ko-KR" altLang="en-US" dirty="0"/>
              <a:t>보거나</a:t>
            </a:r>
            <a:r>
              <a:rPr lang="en-US" altLang="ko-KR" dirty="0"/>
              <a:t>" "</a:t>
            </a:r>
            <a:r>
              <a:rPr lang="ko-KR" altLang="en-US" dirty="0"/>
              <a:t>주의를 기울일</a:t>
            </a:r>
            <a:r>
              <a:rPr lang="en-US" altLang="ko-KR" dirty="0"/>
              <a:t>" </a:t>
            </a:r>
            <a:r>
              <a:rPr lang="ko-KR" altLang="en-US" dirty="0"/>
              <a:t>수 있습니다</a:t>
            </a:r>
            <a:r>
              <a:rPr lang="en-US" altLang="ko-KR" dirty="0"/>
              <a:t>.</a:t>
            </a:r>
          </a:p>
          <a:p>
            <a:r>
              <a:rPr lang="en" altLang="ko-KR" dirty="0"/>
              <a:t>SSM</a:t>
            </a:r>
            <a:r>
              <a:rPr lang="ko-KR" altLang="en-US" dirty="0"/>
              <a:t>이 이러한 작업에서 성능이 떨어지는 것은 시간 불변성 </a:t>
            </a:r>
            <a:r>
              <a:rPr lang="en" altLang="ko-KR" dirty="0"/>
              <a:t>SSM</a:t>
            </a:r>
            <a:r>
              <a:rPr lang="ko-KR" altLang="en-US" dirty="0"/>
              <a:t>의 근본적인 문제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" altLang="ko-KR" dirty="0"/>
              <a:t>A, B, C </a:t>
            </a:r>
            <a:r>
              <a:rPr lang="ko-KR" altLang="en-US" dirty="0"/>
              <a:t>행렬의 정적인 특성으로 인한 </a:t>
            </a:r>
            <a:r>
              <a:rPr lang="ko-KR" altLang="en-US" i="1" dirty="0"/>
              <a:t>내용 인식</a:t>
            </a:r>
            <a:r>
              <a:rPr lang="ko-KR" altLang="en-US" dirty="0"/>
              <a:t> 문제를 시사합니다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따라서 본 논문은 </a:t>
            </a:r>
            <a:r>
              <a:rPr lang="en-US" altLang="ko-KR" dirty="0"/>
              <a:t>S4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LTI</a:t>
            </a:r>
            <a:r>
              <a:rPr lang="ko-KR" altLang="en-US" dirty="0"/>
              <a:t>에서 벗어난 </a:t>
            </a:r>
            <a:r>
              <a:rPr lang="en-US" altLang="ko-KR" dirty="0"/>
              <a:t>Time Varying model</a:t>
            </a:r>
            <a:r>
              <a:rPr lang="ko-KR" altLang="en-US" dirty="0"/>
              <a:t>로 만들고자 토큰에 따라 다른 행렬</a:t>
            </a:r>
            <a:r>
              <a:rPr lang="en-US" altLang="ko-KR" dirty="0"/>
              <a:t> B C</a:t>
            </a:r>
            <a:r>
              <a:rPr lang="ko-KR" altLang="en-US" dirty="0" err="1"/>
              <a:t>를</a:t>
            </a:r>
            <a:r>
              <a:rPr lang="ko-KR" altLang="en-US" dirty="0"/>
              <a:t> 사용하고자 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B4BED-0A58-4188-F6F4-311405790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25626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04C0B-9758-34A6-03A9-14C754841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008866-1123-D176-CC43-BFBBB294F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6AB833-BFE4-2C83-9D9A-F00BAB5D3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이제 실제 한 레이어 안에서 연산이 어떻게 돌아가는지 살펴보겠습니다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5D3C86-2B99-D6CD-3FFB-EF6F4C269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00854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B2F68-0737-C82E-8520-42CA30229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433D8D-206E-8580-8236-3CB68E148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D9A7EA-456C-9D5D-E052-AE30AE750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먼저 변화된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discretization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방법을 살펴봅시다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이산표현 사용을 위해서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lang="ko-KR" altLang="en-US" i="1" dirty="0">
                <a:effectLst/>
              </a:rPr>
              <a:t>제로</a:t>
            </a:r>
            <a:r>
              <a:rPr lang="en-US" altLang="ko-KR" i="1" dirty="0">
                <a:effectLst/>
              </a:rPr>
              <a:t>-</a:t>
            </a:r>
            <a:r>
              <a:rPr lang="ko-KR" altLang="en-US" i="1" dirty="0">
                <a:effectLst/>
              </a:rPr>
              <a:t>오더 홀드</a:t>
            </a:r>
            <a:r>
              <a:rPr lang="en-US" altLang="ko-KR" i="1" dirty="0">
                <a:effectLst/>
              </a:rPr>
              <a:t>(</a:t>
            </a:r>
            <a:r>
              <a:rPr lang="en" altLang="ko-KR" i="1" dirty="0">
                <a:effectLst/>
              </a:rPr>
              <a:t>Zero-order hold) </a:t>
            </a:r>
            <a:r>
              <a:rPr lang="ko-KR" altLang="en-US" i="1" dirty="0">
                <a:effectLst/>
              </a:rPr>
              <a:t>기술</a:t>
            </a:r>
            <a:r>
              <a:rPr lang="ko-KR" altLang="en-US" dirty="0"/>
              <a:t>을 사용합니다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이는 그림과 같이 작동합니다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먼저</a:t>
            </a:r>
            <a:r>
              <a:rPr lang="en-US" altLang="ko-KR" dirty="0"/>
              <a:t>, </a:t>
            </a:r>
            <a:r>
              <a:rPr lang="ko-KR" altLang="en-US" dirty="0"/>
              <a:t>우리가 이산 신호를 받을 때마다</a:t>
            </a:r>
            <a:r>
              <a:rPr lang="en-US" altLang="ko-KR" dirty="0"/>
              <a:t>, </a:t>
            </a:r>
            <a:r>
              <a:rPr lang="ko-KR" altLang="en-US" dirty="0"/>
              <a:t>우리는 새로운 이산 신호를 받을 때까지 그 값을 유지합니다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이때 </a:t>
            </a:r>
            <a:r>
              <a:rPr lang="en-US" altLang="ko-KR" dirty="0"/>
              <a:t>step size </a:t>
            </a:r>
            <a:r>
              <a:rPr lang="ko-KR" altLang="en-US" dirty="0"/>
              <a:t>로 변수 델타가 사용됩니다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40493D-D8E3-F21B-E931-C4BD8BE65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81475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272E3-3AEA-94C3-D4BD-973053646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8F1F13-45B4-9927-E342-D53F27ADE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ACA418-FF3F-3A99-0419-121870B89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수식은 다음과 같은 수식을 사용합니다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0B6AB4-123A-C7D4-11F7-6F64E2BBE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40030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74DDF-945D-F1A5-E022-E9024FFA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8C1194-8C0A-6166-4308-CE2469CCF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B30FF1-A60D-5AF4-B0F7-F2ABEDA01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다시 원래로 돌아와서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왼쪽은 원래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모델인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S4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이고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오른쪽이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mamba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로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ssm+selection+scan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해서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s6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입니다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Scan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조금있다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설명하겠습니다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우선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static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하게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놨둡니다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그러나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time step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인 델타는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dynamic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하게 하여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의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selection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보장하게 한다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델타 대신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A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selective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하게 할 수도 있지만 그러면 성능은 비슷하고 간단화는 어렵기에 그렇게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안함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BC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델타를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x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맞게 만들어주는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linear projection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들을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학습시키는게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selection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주된 방법이다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L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 이제 시퀀스의 길이를 의미하는데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이는 각 토큰마다 다른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B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가 있다는 뜻으로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time-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varient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하다는 것을 의미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BEC967-3D04-4FE7-7173-2ECD96642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37786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EFCAF-8AE0-7CC4-2A4D-409DBC68B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F432F6-18FB-E19C-CC77-18701941A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A622E0-809E-69A8-F053-D9A5A6BD7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델타에 대해서 부가 설명을 하자면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1A4EB9-7004-9C48-5BD2-BDA34B081B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1852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45383-77EC-365A-EAC0-17FB57DF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CC8F5D-B35D-0B4C-A5FB-E9E60BFC6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E9456E-DB35-8FBC-EF63-9D0C255F0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델타에 대해서 부가 설명을 하자면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7A158A-DB9C-51CC-F99E-56DF5C4F9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03715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6A5D7-A354-6E6D-7BC5-B7AE1EAD7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E01AEF-16ED-CBE6-6CA7-F894F699A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01F4FE-32A5-4647-D9A9-ADEB3659E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아까는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블록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대해서 보았고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이젠 전체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아키텍쳐를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살펴보겠습니다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아키텍쳐는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맘바가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연구될때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SOTA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아키텍쳐인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H3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기반으로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gated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mlp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사용해서 만들었습니다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Gated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mlp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사용한것은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인풋에서 좀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필요없는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elements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제하고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skip connection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했다고 보시면 되겠습니다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시그마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 activation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func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SiLU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사용했습니다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Conv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H3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모델에서 제안한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shift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ssm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block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의미하는데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다음과 같은 대각행렬 밑에 만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1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인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shift matrix A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사용해 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과거정보를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잘기억한다고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보면 된다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C06831-0FDD-89A7-E9B4-C0444AFBC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89878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44ABC-0AFF-28FE-C5DF-13DEC1D9D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38A45C-ED63-DBB1-E01E-71418598D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861AB5-B324-17BF-9A1D-6F80734D8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문제는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맘바가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계속해서 병렬 학습이 가능한가 입니다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Convolution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으로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병렬학습이 가능한 이유는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LTI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였기 때문입니다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A76325-9E4C-FBD0-D2DA-469B08F22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6742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181D0-2B08-019B-75C1-A1B5D8262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ABA106-3B45-E193-F613-AF5302321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FF1CC7-9E19-AACA-249B-14601C466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Input-independent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하지 않고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time-independent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하기에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그러나 이제는 시간에 따라 변하기에 원래의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convolution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은 사용하지 못하고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아까 알고리즘에서 살짝 보였던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parallel scan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이라는 약간의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trick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을 사용합니다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Parral scan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대해서 자세히 설명하지는 않겠고 출처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2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번쨰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링크를 들어가시면 자세히 아실 수 있습니다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대충 가능한 연산은 미리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해놔서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나중에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써야될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상황에 사용하는 거라고 보시면 됩니다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F00BC4-1EE3-6DA7-300E-F09C30FAA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01095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12864-57AA-9D79-0866-5263A6FAD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8C61D7-A6C5-22B5-E0CF-D29ED467C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103CBE-2643-6586-BF99-E170F7B37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한가지 더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생각해볼건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원래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 N 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해서 최대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3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차원만 활용했는데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이게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4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차원이 되어서 원래보다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GPU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부담이 커지고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트랜스포머와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비교했을때도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1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차원 더 운용하기에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GPU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부담이 많이 갑니다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Transformer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에서는 이러한 계산을 효율적으로 하기 위해서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FlashAttention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이라는 방법을 사용하는데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Mamba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에서도 </a:t>
            </a: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flashattention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아이디어를 가져와 연산을 합니다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사진을 보시면 이제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DRAM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과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SRAM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과의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copy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가 상당히 많이 이뤄지는데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작지만 매우 효율적인 </a:t>
            </a:r>
            <a:r>
              <a:rPr lang="en" altLang="ko-KR" dirty="0"/>
              <a:t>SRAM</a:t>
            </a:r>
            <a:r>
              <a:rPr lang="ko-KR" altLang="en-US" dirty="0"/>
              <a:t>과 크지만 약간 덜 효율적인 </a:t>
            </a:r>
            <a:r>
              <a:rPr lang="en" altLang="ko-KR" dirty="0"/>
              <a:t>DRAM </a:t>
            </a:r>
            <a:r>
              <a:rPr lang="ko-KR" altLang="en-US" dirty="0"/>
              <a:t>사이의 전송</a:t>
            </a:r>
            <a:r>
              <a:rPr lang="en-US" altLang="ko-KR" dirty="0"/>
              <a:t>(</a:t>
            </a:r>
            <a:r>
              <a:rPr lang="en" altLang="ko-KR" dirty="0"/>
              <a:t>IO) </a:t>
            </a:r>
            <a:r>
              <a:rPr lang="ko-KR" altLang="en-US" dirty="0"/>
              <a:t>속도가 제한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된다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(memory bandwidth)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Sram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에서 연산보다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dram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으로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복사가 더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오래걸리는것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55B6F0-A7E9-0854-5DAB-D0DCDEF7D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25312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42B8B-855A-64C7-0619-E7EA0527E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EE31CA-1E6A-2729-C8D7-8CAB4DE41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DD8E8E-DF72-30E7-4A08-BC3015731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맘바는</a:t>
            </a:r>
            <a:r>
              <a:rPr lang="ko-KR" altLang="en-US" dirty="0"/>
              <a:t> </a:t>
            </a:r>
            <a:r>
              <a:rPr lang="en" altLang="ko-KR" dirty="0"/>
              <a:t>Flash Attention</a:t>
            </a:r>
            <a:r>
              <a:rPr lang="ko-KR" altLang="en-US" dirty="0"/>
              <a:t>과 같이 </a:t>
            </a:r>
            <a:r>
              <a:rPr lang="en" altLang="ko-KR" dirty="0"/>
              <a:t>DRAM</a:t>
            </a:r>
            <a:r>
              <a:rPr lang="ko-KR" altLang="en-US" dirty="0"/>
              <a:t>에서 </a:t>
            </a:r>
            <a:r>
              <a:rPr lang="en" altLang="ko-KR" dirty="0"/>
              <a:t>SRAM</a:t>
            </a:r>
            <a:r>
              <a:rPr lang="ko-KR" altLang="en-US" dirty="0" err="1"/>
              <a:t>으로</a:t>
            </a:r>
            <a:r>
              <a:rPr lang="en-US" altLang="ko-KR" dirty="0"/>
              <a:t>, </a:t>
            </a:r>
            <a:r>
              <a:rPr lang="ko-KR" altLang="en-US" dirty="0"/>
              <a:t>그 반대로 이동하는 횟수를 제한하려고 합니다</a:t>
            </a:r>
            <a:r>
              <a:rPr lang="en-US" altLang="ko-KR" dirty="0"/>
              <a:t>. </a:t>
            </a:r>
            <a:r>
              <a:rPr lang="ko-KR" altLang="en-US" dirty="0"/>
              <a:t>이것은 </a:t>
            </a:r>
            <a:r>
              <a:rPr lang="ko-KR" altLang="en-US" i="1" dirty="0">
                <a:effectLst/>
              </a:rPr>
              <a:t>커널 융합</a:t>
            </a:r>
            <a:r>
              <a:rPr lang="ko-KR" altLang="en-US" dirty="0"/>
              <a:t>을 통해 모델이 중간 결과를 쓰는 것을 방지하고 계산을 완료할 때까지 지속적으로 계산을 수행하게 합니다</a:t>
            </a:r>
            <a:r>
              <a:rPr lang="en-US" altLang="ko-KR" dirty="0"/>
              <a:t>.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6422A1-3FA0-2110-F868-5409AAA6D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19231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7A6D7-7EA6-FDC6-6DF1-73F7DD15D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C9B6D2-24D5-30E9-900D-2C47424C9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39A2EA-7A8A-8F59-0003-5D225C320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이를 통해 모델을 최종적으로 다음과 같은 모습을 가지게 됩니다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4</a:t>
            </a:r>
            <a:r>
              <a:rPr lang="ko-KR" altLang="en-US" dirty="0"/>
              <a:t>차원을 다루는 이산화와 같은 내용들은 빠른 </a:t>
            </a:r>
            <a:r>
              <a:rPr lang="en-US" altLang="ko-KR" dirty="0"/>
              <a:t>SRAM</a:t>
            </a:r>
            <a:r>
              <a:rPr lang="ko-KR" altLang="en-US" dirty="0"/>
              <a:t>에서 처리하고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나머지는 </a:t>
            </a:r>
            <a:r>
              <a:rPr lang="en-US" altLang="ko-KR" dirty="0"/>
              <a:t>HBM(</a:t>
            </a:r>
            <a:r>
              <a:rPr lang="ko-KR" altLang="en-US" dirty="0"/>
              <a:t>적층 </a:t>
            </a:r>
            <a:r>
              <a:rPr lang="en-US" altLang="ko-KR" dirty="0"/>
              <a:t>Dram)</a:t>
            </a:r>
            <a:r>
              <a:rPr lang="ko-KR" altLang="en-US" dirty="0"/>
              <a:t>에서 처리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50731B-6709-81C7-A6E7-35E0894F0F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68712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FD7E5-159E-4952-4F91-7BED49370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568761-E429-8AB6-AE80-D563627C9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A928D8-8748-E66A-63CA-162802266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1</a:t>
            </a:r>
            <a:r>
              <a:rPr lang="ko-KR" altLang="en-US" dirty="0"/>
              <a:t>번째 테이블은 </a:t>
            </a:r>
            <a:r>
              <a:rPr lang="en-US" altLang="ko-KR" dirty="0"/>
              <a:t>selective copying</a:t>
            </a:r>
            <a:r>
              <a:rPr lang="ko-KR" altLang="en-US" dirty="0"/>
              <a:t>에서 얼마나 잘하는 지 봤는데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S6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를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썼을때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다른 모든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아키텍쳐에서도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월등히 성능이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오른걸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보면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Mamba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아키텍쳐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자체가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좋다기보다는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그냥 </a:t>
            </a:r>
            <a:r>
              <a:rPr kumimoji="1" lang="en-US" altLang="ko-KR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LTV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가 </a:t>
            </a:r>
            <a:r>
              <a:rPr kumimoji="1" lang="ko-KR" altLang="en-US" dirty="0" err="1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좋은거</a:t>
            </a:r>
            <a:r>
              <a:rPr kumimoji="1" lang="ko-KR" altLang="en-US" dirty="0">
                <a:solidFill>
                  <a:srgbClr val="212529"/>
                </a:solidFill>
                <a:effectLst/>
                <a:latin typeface="Corbel" panose="020B0503020204020204" pitchFamily="34" charset="0"/>
              </a:rPr>
              <a:t> 같다</a:t>
            </a: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>
              <a:solidFill>
                <a:srgbClr val="212529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211725-6F87-A3BB-F16A-1D45C181C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24750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B7283-8363-7FD3-FB07-A4B7EDA83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E734AD-B184-91A4-BED0-8E6D46C03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54E36C-30F0-E48C-6116-7D8A31071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정확한 수치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A0722F-3D80-C4C2-3CE5-67CD6AA3C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39231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8981D-958C-DD35-A327-529B5B42D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93027D-3482-C7FB-7EEA-46521A153D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DB2EF0-D121-2B21-6755-BFF9B680D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Transformer++</a:t>
            </a:r>
            <a:r>
              <a:rPr lang="ko-KR" altLang="en-US" dirty="0"/>
              <a:t>와 비슷한 성능을 보임을 보여줌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Perplexity</a:t>
            </a:r>
            <a:r>
              <a:rPr lang="ko-KR" altLang="en-US" dirty="0"/>
              <a:t>는 낮을수록 </a:t>
            </a:r>
            <a:r>
              <a:rPr lang="ko-KR" altLang="en-US" dirty="0" err="1"/>
              <a:t>좋은거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FLOPs</a:t>
            </a:r>
            <a:r>
              <a:rPr lang="ko-KR" altLang="en-US" dirty="0"/>
              <a:t>는 </a:t>
            </a:r>
            <a:r>
              <a:rPr lang="en-US" altLang="ko-KR" dirty="0"/>
              <a:t>floating point operation</a:t>
            </a:r>
            <a:r>
              <a:rPr lang="ko-KR" altLang="en-US" dirty="0"/>
              <a:t>로 예가 </a:t>
            </a:r>
            <a:r>
              <a:rPr lang="ko-KR" altLang="en-US" dirty="0" err="1"/>
              <a:t>많다는건</a:t>
            </a:r>
            <a:r>
              <a:rPr lang="ko-KR" altLang="en-US" dirty="0"/>
              <a:t> 파라미터의 증가로 모델의 표현력 증가를 의미</a:t>
            </a:r>
            <a:r>
              <a:rPr lang="en-US" altLang="ko-KR" dirty="0"/>
              <a:t>(125M to 1.3B)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93BB6C-A8F3-62B7-760A-5B0ECCC95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79300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A2270-EEF1-737E-B4D3-89FC6203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1B68F6-9724-CC7E-1507-291E80662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6DD302-3792-750C-4F0B-BFF6D8B00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/>
              <a:t>Downtask</a:t>
            </a:r>
            <a:r>
              <a:rPr lang="en-US" altLang="ko-KR" dirty="0"/>
              <a:t> task </a:t>
            </a:r>
            <a:r>
              <a:rPr lang="ko-KR" altLang="en-US" dirty="0"/>
              <a:t>비교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134A5D-236C-85AF-4F76-EE6919F6DC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61082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EB801-5778-847A-63F5-05F9CA196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E4EB79-785B-74C0-ABAF-4CF2E003E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21DA21-6E8E-9B4B-8FDE-B3305ED83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속도와 처리량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처리량은 </a:t>
            </a:r>
            <a:r>
              <a:rPr lang="en-US" altLang="ko-KR" dirty="0"/>
              <a:t>Mamba 6.9B</a:t>
            </a:r>
            <a:r>
              <a:rPr lang="ko-KR" altLang="en-US" dirty="0"/>
              <a:t>가 </a:t>
            </a:r>
            <a:r>
              <a:rPr lang="en-US" altLang="ko-KR" dirty="0"/>
              <a:t>Transformer 1.3B</a:t>
            </a:r>
            <a:r>
              <a:rPr lang="ko-KR" altLang="en-US" dirty="0"/>
              <a:t>와 </a:t>
            </a:r>
            <a:r>
              <a:rPr lang="ko-KR" altLang="en-US" dirty="0" err="1"/>
              <a:t>비슷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97C7C0-AB50-1C82-5FEC-DCD20BD21B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82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10EDEE-B3FB-4441-A82B-78B5794C52D0}"/>
              </a:ext>
            </a:extLst>
          </p:cNvPr>
          <p:cNvSpPr/>
          <p:nvPr userDrawn="1"/>
        </p:nvSpPr>
        <p:spPr>
          <a:xfrm>
            <a:off x="0" y="0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395819" y="3272456"/>
            <a:ext cx="540036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28937" y="1904304"/>
            <a:ext cx="10534129" cy="1296144"/>
          </a:xfrm>
        </p:spPr>
        <p:txBody>
          <a:bodyPr>
            <a:normAutofit/>
          </a:bodyPr>
          <a:lstStyle>
            <a:lvl1pPr algn="ctr">
              <a:defRPr sz="4000" spc="-3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부제목 2"/>
          <p:cNvSpPr txBox="1">
            <a:spLocks/>
          </p:cNvSpPr>
          <p:nvPr userDrawn="1"/>
        </p:nvSpPr>
        <p:spPr>
          <a:xfrm>
            <a:off x="3395819" y="3840532"/>
            <a:ext cx="5400363" cy="541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None/>
              <a:defRPr sz="2200" kern="1200" spc="-30" baseline="0">
                <a:solidFill>
                  <a:srgbClr val="4747BA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4"/>
              </a:buClr>
              <a:buFont typeface="Wingdings 3" panose="050401020108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200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2A7C40-6EDC-5148-B154-A68DF9CCA265}"/>
              </a:ext>
            </a:extLst>
          </p:cNvPr>
          <p:cNvGrpSpPr/>
          <p:nvPr userDrawn="1"/>
        </p:nvGrpSpPr>
        <p:grpSpPr>
          <a:xfrm>
            <a:off x="3868451" y="4221088"/>
            <a:ext cx="3893387" cy="792088"/>
            <a:chOff x="827584" y="5517232"/>
            <a:chExt cx="2920040" cy="79208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2421234D-30E1-C444-9C10-442BAD6E17E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517232"/>
              <a:ext cx="1734462" cy="72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2AD3F52-407F-FD40-997E-699FE28AF26B}"/>
                </a:ext>
              </a:extLst>
            </p:cNvPr>
            <p:cNvSpPr txBox="1"/>
            <p:nvPr userDrawn="1"/>
          </p:nvSpPr>
          <p:spPr>
            <a:xfrm>
              <a:off x="2483768" y="5704026"/>
              <a:ext cx="1263856" cy="605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2000"/>
                </a:lnSpc>
              </a:pPr>
              <a:r>
                <a:rPr lang="en-US" sz="40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2000"/>
                </a:lnSpc>
              </a:pPr>
              <a:r>
                <a:rPr lang="en-US" sz="1800" spc="-1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800" spc="-1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2CE214F-ADB8-5846-8B01-50FC3B4C0B4C}"/>
              </a:ext>
            </a:extLst>
          </p:cNvPr>
          <p:cNvSpPr/>
          <p:nvPr userDrawn="1"/>
        </p:nvSpPr>
        <p:spPr>
          <a:xfrm>
            <a:off x="0" y="6237312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</p:spTree>
    <p:extLst>
      <p:ext uri="{BB962C8B-B14F-4D97-AF65-F5344CB8AC3E}">
        <p14:creationId xmlns:p14="http://schemas.microsoft.com/office/powerpoint/2010/main" val="233899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  <a:latin typeface="Corbel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3" name="제목 개체 틀 1"/>
          <p:cNvSpPr>
            <a:spLocks noGrp="1"/>
          </p:cNvSpPr>
          <p:nvPr>
            <p:ph type="title"/>
          </p:nvPr>
        </p:nvSpPr>
        <p:spPr>
          <a:xfrm>
            <a:off x="413908" y="368732"/>
            <a:ext cx="111547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 spc="-30" baseline="0">
                <a:solidFill>
                  <a:schemeClr val="tx1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latin typeface="Corbel" panose="020B0503020204020204" pitchFamily="34" charset="0"/>
              </a:defRPr>
            </a:lvl1pPr>
          </a:lstStyle>
          <a:p>
            <a:endParaRPr lang="ko-KR" altLang="en-US" dirty="0"/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90C2B4-BF74-6744-A1CC-033C7E9B91ED}"/>
              </a:ext>
            </a:extLst>
          </p:cNvPr>
          <p:cNvGrpSpPr/>
          <p:nvPr userDrawn="1"/>
        </p:nvGrpSpPr>
        <p:grpSpPr>
          <a:xfrm>
            <a:off x="143339" y="6341258"/>
            <a:ext cx="2958254" cy="472118"/>
            <a:chOff x="827584" y="5805264"/>
            <a:chExt cx="2218690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14BE7F3A-ED04-524F-A4F1-9F7573BCDA4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2B9A1C-78C6-5F47-8940-F4E741C02469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800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75183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  <a:latin typeface="Corbel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5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spc="-30" baseline="0">
                <a:solidFill>
                  <a:srgbClr val="4747BA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46B7E3B-6136-B440-8BB2-FBC052C1CD0A}"/>
              </a:ext>
            </a:extLst>
          </p:cNvPr>
          <p:cNvGrpSpPr/>
          <p:nvPr userDrawn="1"/>
        </p:nvGrpSpPr>
        <p:grpSpPr>
          <a:xfrm>
            <a:off x="143339" y="6341258"/>
            <a:ext cx="2958254" cy="472118"/>
            <a:chOff x="827584" y="5805264"/>
            <a:chExt cx="2218690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C04B6D2B-8A94-B142-BC47-E1CF62EBCBB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B1E585A-7FD4-7F43-A83A-8DA4DD75A304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800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EB2EDCB-2452-B540-8700-E8A8C013A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960442"/>
            <a:ext cx="11472000" cy="5024842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A01032FD-E55F-4943-9EDD-C2B6EE7705AC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08786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A469D99-20DF-4A42-A06A-8AAB1EA1FCF5}"/>
              </a:ext>
            </a:extLst>
          </p:cNvPr>
          <p:cNvGrpSpPr/>
          <p:nvPr userDrawn="1"/>
        </p:nvGrpSpPr>
        <p:grpSpPr>
          <a:xfrm>
            <a:off x="143339" y="6341258"/>
            <a:ext cx="2958254" cy="472118"/>
            <a:chOff x="827584" y="5805264"/>
            <a:chExt cx="2218690" cy="472118"/>
          </a:xfrm>
        </p:grpSpPr>
        <p:pic>
          <p:nvPicPr>
            <p:cNvPr id="10" name="Picture 2" descr="숭실대학교 로고">
              <a:extLst>
                <a:ext uri="{FF2B5EF4-FFF2-40B4-BE49-F238E27FC236}">
                  <a16:creationId xmlns:a16="http://schemas.microsoft.com/office/drawing/2014/main" id="{E6BF0C0C-88A6-B645-9F2F-BE7128B9F5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558D9D-0A52-6348-964A-6E7A56A83A03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800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D19F37D1-40CA-0E40-B900-AA4A5C99C4DD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0780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58254" cy="472118"/>
            <a:chOff x="827584" y="5805264"/>
            <a:chExt cx="2218690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800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157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llustrator for researcher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29" b="-607"/>
          <a:stretch/>
        </p:blipFill>
        <p:spPr bwMode="auto">
          <a:xfrm>
            <a:off x="66544" y="-1984"/>
            <a:ext cx="12097344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4987138" y="6021288"/>
            <a:ext cx="287492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6602" y="4571871"/>
            <a:ext cx="10095995" cy="1296144"/>
          </a:xfrm>
        </p:spPr>
        <p:txBody>
          <a:bodyPr>
            <a:normAutofit/>
          </a:bodyPr>
          <a:lstStyle>
            <a:lvl1pPr algn="ctr">
              <a:defRPr sz="3600" spc="-3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32994A-5376-864D-ABBB-D7619C927A9B}"/>
              </a:ext>
            </a:extLst>
          </p:cNvPr>
          <p:cNvGrpSpPr/>
          <p:nvPr userDrawn="1"/>
        </p:nvGrpSpPr>
        <p:grpSpPr>
          <a:xfrm>
            <a:off x="8208235" y="6016508"/>
            <a:ext cx="3483149" cy="724861"/>
            <a:chOff x="827584" y="5805264"/>
            <a:chExt cx="2158676" cy="43204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9286454C-EB5C-6C43-AD4B-59991888BE8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2CECE5B-3D7C-534B-B7FF-5C3A3EF7B589}"/>
                </a:ext>
              </a:extLst>
            </p:cNvPr>
            <p:cNvSpPr txBox="1"/>
            <p:nvPr userDrawn="1"/>
          </p:nvSpPr>
          <p:spPr>
            <a:xfrm>
              <a:off x="2066198" y="5934025"/>
              <a:ext cx="920062" cy="284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6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600" spc="-1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600" spc="-1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23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7383" y="4727433"/>
            <a:ext cx="11139411" cy="1296145"/>
          </a:xfrm>
        </p:spPr>
        <p:txBody>
          <a:bodyPr>
            <a:normAutofit/>
          </a:bodyPr>
          <a:lstStyle>
            <a:lvl1pPr algn="l">
              <a:defRPr sz="3600" spc="-3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527051" y="3850708"/>
            <a:ext cx="11140016" cy="876725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pic>
        <p:nvPicPr>
          <p:cNvPr id="6" name="Picture 2" descr="focus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t="27578" r="1337" b="27578"/>
          <a:stretch/>
        </p:blipFill>
        <p:spPr bwMode="auto">
          <a:xfrm>
            <a:off x="0" y="-27384"/>
            <a:ext cx="12192000" cy="387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4DC9759-2D39-6342-B857-D85A2EAA1634}"/>
              </a:ext>
            </a:extLst>
          </p:cNvPr>
          <p:cNvGrpSpPr/>
          <p:nvPr userDrawn="1"/>
        </p:nvGrpSpPr>
        <p:grpSpPr>
          <a:xfrm>
            <a:off x="143339" y="6093297"/>
            <a:ext cx="3406310" cy="652853"/>
            <a:chOff x="827584" y="5805264"/>
            <a:chExt cx="2343899" cy="43204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7F25E809-A7D8-BC4B-8B0A-5D31768462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BE382B-9EFD-FE4F-8462-C46BA9C4EE03}"/>
                </a:ext>
              </a:extLst>
            </p:cNvPr>
            <p:cNvSpPr txBox="1"/>
            <p:nvPr userDrawn="1"/>
          </p:nvSpPr>
          <p:spPr>
            <a:xfrm>
              <a:off x="2066198" y="5918441"/>
              <a:ext cx="1105285" cy="315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2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400" spc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400" spc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95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Corbel" panose="020B0503020204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b="0" i="0" smtClean="0">
                <a:solidFill>
                  <a:prstClr val="black">
                    <a:tint val="75000"/>
                  </a:prstClr>
                </a:solidFill>
                <a:latin typeface="Corbel" panose="020B0503020204020204" pitchFamily="34" charset="0"/>
                <a:ea typeface="Yoon 윤고딕 115_TT" panose="02090603020101020101" pitchFamily="18" charset="-127"/>
                <a:cs typeface="Arial" panose="020B0604020202020204" pitchFamily="34" charset="0"/>
              </a:rPr>
              <a:pPr/>
              <a:t>‹#›</a:t>
            </a:fld>
            <a:r>
              <a:rPr lang="en-US" altLang="ko-KR" sz="1400" b="0" i="0" dirty="0">
                <a:solidFill>
                  <a:prstClr val="black">
                    <a:tint val="75000"/>
                  </a:prstClr>
                </a:solidFill>
                <a:latin typeface="Corbel" panose="020B0503020204020204" pitchFamily="34" charset="0"/>
                <a:ea typeface="Yoon 윤고딕 115_TT" panose="02090603020101020101" pitchFamily="18" charset="-127"/>
                <a:cs typeface="Arial" panose="020B0604020202020204" pitchFamily="34" charset="0"/>
              </a:rPr>
              <a:t>/29</a:t>
            </a:r>
          </a:p>
        </p:txBody>
      </p:sp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b="0" i="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85C3FF-8E9C-4D4F-906C-EC39755DF58A}"/>
              </a:ext>
            </a:extLst>
          </p:cNvPr>
          <p:cNvGrpSpPr/>
          <p:nvPr userDrawn="1"/>
        </p:nvGrpSpPr>
        <p:grpSpPr>
          <a:xfrm>
            <a:off x="143339" y="6341258"/>
            <a:ext cx="2958254" cy="472118"/>
            <a:chOff x="827584" y="5805264"/>
            <a:chExt cx="2218690" cy="472118"/>
          </a:xfrm>
        </p:grpSpPr>
        <p:pic>
          <p:nvPicPr>
            <p:cNvPr id="9" name="Picture 2" descr="숭실대학교 로고">
              <a:extLst>
                <a:ext uri="{FF2B5EF4-FFF2-40B4-BE49-F238E27FC236}">
                  <a16:creationId xmlns:a16="http://schemas.microsoft.com/office/drawing/2014/main" id="{C615A142-2D92-D04F-8E99-9AA21DD4452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606131-78BB-6544-8972-DB41BB2696EE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800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E4E955C6-C3C0-2D40-921D-8B5751E91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76772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4543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 i="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F1A320-D0BB-9B49-87FF-5D14B0314E6C}"/>
              </a:ext>
            </a:extLst>
          </p:cNvPr>
          <p:cNvGrpSpPr/>
          <p:nvPr userDrawn="1"/>
        </p:nvGrpSpPr>
        <p:grpSpPr>
          <a:xfrm>
            <a:off x="143339" y="6341258"/>
            <a:ext cx="2958254" cy="472118"/>
            <a:chOff x="827584" y="5805264"/>
            <a:chExt cx="2218690" cy="47211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C535D48B-8EC0-3C4C-91D5-206A80EFBAC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F3B131-E1C6-8C44-A2AE-8FBAE278ED45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800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11715C41-99E2-B14A-A7D4-65D82428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b="0" i="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214591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58254" cy="472118"/>
            <a:chOff x="827584" y="5805264"/>
            <a:chExt cx="2218690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800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524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153102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66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332403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5.png"/><Relationship Id="rId4" Type="http://schemas.openxmlformats.org/officeDocument/2006/relationships/image" Target="../media/image9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9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5.png"/><Relationship Id="rId4" Type="http://schemas.openxmlformats.org/officeDocument/2006/relationships/image" Target="../media/image9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5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3.jpeg"/><Relationship Id="rId4" Type="http://schemas.openxmlformats.org/officeDocument/2006/relationships/image" Target="../media/image13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6C77FBE-F360-33C3-ACA6-C05487C7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77" y="1358020"/>
            <a:ext cx="9966646" cy="2323584"/>
          </a:xfrm>
          <a:prstGeom prst="rect">
            <a:avLst/>
          </a:prstGeom>
        </p:spPr>
      </p:pic>
      <p:pic>
        <p:nvPicPr>
          <p:cNvPr id="3" name="Picture 2" descr="뱀 만화 캐릭터 귀여운 흰색 배경에 고립 아름 다운 뱀 만화 캐릭터 귀여운 클립 아트 뱀 블루 사랑 스 럽 고 재미 있은 클립 아트 뱀  마스코트 만화 녹색 파스텔 색상 귀여운에">
            <a:extLst>
              <a:ext uri="{FF2B5EF4-FFF2-40B4-BE49-F238E27FC236}">
                <a16:creationId xmlns:a16="http://schemas.microsoft.com/office/drawing/2014/main" id="{698D2F7B-9201-955C-72ED-93FC55610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267" y="3681604"/>
            <a:ext cx="2295056" cy="2295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409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A7CCAA-CDA5-04FE-14BF-8E4A68C7B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Preliminary</a:t>
            </a:r>
          </a:p>
          <a:p>
            <a:r>
              <a:rPr lang="en-US" dirty="0"/>
              <a:t>Background</a:t>
            </a:r>
          </a:p>
          <a:p>
            <a:r>
              <a:rPr lang="en-US" dirty="0"/>
              <a:t>Mamba: Selective State Space Models</a:t>
            </a:r>
          </a:p>
          <a:p>
            <a:r>
              <a:rPr lang="en-US" dirty="0"/>
              <a:t>Experiments</a:t>
            </a:r>
          </a:p>
          <a:p>
            <a:r>
              <a:rPr lang="en-US" dirty="0" err="1"/>
              <a:t>Conclution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D93E95-E5CD-50CE-F7C6-5C596851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73531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F6FA9570-6959-1E77-4579-606D34967C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What is Mamba?</a:t>
                </a:r>
              </a:p>
              <a:p>
                <a:pPr lvl="1"/>
                <a:r>
                  <a:rPr kumimoji="1" lang="en-US" altLang="ko-KR" dirty="0"/>
                  <a:t>Dealing with Sequential Data</a:t>
                </a:r>
              </a:p>
              <a:p>
                <a:pPr lvl="2"/>
                <a:r>
                  <a:rPr kumimoji="1" lang="en-US" altLang="ko-KR" dirty="0"/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kumimoji="1" lang="en-US" altLang="ko-KR" b="0" i="0" dirty="0" smtClean="0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m:rPr>
                            <m:sty m:val="p"/>
                          </m:rPr>
                          <a:rPr kumimoji="1" lang="en-US" altLang="ko-KR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kumimoji="1" lang="en-US" altLang="ko-KR" dirty="0"/>
                  <a:t>, 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dirty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kumimoji="1" lang="en-US" altLang="ko-KR" b="0" i="0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Selective State Space Model</a:t>
                </a:r>
              </a:p>
              <a:p>
                <a:pPr lvl="2"/>
                <a:r>
                  <a:rPr kumimoji="1" lang="en-US" altLang="ko-KR" dirty="0"/>
                  <a:t>Without Attention</a:t>
                </a:r>
              </a:p>
              <a:p>
                <a:pPr lvl="1"/>
                <a:r>
                  <a:rPr kumimoji="1" lang="en-US" altLang="ko-KR" dirty="0"/>
                  <a:t>Now growing its own Ecosystem</a:t>
                </a:r>
                <a:endParaRPr kumimoji="1" lang="ko-KR" altLang="en-US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F6FA9570-6959-1E77-4579-606D34967C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3E65ABEC-903F-49F9-056F-66D90D7E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Preliminary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A59B323-1485-9073-418A-5257D72F2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0919" y="6356351"/>
            <a:ext cx="55901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/>
              <a:t>State Space Model for New-Generation Network Alternative to Transformers: A Survey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045481-9D16-E17B-56A1-C436E3082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504" y="780422"/>
            <a:ext cx="7538496" cy="529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1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DDE5F-4DA3-1A71-5B07-54A26FC8C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669C30C-CBFE-5EBB-D131-44C3269A5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Sequence Models</a:t>
            </a:r>
          </a:p>
          <a:p>
            <a:pPr lvl="1"/>
            <a:r>
              <a:rPr kumimoji="1" lang="en-US" altLang="ko-KR" dirty="0"/>
              <a:t>Analyses and predicts patterns in data over time.</a:t>
            </a:r>
          </a:p>
          <a:p>
            <a:pPr lvl="2"/>
            <a:r>
              <a:rPr kumimoji="1" lang="en-US" altLang="ko-KR" dirty="0"/>
              <a:t>e.g. Speech recognition, financial time series analysis, </a:t>
            </a:r>
            <a:r>
              <a:rPr kumimoji="1" lang="en-US" altLang="ko-KR" dirty="0" err="1"/>
              <a:t>biosignal</a:t>
            </a:r>
            <a:r>
              <a:rPr kumimoji="1" lang="en-US" altLang="ko-KR" dirty="0"/>
              <a:t> analysis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BFBFB0C-BE29-B756-0CCA-8738A7CCE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Preliminary</a:t>
            </a:r>
            <a:endParaRPr kumimoji="1" lang="ko-KR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05A015B-4813-500A-FF58-8667E3200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99" y="2873540"/>
            <a:ext cx="6427960" cy="361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EC05A77-8BC0-3C8F-2500-E2E03F026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/>
              <a:t>https://</a:t>
            </a:r>
            <a:r>
              <a:rPr lang="en" altLang="ko-KR" sz="1100" dirty="0" err="1"/>
              <a:t>velog.velcdn.com</a:t>
            </a:r>
            <a:r>
              <a:rPr lang="en" altLang="ko-KR" sz="1100" dirty="0"/>
              <a:t>/images/</a:t>
            </a:r>
            <a:r>
              <a:rPr lang="en" altLang="ko-KR" sz="1100" dirty="0" err="1"/>
              <a:t>euisuk-chung</a:t>
            </a:r>
            <a:r>
              <a:rPr lang="en" altLang="ko-KR" sz="1100" dirty="0"/>
              <a:t>/post/9e365b14-efb4-434d-8abd-9fde6bf9dfd5/</a:t>
            </a:r>
            <a:r>
              <a:rPr lang="en" altLang="ko-KR" sz="1100" dirty="0" err="1"/>
              <a:t>image.png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321684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43B14-D62D-6C63-4564-77C92D083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2DCF8CD4-6AA5-4461-122E-918AC696FF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Sequence Models</a:t>
                </a:r>
              </a:p>
              <a:p>
                <a:pPr lvl="1"/>
                <a:r>
                  <a:rPr kumimoji="1" lang="en-US" altLang="ko-KR" dirty="0"/>
                  <a:t>Transformer</a:t>
                </a:r>
              </a:p>
              <a:p>
                <a:pPr lvl="2"/>
                <a:r>
                  <a:rPr kumimoji="1" lang="en-US" altLang="ko-KR" dirty="0"/>
                  <a:t>Attention enables Training Parallelism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dirty="0"/>
                  <a:t> </a:t>
                </a:r>
                <a:r>
                  <a:rPr kumimoji="1" lang="en-US" altLang="ko-KR" dirty="0">
                    <a:solidFill>
                      <a:srgbClr val="FF0000"/>
                    </a:solidFill>
                  </a:rPr>
                  <a:t>Fast Training</a:t>
                </a:r>
              </a:p>
              <a:p>
                <a:pPr lvl="3"/>
                <a:r>
                  <a:rPr kumimoji="1" lang="en-US" altLang="ko-KR" dirty="0"/>
                  <a:t>Compute all input tokens at the time</a:t>
                </a:r>
              </a:p>
              <a:p>
                <a:pPr lvl="2"/>
                <a:r>
                  <a:rPr kumimoji="1" lang="en-US" altLang="ko-KR" dirty="0"/>
                  <a:t>Attention forces Exhaustive Search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dirty="0"/>
                  <a:t> </a:t>
                </a:r>
                <a:r>
                  <a:rPr kumimoji="1" lang="en-US" altLang="ko-KR" dirty="0">
                    <a:solidFill>
                      <a:srgbClr val="0070C0"/>
                    </a:solidFill>
                  </a:rPr>
                  <a:t>High Cost </a:t>
                </a:r>
                <a:r>
                  <a:rPr kumimoji="1" lang="en-US" altLang="ko-KR" dirty="0"/>
                  <a:t>and </a:t>
                </a:r>
                <a:r>
                  <a:rPr kumimoji="1" lang="en-US" altLang="ko-KR" dirty="0">
                    <a:solidFill>
                      <a:srgbClr val="0070C0"/>
                    </a:solidFill>
                  </a:rPr>
                  <a:t>Slow Inference</a:t>
                </a:r>
              </a:p>
              <a:p>
                <a:pPr lvl="3"/>
                <a:r>
                  <a:rPr kumimoji="1" lang="en-US" altLang="ko-KR" dirty="0"/>
                  <a:t>The time complexity of token generation: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kumimoji="1" lang="en-US" altLang="ko-KR" dirty="0"/>
              </a:p>
              <a:p>
                <a:pPr lvl="3"/>
                <a:r>
                  <a:rPr kumimoji="1" lang="en-US" altLang="ko-KR" dirty="0"/>
                  <a:t>If use KV cache: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kumimoji="1" lang="en-US" altLang="ko-KR" dirty="0"/>
                  <a:t>, but </a:t>
                </a:r>
                <a:r>
                  <a:rPr lang="en-US" altLang="ko-KR" dirty="0"/>
                  <a:t>a</a:t>
                </a:r>
                <a:r>
                  <a:rPr lang="en" altLang="ko-KR" dirty="0"/>
                  <a:t> plethora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sequence length</a:t>
                </a:r>
                <a:endParaRPr kumimoji="1" lang="en-US" altLang="ko-KR" dirty="0"/>
              </a:p>
              <a:p>
                <a:pPr lvl="2"/>
                <a:endParaRPr kumimoji="1" lang="en-US" altLang="ko-KR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2DCF8CD4-6AA5-4461-122E-918AC696FF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52FD6219-A0B4-F125-6CA1-C0D12C7C3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Preliminary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3DF01C-CC31-7B1B-6D59-D32CA3245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/>
              <a:t>https://</a:t>
            </a:r>
            <a:r>
              <a:rPr lang="en" altLang="ko-KR" sz="1100" dirty="0" err="1"/>
              <a:t>newsletter.theaiedge.io</a:t>
            </a:r>
            <a:r>
              <a:rPr lang="en" altLang="ko-KR" sz="1100" dirty="0"/>
              <a:t>/p/understanding-the-self-attention</a:t>
            </a:r>
            <a:endParaRPr lang="ko-KR" altLang="en-US" sz="1100" dirty="0"/>
          </a:p>
        </p:txBody>
      </p:sp>
      <p:pic>
        <p:nvPicPr>
          <p:cNvPr id="7172" name="Picture 4" descr="Understanding The Self-Attention Mechanism">
            <a:extLst>
              <a:ext uri="{FF2B5EF4-FFF2-40B4-BE49-F238E27FC236}">
                <a16:creationId xmlns:a16="http://schemas.microsoft.com/office/drawing/2014/main" id="{458710D1-3C0E-B281-EC77-52CDA7F8C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267" y="3691171"/>
            <a:ext cx="5176733" cy="2535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180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92F54-EEE1-41F7-8809-768C22C9D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B7BD5358-1501-8E44-B889-FFF932C2C4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Sequence Models</a:t>
                </a:r>
              </a:p>
              <a:p>
                <a:pPr lvl="1"/>
                <a:r>
                  <a:rPr kumimoji="1" lang="en-US" altLang="ko-KR" dirty="0"/>
                  <a:t>RNN</a:t>
                </a:r>
              </a:p>
              <a:p>
                <a:pPr lvl="2"/>
                <a:r>
                  <a:rPr kumimoji="1" lang="en-US" altLang="ko-KR" dirty="0"/>
                  <a:t>Memory’s update cannot be </a:t>
                </a:r>
                <a:r>
                  <a:rPr kumimoji="1" lang="en-US" altLang="ko-KR" dirty="0" err="1"/>
                  <a:t>Parallelised</a:t>
                </a:r>
                <a:r>
                  <a:rPr kumimoji="1" lang="en-US" altLang="ko-KR" dirty="0"/>
                  <a:t>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dirty="0"/>
                  <a:t> </a:t>
                </a:r>
                <a:r>
                  <a:rPr kumimoji="1" lang="en-US" altLang="ko-KR" dirty="0">
                    <a:solidFill>
                      <a:srgbClr val="FF0000"/>
                    </a:solidFill>
                  </a:rPr>
                  <a:t>Slow Training</a:t>
                </a:r>
              </a:p>
              <a:p>
                <a:pPr lvl="3"/>
                <a:r>
                  <a:rPr kumimoji="1" lang="en-US" altLang="ko-KR" dirty="0"/>
                  <a:t>T</a:t>
                </a:r>
                <a:r>
                  <a:rPr kumimoji="1" lang="en" altLang="ko-KR" dirty="0"/>
                  <a:t>he next time-step’s memory must need before time-step’s memory</a:t>
                </a:r>
                <a:endParaRPr kumimoji="1" lang="en-US" altLang="ko-KR" dirty="0"/>
              </a:p>
              <a:p>
                <a:pPr lvl="2"/>
                <a:r>
                  <a:rPr kumimoji="1" lang="en-US" altLang="ko-KR" dirty="0"/>
                  <a:t>Memory carry total information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dirty="0"/>
                  <a:t> </a:t>
                </a:r>
                <a:r>
                  <a:rPr kumimoji="1" lang="en-US" altLang="ko-KR" dirty="0">
                    <a:solidFill>
                      <a:schemeClr val="accent2"/>
                    </a:solidFill>
                  </a:rPr>
                  <a:t>Low Cost </a:t>
                </a:r>
                <a:r>
                  <a:rPr kumimoji="1" lang="en-US" altLang="ko-KR" dirty="0"/>
                  <a:t>and </a:t>
                </a:r>
                <a:r>
                  <a:rPr kumimoji="1" lang="en-US" altLang="ko-KR" dirty="0">
                    <a:solidFill>
                      <a:schemeClr val="accent2"/>
                    </a:solidFill>
                  </a:rPr>
                  <a:t>Fast Inference</a:t>
                </a:r>
              </a:p>
              <a:p>
                <a:pPr lvl="3"/>
                <a:r>
                  <a:rPr kumimoji="1" lang="en-US" altLang="ko-KR" dirty="0"/>
                  <a:t>Current output</a:t>
                </a:r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only rely on previous memory</a:t>
                </a:r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B7BD5358-1501-8E44-B889-FFF932C2C4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86A76BCA-A888-1ED0-91E9-B7F6E1B9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Preliminary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106D8E-F869-D793-B502-13AE1E643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colah.github.io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/posts/2015-08-Understanding-LSTMs/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F7B41DA8-F9DE-7B5D-19E2-6D640B0BC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991258" y="4227105"/>
            <a:ext cx="5576842" cy="146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8894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47F17-EA81-FBD6-F4E8-9CC38861F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C86A043F-4BA0-D5A1-0C94-21F1F4440A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en-US" altLang="ko-KR" dirty="0"/>
                  <a:t>Sequence Models</a:t>
                </a:r>
              </a:p>
              <a:p>
                <a:pPr lvl="1"/>
                <a:r>
                  <a:rPr kumimoji="1" lang="en-US" altLang="ko-KR" dirty="0"/>
                  <a:t>Transformer</a:t>
                </a:r>
                <a:r>
                  <a:rPr kumimoji="1" lang="ko-KR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kumimoji="1" lang="en-US" altLang="ko-KR" dirty="0"/>
                  <a:t> towards Low Cost</a:t>
                </a:r>
              </a:p>
              <a:p>
                <a:pPr lvl="2"/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Attention enables Training Parallelism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 </a:t>
                </a:r>
                <a:r>
                  <a:rPr kumimoji="1" lang="en-US" altLang="ko-KR" dirty="0">
                    <a:solidFill>
                      <a:srgbClr val="FF0000"/>
                    </a:solidFill>
                  </a:rPr>
                  <a:t>Fast Training</a:t>
                </a:r>
              </a:p>
              <a:p>
                <a:pPr lvl="3"/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Compute all input tokens at the time</a:t>
                </a:r>
              </a:p>
              <a:p>
                <a:pPr lvl="2"/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Attention forces Exhaustive Search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 </a:t>
                </a:r>
                <a:r>
                  <a:rPr kumimoji="1" lang="en-US" altLang="ko-KR" dirty="0">
                    <a:solidFill>
                      <a:schemeClr val="accent2"/>
                    </a:solidFill>
                  </a:rPr>
                  <a:t>High Cost </a:t>
                </a:r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and </a:t>
                </a:r>
                <a:r>
                  <a:rPr kumimoji="1" lang="en-US" altLang="ko-KR" dirty="0">
                    <a:solidFill>
                      <a:schemeClr val="accent2"/>
                    </a:solidFill>
                  </a:rPr>
                  <a:t>Slow Inference</a:t>
                </a:r>
              </a:p>
              <a:p>
                <a:pPr lvl="3"/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The time complexity of token generation: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kumimoji="1" lang="en-US" altLang="ko-KR" i="1" dirty="0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ko-KR" i="1" dirty="0" smtClean="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i="1" dirty="0" smtClean="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kumimoji="1" lang="en-US" altLang="ko-KR" i="1" dirty="0" smtClean="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kumimoji="1" lang="en-US" altLang="ko-KR" dirty="0">
                  <a:solidFill>
                    <a:schemeClr val="bg1">
                      <a:lumMod val="95000"/>
                    </a:schemeClr>
                  </a:solidFill>
                </a:endParaRPr>
              </a:p>
              <a:p>
                <a:pPr lvl="3"/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If use KV cache: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kumimoji="1" lang="en-US" altLang="ko-KR" i="1" dirty="0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dirty="0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, but </a:t>
                </a:r>
                <a:r>
                  <a:rPr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a</a:t>
                </a:r>
                <a:r>
                  <a:rPr lang="en" altLang="ko-KR" dirty="0">
                    <a:solidFill>
                      <a:schemeClr val="bg1">
                        <a:lumMod val="95000"/>
                      </a:schemeClr>
                    </a:solidFill>
                  </a:rPr>
                  <a:t> plethora</a:t>
                </a:r>
                <a:r>
                  <a:rPr lang="ko-KR" altLang="en-US" dirty="0">
                    <a:solidFill>
                      <a:schemeClr val="bg1">
                        <a:lumMod val="95000"/>
                      </a:schemeClr>
                    </a:solidFill>
                  </a:rPr>
                  <a:t> </a:t>
                </a:r>
                <a:r>
                  <a:rPr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sequence length</a:t>
                </a:r>
                <a:endParaRPr kumimoji="1" lang="en-US" altLang="ko-KR" dirty="0">
                  <a:solidFill>
                    <a:schemeClr val="bg1">
                      <a:lumMod val="95000"/>
                    </a:schemeClr>
                  </a:solidFill>
                </a:endParaRPr>
              </a:p>
              <a:p>
                <a:pPr lvl="1"/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RNN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kumimoji="1" lang="en-US" altLang="ko-KR" dirty="0"/>
                  <a:t> towards Parallel Training and Performance</a:t>
                </a:r>
              </a:p>
              <a:p>
                <a:pPr lvl="2"/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Memory’s update cannot be </a:t>
                </a:r>
                <a:r>
                  <a:rPr kumimoji="1" lang="en-US" altLang="ko-KR" dirty="0" err="1">
                    <a:solidFill>
                      <a:schemeClr val="bg1">
                        <a:lumMod val="95000"/>
                      </a:schemeClr>
                    </a:solidFill>
                  </a:rPr>
                  <a:t>Parallelised</a:t>
                </a:r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 </a:t>
                </a:r>
                <a:r>
                  <a:rPr kumimoji="1" lang="en-US" altLang="ko-KR" dirty="0">
                    <a:solidFill>
                      <a:srgbClr val="FF0000"/>
                    </a:solidFill>
                  </a:rPr>
                  <a:t>Slow Training</a:t>
                </a:r>
              </a:p>
              <a:p>
                <a:pPr lvl="3"/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T</a:t>
                </a:r>
                <a:r>
                  <a:rPr kumimoji="1" lang="en" altLang="ko-KR" dirty="0">
                    <a:solidFill>
                      <a:schemeClr val="bg1">
                        <a:lumMod val="95000"/>
                      </a:schemeClr>
                    </a:solidFill>
                  </a:rPr>
                  <a:t>he next time-step’s memory must need before time-step’s memory</a:t>
                </a:r>
                <a:endParaRPr kumimoji="1" lang="en-US" altLang="ko-KR" dirty="0">
                  <a:solidFill>
                    <a:schemeClr val="bg1">
                      <a:lumMod val="95000"/>
                    </a:schemeClr>
                  </a:solidFill>
                </a:endParaRPr>
              </a:p>
              <a:p>
                <a:pPr lvl="2"/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Memory carry total information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 </a:t>
                </a:r>
                <a:r>
                  <a:rPr kumimoji="1" lang="en-US" altLang="ko-KR" dirty="0">
                    <a:solidFill>
                      <a:schemeClr val="accent2"/>
                    </a:solidFill>
                  </a:rPr>
                  <a:t>Low Cost </a:t>
                </a:r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and </a:t>
                </a:r>
                <a:r>
                  <a:rPr kumimoji="1" lang="en-US" altLang="ko-KR" dirty="0">
                    <a:solidFill>
                      <a:schemeClr val="accent2"/>
                    </a:solidFill>
                  </a:rPr>
                  <a:t>Fast Inference</a:t>
                </a:r>
              </a:p>
              <a:p>
                <a:pPr lvl="3"/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Current output</a:t>
                </a:r>
                <a:r>
                  <a:rPr kumimoji="1" lang="ko-KR" altLang="en-US" dirty="0">
                    <a:solidFill>
                      <a:schemeClr val="bg1">
                        <a:lumMod val="95000"/>
                      </a:schemeClr>
                    </a:solidFill>
                  </a:rPr>
                  <a:t> </a:t>
                </a:r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only rely on previous memory</a:t>
                </a:r>
                <a:endParaRPr kumimoji="1" lang="en-US" altLang="ko-KR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C86A043F-4BA0-D5A1-0C94-21F1F4440A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 t="-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C480AA27-E194-8521-659D-103214D00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Preliminary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074354-869E-5ADF-F438-5D7D77F7C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 err="1">
                <a:solidFill>
                  <a:srgbClr val="959595"/>
                </a:solidFill>
                <a:effectLst/>
              </a:rPr>
              <a:t>FlashAttention</a:t>
            </a:r>
            <a:r>
              <a:rPr lang="en" altLang="ko-KR" sz="1100" dirty="0">
                <a:solidFill>
                  <a:srgbClr val="959595"/>
                </a:solidFill>
              </a:rPr>
              <a:t> / </a:t>
            </a:r>
            <a:r>
              <a:rPr lang="en" altLang="ko-KR" sz="1100" dirty="0" err="1">
                <a:solidFill>
                  <a:srgbClr val="959595"/>
                </a:solidFill>
              </a:rPr>
              <a:t>StreamingLLM</a:t>
            </a:r>
            <a:r>
              <a:rPr lang="en" altLang="ko-KR" sz="1100" dirty="0">
                <a:solidFill>
                  <a:srgbClr val="959595"/>
                </a:solidFill>
              </a:rPr>
              <a:t> / RWKV / </a:t>
            </a:r>
            <a:r>
              <a:rPr lang="en" altLang="ko-KR" sz="1100" dirty="0" err="1">
                <a:solidFill>
                  <a:srgbClr val="959595"/>
                </a:solidFill>
              </a:rPr>
              <a:t>RetNet</a:t>
            </a:r>
            <a:r>
              <a:rPr lang="en" altLang="ko-KR" sz="1100" dirty="0">
                <a:solidFill>
                  <a:srgbClr val="959595"/>
                </a:solidFill>
              </a:rPr>
              <a:t> / Hyena Hierarchy</a:t>
            </a:r>
            <a:endParaRPr lang="en" altLang="ko-KR" sz="1100" dirty="0">
              <a:solidFill>
                <a:srgbClr val="959595"/>
              </a:solidFill>
              <a:effectLst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9054D6C-8EB5-26B8-5893-9A3BD483AB8E}"/>
              </a:ext>
            </a:extLst>
          </p:cNvPr>
          <p:cNvGrpSpPr/>
          <p:nvPr/>
        </p:nvGrpSpPr>
        <p:grpSpPr>
          <a:xfrm>
            <a:off x="7613015" y="3784350"/>
            <a:ext cx="4387563" cy="1440000"/>
            <a:chOff x="7613015" y="3784350"/>
            <a:chExt cx="4387563" cy="1440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13A3E3F-30A7-761C-8019-737270DA1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13015" y="3784350"/>
              <a:ext cx="2050647" cy="144000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EC7EAD0-7CC9-EEE9-8CF4-41EF9011A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63662" y="3784350"/>
              <a:ext cx="2336916" cy="1440000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C86AAB2E-C478-9983-541B-688A4ABD8281}"/>
              </a:ext>
            </a:extLst>
          </p:cNvPr>
          <p:cNvGrpSpPr/>
          <p:nvPr/>
        </p:nvGrpSpPr>
        <p:grpSpPr>
          <a:xfrm>
            <a:off x="7613015" y="851861"/>
            <a:ext cx="4454418" cy="1417513"/>
            <a:chOff x="6584033" y="105228"/>
            <a:chExt cx="6787620" cy="216000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213DA98-34D7-6FE1-C420-4782F0CF8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84033" y="105228"/>
              <a:ext cx="5533361" cy="216000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08E2C04-360D-CE82-80EE-FFB0D8DC9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77741" y="105228"/>
              <a:ext cx="2793912" cy="2160000"/>
            </a:xfrm>
            <a:prstGeom prst="rect">
              <a:avLst/>
            </a:prstGeom>
          </p:spPr>
        </p:pic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866F969B-E447-EBD0-B096-5987F65219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3015" y="5300550"/>
            <a:ext cx="4388400" cy="97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927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1D506-9A0E-188F-F257-0C28C44E9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F3F8A102-25FD-A645-D292-72E01FCE7D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en-US" altLang="ko-KR" dirty="0"/>
                  <a:t>Sequence Models</a:t>
                </a:r>
              </a:p>
              <a:p>
                <a:pPr lvl="1"/>
                <a:r>
                  <a:rPr kumimoji="1" lang="en-US" altLang="ko-KR" dirty="0"/>
                  <a:t>Transformer</a:t>
                </a:r>
                <a:r>
                  <a:rPr kumimoji="1" lang="ko-KR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kumimoji="1" lang="en-US" altLang="ko-KR" dirty="0"/>
                  <a:t> towards Low Cost</a:t>
                </a:r>
              </a:p>
              <a:p>
                <a:pPr lvl="2"/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Attention enables Training Parallelism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 </a:t>
                </a:r>
                <a:r>
                  <a:rPr kumimoji="1" lang="en-US" altLang="ko-KR" dirty="0">
                    <a:solidFill>
                      <a:srgbClr val="FF0000"/>
                    </a:solidFill>
                  </a:rPr>
                  <a:t>Fast Training</a:t>
                </a:r>
              </a:p>
              <a:p>
                <a:pPr lvl="3"/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Compute all input tokens at the time</a:t>
                </a:r>
              </a:p>
              <a:p>
                <a:pPr lvl="2"/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Attention forces Exhaustive Search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 </a:t>
                </a:r>
                <a:r>
                  <a:rPr kumimoji="1" lang="en-US" altLang="ko-KR" dirty="0">
                    <a:solidFill>
                      <a:schemeClr val="accent2"/>
                    </a:solidFill>
                  </a:rPr>
                  <a:t>High Cost </a:t>
                </a:r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and </a:t>
                </a:r>
                <a:r>
                  <a:rPr kumimoji="1" lang="en-US" altLang="ko-KR" dirty="0">
                    <a:solidFill>
                      <a:schemeClr val="accent2"/>
                    </a:solidFill>
                  </a:rPr>
                  <a:t>Slow Inference</a:t>
                </a:r>
              </a:p>
              <a:p>
                <a:pPr lvl="3"/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The time complexity of token generation: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kumimoji="1" lang="en-US" altLang="ko-KR" i="1" dirty="0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ko-KR" i="1" dirty="0" smtClean="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i="1" dirty="0" smtClean="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kumimoji="1" lang="en-US" altLang="ko-KR" i="1" dirty="0" smtClean="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kumimoji="1" lang="en-US" altLang="ko-KR" dirty="0">
                  <a:solidFill>
                    <a:schemeClr val="bg1">
                      <a:lumMod val="95000"/>
                    </a:schemeClr>
                  </a:solidFill>
                </a:endParaRPr>
              </a:p>
              <a:p>
                <a:pPr lvl="3"/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If use KV cache: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kumimoji="1" lang="en-US" altLang="ko-KR" i="1" dirty="0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dirty="0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, but </a:t>
                </a:r>
                <a:r>
                  <a:rPr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a</a:t>
                </a:r>
                <a:r>
                  <a:rPr lang="en" altLang="ko-KR" dirty="0">
                    <a:solidFill>
                      <a:schemeClr val="bg1">
                        <a:lumMod val="95000"/>
                      </a:schemeClr>
                    </a:solidFill>
                  </a:rPr>
                  <a:t> plethora</a:t>
                </a:r>
                <a:r>
                  <a:rPr lang="ko-KR" altLang="en-US" dirty="0">
                    <a:solidFill>
                      <a:schemeClr val="bg1">
                        <a:lumMod val="95000"/>
                      </a:schemeClr>
                    </a:solidFill>
                  </a:rPr>
                  <a:t> </a:t>
                </a:r>
                <a:r>
                  <a:rPr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sequence length</a:t>
                </a:r>
                <a:endParaRPr kumimoji="1" lang="en-US" altLang="ko-KR" dirty="0">
                  <a:solidFill>
                    <a:schemeClr val="bg1">
                      <a:lumMod val="95000"/>
                    </a:schemeClr>
                  </a:solidFill>
                </a:endParaRPr>
              </a:p>
              <a:p>
                <a:pPr lvl="1"/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RNN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kumimoji="1" lang="en-US" altLang="ko-KR" dirty="0"/>
                  <a:t> towards Parallel Training and Performance</a:t>
                </a:r>
              </a:p>
              <a:p>
                <a:pPr lvl="2"/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Memory’s update cannot be </a:t>
                </a:r>
                <a:r>
                  <a:rPr kumimoji="1" lang="en-US" altLang="ko-KR" dirty="0" err="1">
                    <a:solidFill>
                      <a:schemeClr val="bg1">
                        <a:lumMod val="95000"/>
                      </a:schemeClr>
                    </a:solidFill>
                  </a:rPr>
                  <a:t>Parallelised</a:t>
                </a:r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 </a:t>
                </a:r>
                <a:r>
                  <a:rPr kumimoji="1" lang="en-US" altLang="ko-KR" dirty="0">
                    <a:solidFill>
                      <a:srgbClr val="FF0000"/>
                    </a:solidFill>
                  </a:rPr>
                  <a:t>Slow Training</a:t>
                </a:r>
              </a:p>
              <a:p>
                <a:pPr lvl="3"/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T</a:t>
                </a:r>
                <a:r>
                  <a:rPr kumimoji="1" lang="en" altLang="ko-KR" dirty="0">
                    <a:solidFill>
                      <a:schemeClr val="bg1">
                        <a:lumMod val="95000"/>
                      </a:schemeClr>
                    </a:solidFill>
                  </a:rPr>
                  <a:t>he next time-step’s memory must need before time-step’s memory</a:t>
                </a:r>
                <a:endParaRPr kumimoji="1" lang="en-US" altLang="ko-KR" dirty="0">
                  <a:solidFill>
                    <a:schemeClr val="bg1">
                      <a:lumMod val="95000"/>
                    </a:schemeClr>
                  </a:solidFill>
                </a:endParaRPr>
              </a:p>
              <a:p>
                <a:pPr lvl="2"/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Memory carry total information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 </a:t>
                </a:r>
                <a:r>
                  <a:rPr kumimoji="1" lang="en-US" altLang="ko-KR" dirty="0">
                    <a:solidFill>
                      <a:schemeClr val="accent2"/>
                    </a:solidFill>
                  </a:rPr>
                  <a:t>Low Cost </a:t>
                </a:r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and </a:t>
                </a:r>
                <a:r>
                  <a:rPr kumimoji="1" lang="en-US" altLang="ko-KR" dirty="0">
                    <a:solidFill>
                      <a:schemeClr val="accent2"/>
                    </a:solidFill>
                  </a:rPr>
                  <a:t>Fast Inference</a:t>
                </a:r>
              </a:p>
              <a:p>
                <a:pPr lvl="3"/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Current output</a:t>
                </a:r>
                <a:r>
                  <a:rPr kumimoji="1" lang="ko-KR" altLang="en-US" dirty="0">
                    <a:solidFill>
                      <a:schemeClr val="bg1">
                        <a:lumMod val="95000"/>
                      </a:schemeClr>
                    </a:solidFill>
                  </a:rPr>
                  <a:t> </a:t>
                </a:r>
                <a:r>
                  <a:rPr kumimoji="1" lang="en-US" altLang="ko-KR" dirty="0">
                    <a:solidFill>
                      <a:schemeClr val="bg1">
                        <a:lumMod val="95000"/>
                      </a:schemeClr>
                    </a:solidFill>
                  </a:rPr>
                  <a:t>only rely on previous memory</a:t>
                </a:r>
                <a:endParaRPr kumimoji="1" lang="en-US" altLang="ko-KR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F3F8A102-25FD-A645-D292-72E01FCE7D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 t="-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FFF28B66-52BD-D442-4F8F-4C774CA00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Preliminary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961B580-767B-76A0-85C7-A95438EE4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Mamba: Linear-Time Sequence Modeling with Selective State Spaces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C6FA1DE-46F9-42D4-3809-1EAEC576C378}"/>
              </a:ext>
            </a:extLst>
          </p:cNvPr>
          <p:cNvGrpSpPr/>
          <p:nvPr/>
        </p:nvGrpSpPr>
        <p:grpSpPr>
          <a:xfrm>
            <a:off x="7613015" y="3784350"/>
            <a:ext cx="4387563" cy="1440000"/>
            <a:chOff x="7613015" y="3784350"/>
            <a:chExt cx="4387563" cy="1440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732DA1C-EC41-9840-9B19-F449BBA9B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13015" y="3784350"/>
              <a:ext cx="2050647" cy="144000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C91CB93-E3B4-5293-CF1D-BA051F883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63662" y="3784350"/>
              <a:ext cx="2336916" cy="1440000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A81A40F1-AEBC-4B9F-445B-9F80CB42EDCC}"/>
              </a:ext>
            </a:extLst>
          </p:cNvPr>
          <p:cNvGrpSpPr/>
          <p:nvPr/>
        </p:nvGrpSpPr>
        <p:grpSpPr>
          <a:xfrm>
            <a:off x="7613015" y="851861"/>
            <a:ext cx="4454418" cy="1417513"/>
            <a:chOff x="6584033" y="105228"/>
            <a:chExt cx="6787620" cy="216000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F1A3366-B78E-78AE-D555-2E899AF65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84033" y="105228"/>
              <a:ext cx="5533361" cy="216000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9C8B838-0461-7482-445A-3D6A678DC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77741" y="105228"/>
              <a:ext cx="2793912" cy="2160000"/>
            </a:xfrm>
            <a:prstGeom prst="rect">
              <a:avLst/>
            </a:prstGeom>
          </p:spPr>
        </p:pic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E7D18A41-84E4-02C4-C0DE-8575178EA8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3015" y="5300550"/>
            <a:ext cx="4388400" cy="97355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9DCACBC-3168-CC4C-FE84-9F9F8F5789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392" y="1702873"/>
            <a:ext cx="10945216" cy="416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86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DB10B-83D3-85D2-4124-1CA348BD8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018A544-7E3B-7FEF-F675-17FF9C53F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Challenging Data for Current Sequence Model: Signal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8E9EFD5-5C45-44D6-F00F-40CD1A14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Preliminary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A5ADE5-62EE-15C3-C1B5-DECBB7980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 err="1">
                <a:solidFill>
                  <a:srgbClr val="959595"/>
                </a:solidFill>
                <a:effectLst/>
              </a:rPr>
              <a:t>MedAI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 #41: Efficiently Modeling Long Sequences with Structured State Spaces | Albert Gu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BF28D7B-2789-D50F-8202-AF0BD1C932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56" t="27088" r="22993" b="15533"/>
          <a:stretch/>
        </p:blipFill>
        <p:spPr>
          <a:xfrm>
            <a:off x="1398492" y="1928936"/>
            <a:ext cx="9395016" cy="41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992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D16BD-0FF4-4383-C0D0-62B6706DA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C189B2E-F82F-0611-2FB5-A30CED9CA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Challenging Data for Current Sequence Model: Signal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CA8C676-7A00-0F8A-939E-E42DFF113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Preliminary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89E2525-3784-8ED6-AD36-37F0C0824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 err="1">
                <a:solidFill>
                  <a:srgbClr val="959595"/>
                </a:solidFill>
                <a:effectLst/>
              </a:rPr>
              <a:t>MedAI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 #41: Efficiently Modeling Long Sequences with Structured State Spaces | Albert Gu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59378DA-3E49-5E7E-3236-96384ECEB9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9152" y="2950936"/>
            <a:ext cx="9913696" cy="225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447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E129E-AC37-37CF-5979-3768A3BC6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2DCA442-0683-99BF-95DE-8F4A87EC6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Overview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3F79EA6-8F0C-46B8-A0AD-82D55064B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AD3F00-25F9-0886-900B-7D39D731E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 err="1">
                <a:solidFill>
                  <a:srgbClr val="959595"/>
                </a:solidFill>
                <a:effectLst/>
              </a:rPr>
              <a:t>MedAI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 #41: Efficiently Modeling Long Sequences with Structured State Spaces | Albert Gu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8A8EBD-4227-166B-0E4E-9A0751BA7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428973"/>
            <a:ext cx="7772400" cy="252532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4CEE26D-D214-F675-3EB1-5F23452BBB90}"/>
              </a:ext>
            </a:extLst>
          </p:cNvPr>
          <p:cNvSpPr/>
          <p:nvPr/>
        </p:nvSpPr>
        <p:spPr>
          <a:xfrm>
            <a:off x="4132634" y="3904090"/>
            <a:ext cx="995957" cy="1129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E3CF6B-9B30-B00F-5E2C-6CD200696281}"/>
              </a:ext>
            </a:extLst>
          </p:cNvPr>
          <p:cNvSpPr/>
          <p:nvPr/>
        </p:nvSpPr>
        <p:spPr>
          <a:xfrm>
            <a:off x="7063412" y="3904089"/>
            <a:ext cx="975358" cy="10502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09272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D422-2A2E-EB29-D457-781262DD0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6CC466F-A13C-CC9E-2320-ED98E7C75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Overview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5703C7D-D94D-F15B-CFBB-45FBC1E62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2ABCFB-E222-9B9C-85AA-FB340D4A7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 err="1">
                <a:solidFill>
                  <a:srgbClr val="959595"/>
                </a:solidFill>
                <a:effectLst/>
              </a:rPr>
              <a:t>MedAI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 #41: Efficiently Modeling Long Sequences with Structured State Spaces | Albert Gu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507558-A7C0-B1FC-7F1D-57B321124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428973"/>
            <a:ext cx="7772400" cy="252532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2E031F1-AE39-CDA3-D969-EC3C2761CA75}"/>
              </a:ext>
            </a:extLst>
          </p:cNvPr>
          <p:cNvSpPr/>
          <p:nvPr/>
        </p:nvSpPr>
        <p:spPr>
          <a:xfrm>
            <a:off x="2250332" y="2470825"/>
            <a:ext cx="1841770" cy="247050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543E79-5F44-7E7B-BA05-6453E68C91E6}"/>
              </a:ext>
            </a:extLst>
          </p:cNvPr>
          <p:cNvSpPr/>
          <p:nvPr/>
        </p:nvSpPr>
        <p:spPr>
          <a:xfrm>
            <a:off x="4132634" y="3904090"/>
            <a:ext cx="995957" cy="1129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5C7BD99-2B6E-E989-A71D-71ACA6B1EC0B}"/>
              </a:ext>
            </a:extLst>
          </p:cNvPr>
          <p:cNvSpPr/>
          <p:nvPr/>
        </p:nvSpPr>
        <p:spPr>
          <a:xfrm>
            <a:off x="7063412" y="3904089"/>
            <a:ext cx="975358" cy="10502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7713E4-EC50-08CF-2169-4C4BA1E99B25}"/>
              </a:ext>
            </a:extLst>
          </p:cNvPr>
          <p:cNvSpPr txBox="1"/>
          <p:nvPr/>
        </p:nvSpPr>
        <p:spPr>
          <a:xfrm>
            <a:off x="3048663" y="5424518"/>
            <a:ext cx="60946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dirty="0"/>
              <a:t>Operate on </a:t>
            </a:r>
            <a:r>
              <a:rPr kumimoji="1" lang="en-US" altLang="ko-KR" sz="2400" b="1" dirty="0">
                <a:solidFill>
                  <a:srgbClr val="C00000"/>
                </a:solidFill>
                <a:latin typeface="Corbel" panose="020B0503020204020204" pitchFamily="34" charset="0"/>
              </a:rPr>
              <a:t>Signals</a:t>
            </a:r>
            <a:r>
              <a:rPr kumimoji="1" lang="en-US" altLang="ko-KR" sz="2400" dirty="0"/>
              <a:t> and Sequences</a:t>
            </a:r>
          </a:p>
        </p:txBody>
      </p:sp>
    </p:spTree>
    <p:extLst>
      <p:ext uri="{BB962C8B-B14F-4D97-AF65-F5344CB8AC3E}">
        <p14:creationId xmlns:p14="http://schemas.microsoft.com/office/powerpoint/2010/main" val="428933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56A0D-0B53-4478-4341-E1E516595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3807C0F-175F-E7E2-AA25-287862C79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Overview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B71AB51-5FA7-216D-C012-E834DFC5A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CF5A3E-03CB-DE94-723A-61E330F17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 err="1">
                <a:solidFill>
                  <a:srgbClr val="959595"/>
                </a:solidFill>
                <a:effectLst/>
              </a:rPr>
              <a:t>MedAI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 #41: Efficiently Modeling Long Sequences with Structured State Spaces | Albert Gu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DC6605E-ABA7-91A5-6E4F-23CD538BE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428973"/>
            <a:ext cx="7772400" cy="252532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2268E70-1DC3-91A8-87C3-936ED8D549BA}"/>
              </a:ext>
            </a:extLst>
          </p:cNvPr>
          <p:cNvSpPr/>
          <p:nvPr/>
        </p:nvSpPr>
        <p:spPr>
          <a:xfrm>
            <a:off x="4132634" y="3904090"/>
            <a:ext cx="995957" cy="1129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CA8E37-D882-94FC-E070-DB044053604E}"/>
              </a:ext>
            </a:extLst>
          </p:cNvPr>
          <p:cNvSpPr/>
          <p:nvPr/>
        </p:nvSpPr>
        <p:spPr>
          <a:xfrm>
            <a:off x="7063412" y="3904089"/>
            <a:ext cx="975358" cy="10502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2F88C0-F6D6-D906-881C-0DE42B41A914}"/>
              </a:ext>
            </a:extLst>
          </p:cNvPr>
          <p:cNvSpPr txBox="1"/>
          <p:nvPr/>
        </p:nvSpPr>
        <p:spPr>
          <a:xfrm>
            <a:off x="3048663" y="5424518"/>
            <a:ext cx="60946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dirty="0">
                <a:latin typeface="Corbel" panose="020B0503020204020204" pitchFamily="34" charset="0"/>
              </a:rPr>
              <a:t>Efficient </a:t>
            </a:r>
            <a:r>
              <a:rPr kumimoji="1" lang="en-US" altLang="ko-KR" sz="2400" b="1" dirty="0">
                <a:solidFill>
                  <a:srgbClr val="0E429D"/>
                </a:solidFill>
                <a:latin typeface="Corbel" panose="020B0503020204020204" pitchFamily="34" charset="0"/>
              </a:rPr>
              <a:t>Online</a:t>
            </a:r>
            <a:r>
              <a:rPr kumimoji="1" lang="en-US" altLang="ko-KR" sz="2400" dirty="0">
                <a:latin typeface="Corbel" panose="020B0503020204020204" pitchFamily="34" charset="0"/>
              </a:rPr>
              <a:t> / Autoregressive </a:t>
            </a:r>
            <a:r>
              <a:rPr kumimoji="1" lang="en-US" altLang="ko-KR" sz="2400" dirty="0" err="1">
                <a:latin typeface="Corbel" panose="020B0503020204020204" pitchFamily="34" charset="0"/>
              </a:rPr>
              <a:t>Computaiton</a:t>
            </a:r>
            <a:endParaRPr kumimoji="1" lang="en-US" altLang="ko-KR" sz="2400" dirty="0">
              <a:latin typeface="Corbel" panose="020B0503020204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A08DF4E-1EB0-376A-78AF-BD3530C7A984}"/>
              </a:ext>
            </a:extLst>
          </p:cNvPr>
          <p:cNvSpPr/>
          <p:nvPr/>
        </p:nvSpPr>
        <p:spPr>
          <a:xfrm>
            <a:off x="5157655" y="2470825"/>
            <a:ext cx="1893770" cy="2470505"/>
          </a:xfrm>
          <a:prstGeom prst="rect">
            <a:avLst/>
          </a:prstGeom>
          <a:noFill/>
          <a:ln w="38100">
            <a:solidFill>
              <a:srgbClr val="0E42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842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A7B4A-CB35-E25A-388C-4CFA13EF2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5C56555-AC2C-B085-B5A3-FA10B0F45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Overview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5137194-FF73-2CDA-5E88-940A5A2AD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874CCF-2A36-363A-9084-698DBC5E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 err="1">
                <a:solidFill>
                  <a:srgbClr val="959595"/>
                </a:solidFill>
                <a:effectLst/>
              </a:rPr>
              <a:t>MedAI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 #41: Efficiently Modeling Long Sequences with Structured State Spaces | Albert Gu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5642AB3-F279-71B7-BF96-9BF2627D1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428973"/>
            <a:ext cx="7772400" cy="252532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6E87454-86E3-7577-D2E4-E6B19DB44FA8}"/>
              </a:ext>
            </a:extLst>
          </p:cNvPr>
          <p:cNvSpPr/>
          <p:nvPr/>
        </p:nvSpPr>
        <p:spPr>
          <a:xfrm>
            <a:off x="4132634" y="3904090"/>
            <a:ext cx="995957" cy="1129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EE16229-1475-BBB8-8914-5E87094E5DC6}"/>
              </a:ext>
            </a:extLst>
          </p:cNvPr>
          <p:cNvSpPr/>
          <p:nvPr/>
        </p:nvSpPr>
        <p:spPr>
          <a:xfrm>
            <a:off x="7063412" y="3904089"/>
            <a:ext cx="975358" cy="10502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CC2B1F-BF1E-10F7-42FF-3A6AD2C0942D}"/>
              </a:ext>
            </a:extLst>
          </p:cNvPr>
          <p:cNvSpPr txBox="1"/>
          <p:nvPr/>
        </p:nvSpPr>
        <p:spPr>
          <a:xfrm>
            <a:off x="3048663" y="5424518"/>
            <a:ext cx="60946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dirty="0">
                <a:latin typeface="Corbel" panose="020B0503020204020204" pitchFamily="34" charset="0"/>
              </a:rPr>
              <a:t>Efficient </a:t>
            </a:r>
            <a:r>
              <a:rPr kumimoji="1" lang="en-US" altLang="ko-KR" sz="2400" b="1" dirty="0">
                <a:solidFill>
                  <a:srgbClr val="028571"/>
                </a:solidFill>
                <a:latin typeface="Corbel" panose="020B0503020204020204" pitchFamily="34" charset="0"/>
              </a:rPr>
              <a:t>Parallelizable</a:t>
            </a:r>
            <a:r>
              <a:rPr kumimoji="1" lang="en-US" altLang="ko-KR" sz="2400" dirty="0">
                <a:latin typeface="Corbel" panose="020B0503020204020204" pitchFamily="34" charset="0"/>
              </a:rPr>
              <a:t> Computation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7613B7-C5BD-32D9-2801-786854D89225}"/>
              </a:ext>
            </a:extLst>
          </p:cNvPr>
          <p:cNvSpPr/>
          <p:nvPr/>
        </p:nvSpPr>
        <p:spPr>
          <a:xfrm>
            <a:off x="8063600" y="2470825"/>
            <a:ext cx="1893770" cy="2470505"/>
          </a:xfrm>
          <a:prstGeom prst="rect">
            <a:avLst/>
          </a:prstGeom>
          <a:noFill/>
          <a:ln w="38100">
            <a:solidFill>
              <a:srgbClr val="0285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0285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725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9D55C-6C4B-4149-EAB9-23C54BB51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CAD929D-A52F-27DA-E434-54ACFAFDA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Used in control engineering and system identification.</a:t>
            </a:r>
          </a:p>
          <a:p>
            <a:pPr lvl="1"/>
            <a:r>
              <a:rPr lang="en-US" altLang="ko-KR" dirty="0">
                <a:solidFill>
                  <a:srgbClr val="363737"/>
                </a:solidFill>
              </a:rPr>
              <a:t>C</a:t>
            </a:r>
            <a:r>
              <a:rPr lang="en" altLang="ko-KR" dirty="0" err="1">
                <a:solidFill>
                  <a:srgbClr val="363737"/>
                </a:solidFill>
                <a:effectLst/>
              </a:rPr>
              <a:t>ontains</a:t>
            </a:r>
            <a:r>
              <a:rPr lang="en" altLang="ko-KR" dirty="0">
                <a:solidFill>
                  <a:srgbClr val="363737"/>
                </a:solidFill>
                <a:effectLst/>
              </a:rPr>
              <a:t> the minimum number of variables that fully describe a system.</a:t>
            </a:r>
          </a:p>
          <a:p>
            <a:pPr lvl="1">
              <a:buFont typeface="Wingdings" pitchFamily="2" charset="2"/>
              <a:buChar char="Ø"/>
            </a:pPr>
            <a:r>
              <a:rPr lang="en" altLang="ko-KR" dirty="0">
                <a:solidFill>
                  <a:srgbClr val="363737"/>
                </a:solidFill>
                <a:effectLst/>
              </a:rPr>
              <a:t>Mathematically represent a problem by defining a system's possible states.</a:t>
            </a: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7649E94-5BF6-EB17-C9B7-BE69AEB00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616390-C7F1-7EEA-71AF-BB296FF6F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 err="1">
                <a:solidFill>
                  <a:srgbClr val="959595"/>
                </a:solidFill>
                <a:effectLst/>
              </a:rPr>
              <a:t>MedAI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 #41: Efficiently Modeling Long Sequences with Structured State Spaces | Albert Gu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3F478D69-2885-2A5D-3728-3BEAD7C6AD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9" t="33188" r="3280" b="17055"/>
          <a:stretch/>
        </p:blipFill>
        <p:spPr bwMode="auto">
          <a:xfrm>
            <a:off x="971372" y="3068476"/>
            <a:ext cx="10249256" cy="3146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308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4E45A-1CEC-3EFA-81D5-4EA77A86A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83A3FE1-62BD-C2C0-A1AD-D64A7FF99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BFEC722-6910-3957-F317-3E38E4674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3E8394-EB9B-4D2E-67F3-0A64C1BA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pic>
        <p:nvPicPr>
          <p:cNvPr id="11272" name="Picture 8">
            <a:extLst>
              <a:ext uri="{FF2B5EF4-FFF2-40B4-BE49-F238E27FC236}">
                <a16:creationId xmlns:a16="http://schemas.microsoft.com/office/drawing/2014/main" id="{74169808-23E4-5699-F84B-FC08FF66F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2" y="1837346"/>
            <a:ext cx="7839840" cy="432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5CDC0517-7123-AA46-41CE-22E518DF5E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65" r="33551"/>
          <a:stretch/>
        </p:blipFill>
        <p:spPr bwMode="auto">
          <a:xfrm>
            <a:off x="8780326" y="2293725"/>
            <a:ext cx="3051674" cy="227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2E26AF5-14B9-6DE5-C84C-FD45C6FF6616}"/>
              </a:ext>
            </a:extLst>
          </p:cNvPr>
          <p:cNvCxnSpPr>
            <a:cxnSpLocks/>
          </p:cNvCxnSpPr>
          <p:nvPr/>
        </p:nvCxnSpPr>
        <p:spPr>
          <a:xfrm flipV="1">
            <a:off x="7477570" y="2538101"/>
            <a:ext cx="2238998" cy="690072"/>
          </a:xfrm>
          <a:prstGeom prst="straightConnector1">
            <a:avLst/>
          </a:prstGeom>
          <a:ln w="38100">
            <a:solidFill>
              <a:srgbClr val="A9BBB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599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472BB-B436-B7DC-7DBF-B526882E0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CC5863D-151B-0371-AC08-CA8AC8B3F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Variable</a:t>
            </a:r>
          </a:p>
          <a:p>
            <a:pPr lvl="2"/>
            <a:r>
              <a:rPr kumimoji="1" lang="en-US" altLang="ko-KR" dirty="0"/>
              <a:t>𝑥(𝑡): input function or sequence</a:t>
            </a:r>
          </a:p>
          <a:p>
            <a:pPr lvl="2"/>
            <a:r>
              <a:rPr kumimoji="1" lang="en-US" altLang="ko-KR" dirty="0" err="1"/>
              <a:t>ℎ</a:t>
            </a:r>
            <a:r>
              <a:rPr kumimoji="1" lang="en-US" altLang="ko-KR" dirty="0"/>
              <a:t>(𝑡): hidden state</a:t>
            </a:r>
          </a:p>
          <a:p>
            <a:pPr lvl="2"/>
            <a:r>
              <a:rPr kumimoji="1" lang="en-US" altLang="ko-KR" dirty="0"/>
              <a:t>𝑦(𝑡): output</a:t>
            </a:r>
          </a:p>
          <a:p>
            <a:pPr lvl="2"/>
            <a:r>
              <a:rPr kumimoji="1" lang="en-US" altLang="ko-KR" dirty="0"/>
              <a:t>𝑡: time</a:t>
            </a:r>
          </a:p>
          <a:p>
            <a:endParaRPr kumimoji="1" lang="en-US" altLang="ko-KR" dirty="0"/>
          </a:p>
          <a:p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8315908-8438-DF6E-5032-B27BC967E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0E487A-ABF6-CF2C-7FD9-63962F99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30883453-598C-A945-0DF6-492473510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872" y="3657600"/>
            <a:ext cx="7060256" cy="2209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2140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C2FFA-47C1-D92F-4F01-3BABE85E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2470FC3-7B75-8DDE-AC86-8AEE578BC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endParaRPr kumimoji="1" lang="en-US" altLang="ko-KR" dirty="0"/>
          </a:p>
          <a:p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807D025-2A12-2BC5-4CD6-C13BE492F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171F51-A3EC-FBE8-CCCB-3A62FD24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294242-0F47-3B17-E6ED-42360CF13C77}"/>
                  </a:ext>
                </a:extLst>
              </p:cNvPr>
              <p:cNvSpPr txBox="1"/>
              <p:nvPr/>
            </p:nvSpPr>
            <p:spPr>
              <a:xfrm>
                <a:off x="5245352" y="3809614"/>
                <a:ext cx="169177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1×1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294242-0F47-3B17-E6ED-42360CF13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352" y="3809614"/>
                <a:ext cx="1691772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58A706-3FB9-1A4E-1BD4-36F45ABA38B8}"/>
                  </a:ext>
                </a:extLst>
              </p:cNvPr>
              <p:cNvSpPr txBox="1"/>
              <p:nvPr/>
            </p:nvSpPr>
            <p:spPr>
              <a:xfrm>
                <a:off x="7981728" y="3809614"/>
                <a:ext cx="169177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𝐵𝑥</m:t>
                      </m:r>
                      <m:d>
                        <m:d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𝐶h</m:t>
                      </m:r>
                      <m:d>
                        <m:d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𝐷𝑥</m:t>
                      </m:r>
                      <m:d>
                        <m:d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58A706-3FB9-1A4E-1BD4-36F45ABA3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728" y="3809614"/>
                <a:ext cx="1691772" cy="1569660"/>
              </a:xfrm>
              <a:prstGeom prst="rect">
                <a:avLst/>
              </a:prstGeom>
              <a:blipFill>
                <a:blip r:embed="rId4"/>
                <a:stretch>
                  <a:fillRect l="-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2362598C-CBBF-DFCF-8438-1300FFFD6B98}"/>
              </a:ext>
            </a:extLst>
          </p:cNvPr>
          <p:cNvGrpSpPr/>
          <p:nvPr/>
        </p:nvGrpSpPr>
        <p:grpSpPr>
          <a:xfrm>
            <a:off x="1953278" y="2722406"/>
            <a:ext cx="5749841" cy="808435"/>
            <a:chOff x="2273477" y="5123108"/>
            <a:chExt cx="4692665" cy="15595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C49282-A24F-0FA0-DF98-82DBF0987FBD}"/>
                    </a:ext>
                  </a:extLst>
                </p:cNvPr>
                <p:cNvSpPr txBox="1"/>
                <p:nvPr/>
              </p:nvSpPr>
              <p:spPr>
                <a:xfrm>
                  <a:off x="4342880" y="5130028"/>
                  <a:ext cx="2623262" cy="15526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40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𝐴h</m:t>
                        </m:r>
                        <m:d>
                          <m:dPr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𝐵𝑥</m:t>
                        </m:r>
                        <m:d>
                          <m:dPr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kumimoji="1" lang="en-US" altLang="ko-KR" sz="2400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ko-KR" sz="24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𝐶h</m:t>
                        </m:r>
                        <m:d>
                          <m:dPr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𝐷𝑥</m:t>
                        </m:r>
                        <m:d>
                          <m:dPr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kumimoji="1" lang="en-US" altLang="ko-KR" sz="2400" b="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C49282-A24F-0FA0-DF98-82DBF0987F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2880" y="5130028"/>
                  <a:ext cx="2623262" cy="1552605"/>
                </a:xfrm>
                <a:prstGeom prst="rect">
                  <a:avLst/>
                </a:prstGeom>
                <a:blipFill>
                  <a:blip r:embed="rId5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687F4FE-83FC-917E-7B6C-F77735EA41A6}"/>
                </a:ext>
              </a:extLst>
            </p:cNvPr>
            <p:cNvSpPr txBox="1"/>
            <p:nvPr/>
          </p:nvSpPr>
          <p:spPr>
            <a:xfrm>
              <a:off x="2273477" y="5123108"/>
              <a:ext cx="218036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ko-KR" sz="2400" b="0" dirty="0">
                  <a:latin typeface="Corbel" panose="020B0503020204020204" pitchFamily="34" charset="0"/>
                </a:rPr>
                <a:t>State equation:</a:t>
              </a:r>
            </a:p>
            <a:p>
              <a:pPr algn="ctr"/>
              <a:r>
                <a:rPr kumimoji="1" lang="en-US" altLang="ko-KR" sz="2400" dirty="0">
                  <a:latin typeface="Corbel" panose="020B0503020204020204" pitchFamily="34" charset="0"/>
                </a:rPr>
                <a:t>Output equation:</a:t>
              </a:r>
              <a:endParaRPr lang="ko-KR" altLang="en-US" sz="24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57F82D-7F3B-78D6-34E4-CC0932D543C7}"/>
                  </a:ext>
                </a:extLst>
              </p:cNvPr>
              <p:cNvSpPr txBox="1"/>
              <p:nvPr/>
            </p:nvSpPr>
            <p:spPr>
              <a:xfrm>
                <a:off x="2447733" y="3994280"/>
                <a:ext cx="175301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kumimoji="1" lang="en-US" altLang="ko-K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kumimoji="1" lang="en-US" altLang="ko-K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kumimoji="1" lang="en-US" altLang="ko-K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57F82D-7F3B-78D6-34E4-CC0932D54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733" y="3994280"/>
                <a:ext cx="1753016" cy="1200329"/>
              </a:xfrm>
              <a:prstGeom prst="rect">
                <a:avLst/>
              </a:prstGeom>
              <a:blipFill>
                <a:blip r:embed="rId6"/>
                <a:stretch>
                  <a:fillRect b="-42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565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E782B-9187-C994-5FBB-88B638622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FE865FA-DA48-220C-9211-01E996F8B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endParaRPr kumimoji="1" lang="en-US" altLang="ko-KR" dirty="0"/>
          </a:p>
          <a:p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941CF04-1386-2D4E-7AB3-A91E86B27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89D413-1DA9-6CDF-12FB-6C671F17B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BB798D-9B5D-CE6E-326C-91BFD1D1B6F7}"/>
                  </a:ext>
                </a:extLst>
              </p:cNvPr>
              <p:cNvSpPr txBox="1"/>
              <p:nvPr/>
            </p:nvSpPr>
            <p:spPr>
              <a:xfrm>
                <a:off x="8146293" y="3099490"/>
                <a:ext cx="169177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1×1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BB798D-9B5D-CE6E-326C-91BFD1D1B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6293" y="3099490"/>
                <a:ext cx="1691772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FCB809-66B1-6322-5B18-8D2B5D259CEB}"/>
                  </a:ext>
                </a:extLst>
              </p:cNvPr>
              <p:cNvSpPr txBox="1"/>
              <p:nvPr/>
            </p:nvSpPr>
            <p:spPr>
              <a:xfrm>
                <a:off x="9876836" y="3099490"/>
                <a:ext cx="169177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𝐵𝑥</m:t>
                      </m:r>
                      <m:d>
                        <m:d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𝐶h</m:t>
                      </m:r>
                      <m:d>
                        <m:d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𝐷𝑥</m:t>
                      </m:r>
                      <m:d>
                        <m:d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FCB809-66B1-6322-5B18-8D2B5D259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6836" y="3099490"/>
                <a:ext cx="1691772" cy="1569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436" name="Picture 4">
            <a:extLst>
              <a:ext uri="{FF2B5EF4-FFF2-40B4-BE49-F238E27FC236}">
                <a16:creationId xmlns:a16="http://schemas.microsoft.com/office/drawing/2014/main" id="{0C5FBC20-9C1E-5F65-C843-577B4B0C1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615" y="1906318"/>
            <a:ext cx="5693799" cy="197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EADA26-CF0C-9966-DF7B-EE9A42A10BA9}"/>
                  </a:ext>
                </a:extLst>
              </p:cNvPr>
              <p:cNvSpPr txBox="1"/>
              <p:nvPr/>
            </p:nvSpPr>
            <p:spPr>
              <a:xfrm>
                <a:off x="6354506" y="3284156"/>
                <a:ext cx="175301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kumimoji="1" lang="en-US" altLang="ko-K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kumimoji="1" lang="en-US" altLang="ko-K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kumimoji="1" lang="en-US" altLang="ko-K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EADA26-CF0C-9966-DF7B-EE9A42A10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506" y="3284156"/>
                <a:ext cx="1753016" cy="1200329"/>
              </a:xfrm>
              <a:prstGeom prst="rect">
                <a:avLst/>
              </a:prstGeom>
              <a:blipFill>
                <a:blip r:embed="rId6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438" name="Picture 6">
            <a:extLst>
              <a:ext uri="{FF2B5EF4-FFF2-40B4-BE49-F238E27FC236}">
                <a16:creationId xmlns:a16="http://schemas.microsoft.com/office/drawing/2014/main" id="{7487D4F9-E3AA-0202-F5F0-C22040782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615" y="3884320"/>
            <a:ext cx="5693799" cy="197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CB4082-8990-4E59-74E9-C2CC0EAA1C39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1281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74A66-0F11-5352-1FA5-FD207CB6A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B843427-F0F2-743B-D3AC-5BDE6A846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endParaRPr kumimoji="1" lang="en-US" altLang="ko-KR" dirty="0"/>
          </a:p>
          <a:p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4CCA563-6A7F-E3E2-2835-03786DEE6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9E12335-2D5E-6484-7ECA-D4E399C85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35FDAE-D411-6AF7-3DAA-84739346511F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E9FB88F-6EB4-54A4-1E00-3A81388F7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38520"/>
            <a:ext cx="12192000" cy="256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692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D2199-31CA-9C7E-CE88-411F7AFFB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46730D7-7EFD-90ED-4676-8B2C58151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endParaRPr kumimoji="1" lang="en-US" altLang="ko-KR" dirty="0"/>
          </a:p>
          <a:p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856B919-27FF-6CDA-4F58-A1216F7D0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AE45ED-722C-7EBF-12D7-2E79B4F62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B08954-328B-04D1-7775-392F694EDDF4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C631CB4-E340-8CEA-64D2-B69EE99C8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61421" y="2101374"/>
            <a:ext cx="12192000" cy="2242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3329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2E498-2791-589F-4229-73CF99DC2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E995235-C38F-D0F0-33D9-74919E011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endParaRPr kumimoji="1" lang="en-US" altLang="ko-KR" dirty="0"/>
          </a:p>
          <a:p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C7B8E23-48DA-686D-0F4E-3BFFA641A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133F81-AB43-700E-6FCC-753AA77D1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5CC927-F942-5D42-7B23-ECA2439C4F09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D3E9BB8-EB7A-A42E-0F54-BF0198B49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61421" y="2101374"/>
            <a:ext cx="7669158" cy="2242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870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E22FE-6A9C-6C59-13E4-F312F685C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6E373A3-7E71-AEC5-7FA8-1277E01E9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endParaRPr kumimoji="1" lang="en-US" altLang="ko-KR" dirty="0"/>
          </a:p>
          <a:p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5B9508B-F5AF-9B35-DD66-D349157EC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2055AE3-0B69-DC3D-916E-10A08E576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D7F945-CE99-1935-84AE-766843AFC0D7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37DB5B-0812-1131-6A9A-AD63D7991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61421" y="2101374"/>
            <a:ext cx="7669158" cy="224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4087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CB187-2509-4602-A659-3037ACCCA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7BCDC24-D430-DF80-2134-D0A3AE2EB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endParaRPr kumimoji="1" lang="en-US" altLang="ko-KR" dirty="0"/>
          </a:p>
          <a:p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6F3DE9A-ED9E-BD95-C4AC-A8160674E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B8222B-70C2-9842-3F8E-02B91105F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4DE710-E6D7-A4B6-63AB-87627FC5F3B9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CB129-546E-8AE2-1A0D-9CEDE75D9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579" y="2101374"/>
            <a:ext cx="7668000" cy="2966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0878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94B61-D19E-4263-18BE-736D048BA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97991BD-2FC5-15EE-7E06-6E3EDAC8D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endParaRPr kumimoji="1" lang="en-US" altLang="ko-KR" dirty="0"/>
          </a:p>
          <a:p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A32529D-FF2D-8586-C750-AEF620473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73DF17-6842-F111-F5C6-517F4C659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68104D-4E31-EFBC-3DC1-73C5A441EDBA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6106AA-2637-19F9-5FE3-8909202FE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39633" y="2101374"/>
            <a:ext cx="6713892" cy="2966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27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DC672-C175-0CDC-BBA1-6C4EBB873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EDB7D9-E7E6-A7A8-2AB0-8A126654E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endParaRPr kumimoji="1" lang="en-US" altLang="ko-KR" dirty="0"/>
          </a:p>
          <a:p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EA01053-2F0C-1A63-632D-BF4689CAD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8A47F6-404E-90C2-3093-9C3B49D7C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6264F4-8D63-6D2E-7B7A-9D2BD13C9B51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37AB886-004E-20B1-FB2E-E1E75BE96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81562"/>
            <a:ext cx="12192000" cy="248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958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1083F-0E9D-D2AB-4868-A88C38A2B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94842CA-9707-B12A-3389-E444C3EA4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lang="en" altLang="ko-KR" b="0" i="0" dirty="0">
                <a:solidFill>
                  <a:srgbClr val="474747"/>
                </a:solidFill>
                <a:effectLst/>
              </a:rPr>
              <a:t>Linear Time Invariant</a:t>
            </a:r>
            <a:r>
              <a:rPr lang="en-US" altLang="ko-KR" b="0" i="0" dirty="0">
                <a:solidFill>
                  <a:srgbClr val="474747"/>
                </a:solidFill>
                <a:effectLst/>
              </a:rPr>
              <a:t>(</a:t>
            </a:r>
            <a:r>
              <a:rPr lang="en-US" altLang="ko-KR" dirty="0">
                <a:solidFill>
                  <a:srgbClr val="474747"/>
                </a:solidFill>
              </a:rPr>
              <a:t>LTI</a:t>
            </a:r>
            <a:r>
              <a:rPr lang="en-US" altLang="ko-KR" b="0" i="0" dirty="0">
                <a:solidFill>
                  <a:srgbClr val="474747"/>
                </a:solidFill>
                <a:effectLst/>
              </a:rPr>
              <a:t>)</a:t>
            </a:r>
            <a:r>
              <a:rPr lang="en" altLang="ko-KR" b="0" i="0" dirty="0">
                <a:solidFill>
                  <a:srgbClr val="474747"/>
                </a:solidFill>
                <a:effectLst/>
              </a:rPr>
              <a:t> System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80CAF62-39CB-AE12-7768-E31E7BC5E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F43314-EB6B-37B5-BCB9-D2AE1D657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B396AE-3DEE-CCE4-A728-DB89FA20D264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3C8BE3D0-1543-861F-31E7-D908720C3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29" y="2270123"/>
            <a:ext cx="10022542" cy="356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012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457DC-BC9F-8517-C63E-37DC042C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76BCD98-BF9C-9FBE-A512-2EAC7ED65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lang="en" altLang="ko-KR" b="0" i="0" dirty="0">
                <a:solidFill>
                  <a:srgbClr val="1F1F1F"/>
                </a:solidFill>
                <a:effectLst/>
              </a:rPr>
              <a:t>Ordinary Differential Equation: Euler's method</a:t>
            </a:r>
          </a:p>
          <a:p>
            <a:pPr lvl="1"/>
            <a:endParaRPr kumimoji="1" lang="en-US" altLang="ko-KR" dirty="0"/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19E1109-D61A-4A20-6E92-EDA6F16B5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A78F494-D980-181E-A0D6-4A48E1ECC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endParaRPr lang="en" altLang="ko-KR" sz="1100" dirty="0">
              <a:solidFill>
                <a:srgbClr val="959595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500B1A-3EA9-E731-0194-1B448FC850A8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314A379-0535-9927-D1CA-CE40BA64B77D}"/>
              </a:ext>
            </a:extLst>
          </p:cNvPr>
          <p:cNvGrpSpPr/>
          <p:nvPr/>
        </p:nvGrpSpPr>
        <p:grpSpPr>
          <a:xfrm>
            <a:off x="6687537" y="4386366"/>
            <a:ext cx="4150658" cy="1659233"/>
            <a:chOff x="4020671" y="3894003"/>
            <a:chExt cx="4150658" cy="1659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B29D087-A1A6-8ED7-1119-D89217D9D7AB}"/>
                    </a:ext>
                  </a:extLst>
                </p:cNvPr>
                <p:cNvSpPr txBox="1"/>
                <p:nvPr/>
              </p:nvSpPr>
              <p:spPr>
                <a:xfrm>
                  <a:off x="4020671" y="3894003"/>
                  <a:ext cx="4150658" cy="80906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ko-K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400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kumimoji="1" lang="en-US" altLang="ko-KR" sz="2400" b="0" i="1" dirty="0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kumimoji="1" lang="en-US" altLang="ko-KR" sz="2400" i="1" dirty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kumimoji="1" lang="en-US" altLang="ko-KR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kumimoji="1" lang="en-US" altLang="ko-KR" sz="24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kumimoji="1" lang="en-US" altLang="ko-K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kumimoji="1" lang="en-US" altLang="ko-KR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ko-KR" sz="2400" b="0" i="0" dirty="0" smtClean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kumimoji="1" lang="en-US" altLang="ko-KR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kumimoji="1" lang="en-US" altLang="ko-KR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→0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kumimoji="1" lang="en-US" altLang="ko-KR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ko-KR" sz="2400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d>
                                  <m:dPr>
                                    <m:ctrlPr>
                                      <a:rPr kumimoji="1" lang="en-US" altLang="ko-KR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ko-KR" sz="2400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kumimoji="1" lang="en-US" altLang="ko-KR" sz="2400" i="1" dirty="0">
                                        <a:latin typeface="Cambria Math" panose="02040503050406030204" pitchFamily="18" charset="0"/>
                                      </a:rPr>
                                      <m:t>+∆</m:t>
                                    </m:r>
                                  </m:e>
                                </m:d>
                                <m:r>
                                  <a:rPr kumimoji="1" lang="en-US" altLang="ko-KR" sz="24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ko-KR" sz="2400" b="0" i="1" dirty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d>
                                  <m:dPr>
                                    <m:ctrlPr>
                                      <a:rPr kumimoji="1" lang="en-US" altLang="ko-KR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ko-KR" sz="2400" b="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kumimoji="1" lang="en-US" altLang="ko-KR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den>
                            </m:f>
                          </m:e>
                        </m:func>
                      </m:oMath>
                    </m:oMathPara>
                  </a14:m>
                  <a:endParaRPr kumimoji="1" lang="en-US" altLang="ko-KR" sz="2400" b="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B29D087-A1A6-8ED7-1119-D89217D9D7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0671" y="3894003"/>
                  <a:ext cx="4150658" cy="809068"/>
                </a:xfrm>
                <a:prstGeom prst="rect">
                  <a:avLst/>
                </a:prstGeom>
                <a:blipFill>
                  <a:blip r:embed="rId3"/>
                  <a:stretch>
                    <a:fillRect b="-781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38BC945-4C87-F87C-D122-C57A890BF201}"/>
                    </a:ext>
                  </a:extLst>
                </p:cNvPr>
                <p:cNvSpPr txBox="1"/>
                <p:nvPr/>
              </p:nvSpPr>
              <p:spPr>
                <a:xfrm>
                  <a:off x="5093074" y="4746540"/>
                  <a:ext cx="2455208" cy="8066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ko-K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≅</m:t>
                        </m:r>
                        <m:f>
                          <m:fPr>
                            <m:ctrlPr>
                              <a:rPr kumimoji="1" lang="en-US" altLang="ko-KR" sz="2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4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kumimoji="1" lang="en-US" altLang="ko-K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sz="24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kumimoji="1" lang="en-US" altLang="ko-KR" sz="2400" i="1" dirty="0">
                                    <a:latin typeface="Cambria Math" panose="02040503050406030204" pitchFamily="18" charset="0"/>
                                  </a:rPr>
                                  <m:t>+∆</m:t>
                                </m:r>
                              </m:e>
                            </m:d>
                            <m:r>
                              <a:rPr kumimoji="1" lang="en-US" altLang="ko-KR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24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kumimoji="1" lang="en-US" altLang="ko-K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sz="24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num>
                          <m:den>
                            <m:r>
                              <a:rPr kumimoji="1" lang="en-US" altLang="ko-KR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den>
                        </m:f>
                      </m:oMath>
                    </m:oMathPara>
                  </a14:m>
                  <a:endParaRPr kumimoji="1" lang="en-US" altLang="ko-KR" sz="2400" b="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38BC945-4C87-F87C-D122-C57A890BF2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3074" y="4746540"/>
                  <a:ext cx="2455208" cy="806696"/>
                </a:xfrm>
                <a:prstGeom prst="rect">
                  <a:avLst/>
                </a:prstGeom>
                <a:blipFill>
                  <a:blip r:embed="rId4"/>
                  <a:stretch>
                    <a:fillRect b="-615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8EE8421-3AB6-736F-2C1D-7A2AF1B831DF}"/>
              </a:ext>
            </a:extLst>
          </p:cNvPr>
          <p:cNvGrpSpPr/>
          <p:nvPr/>
        </p:nvGrpSpPr>
        <p:grpSpPr>
          <a:xfrm>
            <a:off x="1107007" y="4035627"/>
            <a:ext cx="5580530" cy="2028105"/>
            <a:chOff x="2541494" y="3805518"/>
            <a:chExt cx="5580530" cy="20281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ED71FAF-14E0-CA3E-AF55-859EC83BA8D8}"/>
                    </a:ext>
                  </a:extLst>
                </p:cNvPr>
                <p:cNvSpPr txBox="1"/>
                <p:nvPr/>
              </p:nvSpPr>
              <p:spPr>
                <a:xfrm>
                  <a:off x="2541494" y="3805518"/>
                  <a:ext cx="5580530" cy="5091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  <m:t>+∆</m:t>
                            </m:r>
                          </m:e>
                        </m:d>
                        <m:r>
                          <a:rPr kumimoji="1" lang="en-US" altLang="ko-KR" sz="2400" i="1">
                            <a:latin typeface="Cambria Math" panose="02040503050406030204" pitchFamily="18" charset="0"/>
                          </a:rPr>
                          <m:t>≅∆</m:t>
                        </m:r>
                        <m:d>
                          <m:dPr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ko-KR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kumimoji="1" lang="en-US" altLang="ko-KR" sz="24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ko-KR" alt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ED71FAF-14E0-CA3E-AF55-859EC83BA8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1494" y="3805518"/>
                  <a:ext cx="5580530" cy="509178"/>
                </a:xfrm>
                <a:prstGeom prst="rect">
                  <a:avLst/>
                </a:prstGeom>
                <a:blipFill>
                  <a:blip r:embed="rId5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E617829-0BDD-80C0-7459-647DA7617C65}"/>
                    </a:ext>
                  </a:extLst>
                </p:cNvPr>
                <p:cNvSpPr txBox="1"/>
                <p:nvPr/>
              </p:nvSpPr>
              <p:spPr>
                <a:xfrm>
                  <a:off x="4058387" y="4359084"/>
                  <a:ext cx="371401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ko-KR" sz="2400" i="1" smtClean="0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kumimoji="1" lang="en-US" altLang="ko-KR" sz="2400" i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kumimoji="1"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kumimoji="1" lang="en-US" altLang="ko-KR" sz="2400" i="1">
                            <a:latin typeface="Cambria Math" panose="02040503050406030204" pitchFamily="18" charset="0"/>
                          </a:rPr>
                          <m:t>+∆</m:t>
                        </m:r>
                        <m:r>
                          <m:rPr>
                            <m:sty m:val="p"/>
                          </m:rPr>
                          <a:rPr kumimoji="1" lang="en-US" altLang="ko-KR" sz="2400" i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kumimoji="1"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ko-KR" altLang="en-US" sz="2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E617829-0BDD-80C0-7459-647DA7617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8387" y="4359084"/>
                  <a:ext cx="3714013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891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53F5058-A979-A56B-0BD5-E5018018892F}"/>
                    </a:ext>
                  </a:extLst>
                </p:cNvPr>
                <p:cNvSpPr txBox="1"/>
                <p:nvPr/>
              </p:nvSpPr>
              <p:spPr>
                <a:xfrm>
                  <a:off x="4058387" y="4865137"/>
                  <a:ext cx="371401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ko-KR" sz="2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1" lang="en-US" altLang="ko-KR" sz="2400" i="1" smtClean="0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sty m:val="p"/>
                              </m:rPr>
                              <a:rPr kumimoji="1" lang="en-US" altLang="ko-KR" sz="240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kumimoji="1"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kumimoji="1" lang="en-US" altLang="ko-KR" sz="2400" i="1">
                            <a:latin typeface="Cambria Math" panose="02040503050406030204" pitchFamily="18" charset="0"/>
                          </a:rPr>
                          <m:t>+∆</m:t>
                        </m:r>
                        <m:r>
                          <m:rPr>
                            <m:sty m:val="p"/>
                          </m:rPr>
                          <a:rPr kumimoji="1" lang="en-US" altLang="ko-KR" sz="2400" i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kumimoji="1"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kumimoji="1" lang="ko-KR" altLang="en-US" sz="2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53F5058-A979-A56B-0BD5-E501801889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8387" y="4865137"/>
                  <a:ext cx="3714013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FC91AFB-2F5A-0F90-F353-B3CB16E5A001}"/>
                    </a:ext>
                  </a:extLst>
                </p:cNvPr>
                <p:cNvSpPr txBox="1"/>
                <p:nvPr/>
              </p:nvSpPr>
              <p:spPr>
                <a:xfrm>
                  <a:off x="4058387" y="5371189"/>
                  <a:ext cx="3714013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kumimoji="1"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kumimoji="1" lang="en-US" altLang="ko-KR" sz="2400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kumimoji="1" lang="en-US" altLang="ko-KR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 sz="24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kumimoji="1"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kumimoji="1" lang="ko-KR" altLang="en-US" sz="2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FC91AFB-2F5A-0F90-F353-B3CB16E5A0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8387" y="5371189"/>
                  <a:ext cx="3714013" cy="46243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7D00C0F-10E8-F068-86E5-CC6F53650F99}"/>
                  </a:ext>
                </a:extLst>
              </p:cNvPr>
              <p:cNvSpPr txBox="1"/>
              <p:nvPr/>
            </p:nvSpPr>
            <p:spPr>
              <a:xfrm>
                <a:off x="1107007" y="2425046"/>
                <a:ext cx="4425733" cy="1162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kumimoji="1" lang="en-US" altLang="ko-KR" sz="2400" i="1" dirty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sz="24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ko-KR" sz="2400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kumimoji="1" lang="en-US" altLang="ko-KR" sz="24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kumimoji="1" lang="en-US" altLang="ko-KR" sz="2400" i="1" dirty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sz="2400" i="0" dirty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kumimoji="1" lang="en-US" altLang="ko-KR" sz="2400" i="1" dirty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</m:oMath>
                  </m:oMathPara>
                </a14:m>
                <a:endParaRPr kumimoji="1" lang="en-US" altLang="ko-KR" sz="2400" b="0" i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7D00C0F-10E8-F068-86E5-CC6F53650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007" y="2425046"/>
                <a:ext cx="4425733" cy="1162882"/>
              </a:xfrm>
              <a:prstGeom prst="rect">
                <a:avLst/>
              </a:prstGeom>
              <a:blipFill>
                <a:blip r:embed="rId9"/>
                <a:stretch>
                  <a:fillRect r="-3725" b="-10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6732B7-CDDE-CDB6-CA08-A3CB8E10BDD1}"/>
                  </a:ext>
                </a:extLst>
              </p:cNvPr>
              <p:cNvSpPr txBox="1"/>
              <p:nvPr/>
            </p:nvSpPr>
            <p:spPr>
              <a:xfrm>
                <a:off x="7648727" y="2611450"/>
                <a:ext cx="315350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24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sz="2400" i="0" dirty="0">
                          <a:latin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6732B7-CDDE-CDB6-CA08-A3CB8E10B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727" y="2611450"/>
                <a:ext cx="3153508" cy="830997"/>
              </a:xfrm>
              <a:prstGeom prst="rect">
                <a:avLst/>
              </a:prstGeom>
              <a:blipFill>
                <a:blip r:embed="rId10"/>
                <a:stretch>
                  <a:fillRect l="-803" b="-4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2BA7A60-82E2-50B5-73FA-98CD819BC255}"/>
              </a:ext>
            </a:extLst>
          </p:cNvPr>
          <p:cNvCxnSpPr>
            <a:cxnSpLocks/>
          </p:cNvCxnSpPr>
          <p:nvPr/>
        </p:nvCxnSpPr>
        <p:spPr>
          <a:xfrm>
            <a:off x="5532740" y="3078300"/>
            <a:ext cx="1807450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9CD2711-6E1C-2EA3-CFD2-3EBF7B31B465}"/>
              </a:ext>
            </a:extLst>
          </p:cNvPr>
          <p:cNvCxnSpPr>
            <a:cxnSpLocks/>
          </p:cNvCxnSpPr>
          <p:nvPr/>
        </p:nvCxnSpPr>
        <p:spPr>
          <a:xfrm flipV="1">
            <a:off x="5532740" y="3186953"/>
            <a:ext cx="679801" cy="71161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A43805A-C828-7142-1761-977DE617A80D}"/>
              </a:ext>
            </a:extLst>
          </p:cNvPr>
          <p:cNvCxnSpPr>
            <a:cxnSpLocks/>
          </p:cNvCxnSpPr>
          <p:nvPr/>
        </p:nvCxnSpPr>
        <p:spPr>
          <a:xfrm flipH="1" flipV="1">
            <a:off x="6521078" y="3163564"/>
            <a:ext cx="819112" cy="103547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EB1FDDA-1001-EA65-CD30-9D0CF4EE0E8F}"/>
              </a:ext>
            </a:extLst>
          </p:cNvPr>
          <p:cNvSpPr txBox="1"/>
          <p:nvPr/>
        </p:nvSpPr>
        <p:spPr>
          <a:xfrm>
            <a:off x="7648727" y="2128050"/>
            <a:ext cx="2566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400" dirty="0">
                <a:latin typeface="Corbel" panose="020B0503020204020204" pitchFamily="34" charset="0"/>
              </a:rPr>
              <a:t>Discretization!</a:t>
            </a:r>
            <a:endParaRPr kumimoji="1" lang="ko-KR" altLang="en-US" sz="2400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065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3532-EDC8-37CB-B78B-51EA144D0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3840568-7DBA-223A-57A4-CC30A1E2A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lang="en" altLang="ko-KR" b="0" i="0" dirty="0">
                <a:solidFill>
                  <a:srgbClr val="474747"/>
                </a:solidFill>
                <a:effectLst/>
              </a:rPr>
              <a:t>Linear Time Invariant</a:t>
            </a:r>
            <a:r>
              <a:rPr lang="en-US" altLang="ko-KR" b="0" i="0" dirty="0">
                <a:solidFill>
                  <a:srgbClr val="474747"/>
                </a:solidFill>
                <a:effectLst/>
              </a:rPr>
              <a:t>(</a:t>
            </a:r>
            <a:r>
              <a:rPr lang="en-US" altLang="ko-KR" dirty="0">
                <a:solidFill>
                  <a:srgbClr val="474747"/>
                </a:solidFill>
              </a:rPr>
              <a:t>LTI</a:t>
            </a:r>
            <a:r>
              <a:rPr lang="en-US" altLang="ko-KR" b="0" i="0" dirty="0">
                <a:solidFill>
                  <a:srgbClr val="474747"/>
                </a:solidFill>
                <a:effectLst/>
              </a:rPr>
              <a:t>)</a:t>
            </a:r>
            <a:r>
              <a:rPr lang="en" altLang="ko-KR" b="0" i="0" dirty="0">
                <a:solidFill>
                  <a:srgbClr val="474747"/>
                </a:solidFill>
                <a:effectLst/>
              </a:rPr>
              <a:t> System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0465EBD-CE3F-6B9F-F3C8-E75B7E156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0C3AD2D-13BA-B010-00BF-8BBC807D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9BFD31-D62E-92DA-CB4D-2FFFFEC482B4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843CCA2C-235D-3D81-CCC4-C35B0F1DD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153055" y="2282010"/>
            <a:ext cx="7885890" cy="4029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4928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4EE2D-83BA-3D98-4735-2DE787659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65AF62A-336A-C3B9-1A8A-1FA8E9C9B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>
                <a:solidFill>
                  <a:srgbClr val="1F1F1F"/>
                </a:solidFill>
              </a:rPr>
              <a:t>The Recurrent Representation</a:t>
            </a:r>
            <a:endParaRPr kumimoji="1" lang="en-US" altLang="ko-KR" dirty="0"/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3E40606-FABE-49FA-7664-FD144B49F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6656F5-09BA-4FA7-F06C-5154AF31C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colah.github.io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/posts/2015-08-Understanding-LSTMs/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EEF6B7-DBBB-2C40-F88B-25D64BB000AF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2CF0B03-F3B0-D104-CC03-0C5C4C80B957}"/>
                  </a:ext>
                </a:extLst>
              </p:cNvPr>
              <p:cNvSpPr txBox="1"/>
              <p:nvPr/>
            </p:nvSpPr>
            <p:spPr>
              <a:xfrm>
                <a:off x="1282322" y="3434069"/>
                <a:ext cx="3891357" cy="1078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3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32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3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ko-KR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32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kumimoji="1" lang="en-US" altLang="ko-KR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32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32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32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32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3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sz="3200" i="0" dirty="0">
                          <a:latin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kumimoji="1" lang="en-US" altLang="ko-KR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32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32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2CF0B03-F3B0-D104-CC03-0C5C4C80B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322" y="3434069"/>
                <a:ext cx="3891357" cy="1078372"/>
              </a:xfrm>
              <a:prstGeom prst="rect">
                <a:avLst/>
              </a:prstGeom>
              <a:blipFill>
                <a:blip r:embed="rId3"/>
                <a:stretch>
                  <a:fillRect l="-1299" b="-81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386" name="Picture 2" descr="Deep Learning] LSTM 개념 정리">
            <a:extLst>
              <a:ext uri="{FF2B5EF4-FFF2-40B4-BE49-F238E27FC236}">
                <a16:creationId xmlns:a16="http://schemas.microsoft.com/office/drawing/2014/main" id="{1FCEC1F6-6E18-A6E3-4D5E-70154D9C2F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057"/>
          <a:stretch/>
        </p:blipFill>
        <p:spPr bwMode="auto">
          <a:xfrm>
            <a:off x="5782131" y="2772383"/>
            <a:ext cx="6363990" cy="2401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653F21-0E88-DAD5-8D8D-894B7E271C20}"/>
                  </a:ext>
                </a:extLst>
              </p:cNvPr>
              <p:cNvSpPr txBox="1"/>
              <p:nvPr/>
            </p:nvSpPr>
            <p:spPr>
              <a:xfrm>
                <a:off x="4687092" y="3557757"/>
                <a:ext cx="101167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4800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ko-KR" altLang="en-US" sz="48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653F21-0E88-DAD5-8D8D-894B7E271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092" y="3557757"/>
                <a:ext cx="1011677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4727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3BA5A-A46E-7AC2-F234-25F04A764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9257299-17A6-C4A1-FC5B-FFD8801B7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>
                <a:solidFill>
                  <a:srgbClr val="1F1F1F"/>
                </a:solidFill>
              </a:rPr>
              <a:t>The Recurrent Representation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E114980-5649-3E8B-EF87-F0F844329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C71B78-13BE-1059-01FE-C01CDC140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0AC6C0-CF49-1958-5ACA-70F6AE873C45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E6F24969-16F9-5604-A4EB-A6BC90C75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374" y="2305084"/>
            <a:ext cx="10123252" cy="377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572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AB378-2F3F-9914-D6F3-0643C637E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92E9D11-6B86-6B95-782E-FD3173699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>
                <a:solidFill>
                  <a:srgbClr val="1F1F1F"/>
                </a:solidFill>
              </a:rPr>
              <a:t>The Recurrent Representation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CBEF9B2-8588-4F6B-6C40-05B99D67B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C82CD5-EAE4-C067-56F1-3B48C5D42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D38D16-5CAD-41C2-9C2C-F83E973E8578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BEC56DF3-A685-5031-234A-0A602FAA6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94554" y="2305084"/>
            <a:ext cx="9483423" cy="377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6209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1C46-93AB-B905-BD9F-AD9CF2DBA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0FBFF79-B422-3D73-04B6-707486C63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>
                <a:solidFill>
                  <a:srgbClr val="1F1F1F"/>
                </a:solidFill>
              </a:rPr>
              <a:t>The Recurrent Representation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F33F470-566C-8E06-5F89-2ABB5699E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DEC900-D228-50F9-9F1D-880B44C45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3C177-C419-8948-4E1B-267AEAB3B91D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BADDD0C7-2766-2FFC-CA96-4D42363D8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91479" y="2305084"/>
            <a:ext cx="9409043" cy="377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62231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5DCC6-CFF7-753B-C769-FCF16995A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7518C47-EAFD-8359-B62C-C0F1686CA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>
                <a:solidFill>
                  <a:srgbClr val="1F1F1F"/>
                </a:solidFill>
              </a:rPr>
              <a:t>The Recurrent Representation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97DF415-2043-E50B-8839-E694D5BDD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813F41-99E1-1C6E-F439-338DDEAFF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5DF9E-E78D-7525-87E8-4BB73B28DF2C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C84AEDD2-B65A-7A1A-66EB-81EFEA4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91479" y="2305084"/>
            <a:ext cx="9409043" cy="377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AE17E3F-F092-BAF5-9FAE-DBE40382958D}"/>
              </a:ext>
            </a:extLst>
          </p:cNvPr>
          <p:cNvSpPr/>
          <p:nvPr/>
        </p:nvSpPr>
        <p:spPr>
          <a:xfrm rot="581651">
            <a:off x="6462344" y="1143646"/>
            <a:ext cx="4952696" cy="679838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dirty="0">
                <a:latin typeface="Corbel" panose="020B0503020204020204" pitchFamily="34" charset="0"/>
              </a:rPr>
              <a:t>So what is the difference with RNN?</a:t>
            </a:r>
            <a:endParaRPr kumimoji="1" lang="ko-KR" altLang="en-US" sz="2400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0267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CB267-449E-6D1D-D87B-882CD0C3C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C852E98-76FB-ABF1-4489-15D06ECA3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>
                <a:solidFill>
                  <a:srgbClr val="1F1F1F"/>
                </a:solidFill>
              </a:rPr>
              <a:t>The Recurrent Representation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3F4CE59-2B33-148E-B4EB-1057D095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6DC88B-A8DB-ADCD-3178-9A31C4CE4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youtu.be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JjxBNBzDbNk?si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=-uXfWPjmshdfJd2s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34004-08CD-4F75-1662-3CBE6330505D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2F9C269-0113-6079-B0B8-5A530455BF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266" t="40936" r="28613" b="8591"/>
          <a:stretch/>
        </p:blipFill>
        <p:spPr>
          <a:xfrm>
            <a:off x="2020478" y="2401875"/>
            <a:ext cx="8151044" cy="386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0572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651A8-497F-844D-990D-9FD03D79F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C5FEFD1-D19D-6604-A3BD-CE8B5152E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>
                <a:solidFill>
                  <a:srgbClr val="1F1F1F"/>
                </a:solidFill>
              </a:rPr>
              <a:t>The Convolutional Representation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33143DB-4F4B-E021-18FA-B1D811DF4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ECB7F6-1774-DB2D-34B7-A626B5574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296414-AAC8-5A33-DFB9-A8A1059DC9A6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BB1B7C27-7E6C-97C3-C268-629EA8E54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66629" y="2305084"/>
            <a:ext cx="5658741" cy="377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5481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3AAA-A9FE-D9F6-4B92-6BE682184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9A2277E-F258-DD3A-FF41-574BA06F2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>
                <a:solidFill>
                  <a:srgbClr val="1F1F1F"/>
                </a:solidFill>
              </a:rPr>
              <a:t>The Convolutional Representation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3DA5B8E-41C2-A3B2-DB4D-B6C2A08BD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83CF527-6424-8181-0015-631534272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A7572F-0927-28DE-AC2F-6F1C048988A5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5B2DCB9-B235-F7A6-EC6C-13B23A785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18990" y="2305084"/>
            <a:ext cx="9354020" cy="377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5055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268B7-86BB-C3E9-26DE-794C12500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C83978F-2DAA-37C4-93E9-B5CAF06AE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>
                <a:solidFill>
                  <a:srgbClr val="1F1F1F"/>
                </a:solidFill>
              </a:rPr>
              <a:t>The Convolutional Representation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9746BA1-9FBA-055B-1761-53205DF20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CE9E80-6304-BEB2-2514-B52FB1C2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D6F6AD-F35D-7A2D-9567-592D807E2223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CC36DE9-CAF6-5C98-E472-183624E10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374" y="2305084"/>
            <a:ext cx="10123252" cy="377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96744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F6A4C-C334-7F57-7F86-0A7C35B30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0882994-E4CD-47C8-2F23-BA35F6762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>
                <a:solidFill>
                  <a:srgbClr val="1F1F1F"/>
                </a:solidFill>
              </a:rPr>
              <a:t>The Convolutional Representation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FA693BC-F9F9-3840-ACB2-BB921A0B7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78D212E-F040-3B2C-E101-B56966BF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endParaRPr lang="en" altLang="ko-KR" sz="1100" dirty="0">
              <a:solidFill>
                <a:srgbClr val="959595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BA558D-BDA1-56BF-1A9F-B1D5C5E8E22B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346464C-3E8D-22A0-1B35-50B9BF68EF99}"/>
              </a:ext>
            </a:extLst>
          </p:cNvPr>
          <p:cNvGrpSpPr/>
          <p:nvPr/>
        </p:nvGrpSpPr>
        <p:grpSpPr>
          <a:xfrm>
            <a:off x="840141" y="2719512"/>
            <a:ext cx="2853965" cy="1444778"/>
            <a:chOff x="1161854" y="2719512"/>
            <a:chExt cx="2853965" cy="1444778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FEF26491-6EDE-BB55-7386-DE6C9DA654A3}"/>
                </a:ext>
              </a:extLst>
            </p:cNvPr>
            <p:cNvGrpSpPr/>
            <p:nvPr/>
          </p:nvGrpSpPr>
          <p:grpSpPr>
            <a:xfrm>
              <a:off x="1161854" y="3240383"/>
              <a:ext cx="2853965" cy="923907"/>
              <a:chOff x="1161854" y="2505093"/>
              <a:chExt cx="2853965" cy="92390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EB5E604C-396A-3317-3D2E-D90DA4BB6693}"/>
                      </a:ext>
                    </a:extLst>
                  </p:cNvPr>
                  <p:cNvSpPr txBox="1"/>
                  <p:nvPr/>
                </p:nvSpPr>
                <p:spPr>
                  <a:xfrm>
                    <a:off x="1161854" y="2505093"/>
                    <a:ext cx="2853965" cy="64690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ko-KR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acc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   (</m:t>
                          </m:r>
                          <m:acc>
                            <m:accPr>
                              <m:chr m:val="̅"/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=0)</m:t>
                          </m:r>
                        </m:oMath>
                      </m:oMathPara>
                    </a14:m>
                    <a:endParaRPr kumimoji="1" lang="en-US" altLang="ko-KR" i="1" dirty="0"/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ko-KR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kumimoji="1" lang="en-US" altLang="ko-KR" dirty="0">
                              <a:latin typeface="Cambria Math" panose="02040503050406030204" pitchFamily="18" charset="0"/>
                            </a:rPr>
                            <m:t>C</m:t>
                          </m:r>
                          <m:sSub>
                            <m:sSubPr>
                              <m:ctrlP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kumimoji="1" lang="en-US" altLang="ko-KR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EB5E604C-396A-3317-3D2E-D90DA4BB66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61854" y="2505093"/>
                    <a:ext cx="2853965" cy="64690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384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7ABF3B4A-AADC-55A5-7737-9AB520F168DD}"/>
                      </a:ext>
                    </a:extLst>
                  </p:cNvPr>
                  <p:cNvSpPr txBox="1"/>
                  <p:nvPr/>
                </p:nvSpPr>
                <p:spPr>
                  <a:xfrm>
                    <a:off x="1454087" y="3059668"/>
                    <a:ext cx="109115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en-US" altLang="ko-KR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kumimoji="1" lang="en-US" altLang="ko-KR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acc>
                            <m:accPr>
                              <m:chr m:val="̅"/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acc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kumimoji="1" lang="en-US" altLang="ko-KR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7ABF3B4A-AADC-55A5-7737-9AB520F168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087" y="3059668"/>
                    <a:ext cx="1091152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3448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4D725DA-8C36-93B6-78E5-07DCA89AE40A}"/>
                    </a:ext>
                  </a:extLst>
                </p:cNvPr>
                <p:cNvSpPr txBox="1"/>
                <p:nvPr/>
              </p:nvSpPr>
              <p:spPr>
                <a:xfrm>
                  <a:off x="1161854" y="2719512"/>
                  <a:ext cx="101573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kumimoji="1" lang="en-US" altLang="ko-KR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4D725DA-8C36-93B6-78E5-07DCA89AE4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854" y="2719512"/>
                  <a:ext cx="101573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16A70B2-2EDA-AC17-B883-AF417963E120}"/>
              </a:ext>
            </a:extLst>
          </p:cNvPr>
          <p:cNvGrpSpPr/>
          <p:nvPr/>
        </p:nvGrpSpPr>
        <p:grpSpPr>
          <a:xfrm>
            <a:off x="3355527" y="2719512"/>
            <a:ext cx="2853965" cy="2171166"/>
            <a:chOff x="3639326" y="2719512"/>
            <a:chExt cx="2853965" cy="21711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C325A65-B006-C082-1432-E9C22609399C}"/>
                    </a:ext>
                  </a:extLst>
                </p:cNvPr>
                <p:cNvSpPr txBox="1"/>
                <p:nvPr/>
              </p:nvSpPr>
              <p:spPr>
                <a:xfrm>
                  <a:off x="3639326" y="3240383"/>
                  <a:ext cx="2853965" cy="3699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kumimoji="1"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en-US" altLang="ko-KR" i="1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C325A65-B006-C082-1432-E9C226093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9326" y="3240383"/>
                  <a:ext cx="2853965" cy="36990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8BA2CB4-AE78-EA63-AEE0-82300925DFA2}"/>
                    </a:ext>
                  </a:extLst>
                </p:cNvPr>
                <p:cNvSpPr txBox="1"/>
                <p:nvPr/>
              </p:nvSpPr>
              <p:spPr>
                <a:xfrm>
                  <a:off x="3931558" y="4520769"/>
                  <a:ext cx="2165805" cy="3699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ko-KR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acc>
                            <m:acc>
                              <m:accPr>
                                <m:chr m:val="̅"/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ko-KR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acc>
                            <m:sSub>
                              <m:sSub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̅"/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ko-KR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acc>
                            <m:sSub>
                              <m:sSub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1" lang="en-US" altLang="ko-KR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8BA2CB4-AE78-EA63-AEE0-82300925DF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1558" y="4520769"/>
                  <a:ext cx="2165805" cy="369909"/>
                </a:xfrm>
                <a:prstGeom prst="rect">
                  <a:avLst/>
                </a:prstGeom>
                <a:blipFill>
                  <a:blip r:embed="rId7"/>
                  <a:stretch>
                    <a:fillRect b="-34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69E3308-D3CE-38AA-F3E3-09AAF21355A8}"/>
                    </a:ext>
                  </a:extLst>
                </p:cNvPr>
                <p:cNvSpPr txBox="1"/>
                <p:nvPr/>
              </p:nvSpPr>
              <p:spPr>
                <a:xfrm>
                  <a:off x="3639326" y="4243770"/>
                  <a:ext cx="132682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kumimoji="1" lang="en-US" altLang="ko-KR" dirty="0">
                            <a:latin typeface="Cambria Math" panose="02040503050406030204" pitchFamily="18" charset="0"/>
                          </a:rPr>
                          <m:t>C</m:t>
                        </m:r>
                        <m:sSub>
                          <m:sSub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en-US" altLang="ko-KR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69E3308-D3CE-38AA-F3E3-09AAF21355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9326" y="4243770"/>
                  <a:ext cx="1326822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8EBF037-D1B4-5E6C-2C44-4B41C52A3978}"/>
                    </a:ext>
                  </a:extLst>
                </p:cNvPr>
                <p:cNvSpPr txBox="1"/>
                <p:nvPr/>
              </p:nvSpPr>
              <p:spPr>
                <a:xfrm>
                  <a:off x="3931559" y="3517959"/>
                  <a:ext cx="1562490" cy="3699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en-US" altLang="ko-KR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8EBF037-D1B4-5E6C-2C44-4B41C52A39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1559" y="3517959"/>
                  <a:ext cx="1562490" cy="36990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467812B-7180-4D94-839F-E1148A59C845}"/>
                    </a:ext>
                  </a:extLst>
                </p:cNvPr>
                <p:cNvSpPr txBox="1"/>
                <p:nvPr/>
              </p:nvSpPr>
              <p:spPr>
                <a:xfrm>
                  <a:off x="3639326" y="2719512"/>
                  <a:ext cx="101573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kumimoji="1" lang="en-US" altLang="ko-KR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467812B-7180-4D94-839F-E1148A59C8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9326" y="2719512"/>
                  <a:ext cx="101573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00EF429-3A11-7C2B-37C7-640C3A0300C3}"/>
              </a:ext>
            </a:extLst>
          </p:cNvPr>
          <p:cNvGrpSpPr/>
          <p:nvPr/>
        </p:nvGrpSpPr>
        <p:grpSpPr>
          <a:xfrm>
            <a:off x="5616393" y="2719512"/>
            <a:ext cx="3146197" cy="2171166"/>
            <a:chOff x="5824565" y="2719512"/>
            <a:chExt cx="3146197" cy="21711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E38EF89-DD4B-4A40-CA63-8DE461FB513B}"/>
                    </a:ext>
                  </a:extLst>
                </p:cNvPr>
                <p:cNvSpPr txBox="1"/>
                <p:nvPr/>
              </p:nvSpPr>
              <p:spPr>
                <a:xfrm>
                  <a:off x="5824565" y="3240383"/>
                  <a:ext cx="2853965" cy="3699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kumimoji="1"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ko-KR" i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E38EF89-DD4B-4A40-CA63-8DE461FB51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4565" y="3240383"/>
                  <a:ext cx="2853965" cy="36990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546030B-0840-D434-A469-4D22EE2E1368}"/>
                    </a:ext>
                  </a:extLst>
                </p:cNvPr>
                <p:cNvSpPr txBox="1"/>
                <p:nvPr/>
              </p:nvSpPr>
              <p:spPr>
                <a:xfrm>
                  <a:off x="6116797" y="4520769"/>
                  <a:ext cx="2853965" cy="3699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̅"/>
                                    <m:ctrlPr>
                                      <a:rPr kumimoji="1"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ko-KR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acc>
                              <m:accPr>
                                <m:chr m:val="̅"/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ko-KR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acc>
                            <m:sSub>
                              <m:sSub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̅"/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ko-KR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acc>
                            <m:acc>
                              <m:accPr>
                                <m:chr m:val="̅"/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ko-KR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acc>
                            <m:sSub>
                              <m:sSub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̅"/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ko-KR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acc>
                            <m:sSub>
                              <m:sSub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1" lang="en-US" altLang="ko-KR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546030B-0840-D434-A469-4D22EE2E1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6797" y="4520769"/>
                  <a:ext cx="2853965" cy="369909"/>
                </a:xfrm>
                <a:prstGeom prst="rect">
                  <a:avLst/>
                </a:prstGeom>
                <a:blipFill>
                  <a:blip r:embed="rId12"/>
                  <a:stretch>
                    <a:fillRect b="-34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02722CE-49EF-6F4F-3F94-0427E6FD6D82}"/>
                    </a:ext>
                  </a:extLst>
                </p:cNvPr>
                <p:cNvSpPr txBox="1"/>
                <p:nvPr/>
              </p:nvSpPr>
              <p:spPr>
                <a:xfrm>
                  <a:off x="5824565" y="4243770"/>
                  <a:ext cx="132682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kumimoji="1" lang="en-US" altLang="ko-KR" dirty="0">
                            <a:latin typeface="Cambria Math" panose="02040503050406030204" pitchFamily="18" charset="0"/>
                          </a:rPr>
                          <m:t>C</m:t>
                        </m:r>
                        <m:sSub>
                          <m:sSub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ko-KR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02722CE-49EF-6F4F-3F94-0427E6FD6D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4565" y="4243770"/>
                  <a:ext cx="1326822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65C9E2C-F112-C418-3A08-5CCBF01E67D4}"/>
                    </a:ext>
                  </a:extLst>
                </p:cNvPr>
                <p:cNvSpPr txBox="1"/>
                <p:nvPr/>
              </p:nvSpPr>
              <p:spPr>
                <a:xfrm>
                  <a:off x="6116797" y="3517959"/>
                  <a:ext cx="2561733" cy="3699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ko-KR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acc>
                          </m:e>
                          <m:sup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acc>
                          <m:accPr>
                            <m:chr m:val="̅"/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ko-KR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65C9E2C-F112-C418-3A08-5CCBF01E67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6797" y="3517959"/>
                  <a:ext cx="2561733" cy="36990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84B40FFD-CC66-B90C-7E9E-72EE49EC8B21}"/>
                    </a:ext>
                  </a:extLst>
                </p:cNvPr>
                <p:cNvSpPr txBox="1"/>
                <p:nvPr/>
              </p:nvSpPr>
              <p:spPr>
                <a:xfrm>
                  <a:off x="5824565" y="2719512"/>
                  <a:ext cx="101573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kumimoji="1" lang="en-US" altLang="ko-KR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84B40FFD-CC66-B90C-7E9E-72EE49EC8B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4565" y="2719512"/>
                  <a:ext cx="1015738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380303F-9B4A-41DC-70E2-2A5934BF1FBE}"/>
              </a:ext>
            </a:extLst>
          </p:cNvPr>
          <p:cNvGrpSpPr/>
          <p:nvPr/>
        </p:nvGrpSpPr>
        <p:grpSpPr>
          <a:xfrm>
            <a:off x="8678530" y="2719512"/>
            <a:ext cx="3719655" cy="2213614"/>
            <a:chOff x="8970762" y="2719512"/>
            <a:chExt cx="3719655" cy="22136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EC91845-9ED7-FC27-5E6A-0C90856A5B2B}"/>
                    </a:ext>
                  </a:extLst>
                </p:cNvPr>
                <p:cNvSpPr txBox="1"/>
                <p:nvPr/>
              </p:nvSpPr>
              <p:spPr>
                <a:xfrm>
                  <a:off x="8970764" y="3240383"/>
                  <a:ext cx="2853965" cy="3699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kumimoji="1"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en-US" altLang="ko-KR" i="1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EC91845-9ED7-FC27-5E6A-0C90856A5B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0764" y="3240383"/>
                  <a:ext cx="2853965" cy="36990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001E298-B636-2B1B-FEBB-ED7A1E895369}"/>
                    </a:ext>
                  </a:extLst>
                </p:cNvPr>
                <p:cNvSpPr txBox="1"/>
                <p:nvPr/>
              </p:nvSpPr>
              <p:spPr>
                <a:xfrm>
                  <a:off x="9262996" y="4520769"/>
                  <a:ext cx="3427421" cy="4123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̅"/>
                                    <m:ctrlPr>
                                      <a:rPr kumimoji="1"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ko-KR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acc>
                              <m:accPr>
                                <m:chr m:val="̅"/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ko-KR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acc>
                            <m:sSub>
                              <m:sSub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̅"/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kumimoji="1"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ko-KR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a:rPr kumimoji="1" lang="en-US" altLang="ko-KR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  <m:acc>
                              <m:accPr>
                                <m:chr m:val="̅"/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ko-KR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acc>
                            <m:sSub>
                              <m:sSub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̅"/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ko-KR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acc>
                            <m:acc>
                              <m:accPr>
                                <m:chr m:val="̅"/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ko-KR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acc>
                            <m:sSub>
                              <m:sSub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1" lang="en-US" altLang="ko-KR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001E298-B636-2B1B-FEBB-ED7A1E8953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2996" y="4520769"/>
                  <a:ext cx="3427421" cy="41235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BE3761B-39E4-0801-F07C-0FC31A23E372}"/>
                    </a:ext>
                  </a:extLst>
                </p:cNvPr>
                <p:cNvSpPr txBox="1"/>
                <p:nvPr/>
              </p:nvSpPr>
              <p:spPr>
                <a:xfrm>
                  <a:off x="8970764" y="4243770"/>
                  <a:ext cx="132682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kumimoji="1" lang="en-US" altLang="ko-KR" dirty="0">
                            <a:latin typeface="Cambria Math" panose="02040503050406030204" pitchFamily="18" charset="0"/>
                          </a:rPr>
                          <m:t>C</m:t>
                        </m:r>
                        <m:sSub>
                          <m:sSub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en-US" altLang="ko-KR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BE3761B-39E4-0801-F07C-0FC31A23E3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0764" y="4243770"/>
                  <a:ext cx="1326822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46B8FDB-4622-5D48-D3D8-E2BD1E504688}"/>
                    </a:ext>
                  </a:extLst>
                </p:cNvPr>
                <p:cNvSpPr txBox="1"/>
                <p:nvPr/>
              </p:nvSpPr>
              <p:spPr>
                <a:xfrm>
                  <a:off x="9262996" y="3517959"/>
                  <a:ext cx="2735727" cy="3699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ko-KR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acc>
                          </m:e>
                          <m:sup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acc>
                          <m:accPr>
                            <m:chr m:val="̅"/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ko-KR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acc>
                          </m:e>
                          <m:sup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acc>
                          <m:accPr>
                            <m:chr m:val="̅"/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en-US" altLang="ko-KR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46B8FDB-4622-5D48-D3D8-E2BD1E5046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2996" y="3517959"/>
                  <a:ext cx="2735727" cy="36990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1D9CF73-873D-0701-D92C-A8EA0842CF10}"/>
                    </a:ext>
                  </a:extLst>
                </p:cNvPr>
                <p:cNvSpPr txBox="1"/>
                <p:nvPr/>
              </p:nvSpPr>
              <p:spPr>
                <a:xfrm>
                  <a:off x="8970762" y="2719512"/>
                  <a:ext cx="101573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m:oMathPara>
                  </a14:m>
                  <a:endParaRPr kumimoji="1" lang="en-US" altLang="ko-KR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1D9CF73-873D-0701-D92C-A8EA0842CF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0762" y="2719512"/>
                  <a:ext cx="1015738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2390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D316E-8A98-EADB-BF7C-7266B1FEA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142BF4F-9ED7-07EE-5C0D-18B30CA1E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>
                <a:solidFill>
                  <a:srgbClr val="1F1F1F"/>
                </a:solidFill>
              </a:rPr>
              <a:t>The Convolutional Representation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B595812-F673-0FC0-C3E4-99EC9E5C1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DC25FF-B501-62C4-8937-CF8ABAC5C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990803-3C0B-F18A-F20F-F3DD15BD7C27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49FFE103-6DC8-34F8-AA86-3D6F9FC40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371" y="2391330"/>
            <a:ext cx="10055258" cy="316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1998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46963-ED9E-8695-86FF-C8D5EA341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A8307B8-D24A-A17C-3932-F1C6884EF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>
                <a:solidFill>
                  <a:srgbClr val="1F1F1F"/>
                </a:solidFill>
              </a:rPr>
              <a:t>The Convolutional Representation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2CA99DE-0BE5-9E6C-A73C-ACF6ED150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DFCBF4-4F5F-080A-5A59-C2ACD34A0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F79B2E-574C-1CB7-56B6-12E0000E92C2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6D59B3E8-D79B-4BD5-0BF1-706B59261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37674" y="2486756"/>
            <a:ext cx="8716652" cy="359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08918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56A48-135E-F7F7-A16F-2C93D8034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4C5E436-2A97-46FA-C43C-EADDE0F2E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>
                <a:solidFill>
                  <a:srgbClr val="1F1F1F"/>
                </a:solidFill>
              </a:rPr>
              <a:t>The Convolutional Representation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64043B8-0A5A-052D-1736-225A4BF2D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AFADFE-6026-9AE4-9451-A97C3F11E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9459EA-DC98-3FA4-15A3-562F86171F01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DF20A689-D333-808C-44A5-AF5ED1F3A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37674" y="2486756"/>
            <a:ext cx="8716651" cy="359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841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1000">
        <p159:morph option="byObject"/>
      </p:transition>
    </mc:Choice>
    <mc:Fallback xmlns="">
      <p:transition advTm="1000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F6FC5-848D-EB8A-4EC8-24E27D77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316AF30-BC5E-4796-F08C-5E1F18A80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>
                <a:solidFill>
                  <a:srgbClr val="1F1F1F"/>
                </a:solidFill>
              </a:rPr>
              <a:t>The Convolutional Representation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A598EA7-F698-C461-8ACF-7C043D6B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811FD3-2621-0B3B-6687-ABEE346C0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8C16B0-76DF-6028-9E72-547460102748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564FF46E-34BB-C52A-9BCA-3EDE14F69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37674" y="2486757"/>
            <a:ext cx="8716651" cy="3590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AB49938E-48EA-EC91-B419-0579CEF2F43C}"/>
              </a:ext>
            </a:extLst>
          </p:cNvPr>
          <p:cNvSpPr/>
          <p:nvPr/>
        </p:nvSpPr>
        <p:spPr>
          <a:xfrm rot="581651">
            <a:off x="7287527" y="1143646"/>
            <a:ext cx="3302330" cy="679838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dirty="0">
                <a:latin typeface="Corbel" panose="020B0503020204020204" pitchFamily="34" charset="0"/>
              </a:rPr>
              <a:t>Can Parallelization!</a:t>
            </a:r>
            <a:endParaRPr kumimoji="1" lang="ko-KR" altLang="en-US" sz="2400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694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4F9FC-C85C-3C1B-03A7-B75E03BBD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C727AC0-A70A-B792-56A3-E6B051ABC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>
                <a:solidFill>
                  <a:srgbClr val="1F1F1F"/>
                </a:solidFill>
              </a:rPr>
              <a:t>Why not RNN?</a:t>
            </a:r>
          </a:p>
          <a:p>
            <a:pPr marL="1257300" lvl="2" indent="-342900">
              <a:buFont typeface="+mj-lt"/>
              <a:buAutoNum type="arabicPeriod"/>
            </a:pPr>
            <a:r>
              <a:rPr kumimoji="1" lang="en-US" altLang="ko-KR" dirty="0">
                <a:solidFill>
                  <a:srgbClr val="1F1F1F"/>
                </a:solidFill>
              </a:rPr>
              <a:t>Time-variant</a:t>
            </a:r>
          </a:p>
          <a:p>
            <a:pPr marL="1257300" lvl="2" indent="-342900">
              <a:buFont typeface="+mj-lt"/>
              <a:buAutoNum type="arabicPeriod"/>
            </a:pPr>
            <a:r>
              <a:rPr kumimoji="1" lang="en-US" altLang="ko-KR" dirty="0">
                <a:solidFill>
                  <a:srgbClr val="1F1F1F"/>
                </a:solidFill>
              </a:rPr>
              <a:t>Non-</a:t>
            </a:r>
            <a:r>
              <a:rPr kumimoji="1" lang="en-US" altLang="ko-KR" dirty="0" err="1">
                <a:solidFill>
                  <a:srgbClr val="1F1F1F"/>
                </a:solidFill>
              </a:rPr>
              <a:t>linearlity</a:t>
            </a:r>
            <a:endParaRPr kumimoji="1" lang="en-US" altLang="ko-KR" dirty="0">
              <a:solidFill>
                <a:srgbClr val="1F1F1F"/>
              </a:solidFill>
            </a:endParaRPr>
          </a:p>
          <a:p>
            <a:pPr lvl="1"/>
            <a:endParaRPr kumimoji="1" lang="en-US" altLang="ko-KR" dirty="0"/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A674A47-DD50-FC91-EB43-54BBDDF59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EEC86B-3D46-5A22-7BF2-946F4EE10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colah.github.io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/posts/2015-08-Understanding-LSTMs/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BB3956-825A-DD17-0048-0B877D39F021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29698" name="Picture 2" descr="Deep Learning] LSTM 개념 정리">
            <a:extLst>
              <a:ext uri="{FF2B5EF4-FFF2-40B4-BE49-F238E27FC236}">
                <a16:creationId xmlns:a16="http://schemas.microsoft.com/office/drawing/2014/main" id="{F6F3E2D7-2924-2D6A-8FCD-7E84C6113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464" y="1863424"/>
            <a:ext cx="5353536" cy="4214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571F8000-19D4-1EE2-73F7-F14608C0FE86}"/>
              </a:ext>
            </a:extLst>
          </p:cNvPr>
          <p:cNvSpPr/>
          <p:nvPr/>
        </p:nvSpPr>
        <p:spPr>
          <a:xfrm>
            <a:off x="8933250" y="2780907"/>
            <a:ext cx="311085" cy="311085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8B547E6-76A5-DD68-EF45-48F27618E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2168" y="3165478"/>
            <a:ext cx="5698754" cy="291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9668CB7C-6719-632A-BCC9-3648731826D2}"/>
              </a:ext>
            </a:extLst>
          </p:cNvPr>
          <p:cNvSpPr/>
          <p:nvPr/>
        </p:nvSpPr>
        <p:spPr>
          <a:xfrm>
            <a:off x="8967597" y="4945713"/>
            <a:ext cx="185830" cy="185828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B918B4D5-9E21-D279-A3FA-45C3571A65E2}"/>
              </a:ext>
            </a:extLst>
          </p:cNvPr>
          <p:cNvCxnSpPr>
            <a:cxnSpLocks/>
          </p:cNvCxnSpPr>
          <p:nvPr/>
        </p:nvCxnSpPr>
        <p:spPr>
          <a:xfrm>
            <a:off x="6190268" y="3091992"/>
            <a:ext cx="0" cy="309199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5421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F72A1-D714-1641-FFF9-88543653E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F532284-505C-8AB5-CD5C-E51B26653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Training vs Inference</a:t>
            </a:r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15FC14C-FF27-A62F-5668-5D48C036F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9EF879-FFED-9D8E-5536-A3E338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093D77-1CF4-9A8D-6DF0-03874E15A23D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1748" name="Picture 4">
            <a:extLst>
              <a:ext uri="{FF2B5EF4-FFF2-40B4-BE49-F238E27FC236}">
                <a16:creationId xmlns:a16="http://schemas.microsoft.com/office/drawing/2014/main" id="{058820B6-BA27-B54D-0CC1-94AA69A8F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689" y="2343364"/>
            <a:ext cx="10394622" cy="373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7934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2DDB3-145C-8FFB-5BB9-078E39CEC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D9ECB88-5B3D-69A1-02B1-4CBC12D93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Training vs Inference</a:t>
            </a:r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83EDD8B-E581-7913-4BF7-2CD219D2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FE0F77-9AA4-6807-285A-8804E1BC3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A108DA-B8DE-78B7-95DC-6F0E4343A6C9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1748" name="Picture 4">
            <a:extLst>
              <a:ext uri="{FF2B5EF4-FFF2-40B4-BE49-F238E27FC236}">
                <a16:creationId xmlns:a16="http://schemas.microsoft.com/office/drawing/2014/main" id="{83AF400A-6AB4-D7F9-837B-1CA9F961D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64563" y="2343364"/>
            <a:ext cx="7262874" cy="373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9850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CE33A-5B25-66BA-C02C-04E231EF0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23D2864-62B5-68C6-4E04-7AE17BE21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Linear State Space Layer(LSSL)</a:t>
            </a:r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1C1D680-1636-1313-EEA8-EE3DE3410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2D32E7-23C9-04FB-0D29-C6E4B122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Combining Recurrent, Convolutional, and Continuous-time Models with Linear State-Space Layers</a:t>
            </a:r>
          </a:p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https://gaussian37.github.io/dl-concept-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various_normalization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</a:t>
            </a:r>
          </a:p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en.wikipedia.org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/wiki/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Residual_neural_network</a:t>
            </a:r>
            <a:endParaRPr lang="en" altLang="ko-KR" sz="1100" dirty="0">
              <a:solidFill>
                <a:srgbClr val="959595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C0F18D-6438-EA5D-3EC5-D50F7E95885A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4FEC49-CB7B-6CA8-8611-A65C79E79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45" y="2273369"/>
            <a:ext cx="8238756" cy="3943596"/>
          </a:xfrm>
          <a:prstGeom prst="rect">
            <a:avLst/>
          </a:prstGeom>
        </p:spPr>
      </p:pic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420E1803-1F65-9954-6A21-795A669EF485}"/>
              </a:ext>
            </a:extLst>
          </p:cNvPr>
          <p:cNvSpPr/>
          <p:nvPr/>
        </p:nvSpPr>
        <p:spPr>
          <a:xfrm>
            <a:off x="8956451" y="2289135"/>
            <a:ext cx="1225484" cy="3264102"/>
          </a:xfrm>
          <a:prstGeom prst="roundRect">
            <a:avLst>
              <a:gd name="adj" fmla="val 637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18FACD-0838-4BDF-2DCE-9ABA734B1A5F}"/>
              </a:ext>
            </a:extLst>
          </p:cNvPr>
          <p:cNvSpPr txBox="1"/>
          <p:nvPr/>
        </p:nvSpPr>
        <p:spPr>
          <a:xfrm>
            <a:off x="8825366" y="5538735"/>
            <a:ext cx="14876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600" dirty="0">
                <a:latin typeface="Corbel" panose="020B0503020204020204" pitchFamily="34" charset="0"/>
              </a:rPr>
              <a:t>Normalization</a:t>
            </a:r>
            <a:endParaRPr kumimoji="1" lang="ko-KR" altLang="en-US" sz="1600" dirty="0">
              <a:latin typeface="Corbel" panose="020B05030202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F25878-45B8-8E23-A74D-948AEC014E49}"/>
              </a:ext>
            </a:extLst>
          </p:cNvPr>
          <p:cNvSpPr txBox="1"/>
          <p:nvPr/>
        </p:nvSpPr>
        <p:spPr>
          <a:xfrm>
            <a:off x="8666061" y="3690354"/>
            <a:ext cx="336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latin typeface="Corbel" panose="020B0503020204020204" pitchFamily="34" charset="0"/>
              </a:rPr>
              <a:t>+</a:t>
            </a:r>
            <a:endParaRPr kumimoji="1" lang="ko-KR" altLang="en-US" sz="2400" dirty="0">
              <a:latin typeface="Corbel" panose="020B0503020204020204" pitchFamily="34" charset="0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177963DD-C39C-3858-C671-1F84C733560E}"/>
              </a:ext>
            </a:extLst>
          </p:cNvPr>
          <p:cNvSpPr/>
          <p:nvPr/>
        </p:nvSpPr>
        <p:spPr>
          <a:xfrm>
            <a:off x="10475431" y="2289135"/>
            <a:ext cx="1225484" cy="3264102"/>
          </a:xfrm>
          <a:prstGeom prst="roundRect">
            <a:avLst>
              <a:gd name="adj" fmla="val 637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205A6E-7B6C-F505-EDC0-E224EC3CD494}"/>
              </a:ext>
            </a:extLst>
          </p:cNvPr>
          <p:cNvSpPr txBox="1"/>
          <p:nvPr/>
        </p:nvSpPr>
        <p:spPr>
          <a:xfrm>
            <a:off x="10344346" y="5538735"/>
            <a:ext cx="14876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600" dirty="0">
                <a:latin typeface="Corbel" panose="020B0503020204020204" pitchFamily="34" charset="0"/>
              </a:rPr>
              <a:t>Residual</a:t>
            </a:r>
          </a:p>
          <a:p>
            <a:pPr algn="ctr"/>
            <a:r>
              <a:rPr kumimoji="1" lang="en-US" altLang="ko-KR" sz="1600" dirty="0">
                <a:latin typeface="Corbel" panose="020B0503020204020204" pitchFamily="34" charset="0"/>
              </a:rPr>
              <a:t>Connection</a:t>
            </a:r>
            <a:endParaRPr kumimoji="1" lang="ko-KR" altLang="en-US" sz="1600" dirty="0">
              <a:latin typeface="Corbel" panose="020B05030202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2E09E6-5B0D-62AD-50BF-66B6D3D2ADAD}"/>
              </a:ext>
            </a:extLst>
          </p:cNvPr>
          <p:cNvSpPr txBox="1"/>
          <p:nvPr/>
        </p:nvSpPr>
        <p:spPr>
          <a:xfrm>
            <a:off x="10185041" y="3690354"/>
            <a:ext cx="336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latin typeface="Corbel" panose="020B0503020204020204" pitchFamily="34" charset="0"/>
              </a:rPr>
              <a:t>+</a:t>
            </a:r>
            <a:endParaRPr kumimoji="1" lang="ko-KR" altLang="en-US" sz="2400" dirty="0">
              <a:latin typeface="Corbel" panose="020B0503020204020204" pitchFamily="34" charset="0"/>
            </a:endParaRPr>
          </a:p>
        </p:txBody>
      </p:sp>
      <p:pic>
        <p:nvPicPr>
          <p:cNvPr id="33794" name="Picture 2" descr="딥러닝에서의 다양한 Normalization 방법 - gaussian37">
            <a:extLst>
              <a:ext uri="{FF2B5EF4-FFF2-40B4-BE49-F238E27FC236}">
                <a16:creationId xmlns:a16="http://schemas.microsoft.com/office/drawing/2014/main" id="{D1064699-E81F-AE0D-88DE-86884DFA22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633"/>
          <a:stretch/>
        </p:blipFill>
        <p:spPr bwMode="auto">
          <a:xfrm>
            <a:off x="9229506" y="2345255"/>
            <a:ext cx="679374" cy="78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딥러닝에서의 다양한 Normalization 방법 - gaussian37">
            <a:extLst>
              <a:ext uri="{FF2B5EF4-FFF2-40B4-BE49-F238E27FC236}">
                <a16:creationId xmlns:a16="http://schemas.microsoft.com/office/drawing/2014/main" id="{AAFC8E6B-3718-F379-CD00-D04B70143D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95" r="50838"/>
          <a:stretch/>
        </p:blipFill>
        <p:spPr bwMode="auto">
          <a:xfrm>
            <a:off x="9229506" y="3126474"/>
            <a:ext cx="679374" cy="78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딥러닝에서의 다양한 Normalization 방법 - gaussian37">
            <a:extLst>
              <a:ext uri="{FF2B5EF4-FFF2-40B4-BE49-F238E27FC236}">
                <a16:creationId xmlns:a16="http://schemas.microsoft.com/office/drawing/2014/main" id="{877702DE-2749-A2ED-2328-ADC294EB48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72" r="28154"/>
          <a:stretch/>
        </p:blipFill>
        <p:spPr bwMode="auto">
          <a:xfrm>
            <a:off x="9252167" y="3907693"/>
            <a:ext cx="634053" cy="78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딥러닝에서의 다양한 Normalization 방법 - gaussian37">
            <a:extLst>
              <a:ext uri="{FF2B5EF4-FFF2-40B4-BE49-F238E27FC236}">
                <a16:creationId xmlns:a16="http://schemas.microsoft.com/office/drawing/2014/main" id="{3349B319-4169-928D-5571-83F561AAA1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79" r="6747"/>
          <a:stretch/>
        </p:blipFill>
        <p:spPr bwMode="auto">
          <a:xfrm>
            <a:off x="9252167" y="4688911"/>
            <a:ext cx="634053" cy="78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6" name="Picture 4">
            <a:extLst>
              <a:ext uri="{FF2B5EF4-FFF2-40B4-BE49-F238E27FC236}">
                <a16:creationId xmlns:a16="http://schemas.microsoft.com/office/drawing/2014/main" id="{0631910F-796C-358E-8EC8-DA6C1E10B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6698" y="3528596"/>
            <a:ext cx="1182950" cy="639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7931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B4CCC-5784-B578-B776-B1D32DF2A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A55858E-2510-32DB-615F-3F5F92B4C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Linear State Space Layer(LSSL): Dimension</a:t>
            </a:r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2778E99-A607-0595-8127-A89AD47B0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29D632-C654-6FE9-B317-B6577DAF6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youtu.be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JjxBNBzDbNk?si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=-uXfWPjmshdfJd2s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05965E-4806-4B1D-5FAB-6080EB61BFAF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67BB3E-B5FD-0E23-9573-70C3A5326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295" y="2224620"/>
            <a:ext cx="5203410" cy="24117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A8AB420-26A6-9FA1-8B57-79829D065490}"/>
                  </a:ext>
                </a:extLst>
              </p:cNvPr>
              <p:cNvSpPr txBox="1"/>
              <p:nvPr/>
            </p:nvSpPr>
            <p:spPr>
              <a:xfrm>
                <a:off x="8156511" y="4898427"/>
                <a:ext cx="1691772" cy="123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A8AB420-26A6-9FA1-8B57-79829D065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511" y="4898427"/>
                <a:ext cx="1691772" cy="12337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A92738-D98C-0072-853B-0EC175E1E6F5}"/>
                  </a:ext>
                </a:extLst>
              </p:cNvPr>
              <p:cNvSpPr txBox="1"/>
              <p:nvPr/>
            </p:nvSpPr>
            <p:spPr>
              <a:xfrm>
                <a:off x="5219492" y="4915131"/>
                <a:ext cx="175301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A92738-D98C-0072-853B-0EC175E1E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9492" y="4915131"/>
                <a:ext cx="1753016" cy="1200329"/>
              </a:xfrm>
              <a:prstGeom prst="rect">
                <a:avLst/>
              </a:prstGeom>
              <a:blipFill>
                <a:blip r:embed="rId5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7D97C7B-C211-2B18-615A-5F240D2C43C8}"/>
                  </a:ext>
                </a:extLst>
              </p:cNvPr>
              <p:cNvSpPr txBox="1"/>
              <p:nvPr/>
            </p:nvSpPr>
            <p:spPr>
              <a:xfrm>
                <a:off x="1544003" y="5099797"/>
                <a:ext cx="249148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24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sz="2400" i="0" dirty="0">
                          <a:latin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7D97C7B-C211-2B18-615A-5F240D2C4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003" y="5099797"/>
                <a:ext cx="2491486" cy="830997"/>
              </a:xfrm>
              <a:prstGeom prst="rect">
                <a:avLst/>
              </a:prstGeom>
              <a:blipFill>
                <a:blip r:embed="rId6"/>
                <a:stretch>
                  <a:fillRect l="-508" b="-4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3231CCF3-6190-237E-E37D-32E6590F90DF}"/>
              </a:ext>
            </a:extLst>
          </p:cNvPr>
          <p:cNvCxnSpPr/>
          <p:nvPr/>
        </p:nvCxnSpPr>
        <p:spPr>
          <a:xfrm>
            <a:off x="1544003" y="4784503"/>
            <a:ext cx="841047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3411FFD9-636D-B279-C2CE-406C9922018D}"/>
              </a:ext>
            </a:extLst>
          </p:cNvPr>
          <p:cNvCxnSpPr>
            <a:cxnSpLocks/>
          </p:cNvCxnSpPr>
          <p:nvPr/>
        </p:nvCxnSpPr>
        <p:spPr>
          <a:xfrm>
            <a:off x="4627491" y="5026405"/>
            <a:ext cx="0" cy="97778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F0F19EBB-ABE3-5D0B-C62A-2A8B0EFB3CA7}"/>
              </a:ext>
            </a:extLst>
          </p:cNvPr>
          <p:cNvCxnSpPr>
            <a:cxnSpLocks/>
          </p:cNvCxnSpPr>
          <p:nvPr/>
        </p:nvCxnSpPr>
        <p:spPr>
          <a:xfrm>
            <a:off x="7564509" y="5026405"/>
            <a:ext cx="0" cy="97778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338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29EF9-502D-9D8A-BA10-6E6AEC53D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846F848-DEEE-8EDA-700D-36BCE5D82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Linear State Space Layer(LSSL): Dimension</a:t>
            </a:r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F62E018-00C9-73A5-A72F-6D9BA757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E978DA-D413-2800-40E7-0EB29D2C8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youtu.be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JjxBNBzDbNk?si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=-uXfWPjmshdfJd2s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DE8A03-96FE-ED4E-B00C-5235642235AF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804799D-FE87-91DE-C426-2FBC6A349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295" y="2224620"/>
            <a:ext cx="5203410" cy="24117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38BBC2-B413-E24C-573C-EF6C3EF216E5}"/>
                  </a:ext>
                </a:extLst>
              </p:cNvPr>
              <p:cNvSpPr txBox="1"/>
              <p:nvPr/>
            </p:nvSpPr>
            <p:spPr>
              <a:xfrm>
                <a:off x="7890856" y="4898427"/>
                <a:ext cx="2223082" cy="1214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38BBC2-B413-E24C-573C-EF6C3EF21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856" y="4898427"/>
                <a:ext cx="2223082" cy="1214179"/>
              </a:xfrm>
              <a:prstGeom prst="rect">
                <a:avLst/>
              </a:prstGeom>
              <a:blipFill>
                <a:blip r:embed="rId4"/>
                <a:stretch>
                  <a:fillRect l="-5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B02E76-1C0F-9639-2588-AEA4C9A823DF}"/>
                  </a:ext>
                </a:extLst>
              </p:cNvPr>
              <p:cNvSpPr txBox="1"/>
              <p:nvPr/>
            </p:nvSpPr>
            <p:spPr>
              <a:xfrm>
                <a:off x="5085807" y="4915131"/>
                <a:ext cx="2020386" cy="1213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p>
                      </m:sSup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B02E76-1C0F-9639-2588-AEA4C9A82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807" y="4915131"/>
                <a:ext cx="2020386" cy="1213409"/>
              </a:xfrm>
              <a:prstGeom prst="rect">
                <a:avLst/>
              </a:prstGeom>
              <a:blipFill>
                <a:blip r:embed="rId5"/>
                <a:stretch>
                  <a:fillRect l="-1250" b="-30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57DEB6-1ECA-7FA2-81CD-FBE3030ACC82}"/>
                  </a:ext>
                </a:extLst>
              </p:cNvPr>
              <p:cNvSpPr txBox="1"/>
              <p:nvPr/>
            </p:nvSpPr>
            <p:spPr>
              <a:xfrm>
                <a:off x="1544003" y="5099797"/>
                <a:ext cx="249148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24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sz="2400" i="0" dirty="0">
                          <a:latin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57DEB6-1ECA-7FA2-81CD-FBE3030AC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003" y="5099797"/>
                <a:ext cx="2491486" cy="830997"/>
              </a:xfrm>
              <a:prstGeom prst="rect">
                <a:avLst/>
              </a:prstGeom>
              <a:blipFill>
                <a:blip r:embed="rId6"/>
                <a:stretch>
                  <a:fillRect l="-508" b="-4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359FB3B1-E3FC-91A2-86B3-13C525A6F19C}"/>
              </a:ext>
            </a:extLst>
          </p:cNvPr>
          <p:cNvCxnSpPr/>
          <p:nvPr/>
        </p:nvCxnSpPr>
        <p:spPr>
          <a:xfrm>
            <a:off x="1544003" y="4784503"/>
            <a:ext cx="841047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BEB163E6-78CB-7118-C48F-D4E330315086}"/>
              </a:ext>
            </a:extLst>
          </p:cNvPr>
          <p:cNvCxnSpPr>
            <a:cxnSpLocks/>
          </p:cNvCxnSpPr>
          <p:nvPr/>
        </p:nvCxnSpPr>
        <p:spPr>
          <a:xfrm>
            <a:off x="4627491" y="5026405"/>
            <a:ext cx="0" cy="97778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1E5B989D-ED20-D8E8-3DC2-4C48FBB6C4F7}"/>
              </a:ext>
            </a:extLst>
          </p:cNvPr>
          <p:cNvCxnSpPr>
            <a:cxnSpLocks/>
          </p:cNvCxnSpPr>
          <p:nvPr/>
        </p:nvCxnSpPr>
        <p:spPr>
          <a:xfrm>
            <a:off x="7564509" y="5026405"/>
            <a:ext cx="0" cy="97778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05394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93FF8-5CE6-941E-281E-CC4B85712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F72113D-786B-C89F-7B8E-E5121C959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Linear State Space Layer(LSSL): Dimension</a:t>
            </a:r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F8DEC5B-C935-8AE9-0C04-1A5BB8F59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DB9E5D-8A80-E337-672A-FBCCEAA3B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youtu.be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JjxBNBzDbNk?si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=-uXfWPjmshdfJd2s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1C36AD-0B9C-E237-7D12-CF327AA2DB69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DAF44F-3D68-5936-6F27-7BC79AF5D7B9}"/>
                  </a:ext>
                </a:extLst>
              </p:cNvPr>
              <p:cNvSpPr txBox="1"/>
              <p:nvPr/>
            </p:nvSpPr>
            <p:spPr>
              <a:xfrm>
                <a:off x="7890855" y="4898427"/>
                <a:ext cx="2524589" cy="1219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DAF44F-3D68-5936-6F27-7BC79AF5D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855" y="4898427"/>
                <a:ext cx="2524589" cy="1219949"/>
              </a:xfrm>
              <a:prstGeom prst="rect">
                <a:avLst/>
              </a:prstGeom>
              <a:blipFill>
                <a:blip r:embed="rId3"/>
                <a:stretch>
                  <a:fillRect l="-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A6445AE-5EA6-E391-D96F-3047B5AA83A1}"/>
                  </a:ext>
                </a:extLst>
              </p:cNvPr>
              <p:cNvSpPr txBox="1"/>
              <p:nvPr/>
            </p:nvSpPr>
            <p:spPr>
              <a:xfrm>
                <a:off x="5085807" y="4915131"/>
                <a:ext cx="2020386" cy="1213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p>
                      </m:sSup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A6445AE-5EA6-E391-D96F-3047B5AA8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807" y="4915131"/>
                <a:ext cx="2020386" cy="1213409"/>
              </a:xfrm>
              <a:prstGeom prst="rect">
                <a:avLst/>
              </a:prstGeom>
              <a:blipFill>
                <a:blip r:embed="rId4"/>
                <a:stretch>
                  <a:fillRect l="-1250" b="-30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CAE382D-D028-0614-95B6-7196FBB7767E}"/>
                  </a:ext>
                </a:extLst>
              </p:cNvPr>
              <p:cNvSpPr txBox="1"/>
              <p:nvPr/>
            </p:nvSpPr>
            <p:spPr>
              <a:xfrm>
                <a:off x="1544003" y="5099797"/>
                <a:ext cx="249148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24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sz="2400" i="0" dirty="0">
                          <a:latin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CAE382D-D028-0614-95B6-7196FBB77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003" y="5099797"/>
                <a:ext cx="2491486" cy="830997"/>
              </a:xfrm>
              <a:prstGeom prst="rect">
                <a:avLst/>
              </a:prstGeom>
              <a:blipFill>
                <a:blip r:embed="rId5"/>
                <a:stretch>
                  <a:fillRect l="-508" b="-4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907EE673-7497-0F16-08AA-6539211B1A32}"/>
              </a:ext>
            </a:extLst>
          </p:cNvPr>
          <p:cNvCxnSpPr/>
          <p:nvPr/>
        </p:nvCxnSpPr>
        <p:spPr>
          <a:xfrm>
            <a:off x="1544003" y="4784503"/>
            <a:ext cx="841047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254C79A6-0829-639C-D9AF-78F573484EF4}"/>
              </a:ext>
            </a:extLst>
          </p:cNvPr>
          <p:cNvCxnSpPr>
            <a:cxnSpLocks/>
          </p:cNvCxnSpPr>
          <p:nvPr/>
        </p:nvCxnSpPr>
        <p:spPr>
          <a:xfrm>
            <a:off x="4627491" y="5026405"/>
            <a:ext cx="0" cy="97778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7519B8BF-5528-FCA2-1C5A-0F9EA5873229}"/>
              </a:ext>
            </a:extLst>
          </p:cNvPr>
          <p:cNvCxnSpPr>
            <a:cxnSpLocks/>
          </p:cNvCxnSpPr>
          <p:nvPr/>
        </p:nvCxnSpPr>
        <p:spPr>
          <a:xfrm>
            <a:off x="7564509" y="5026405"/>
            <a:ext cx="0" cy="97778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C9475256-C5DE-B958-D674-A945EBD86F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1300" y="2263639"/>
            <a:ext cx="8035876" cy="233072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46F23D7-6ACD-EB6F-3E1B-4327A885C7AE}"/>
              </a:ext>
            </a:extLst>
          </p:cNvPr>
          <p:cNvSpPr/>
          <p:nvPr/>
        </p:nvSpPr>
        <p:spPr>
          <a:xfrm>
            <a:off x="2586446" y="2263639"/>
            <a:ext cx="1553546" cy="3831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83412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08A9F-57C1-2F68-85AC-FBA480CB1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8A12A3F-076B-AB5C-FE55-542E86FB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Linear State Space Layer(LSSL): Dimension</a:t>
            </a:r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968F9F0-7F49-6BCE-BDBE-1D32ADFF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B8AB95-09CD-6AE5-1431-9E4F99CB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youtu.be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JjxBNBzDbNk?si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=-uXfWPjmshdfJd2s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3C2CB5-7495-5020-56D4-9BDB4EBE61A4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B2150C-ABB3-404E-E70A-59139A448B52}"/>
                  </a:ext>
                </a:extLst>
              </p:cNvPr>
              <p:cNvSpPr txBox="1"/>
              <p:nvPr/>
            </p:nvSpPr>
            <p:spPr>
              <a:xfrm>
                <a:off x="7890855" y="4898427"/>
                <a:ext cx="2655222" cy="1219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240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24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acc>
                        </m:e>
                        <m:sub>
                          <m: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ko-KR" sz="24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kumimoji="1" lang="en-US" altLang="ko-KR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B2150C-ABB3-404E-E70A-59139A448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855" y="4898427"/>
                <a:ext cx="2655222" cy="1219949"/>
              </a:xfrm>
              <a:prstGeom prst="rect">
                <a:avLst/>
              </a:prstGeom>
              <a:blipFill>
                <a:blip r:embed="rId3"/>
                <a:stretch>
                  <a:fillRect l="-4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720F742-535A-ACEB-88BE-FFA987489CF9}"/>
                  </a:ext>
                </a:extLst>
              </p:cNvPr>
              <p:cNvSpPr txBox="1"/>
              <p:nvPr/>
            </p:nvSpPr>
            <p:spPr>
              <a:xfrm>
                <a:off x="1544003" y="5099797"/>
                <a:ext cx="249148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24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sz="2400" i="0" dirty="0">
                          <a:latin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720F742-535A-ACEB-88BE-FFA987489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003" y="5099797"/>
                <a:ext cx="2491486" cy="830997"/>
              </a:xfrm>
              <a:prstGeom prst="rect">
                <a:avLst/>
              </a:prstGeom>
              <a:blipFill>
                <a:blip r:embed="rId4"/>
                <a:stretch>
                  <a:fillRect l="-508" b="-4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D0B1D8CB-6DBC-461A-0839-CD25461AE3CB}"/>
              </a:ext>
            </a:extLst>
          </p:cNvPr>
          <p:cNvCxnSpPr/>
          <p:nvPr/>
        </p:nvCxnSpPr>
        <p:spPr>
          <a:xfrm>
            <a:off x="1544003" y="4784503"/>
            <a:ext cx="841047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8CB7C890-D275-82BE-F829-286FFE59C083}"/>
              </a:ext>
            </a:extLst>
          </p:cNvPr>
          <p:cNvCxnSpPr>
            <a:cxnSpLocks/>
          </p:cNvCxnSpPr>
          <p:nvPr/>
        </p:nvCxnSpPr>
        <p:spPr>
          <a:xfrm>
            <a:off x="4627491" y="5026405"/>
            <a:ext cx="0" cy="97778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8DAC812A-7056-4025-7FAB-9BAB30DAED73}"/>
              </a:ext>
            </a:extLst>
          </p:cNvPr>
          <p:cNvCxnSpPr>
            <a:cxnSpLocks/>
          </p:cNvCxnSpPr>
          <p:nvPr/>
        </p:nvCxnSpPr>
        <p:spPr>
          <a:xfrm>
            <a:off x="7564509" y="5026405"/>
            <a:ext cx="0" cy="97778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6A2DD59A-DA1D-ECE0-73DA-8F9A4E6B74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1300" y="2364546"/>
            <a:ext cx="8035876" cy="212890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841F058-82FF-979E-77CE-E2BC30B7F691}"/>
              </a:ext>
            </a:extLst>
          </p:cNvPr>
          <p:cNvSpPr/>
          <p:nvPr/>
        </p:nvSpPr>
        <p:spPr>
          <a:xfrm>
            <a:off x="2586446" y="2263639"/>
            <a:ext cx="1553546" cy="3831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625CFD-2F20-A9E9-2B36-64266C4315CC}"/>
                  </a:ext>
                </a:extLst>
              </p:cNvPr>
              <p:cNvSpPr txBox="1"/>
              <p:nvPr/>
            </p:nvSpPr>
            <p:spPr>
              <a:xfrm>
                <a:off x="5085807" y="4915131"/>
                <a:ext cx="2020386" cy="1262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625CFD-2F20-A9E9-2B36-64266C431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807" y="4915131"/>
                <a:ext cx="2020386" cy="1262333"/>
              </a:xfrm>
              <a:prstGeom prst="rect">
                <a:avLst/>
              </a:prstGeom>
              <a:blipFill>
                <a:blip r:embed="rId6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08674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1D548-B44C-EBF4-42A1-4AE899C8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C84A819-17FB-4F4F-ABF9-20B46E5F3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Linear State Space Layer(LSSL): Dimension</a:t>
            </a:r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4141EB9-264A-446F-3BE9-1A01AECC4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0E11F2A-3512-7882-9233-5969EBA1E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youtu.be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JjxBNBzDbNk?si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=-uXfWPjmshdfJd2s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B56228-E056-0B91-BC5B-E2D036F36F72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05F14C3-0581-CA41-2BF2-237BD82451B8}"/>
                  </a:ext>
                </a:extLst>
              </p:cNvPr>
              <p:cNvSpPr txBox="1"/>
              <p:nvPr/>
            </p:nvSpPr>
            <p:spPr>
              <a:xfrm>
                <a:off x="1544003" y="5099797"/>
                <a:ext cx="249148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24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sz="2400" i="0" dirty="0">
                          <a:latin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05F14C3-0581-CA41-2BF2-237BD8245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003" y="5099797"/>
                <a:ext cx="2491486" cy="830997"/>
              </a:xfrm>
              <a:prstGeom prst="rect">
                <a:avLst/>
              </a:prstGeom>
              <a:blipFill>
                <a:blip r:embed="rId3"/>
                <a:stretch>
                  <a:fillRect l="-508" b="-4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4A8B7098-B7E4-A2DA-1ECF-2D7DC1AD5963}"/>
              </a:ext>
            </a:extLst>
          </p:cNvPr>
          <p:cNvCxnSpPr/>
          <p:nvPr/>
        </p:nvCxnSpPr>
        <p:spPr>
          <a:xfrm>
            <a:off x="1544003" y="4784503"/>
            <a:ext cx="841047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DC889DB6-2278-4042-B3D8-6B2D9F1B6344}"/>
              </a:ext>
            </a:extLst>
          </p:cNvPr>
          <p:cNvCxnSpPr>
            <a:cxnSpLocks/>
          </p:cNvCxnSpPr>
          <p:nvPr/>
        </p:nvCxnSpPr>
        <p:spPr>
          <a:xfrm>
            <a:off x="4627491" y="5026405"/>
            <a:ext cx="0" cy="97778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A430D524-F365-977D-57AD-7069FF1EAC9C}"/>
              </a:ext>
            </a:extLst>
          </p:cNvPr>
          <p:cNvCxnSpPr>
            <a:cxnSpLocks/>
          </p:cNvCxnSpPr>
          <p:nvPr/>
        </p:nvCxnSpPr>
        <p:spPr>
          <a:xfrm>
            <a:off x="7564509" y="5026405"/>
            <a:ext cx="0" cy="97778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B0BCFF4B-31C1-83D4-A64B-3FF69578A3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4780" y="2364546"/>
            <a:ext cx="7528915" cy="212890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25383AD-3037-7E1E-4A34-AF1AAC78E2E9}"/>
              </a:ext>
            </a:extLst>
          </p:cNvPr>
          <p:cNvSpPr/>
          <p:nvPr/>
        </p:nvSpPr>
        <p:spPr>
          <a:xfrm>
            <a:off x="2586446" y="2263639"/>
            <a:ext cx="1553546" cy="3831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A00A49-40FB-B680-92FC-C3A18F8C6EE1}"/>
                  </a:ext>
                </a:extLst>
              </p:cNvPr>
              <p:cNvSpPr txBox="1"/>
              <p:nvPr/>
            </p:nvSpPr>
            <p:spPr>
              <a:xfrm>
                <a:off x="5085807" y="4915131"/>
                <a:ext cx="2020386" cy="1262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A00A49-40FB-B680-92FC-C3A18F8C6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807" y="4915131"/>
                <a:ext cx="2020386" cy="1262333"/>
              </a:xfrm>
              <a:prstGeom prst="rect">
                <a:avLst/>
              </a:prstGeom>
              <a:blipFill>
                <a:blip r:embed="rId5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70C72-3783-15DD-3A8A-9FC4B935162D}"/>
                  </a:ext>
                </a:extLst>
              </p:cNvPr>
              <p:cNvSpPr txBox="1"/>
              <p:nvPr/>
            </p:nvSpPr>
            <p:spPr>
              <a:xfrm>
                <a:off x="7890855" y="4898427"/>
                <a:ext cx="2655222" cy="1219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240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24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acc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ko-KR" sz="24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kumimoji="1" lang="en-US" altLang="ko-K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70C72-3783-15DD-3A8A-9FC4B9351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855" y="4898427"/>
                <a:ext cx="2655222" cy="1219949"/>
              </a:xfrm>
              <a:prstGeom prst="rect">
                <a:avLst/>
              </a:prstGeom>
              <a:blipFill>
                <a:blip r:embed="rId6"/>
                <a:stretch>
                  <a:fillRect l="-4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82731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A3063-713A-C478-7DF7-1FDD2B0B4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307A55E-4DD5-C6B5-8AC6-4D987FD35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Linear State Space Layer(LSSL): Dimension</a:t>
            </a:r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DF055A2-D2E9-C606-DCDE-A00D802A7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8DAAB2-C285-206B-1D19-14395101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youtu.be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JjxBNBzDbNk?si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=-uXfWPjmshdfJd2s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736291-9BBB-E07E-2D66-21AB80451CC0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60F756A-B1FB-D7FE-225E-E0A8D300FE7A}"/>
                  </a:ext>
                </a:extLst>
              </p:cNvPr>
              <p:cNvSpPr txBox="1"/>
              <p:nvPr/>
            </p:nvSpPr>
            <p:spPr>
              <a:xfrm>
                <a:off x="1544003" y="5099797"/>
                <a:ext cx="249148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24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sz="2400" i="0" dirty="0">
                          <a:latin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60F756A-B1FB-D7FE-225E-E0A8D300F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003" y="5099797"/>
                <a:ext cx="2491486" cy="830997"/>
              </a:xfrm>
              <a:prstGeom prst="rect">
                <a:avLst/>
              </a:prstGeom>
              <a:blipFill>
                <a:blip r:embed="rId3"/>
                <a:stretch>
                  <a:fillRect l="-508" b="-4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85D10861-746A-9D87-7D56-60BD80E56804}"/>
              </a:ext>
            </a:extLst>
          </p:cNvPr>
          <p:cNvCxnSpPr/>
          <p:nvPr/>
        </p:nvCxnSpPr>
        <p:spPr>
          <a:xfrm>
            <a:off x="1544003" y="4784503"/>
            <a:ext cx="841047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D03171E9-5FB7-F1AB-6CA8-4B534D691072}"/>
              </a:ext>
            </a:extLst>
          </p:cNvPr>
          <p:cNvCxnSpPr>
            <a:cxnSpLocks/>
          </p:cNvCxnSpPr>
          <p:nvPr/>
        </p:nvCxnSpPr>
        <p:spPr>
          <a:xfrm>
            <a:off x="4627491" y="5026405"/>
            <a:ext cx="0" cy="97778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FAD5A497-E4D7-7220-AAE4-F3023254A660}"/>
              </a:ext>
            </a:extLst>
          </p:cNvPr>
          <p:cNvCxnSpPr>
            <a:cxnSpLocks/>
          </p:cNvCxnSpPr>
          <p:nvPr/>
        </p:nvCxnSpPr>
        <p:spPr>
          <a:xfrm>
            <a:off x="7564509" y="5026405"/>
            <a:ext cx="0" cy="97778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1151BB58-BA68-9759-E0C9-5B7AC3236C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4780" y="2379840"/>
            <a:ext cx="7528915" cy="209831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D707CF4-1D85-47D5-5A26-0DA15F943188}"/>
              </a:ext>
            </a:extLst>
          </p:cNvPr>
          <p:cNvSpPr/>
          <p:nvPr/>
        </p:nvSpPr>
        <p:spPr>
          <a:xfrm>
            <a:off x="2586446" y="2263639"/>
            <a:ext cx="1553546" cy="3831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297B9B-1926-B2CF-397D-2DF3CA366A91}"/>
                  </a:ext>
                </a:extLst>
              </p:cNvPr>
              <p:cNvSpPr txBox="1"/>
              <p:nvPr/>
            </p:nvSpPr>
            <p:spPr>
              <a:xfrm>
                <a:off x="4774259" y="4915131"/>
                <a:ext cx="2643482" cy="1262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297B9B-1926-B2CF-397D-2DF3CA366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4259" y="4915131"/>
                <a:ext cx="2643482" cy="1262333"/>
              </a:xfrm>
              <a:prstGeom prst="rect">
                <a:avLst/>
              </a:prstGeom>
              <a:blipFill>
                <a:blip r:embed="rId5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DCDDBF-612E-7860-910E-67359648E7F2}"/>
                  </a:ext>
                </a:extLst>
              </p:cNvPr>
              <p:cNvSpPr txBox="1"/>
              <p:nvPr/>
            </p:nvSpPr>
            <p:spPr>
              <a:xfrm>
                <a:off x="7890854" y="4898427"/>
                <a:ext cx="2663929" cy="1201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240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24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acc>
                        </m:e>
                        <m:sub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ko-KR" sz="24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DCDDBF-612E-7860-910E-67359648E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854" y="4898427"/>
                <a:ext cx="2663929" cy="1201098"/>
              </a:xfrm>
              <a:prstGeom prst="rect">
                <a:avLst/>
              </a:prstGeom>
              <a:blipFill>
                <a:blip r:embed="rId6"/>
                <a:stretch>
                  <a:fillRect l="-476" b="-10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47690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37226-746C-AFFC-DFA0-6A21D00F3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69DC575-A248-2984-1F8F-3961FB3A3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Linear State Space Layer(LSSL): Dimension</a:t>
            </a:r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0F495C9-26C4-CDD8-24ED-022B9B98E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6A3F391-70B1-315D-5D20-5D1CA5B7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youtu.be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JjxBNBzDbNk?si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=-uXfWPjmshdfJd2s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09A5E5-25F5-9BA0-9BF3-C4A68BB3C992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87F4C40-B215-3C50-B05D-9CD6572075B5}"/>
                  </a:ext>
                </a:extLst>
              </p:cNvPr>
              <p:cNvSpPr txBox="1"/>
              <p:nvPr/>
            </p:nvSpPr>
            <p:spPr>
              <a:xfrm>
                <a:off x="1544003" y="5099797"/>
                <a:ext cx="249148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24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sz="2400" i="0" dirty="0">
                          <a:latin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87F4C40-B215-3C50-B05D-9CD657207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003" y="5099797"/>
                <a:ext cx="2491486" cy="830997"/>
              </a:xfrm>
              <a:prstGeom prst="rect">
                <a:avLst/>
              </a:prstGeom>
              <a:blipFill>
                <a:blip r:embed="rId3"/>
                <a:stretch>
                  <a:fillRect l="-508" b="-4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FEF9ECE4-7F99-57E0-4717-67AFFDF84E4D}"/>
              </a:ext>
            </a:extLst>
          </p:cNvPr>
          <p:cNvCxnSpPr/>
          <p:nvPr/>
        </p:nvCxnSpPr>
        <p:spPr>
          <a:xfrm>
            <a:off x="1544003" y="4784503"/>
            <a:ext cx="841047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2CEE3B79-3C90-7B83-4AE3-C327DD388B60}"/>
              </a:ext>
            </a:extLst>
          </p:cNvPr>
          <p:cNvCxnSpPr>
            <a:cxnSpLocks/>
          </p:cNvCxnSpPr>
          <p:nvPr/>
        </p:nvCxnSpPr>
        <p:spPr>
          <a:xfrm>
            <a:off x="4627491" y="5026405"/>
            <a:ext cx="0" cy="97778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79C25ACE-4812-4EEB-F25D-CC1AA4A8AC8E}"/>
              </a:ext>
            </a:extLst>
          </p:cNvPr>
          <p:cNvCxnSpPr>
            <a:cxnSpLocks/>
          </p:cNvCxnSpPr>
          <p:nvPr/>
        </p:nvCxnSpPr>
        <p:spPr>
          <a:xfrm>
            <a:off x="7564509" y="5026405"/>
            <a:ext cx="0" cy="97778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22EAAA09-8B80-99AD-9C56-EB66585945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4780" y="2417990"/>
            <a:ext cx="7528915" cy="202201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351E29B-9F46-5024-A9F3-3B323D207147}"/>
              </a:ext>
            </a:extLst>
          </p:cNvPr>
          <p:cNvSpPr/>
          <p:nvPr/>
        </p:nvSpPr>
        <p:spPr>
          <a:xfrm>
            <a:off x="2586446" y="2263639"/>
            <a:ext cx="1553546" cy="3831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EDFA93-50D3-A01C-B033-3F938E5B3DFB}"/>
                  </a:ext>
                </a:extLst>
              </p:cNvPr>
              <p:cNvSpPr txBox="1"/>
              <p:nvPr/>
            </p:nvSpPr>
            <p:spPr>
              <a:xfrm>
                <a:off x="7890854" y="4898427"/>
                <a:ext cx="2663929" cy="1201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240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24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acc>
                        </m:e>
                        <m:sub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ko-KR" sz="24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EDFA93-50D3-A01C-B033-3F938E5B3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854" y="4898427"/>
                <a:ext cx="2663929" cy="1201098"/>
              </a:xfrm>
              <a:prstGeom prst="rect">
                <a:avLst/>
              </a:prstGeom>
              <a:blipFill>
                <a:blip r:embed="rId5"/>
                <a:stretch>
                  <a:fillRect l="-476" b="-10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EC0888-6F4A-2C9B-4E59-ADB5F11B359A}"/>
                  </a:ext>
                </a:extLst>
              </p:cNvPr>
              <p:cNvSpPr txBox="1"/>
              <p:nvPr/>
            </p:nvSpPr>
            <p:spPr>
              <a:xfrm>
                <a:off x="4774259" y="4915131"/>
                <a:ext cx="2643482" cy="1262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EC0888-6F4A-2C9B-4E59-ADB5F11B3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4259" y="4915131"/>
                <a:ext cx="2643482" cy="1262333"/>
              </a:xfrm>
              <a:prstGeom prst="rect">
                <a:avLst/>
              </a:prstGeom>
              <a:blipFill>
                <a:blip r:embed="rId6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85636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5E64D-DE9B-E9E2-3760-F7CAED562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BA1030-7802-F064-F89A-9CF63C0B4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Linear State Space Layer(LSSL): Dimension</a:t>
            </a:r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941ADDD-34E1-90A0-F9B7-461B646AC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8B88D1-E667-2A41-3A79-E46022DD3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youtu.be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JjxBNBzDbNk?si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=-uXfWPjmshdfJd2s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915AE0-234D-0CE2-5DEB-A290809C9AF0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556407-C1E3-0552-6448-0EDE59A8E2AB}"/>
                  </a:ext>
                </a:extLst>
              </p:cNvPr>
              <p:cNvSpPr txBox="1"/>
              <p:nvPr/>
            </p:nvSpPr>
            <p:spPr>
              <a:xfrm>
                <a:off x="7890855" y="4898427"/>
                <a:ext cx="2524589" cy="1219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p>
                      </m:sSup>
                    </m:oMath>
                  </m:oMathPara>
                </a14:m>
                <a:endParaRPr kumimoji="1" lang="en-US" altLang="ko-KR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556407-C1E3-0552-6448-0EDE59A8E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855" y="4898427"/>
                <a:ext cx="2524589" cy="1219949"/>
              </a:xfrm>
              <a:prstGeom prst="rect">
                <a:avLst/>
              </a:prstGeom>
              <a:blipFill>
                <a:blip r:embed="rId3"/>
                <a:stretch>
                  <a:fillRect l="-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EA5E2A-4621-D7F4-F795-0B741767E14A}"/>
                  </a:ext>
                </a:extLst>
              </p:cNvPr>
              <p:cNvSpPr txBox="1"/>
              <p:nvPr/>
            </p:nvSpPr>
            <p:spPr>
              <a:xfrm>
                <a:off x="5085807" y="4915131"/>
                <a:ext cx="2020386" cy="1213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ko-KR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p>
                      </m:sSup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EA5E2A-4621-D7F4-F795-0B741767E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807" y="4915131"/>
                <a:ext cx="2020386" cy="1213409"/>
              </a:xfrm>
              <a:prstGeom prst="rect">
                <a:avLst/>
              </a:prstGeom>
              <a:blipFill>
                <a:blip r:embed="rId4"/>
                <a:stretch>
                  <a:fillRect l="-1250" b="-30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3DF2B5B-0E21-0614-3367-663E23ECDB3D}"/>
                  </a:ext>
                </a:extLst>
              </p:cNvPr>
              <p:cNvSpPr txBox="1"/>
              <p:nvPr/>
            </p:nvSpPr>
            <p:spPr>
              <a:xfrm>
                <a:off x="1544003" y="5099797"/>
                <a:ext cx="249148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ko-KR" sz="24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24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sz="2400" i="0" dirty="0">
                          <a:latin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ko-KR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3DF2B5B-0E21-0614-3367-663E23ECD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003" y="5099797"/>
                <a:ext cx="2491486" cy="830997"/>
              </a:xfrm>
              <a:prstGeom prst="rect">
                <a:avLst/>
              </a:prstGeom>
              <a:blipFill>
                <a:blip r:embed="rId5"/>
                <a:stretch>
                  <a:fillRect l="-508" b="-4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9E1E7141-33B0-555D-9B85-B5EA4337C300}"/>
              </a:ext>
            </a:extLst>
          </p:cNvPr>
          <p:cNvCxnSpPr/>
          <p:nvPr/>
        </p:nvCxnSpPr>
        <p:spPr>
          <a:xfrm>
            <a:off x="1544003" y="4784503"/>
            <a:ext cx="841047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97D57926-551C-E0E7-33B9-901A5266A3E4}"/>
              </a:ext>
            </a:extLst>
          </p:cNvPr>
          <p:cNvCxnSpPr>
            <a:cxnSpLocks/>
          </p:cNvCxnSpPr>
          <p:nvPr/>
        </p:nvCxnSpPr>
        <p:spPr>
          <a:xfrm>
            <a:off x="4627491" y="5026405"/>
            <a:ext cx="0" cy="97778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1A131232-3FDF-729C-029D-101DFDCFDF01}"/>
              </a:ext>
            </a:extLst>
          </p:cNvPr>
          <p:cNvCxnSpPr>
            <a:cxnSpLocks/>
          </p:cNvCxnSpPr>
          <p:nvPr/>
        </p:nvCxnSpPr>
        <p:spPr>
          <a:xfrm>
            <a:off x="7564509" y="5026405"/>
            <a:ext cx="0" cy="97778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91C0A954-8BBC-19C7-C51A-6E3535B198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1300" y="2263639"/>
            <a:ext cx="8035876" cy="233072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CBD3075-B910-E30B-2DD2-95E81C9D2467}"/>
              </a:ext>
            </a:extLst>
          </p:cNvPr>
          <p:cNvSpPr/>
          <p:nvPr/>
        </p:nvSpPr>
        <p:spPr>
          <a:xfrm>
            <a:off x="2586446" y="2263639"/>
            <a:ext cx="1553546" cy="3831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41622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B5869-63CB-40EB-FD40-B094647B8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8670C12-74A7-0D69-F7C2-5008987DD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 err="1"/>
              <a:t>HiPPO</a:t>
            </a:r>
            <a:r>
              <a:rPr kumimoji="1" lang="en-US" altLang="ko-KR" dirty="0"/>
              <a:t>: </a:t>
            </a:r>
            <a:r>
              <a:rPr lang="en" altLang="ko-KR" dirty="0">
                <a:effectLst/>
              </a:rPr>
              <a:t>Hi</a:t>
            </a:r>
            <a:r>
              <a:rPr lang="en" altLang="ko-KR" dirty="0"/>
              <a:t>gh-order </a:t>
            </a:r>
            <a:r>
              <a:rPr lang="en" altLang="ko-KR" dirty="0">
                <a:effectLst/>
              </a:rPr>
              <a:t>P</a:t>
            </a:r>
            <a:r>
              <a:rPr lang="en" altLang="ko-KR" dirty="0"/>
              <a:t>olynomial </a:t>
            </a:r>
            <a:r>
              <a:rPr lang="en" altLang="ko-KR" dirty="0">
                <a:effectLst/>
              </a:rPr>
              <a:t>P</a:t>
            </a:r>
            <a:r>
              <a:rPr lang="en" altLang="ko-KR" dirty="0"/>
              <a:t>rojection </a:t>
            </a:r>
            <a:r>
              <a:rPr lang="en" altLang="ko-KR" dirty="0">
                <a:effectLst/>
              </a:rPr>
              <a:t>O</a:t>
            </a:r>
            <a:r>
              <a:rPr lang="en" altLang="ko-KR" dirty="0"/>
              <a:t>perators</a:t>
            </a:r>
            <a:endParaRPr kumimoji="1" lang="en-US" altLang="ko-KR" dirty="0"/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lvl="1"/>
            <a:r>
              <a:rPr kumimoji="1" lang="en-US" altLang="ko-KR" dirty="0">
                <a:latin typeface="Corbel" panose="020B0503020204020204" pitchFamily="34" charset="0"/>
              </a:rPr>
              <a:t>A matrix</a:t>
            </a:r>
          </a:p>
          <a:p>
            <a:pPr lvl="2" indent="-342900"/>
            <a:r>
              <a:rPr kumimoji="1" lang="en-US" altLang="ko-KR" dirty="0">
                <a:latin typeface="Corbel" panose="020B0503020204020204" pitchFamily="34" charset="0"/>
              </a:rPr>
              <a:t>Update memory</a:t>
            </a:r>
          </a:p>
          <a:p>
            <a:pPr lvl="2" indent="-342900"/>
            <a:r>
              <a:rPr kumimoji="1" lang="en" altLang="ko-KR" dirty="0">
                <a:latin typeface="Corbel" panose="020B0503020204020204" pitchFamily="34" charset="0"/>
              </a:rPr>
              <a:t>Unstable</a:t>
            </a:r>
            <a:r>
              <a:rPr kumimoji="1" lang="en-US" altLang="ko-KR" dirty="0">
                <a:latin typeface="Corbel" panose="020B0503020204020204" pitchFamily="34" charset="0"/>
              </a:rPr>
              <a:t> gradient</a:t>
            </a:r>
            <a:endParaRPr kumimoji="1" lang="ko-KR" altLang="en-US" dirty="0">
              <a:latin typeface="Corbel" panose="020B0503020204020204" pitchFamily="34" charset="0"/>
            </a:endParaRPr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06B0BFC-2600-D8E6-9655-2BB605E60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115648-B0A5-EE01-6679-F87A377E5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6BA2F4-D6A5-FC9C-6869-9FF5179DA88D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4520301-404C-F31B-D9C8-45BBD216B676}"/>
              </a:ext>
            </a:extLst>
          </p:cNvPr>
          <p:cNvSpPr/>
          <p:nvPr/>
        </p:nvSpPr>
        <p:spPr>
          <a:xfrm>
            <a:off x="2586446" y="2263639"/>
            <a:ext cx="1553546" cy="3831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5842" name="Picture 2">
            <a:extLst>
              <a:ext uri="{FF2B5EF4-FFF2-40B4-BE49-F238E27FC236}">
                <a16:creationId xmlns:a16="http://schemas.microsoft.com/office/drawing/2014/main" id="{3C7FA846-2D70-5FA5-3E8B-35DF0E685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345" y="2455227"/>
            <a:ext cx="8668378" cy="3741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2433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944B2-7119-5761-5A81-81B7D617C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608636C-8241-0FD5-A032-0781BABDC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 err="1"/>
              <a:t>HiPPO</a:t>
            </a:r>
            <a:r>
              <a:rPr kumimoji="1" lang="en-US" altLang="ko-KR" dirty="0"/>
              <a:t>: </a:t>
            </a:r>
            <a:r>
              <a:rPr lang="en" altLang="ko-KR" dirty="0">
                <a:effectLst/>
              </a:rPr>
              <a:t>Hi</a:t>
            </a:r>
            <a:r>
              <a:rPr lang="en" altLang="ko-KR" dirty="0"/>
              <a:t>gh-order </a:t>
            </a:r>
            <a:r>
              <a:rPr lang="en" altLang="ko-KR" dirty="0">
                <a:effectLst/>
              </a:rPr>
              <a:t>P</a:t>
            </a:r>
            <a:r>
              <a:rPr lang="en" altLang="ko-KR" dirty="0"/>
              <a:t>olynomial </a:t>
            </a:r>
            <a:r>
              <a:rPr lang="en" altLang="ko-KR" dirty="0">
                <a:effectLst/>
              </a:rPr>
              <a:t>P</a:t>
            </a:r>
            <a:r>
              <a:rPr lang="en" altLang="ko-KR" dirty="0"/>
              <a:t>rojection </a:t>
            </a:r>
            <a:r>
              <a:rPr lang="en" altLang="ko-KR" dirty="0">
                <a:effectLst/>
              </a:rPr>
              <a:t>O</a:t>
            </a:r>
            <a:r>
              <a:rPr lang="en" altLang="ko-KR" dirty="0"/>
              <a:t>perators</a:t>
            </a:r>
            <a:endParaRPr kumimoji="1" lang="en-US" altLang="ko-KR" b="0" dirty="0">
              <a:ea typeface="Cambria Math" panose="02040503050406030204" pitchFamily="18" charset="0"/>
            </a:endParaRPr>
          </a:p>
          <a:p>
            <a:pPr lvl="2" indent="-342900"/>
            <a:r>
              <a:rPr kumimoji="1" lang="en-US" altLang="ko-KR" dirty="0">
                <a:latin typeface="Corbel" panose="020B0503020204020204" pitchFamily="34" charset="0"/>
              </a:rPr>
              <a:t>Limited memory horizon</a:t>
            </a:r>
          </a:p>
          <a:p>
            <a:pPr lvl="2" indent="-342900"/>
            <a:r>
              <a:rPr kumimoji="1" lang="en-US" altLang="ko-KR" dirty="0">
                <a:latin typeface="Corbel" panose="020B0503020204020204" pitchFamily="34" charset="0"/>
              </a:rPr>
              <a:t>Vanishing gradients</a:t>
            </a:r>
            <a:endParaRPr kumimoji="1" lang="ko-KR" altLang="en-US" dirty="0">
              <a:latin typeface="Corbel" panose="020B0503020204020204" pitchFamily="34" charset="0"/>
            </a:endParaRPr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53F5105-31CD-CF66-BE91-973626A54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26C468-EF3E-3A0B-A482-E658C6AC9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9015" y="6356351"/>
            <a:ext cx="5673970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 err="1">
                <a:solidFill>
                  <a:srgbClr val="959595"/>
                </a:solidFill>
                <a:effectLst/>
              </a:rPr>
              <a:t>HiPPO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: Recurrent Memory with Optimal Polynomial Projections</a:t>
            </a:r>
          </a:p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velog.io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/@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euisuk-chung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/Structured-State-Space-Models-for-Deep-Sequence-Modeling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3C7012-A7D7-2AE1-484E-B86AD38B3429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5842" name="Picture 2">
            <a:extLst>
              <a:ext uri="{FF2B5EF4-FFF2-40B4-BE49-F238E27FC236}">
                <a16:creationId xmlns:a16="http://schemas.microsoft.com/office/drawing/2014/main" id="{7DA24270-3F1D-8D57-C315-56FA99A4B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17889" y="2572949"/>
            <a:ext cx="8158313" cy="3623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84811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D9026-6C6F-25E7-FD7A-A0A177E11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79DC922-6203-0F69-B006-105A7C503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 err="1"/>
              <a:t>HiPPO</a:t>
            </a:r>
            <a:r>
              <a:rPr kumimoji="1" lang="en-US" altLang="ko-KR" dirty="0"/>
              <a:t>: </a:t>
            </a:r>
            <a:r>
              <a:rPr lang="en" altLang="ko-KR" dirty="0">
                <a:effectLst/>
              </a:rPr>
              <a:t>Hi</a:t>
            </a:r>
            <a:r>
              <a:rPr lang="en" altLang="ko-KR" dirty="0"/>
              <a:t>gh-order </a:t>
            </a:r>
            <a:r>
              <a:rPr lang="en" altLang="ko-KR" dirty="0">
                <a:effectLst/>
              </a:rPr>
              <a:t>P</a:t>
            </a:r>
            <a:r>
              <a:rPr lang="en" altLang="ko-KR" dirty="0"/>
              <a:t>olynomial </a:t>
            </a:r>
            <a:r>
              <a:rPr lang="en" altLang="ko-KR" dirty="0">
                <a:effectLst/>
              </a:rPr>
              <a:t>P</a:t>
            </a:r>
            <a:r>
              <a:rPr lang="en" altLang="ko-KR" dirty="0"/>
              <a:t>rojection </a:t>
            </a:r>
            <a:r>
              <a:rPr lang="en" altLang="ko-KR" dirty="0">
                <a:effectLst/>
              </a:rPr>
              <a:t>O</a:t>
            </a:r>
            <a:r>
              <a:rPr lang="en" altLang="ko-KR" dirty="0"/>
              <a:t>perators</a:t>
            </a:r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6702C4C-0AA1-99A3-608D-2D9792360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D1C3C4-CF85-20A0-5965-3EFCC3463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9015" y="6356351"/>
            <a:ext cx="5673970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 err="1">
                <a:solidFill>
                  <a:srgbClr val="959595"/>
                </a:solidFill>
                <a:effectLst/>
              </a:rPr>
              <a:t>HiPPO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: Recurrent Memory with Optimal Polynomial Projections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53E191-15AC-8461-41B6-AAF202DA3C8C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6CD12B1-A050-DEA4-7100-CE7240E13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815" y="2284958"/>
            <a:ext cx="4607856" cy="379262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616BBBC1-60D4-BFC9-DAE6-74C8C9BEF43C}"/>
              </a:ext>
            </a:extLst>
          </p:cNvPr>
          <p:cNvGrpSpPr/>
          <p:nvPr/>
        </p:nvGrpSpPr>
        <p:grpSpPr>
          <a:xfrm>
            <a:off x="1092414" y="2895060"/>
            <a:ext cx="5349073" cy="2899620"/>
            <a:chOff x="6337160" y="2895060"/>
            <a:chExt cx="5349073" cy="289962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6E895D3-AEA2-575C-4E61-B0A123995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31179"/>
            <a:stretch/>
          </p:blipFill>
          <p:spPr>
            <a:xfrm>
              <a:off x="6337160" y="2895060"/>
              <a:ext cx="5349073" cy="144981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1F7F5EBD-E776-3741-7150-284D015AA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4596" r="-43417"/>
            <a:stretch/>
          </p:blipFill>
          <p:spPr>
            <a:xfrm>
              <a:off x="6337160" y="4344870"/>
              <a:ext cx="5349073" cy="14498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3628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F1993-CF74-09E7-ED2C-E4159837A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F3A2851-B207-BD64-944C-B706804CD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S4: </a:t>
            </a:r>
            <a:r>
              <a:rPr lang="en" altLang="ko-KR" dirty="0"/>
              <a:t>Structured State Spaces for Sequence modelling</a:t>
            </a:r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B13C74F-1928-EF39-A86B-7BB28A7BD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CDC7C8-3A05-951A-70B4-0E079F4F2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9015" y="6356351"/>
            <a:ext cx="5673970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youtu.be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JjxBNBzDbNk?si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=-uXfWPjmshdfJd2s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E6DC25-11EA-FBD3-79C7-18F3DFB4052A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AFC9E5-323A-0092-7620-F1C6D059B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843" y="2188131"/>
            <a:ext cx="9656314" cy="402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1830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FB30B-07EA-55FC-CDF8-0C2A08569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91E248C-B863-2FD8-632E-1A77A8DEF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S4: </a:t>
            </a:r>
            <a:r>
              <a:rPr lang="en" altLang="ko-KR" dirty="0"/>
              <a:t>Structured State Spaces for Sequence modelling</a:t>
            </a:r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A62E225-1C52-94C4-7D49-55A58BF41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85C70D-7424-344F-3D43-9252AD908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9015" y="6356351"/>
            <a:ext cx="5673970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youtu.be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JjxBNBzDbNk?si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=-uXfWPjmshdfJd2s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7131F1-00DD-F322-18BC-669FCF9B2529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9791C61-FF4D-B2F7-CAC8-16583850A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843" y="2188131"/>
            <a:ext cx="9656314" cy="4028834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D00B10E8-3855-92A7-DFDF-53AACB4DB000}"/>
              </a:ext>
            </a:extLst>
          </p:cNvPr>
          <p:cNvSpPr/>
          <p:nvPr/>
        </p:nvSpPr>
        <p:spPr>
          <a:xfrm>
            <a:off x="3376511" y="4800477"/>
            <a:ext cx="431814" cy="431814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D6A6ADA-78EB-CD75-FD82-2A5212BA9846}"/>
              </a:ext>
            </a:extLst>
          </p:cNvPr>
          <p:cNvSpPr/>
          <p:nvPr/>
        </p:nvSpPr>
        <p:spPr>
          <a:xfrm>
            <a:off x="6300580" y="4260501"/>
            <a:ext cx="881355" cy="881355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89193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BBDBE-6BB5-AAA9-2758-CBF665E20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68D5511-1A5E-13A7-1AA5-723852DDE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kumimoji="1" lang="en-US" altLang="ko-KR" dirty="0"/>
              <a:t>S4: </a:t>
            </a:r>
            <a:r>
              <a:rPr lang="en" altLang="ko-KR" dirty="0"/>
              <a:t>Structured State Spaces</a:t>
            </a:r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BFDB2CF-3AE3-E0F5-7688-DE24BCA66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BAA87C-5DD7-8B57-07B9-1B78349F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9015" y="6356351"/>
            <a:ext cx="5673970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On the Parameterization and Initialization of Diagonal State Space Models</a:t>
            </a:r>
          </a:p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Diagonal State Spaces are as Effective as Structured State Spaces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C3E097-8C79-8E52-C434-AB86F4D7D08D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3F6FE57-4E47-3C21-50B3-AFCA7AC17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331" y="2318228"/>
            <a:ext cx="4243338" cy="375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7690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48235-9884-DEDD-12D3-AD94C11BB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3C0D438-1D3A-43CB-89F6-61FF1245D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02D5FD2-7502-6B59-5769-61FDA4BE9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Mamba: Selective State Space Models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D32AE4-7CD1-FA87-E5C7-059C2611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9015" y="6356351"/>
            <a:ext cx="5673970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Mamba: Linear-Time Sequence Modeling with Selective State Spaces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7D41E5-A84D-DBC5-1E9E-D8494784BDF4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96BCD9-7169-0AC2-6A33-55EF40BC9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73" y="1659747"/>
            <a:ext cx="10637854" cy="398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4729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6CC5F-A3EC-66B8-4D91-A9E028BCF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B377705-5FF8-D958-BB3D-EDD26C981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Proposed Methods</a:t>
            </a:r>
          </a:p>
          <a:p>
            <a:pPr lvl="1"/>
            <a:r>
              <a:rPr kumimoji="1" lang="en-US" altLang="ko-KR" dirty="0"/>
              <a:t>Selection Mechanism</a:t>
            </a:r>
          </a:p>
          <a:p>
            <a:pPr lvl="2"/>
            <a:r>
              <a:rPr kumimoji="1" lang="en-US" altLang="ko-KR" dirty="0"/>
              <a:t>Selective Copying</a:t>
            </a:r>
          </a:p>
          <a:p>
            <a:pPr lvl="2"/>
            <a:r>
              <a:rPr kumimoji="1" lang="en-US" altLang="ko-KR" dirty="0"/>
              <a:t>Induction Heads</a:t>
            </a:r>
          </a:p>
          <a:p>
            <a:pPr lvl="1"/>
            <a:r>
              <a:rPr kumimoji="1" lang="en-US" altLang="ko-KR" dirty="0"/>
              <a:t>Hardware-aware Algorithm</a:t>
            </a:r>
          </a:p>
          <a:p>
            <a:pPr lvl="2"/>
            <a:r>
              <a:rPr kumimoji="1" lang="en-US" altLang="ko-KR" dirty="0"/>
              <a:t>Selective Scan</a:t>
            </a:r>
          </a:p>
          <a:p>
            <a:pPr lvl="1"/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74C9A11-9A1F-3B4A-F4F2-043E11125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Mamba: Selective State Space Models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CF122C-D2D2-3A51-D6F3-B12A4C6AB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9015" y="6356351"/>
            <a:ext cx="5673970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Mamba: Linear-Time Sequence Modeling with Selective State Spaces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E3DB9A-63A2-0151-0BE1-62D18632A3D3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78CA243-2DDE-AFBC-1641-23E96C9C4C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50901" r="50901"/>
          <a:stretch/>
        </p:blipFill>
        <p:spPr>
          <a:xfrm>
            <a:off x="0" y="1096170"/>
            <a:ext cx="10316308" cy="254142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9E6343B-5D4F-87C5-717E-B1C549038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/>
          <a:stretch/>
        </p:blipFill>
        <p:spPr>
          <a:xfrm>
            <a:off x="5158154" y="3429000"/>
            <a:ext cx="5158154" cy="254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269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71658-A55B-0574-89BF-15969B194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A55BFCD-9E15-2B67-257A-02F05EC04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Selection Mechanism</a:t>
            </a:r>
          </a:p>
          <a:p>
            <a:pPr lvl="1"/>
            <a:r>
              <a:rPr kumimoji="1" lang="en-US" altLang="ko-KR" dirty="0"/>
              <a:t>Selective Copying</a:t>
            </a:r>
          </a:p>
          <a:p>
            <a:pPr lvl="1"/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D546ED1-9960-904B-7EEA-047F52A1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Mamba: Selective State Space Models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AF9F73-67AA-8ACD-9980-DBC4CB01F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9015" y="6356351"/>
            <a:ext cx="5673970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200CD6-51C9-8BFE-BD93-60A5A7B07098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9938" name="Picture 2">
            <a:extLst>
              <a:ext uri="{FF2B5EF4-FFF2-40B4-BE49-F238E27FC236}">
                <a16:creationId xmlns:a16="http://schemas.microsoft.com/office/drawing/2014/main" id="{F9D9A635-014E-9B04-B58D-2D2DCAB8A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239" y="2821796"/>
            <a:ext cx="10359522" cy="2263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6922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06AD-3E09-2F69-C35B-E6462366A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F24070A-1E64-A412-9A69-EAE5D78DD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Selection Mechanism</a:t>
            </a:r>
          </a:p>
          <a:p>
            <a:pPr lvl="1"/>
            <a:r>
              <a:rPr kumimoji="1" lang="en-US" altLang="ko-KR" dirty="0"/>
              <a:t>Induction Heads</a:t>
            </a:r>
          </a:p>
          <a:p>
            <a:pPr lvl="2"/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FFACA55-4F40-267E-88A4-A9B24696D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Mamba: Selective State Space Models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8677EA-06FC-3B3D-6299-98A9230A7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9015" y="6356351"/>
            <a:ext cx="5673970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892CF8-F618-FAE8-A0C4-90E18898D605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9938" name="Picture 2">
            <a:extLst>
              <a:ext uri="{FF2B5EF4-FFF2-40B4-BE49-F238E27FC236}">
                <a16:creationId xmlns:a16="http://schemas.microsoft.com/office/drawing/2014/main" id="{4323143E-36FF-14C4-E815-CD21042A2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28237" y="2773345"/>
            <a:ext cx="9335526" cy="3273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00361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BE21D-8AD2-AF49-E8B4-0F4B51D5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2768D7-CF83-C8F6-6480-7C7BACD04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Selection Mechanism</a:t>
            </a:r>
          </a:p>
          <a:p>
            <a:pPr lvl="1"/>
            <a:r>
              <a:rPr kumimoji="1" lang="en-US" altLang="ko-KR" dirty="0"/>
              <a:t>Linear Time </a:t>
            </a:r>
            <a:r>
              <a:rPr kumimoji="1" lang="en-US" altLang="ko-KR" dirty="0" err="1"/>
              <a:t>Invarient</a:t>
            </a:r>
            <a:endParaRPr kumimoji="1" lang="en-US" altLang="ko-KR" dirty="0"/>
          </a:p>
          <a:p>
            <a:pPr lvl="2"/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3BEBBFA-0A44-473C-8D08-214908D07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Mamba: Selective State Space Models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EFCCCA-BB5F-D46D-0E23-A83AC74A9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9015" y="6356351"/>
            <a:ext cx="5673970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86197E-EAEF-293E-11DB-FC4A15B6B673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1986" name="Picture 2">
            <a:extLst>
              <a:ext uri="{FF2B5EF4-FFF2-40B4-BE49-F238E27FC236}">
                <a16:creationId xmlns:a16="http://schemas.microsoft.com/office/drawing/2014/main" id="{B8287B74-A2F4-539B-DBB8-2A69638B3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239" y="1659747"/>
            <a:ext cx="7952938" cy="4338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7204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49906-4EEC-7BFC-FCF7-857A562AE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F15357A-EF0F-6E07-79E2-B2ACBA928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Selection Mechanism</a:t>
            </a:r>
          </a:p>
          <a:p>
            <a:pPr lvl="1"/>
            <a:r>
              <a:rPr kumimoji="1" lang="en-US" altLang="ko-KR" dirty="0"/>
              <a:t>Linear Time </a:t>
            </a:r>
            <a:r>
              <a:rPr kumimoji="1" lang="en-US" altLang="ko-KR" dirty="0" err="1"/>
              <a:t>Invarient</a:t>
            </a:r>
            <a:endParaRPr kumimoji="1" lang="en-US" altLang="ko-KR" dirty="0"/>
          </a:p>
          <a:p>
            <a:pPr lvl="2"/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56495BA-2042-1AED-2846-D48FFBCFC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Mamba: Selective State Space Models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6D4074-4CAF-475A-049B-5998563B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9015" y="6356351"/>
            <a:ext cx="5673970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F69D7B-4A80-8D67-B8BB-2BE96CE6F8D4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1986" name="Picture 2">
            <a:extLst>
              <a:ext uri="{FF2B5EF4-FFF2-40B4-BE49-F238E27FC236}">
                <a16:creationId xmlns:a16="http://schemas.microsoft.com/office/drawing/2014/main" id="{2E1413D4-AA4D-2C3C-CD41-D6BE27705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119531" y="2827229"/>
            <a:ext cx="7952938" cy="272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11463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1C79-8844-6904-7529-1A3C80E0C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FCB215D-0441-4CA9-30D1-5A78127DB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Selection Mechanism</a:t>
            </a:r>
          </a:p>
          <a:p>
            <a:pPr lvl="1"/>
            <a:r>
              <a:rPr kumimoji="1" lang="en-US" altLang="ko-KR" dirty="0"/>
              <a:t>SSM + Selection + Scan (S6)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A375B5D-4644-D1F1-501A-4DAA3AEB3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Mamba: Selective State Space Models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4FCA0F-5DC3-6F31-E675-D46038BA2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9015" y="6356351"/>
            <a:ext cx="5673970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Mamba: Linear-Time Sequence Modeling with Selective State Spaces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1FD784-00C6-4B1B-C2FC-5353F5F6C716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1986" name="Picture 2">
            <a:extLst>
              <a:ext uri="{FF2B5EF4-FFF2-40B4-BE49-F238E27FC236}">
                <a16:creationId xmlns:a16="http://schemas.microsoft.com/office/drawing/2014/main" id="{4B7627A1-E105-B929-F8A3-930AA39F2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41797" y="2475454"/>
            <a:ext cx="10308406" cy="3074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BA12043-70F9-217E-CF88-CA0B265554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8619" b="-1796"/>
          <a:stretch/>
        </p:blipFill>
        <p:spPr>
          <a:xfrm>
            <a:off x="9491362" y="3893111"/>
            <a:ext cx="1661812" cy="21122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B8B542B-B6AC-27B5-1252-1C54BF48DA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495" r="56124" b="-1794"/>
          <a:stretch/>
        </p:blipFill>
        <p:spPr>
          <a:xfrm>
            <a:off x="9491362" y="4168208"/>
            <a:ext cx="1661812" cy="21122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3EAA963-4918-A52D-B44E-0C711BEBF2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034" r="20220" b="-1360"/>
          <a:stretch/>
        </p:blipFill>
        <p:spPr>
          <a:xfrm>
            <a:off x="9491362" y="4443305"/>
            <a:ext cx="2700638" cy="21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80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3D987-0C43-5824-65AA-213F50414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433FF5A-95AD-1234-9F9B-955BDAD7A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lang="en" altLang="ko-KR" b="0" i="0" dirty="0">
                <a:solidFill>
                  <a:srgbClr val="1F1F1F"/>
                </a:solidFill>
                <a:effectLst/>
              </a:rPr>
              <a:t>Discretization: Zero-Order Hold</a:t>
            </a:r>
          </a:p>
          <a:p>
            <a:pPr lvl="1"/>
            <a:endParaRPr kumimoji="1" lang="en-US" altLang="ko-KR" dirty="0"/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759A49E-B5E2-FD7E-2660-A4297984F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Mamba: Selective State Space Models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42CD8A-200C-2CD9-74B7-AB0B1DC2B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5F1B92-3CF7-6B27-E33E-E948E027F285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BB2F5A75-A1FD-AE8A-746A-C4793F0C0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29" y="2393811"/>
            <a:ext cx="10479742" cy="3319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42336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82926-B663-3634-7645-9AF13726B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10E8C79-AAF6-C98F-BDA8-DD10FC8E4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State Space Model</a:t>
            </a:r>
          </a:p>
          <a:p>
            <a:pPr lvl="1"/>
            <a:r>
              <a:rPr lang="en" altLang="ko-KR" b="0" i="0" dirty="0">
                <a:solidFill>
                  <a:srgbClr val="1F1F1F"/>
                </a:solidFill>
                <a:effectLst/>
              </a:rPr>
              <a:t>Discretization: Zero-Order Hold</a:t>
            </a:r>
          </a:p>
          <a:p>
            <a:pPr lvl="1"/>
            <a:endParaRPr kumimoji="1" lang="en-US" altLang="ko-KR" dirty="0"/>
          </a:p>
          <a:p>
            <a:pPr lvl="1"/>
            <a:endParaRPr kumimoji="1" lang="en-US" altLang="ko-KR" b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EC5E1F4-8E89-4BE3-8AA1-10E99A14C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Mamba: Selective State Space Models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A14798-E17E-2261-45FA-424712E0B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6519" y="6356351"/>
            <a:ext cx="625896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2D16C1-FD56-91B1-9C96-D405EB79BA81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22F06C94-5133-7E22-01AF-0474CD869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6129" y="3061011"/>
            <a:ext cx="10479742" cy="1985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250857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AA458-72CC-5FC3-28E5-A66D4A4FC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1BCACC9-31CF-F62A-F09F-E08F8CDF3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Selection Mechanism</a:t>
            </a:r>
          </a:p>
          <a:p>
            <a:pPr lvl="1"/>
            <a:r>
              <a:rPr kumimoji="1" lang="en-US" altLang="ko-KR" dirty="0"/>
              <a:t>SSM + Selection + Scan (S6)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60398CB-F210-7D0A-1E27-9429F0427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Mamba: Selective State Space Models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8134D0-4A19-ED08-8122-67BBA70BF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9015" y="6356351"/>
            <a:ext cx="5673970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Mamba: Linear-Time Sequence Modeling with Selective State Spaces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7D7FBF-8367-1B91-7657-EA98DFE2C449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41A3277-28BA-8006-48E1-AA78BA7FD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41797" y="2475454"/>
            <a:ext cx="10308406" cy="3074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90A61FF-B414-C465-4373-3D22FD219C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8619" b="-1796"/>
          <a:stretch/>
        </p:blipFill>
        <p:spPr>
          <a:xfrm>
            <a:off x="9491362" y="3893111"/>
            <a:ext cx="1661812" cy="21122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11530CC-E6E0-E6ED-092F-65BDCFFB6B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495" r="56124" b="-1794"/>
          <a:stretch/>
        </p:blipFill>
        <p:spPr>
          <a:xfrm>
            <a:off x="9491362" y="4168208"/>
            <a:ext cx="1661812" cy="21122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113703C-E352-0A6A-EAAD-83A3BA03BA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034" r="20220" b="-1360"/>
          <a:stretch/>
        </p:blipFill>
        <p:spPr>
          <a:xfrm>
            <a:off x="9491362" y="4443305"/>
            <a:ext cx="2700638" cy="210319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073C8DC-CB9B-1B4E-1792-C55AB70AE03A}"/>
              </a:ext>
            </a:extLst>
          </p:cNvPr>
          <p:cNvSpPr/>
          <p:nvPr/>
        </p:nvSpPr>
        <p:spPr>
          <a:xfrm>
            <a:off x="9491362" y="3893111"/>
            <a:ext cx="2700638" cy="8285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311881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34E87-836E-63FB-5D39-9D7658926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18F53BB7-669B-69D2-D14D-5A6A7049AC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-US" altLang="ko-KR" dirty="0"/>
                  <a:t>Selection Mechanism</a:t>
                </a:r>
              </a:p>
              <a:p>
                <a:pPr lvl="1"/>
                <a:r>
                  <a:rPr kumimoji="1" lang="en-US" altLang="ko-KR" dirty="0"/>
                  <a:t>SSM + Selection + Scan (S6)</a:t>
                </a:r>
              </a:p>
              <a:p>
                <a:pPr lvl="1"/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→0</m:t>
                    </m:r>
                  </m:oMath>
                </a14:m>
                <a:r>
                  <a:rPr kumimoji="1" lang="en-US" altLang="ko-KR" dirty="0"/>
                  <a:t>: persists the state and ignores the current input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kumimoji="1" lang="en-US" altLang="ko-KR" dirty="0"/>
                  <a:t>: resets the state and focuses on the current input</a:t>
                </a:r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18F53BB7-669B-69D2-D14D-5A6A7049AC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 b="-21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8E7C8F62-605C-FFF0-FD27-76273A49C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Mamba: Selective State Space Models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48BECD-28CA-42B4-3B72-9DB22FE63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9015" y="6356351"/>
            <a:ext cx="5673970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581C6D-B597-830C-8C73-3E6D6F619B7B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1BEA948-557A-8FC5-4EF1-36AD7FB12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6129" y="2698397"/>
            <a:ext cx="10479742" cy="1985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10046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666A2-228B-C60D-D28C-50C5F5E3B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5A5BA5B1-C588-9287-5A4E-3B54C02A37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-US" altLang="ko-KR" dirty="0"/>
                  <a:t>Selection Mechanism</a:t>
                </a:r>
              </a:p>
              <a:p>
                <a:pPr lvl="1"/>
                <a:r>
                  <a:rPr kumimoji="1" lang="en-US" altLang="ko-KR" dirty="0"/>
                  <a:t>SSM + Selection + Scan (S6)</a:t>
                </a:r>
              </a:p>
              <a:p>
                <a:pPr lvl="1"/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→0</m:t>
                    </m:r>
                  </m:oMath>
                </a14:m>
                <a:r>
                  <a:rPr kumimoji="1" lang="en-US" altLang="ko-KR" dirty="0"/>
                  <a:t>: persists the state and ignores the current input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kumimoji="1" lang="en-US" altLang="ko-KR" dirty="0"/>
                  <a:t>: resets the state and focuses on the current input</a:t>
                </a:r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5A5BA5B1-C588-9287-5A4E-3B54C02A37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 b="-21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39314D0B-56D5-1AD6-C67F-9908AB562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Mamba: Selective State Space Models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BAC63C5-B587-8357-6D61-FDC937313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9015" y="6356351"/>
            <a:ext cx="5673970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378C7C-1CE2-4549-A3C8-80401DC4CADD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4770959-CF4F-F102-FA6A-03A2511B4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6129" y="2698397"/>
            <a:ext cx="10479742" cy="1985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059297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DA653-07E2-FF09-BB2A-B39926574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E3F1BFD-159F-4BDB-C6DB-D69DCED3A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Selection Mechanism</a:t>
            </a:r>
          </a:p>
          <a:p>
            <a:pPr lvl="1"/>
            <a:r>
              <a:rPr kumimoji="1" lang="en-US" altLang="ko-KR" dirty="0"/>
              <a:t>Whole model architecture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B4EA615-0DB9-D74A-8AFB-8C8750739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Mamba: Selective State Space Models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5891E1-8952-0B2D-CC46-9425BBB4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9015" y="6356351"/>
            <a:ext cx="5673970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Mamba: Linear-Time Sequence Modeling with Selective State Spaces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B3FEFC-EBBC-E657-B73D-7E8A6F072393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ED2A9C8-ADE1-B91F-83A4-50183DF07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526" y="2460569"/>
            <a:ext cx="8280948" cy="332785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D94C34F-A037-9763-C9BF-5BC1F1208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266" y="1025991"/>
            <a:ext cx="2353020" cy="1636462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F5105BA-E700-CD47-D594-B5CE8BE07FD5}"/>
              </a:ext>
            </a:extLst>
          </p:cNvPr>
          <p:cNvCxnSpPr/>
          <p:nvPr/>
        </p:nvCxnSpPr>
        <p:spPr>
          <a:xfrm flipV="1">
            <a:off x="7215447" y="2019993"/>
            <a:ext cx="365760" cy="2219498"/>
          </a:xfrm>
          <a:prstGeom prst="straightConnector1">
            <a:avLst/>
          </a:prstGeom>
          <a:ln w="25400">
            <a:solidFill>
              <a:schemeClr val="bg1">
                <a:lumMod val="75000"/>
              </a:schemeClr>
            </a:solidFill>
            <a:prstDash val="dash"/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9527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D238A-4C6E-D498-208D-6BA799959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8AE5F1B-F2E6-E00C-6FDD-2BC69FA31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Hardware-aware Algorithm</a:t>
            </a:r>
          </a:p>
          <a:p>
            <a:pPr lvl="1"/>
            <a:r>
              <a:rPr kumimoji="1" lang="en-US" altLang="ko-KR" dirty="0"/>
              <a:t>Is still can Training Parallelization?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6B37171-9114-D296-4236-B5B480620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Mamba: Selective State Space Models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40A3EE-5B55-ED7A-FAF4-3D6B3056B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9015" y="6356351"/>
            <a:ext cx="5673970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1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youtu.be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/</a:t>
            </a:r>
            <a:r>
              <a:rPr lang="en" altLang="ko-KR" sz="1100" dirty="0" err="1">
                <a:solidFill>
                  <a:srgbClr val="959595"/>
                </a:solidFill>
                <a:effectLst/>
              </a:rPr>
              <a:t>JjxBNBzDbNk?si</a:t>
            </a:r>
            <a:r>
              <a:rPr lang="en" altLang="ko-KR" sz="1100" dirty="0">
                <a:solidFill>
                  <a:srgbClr val="959595"/>
                </a:solidFill>
                <a:effectLst/>
              </a:rPr>
              <a:t>=-uXfWPjmshdfJd2s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107416-E93D-49F4-6ABE-0D68E88FC659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FBDC41A-A631-17D1-8BA0-35E342B3C3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5747" y="2279709"/>
            <a:ext cx="11204128" cy="368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2458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0E34D-96D3-F369-BA2F-CBC4C247A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D9201D22-B5EC-1767-1681-86BACD624C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411"/>
          <a:stretch/>
        </p:blipFill>
        <p:spPr>
          <a:xfrm>
            <a:off x="435747" y="2279709"/>
            <a:ext cx="5780118" cy="3689576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1BB65F1-9CB8-EDC4-0327-1E64BC078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Hardware-aware Algorithm</a:t>
            </a:r>
          </a:p>
          <a:p>
            <a:pPr lvl="1"/>
            <a:r>
              <a:rPr kumimoji="1" lang="en-US" altLang="ko-KR" dirty="0"/>
              <a:t>Parallel Scan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1FFF1FA-2AFA-BB56-E7ED-C1D17B7B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Mamba: Selective State Space Models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AC951E-DD01-54ED-6B00-4734C1901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06211" y="6356351"/>
            <a:ext cx="6979578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0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000" dirty="0" err="1">
                <a:solidFill>
                  <a:srgbClr val="959595"/>
                </a:solidFill>
                <a:effectLst/>
              </a:rPr>
              <a:t>youtu.be</a:t>
            </a:r>
            <a:r>
              <a:rPr lang="en" altLang="ko-KR" sz="1000" dirty="0">
                <a:solidFill>
                  <a:srgbClr val="959595"/>
                </a:solidFill>
                <a:effectLst/>
              </a:rPr>
              <a:t>/</a:t>
            </a:r>
            <a:r>
              <a:rPr lang="en" altLang="ko-KR" sz="1000" dirty="0" err="1">
                <a:solidFill>
                  <a:srgbClr val="959595"/>
                </a:solidFill>
                <a:effectLst/>
              </a:rPr>
              <a:t>JjxBNBzDbNk?si</a:t>
            </a:r>
            <a:r>
              <a:rPr lang="en" altLang="ko-KR" sz="1000" dirty="0">
                <a:solidFill>
                  <a:srgbClr val="959595"/>
                </a:solidFill>
                <a:effectLst/>
              </a:rPr>
              <a:t>=-uXfWPjmshdfJd2s</a:t>
            </a:r>
          </a:p>
          <a:p>
            <a:r>
              <a:rPr lang="en" altLang="ko-KR" sz="10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000" dirty="0" err="1">
                <a:solidFill>
                  <a:srgbClr val="959595"/>
                </a:solidFill>
                <a:effectLst/>
              </a:rPr>
              <a:t>developer.nvidia.com</a:t>
            </a:r>
            <a:r>
              <a:rPr lang="en" altLang="ko-KR" sz="1000" dirty="0">
                <a:solidFill>
                  <a:srgbClr val="959595"/>
                </a:solidFill>
                <a:effectLst/>
              </a:rPr>
              <a:t>/</a:t>
            </a:r>
            <a:r>
              <a:rPr lang="en" altLang="ko-KR" sz="1000" dirty="0" err="1">
                <a:solidFill>
                  <a:srgbClr val="959595"/>
                </a:solidFill>
                <a:effectLst/>
              </a:rPr>
              <a:t>gpugems</a:t>
            </a:r>
            <a:r>
              <a:rPr lang="en" altLang="ko-KR" sz="1000" dirty="0">
                <a:solidFill>
                  <a:srgbClr val="959595"/>
                </a:solidFill>
                <a:effectLst/>
              </a:rPr>
              <a:t>/gpugems3/part-vi-</a:t>
            </a:r>
            <a:r>
              <a:rPr lang="en" altLang="ko-KR" sz="1000" dirty="0" err="1">
                <a:solidFill>
                  <a:srgbClr val="959595"/>
                </a:solidFill>
                <a:effectLst/>
              </a:rPr>
              <a:t>gpu</a:t>
            </a:r>
            <a:r>
              <a:rPr lang="en" altLang="ko-KR" sz="1000" dirty="0">
                <a:solidFill>
                  <a:srgbClr val="959595"/>
                </a:solidFill>
                <a:effectLst/>
              </a:rPr>
              <a:t>-computing/chapter-39-parallel-prefix-sum-scan-cuda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4C1FD5-6FA8-6C15-EFFF-ADCA93B67B44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56F396-6464-769E-DC29-7AEF7055CB5D}"/>
              </a:ext>
            </a:extLst>
          </p:cNvPr>
          <p:cNvSpPr txBox="1"/>
          <p:nvPr/>
        </p:nvSpPr>
        <p:spPr>
          <a:xfrm>
            <a:off x="-48324" y="1429440"/>
            <a:ext cx="625350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34400" b="1" dirty="0">
                <a:solidFill>
                  <a:srgbClr val="FF0000"/>
                </a:solidFill>
                <a:latin typeface="Corbel" panose="020B0503020204020204" pitchFamily="34" charset="0"/>
              </a:rPr>
              <a:t>X</a:t>
            </a:r>
            <a:endParaRPr kumimoji="1" lang="ko-KR" altLang="en-US" sz="34400" b="1" dirty="0">
              <a:solidFill>
                <a:srgbClr val="FF0000"/>
              </a:solidFill>
              <a:latin typeface="Corbel" panose="020B0503020204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0C8BA80-A499-0087-861A-B0DF430D5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156" y="2275685"/>
            <a:ext cx="3949773" cy="3693600"/>
          </a:xfrm>
          <a:prstGeom prst="rect">
            <a:avLst/>
          </a:prstGeom>
        </p:spPr>
      </p:pic>
      <p:pic>
        <p:nvPicPr>
          <p:cNvPr id="45060" name="Picture 4">
            <a:extLst>
              <a:ext uri="{FF2B5EF4-FFF2-40B4-BE49-F238E27FC236}">
                <a16:creationId xmlns:a16="http://schemas.microsoft.com/office/drawing/2014/main" id="{ABF362D0-1153-6720-D8AD-0F2E66E96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229" y="3210083"/>
            <a:ext cx="5772388" cy="2759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776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BD54C-3655-D2A1-BA81-866D88684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977A519-B26A-95A1-4D8A-CED69C6AB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Hardware-aware Algorithm</a:t>
            </a:r>
          </a:p>
          <a:p>
            <a:pPr lvl="1"/>
            <a:r>
              <a:rPr kumimoji="1" lang="en-US" altLang="ko-KR" dirty="0"/>
              <a:t>Kernel Fusion</a:t>
            </a:r>
          </a:p>
          <a:p>
            <a:pPr lvl="1"/>
            <a:endParaRPr kumimoji="1" lang="en-US" altLang="ko-KR" dirty="0"/>
          </a:p>
          <a:p>
            <a:pPr lvl="1"/>
            <a:r>
              <a:rPr kumimoji="1" lang="en-US" altLang="ko-KR" dirty="0"/>
              <a:t>SSM / D N -&gt; Mamba / B L D N vs Transformer / B L D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6385270-7C7A-8DBA-775F-226217299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Mamba: Selective State Space Models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84A689-52D8-B75B-9A5A-CFAC2ED76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06211" y="6356351"/>
            <a:ext cx="6979578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0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0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0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3EDD1F-F9AF-B3F7-A362-F7611FC219A9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7106" name="Picture 2">
            <a:extLst>
              <a:ext uri="{FF2B5EF4-FFF2-40B4-BE49-F238E27FC236}">
                <a16:creationId xmlns:a16="http://schemas.microsoft.com/office/drawing/2014/main" id="{008C4C2C-81EC-E3AB-0273-ECF196078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701" y="3847621"/>
            <a:ext cx="10390598" cy="18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73375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40EDD-18CD-AC8B-829C-1A873DCB0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F321367-2069-4CD3-5691-1C85DCFFA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Hardware-aware Algorithm</a:t>
            </a:r>
          </a:p>
          <a:p>
            <a:pPr lvl="1"/>
            <a:r>
              <a:rPr kumimoji="1" lang="en-US" altLang="ko-KR" dirty="0"/>
              <a:t>Kernel Fusion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98EA5BB-F1CD-250D-B722-D0AF9EC0C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Mamba: Selective State Space Models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A4831F-B5E4-1413-C1A1-6666CC503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06211" y="6356351"/>
            <a:ext cx="6979578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000" dirty="0">
                <a:solidFill>
                  <a:srgbClr val="959595"/>
                </a:solidFill>
                <a:effectLst/>
              </a:rPr>
              <a:t>https://</a:t>
            </a:r>
            <a:r>
              <a:rPr lang="en" altLang="ko-KR" sz="1000" dirty="0" err="1">
                <a:solidFill>
                  <a:srgbClr val="959595"/>
                </a:solidFill>
                <a:effectLst/>
              </a:rPr>
              <a:t>newsletter.maartengrootendorst.com</a:t>
            </a:r>
            <a:r>
              <a:rPr lang="en" altLang="ko-KR" sz="1000" dirty="0">
                <a:solidFill>
                  <a:srgbClr val="959595"/>
                </a:solidFill>
                <a:effectLst/>
              </a:rPr>
              <a:t>/p/a-visual-guide-to-mamba-and-state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0248E7-AF94-6424-DC2B-A8EA55AF8EA9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9154" name="Picture 2">
            <a:extLst>
              <a:ext uri="{FF2B5EF4-FFF2-40B4-BE49-F238E27FC236}">
                <a16:creationId xmlns:a16="http://schemas.microsoft.com/office/drawing/2014/main" id="{530A413D-6F2F-F5BB-A079-EB7134C79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265" y="2988750"/>
            <a:ext cx="10123470" cy="2014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4926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11760-5ABE-A0FA-A75A-26DC33924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DAFD4F8-F184-16CD-91AD-5A710B95B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Hardware-aware Algorithm</a:t>
            </a:r>
          </a:p>
          <a:p>
            <a:pPr lvl="1"/>
            <a:r>
              <a:rPr kumimoji="1" lang="en-US" altLang="ko-KR" dirty="0"/>
              <a:t>Kernel Fusion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BE79302-6C23-D5F6-F45B-B346472EB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Mamba: Selective State Space Models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26945D-6CB9-6BB8-62DC-4521D6EE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06211" y="6356351"/>
            <a:ext cx="6979578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000" dirty="0">
                <a:solidFill>
                  <a:srgbClr val="959595"/>
                </a:solidFill>
                <a:effectLst/>
              </a:rPr>
              <a:t>Mamba: Linear-Time Sequence Modeling with Selective State Spaces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19E4D1-1D97-2888-63BE-71F6AC4C2154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9156" name="Picture 4">
            <a:extLst>
              <a:ext uri="{FF2B5EF4-FFF2-40B4-BE49-F238E27FC236}">
                <a16:creationId xmlns:a16="http://schemas.microsoft.com/office/drawing/2014/main" id="{D282D815-8432-6A1B-0B26-8312AD451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68230" y="2704057"/>
            <a:ext cx="9855540" cy="3037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654783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5280A-0AA9-831D-9FEB-CD4FDA4DE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258CB6A-9C12-67B9-4052-FB55C2F6F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9A7D0CC-98BB-0DD7-0D60-F5560A92A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3037ED-D8D0-2F15-DED9-27A9868B6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06211" y="6356351"/>
            <a:ext cx="6979578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000" dirty="0">
                <a:solidFill>
                  <a:srgbClr val="959595"/>
                </a:solidFill>
                <a:effectLst/>
              </a:rPr>
              <a:t>Mamba: Linear-Time Sequence Modeling with Selective State Spaces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C1D6BC-E005-8467-9470-771232FC5FAC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9D33E9-3808-17D6-4A6B-7F2C471A8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52" y="1710827"/>
            <a:ext cx="11405496" cy="396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3513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1AE70-8063-8916-EC1D-AC2C40A87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23FA268-B55F-62F2-C9AC-D0247AC30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F15004C-967F-484F-33C4-1C64BAFAD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00CF695-D8F5-202E-8CD6-4B248E30A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06211" y="6356351"/>
            <a:ext cx="6979578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000" dirty="0">
                <a:solidFill>
                  <a:srgbClr val="959595"/>
                </a:solidFill>
                <a:effectLst/>
              </a:rPr>
              <a:t>Mamba: Linear-Time Sequence Modeling with Selective State Spaces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487572-6CFE-8089-DFBB-B9FFBA9A202B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E44602-DDFA-D150-CDE2-68A7C99FE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252" y="2045551"/>
            <a:ext cx="11405496" cy="313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79011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A4DDD-D054-4F34-73A2-998AFCA49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3E6B92E-9449-6426-6B6A-C4556D0B7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F040CD0-BA3A-0029-4085-E5F48C48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61C55A-A1F2-AB4B-F229-3E3F585F5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06211" y="6356351"/>
            <a:ext cx="6979578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000" dirty="0">
                <a:solidFill>
                  <a:srgbClr val="959595"/>
                </a:solidFill>
                <a:effectLst/>
              </a:rPr>
              <a:t>Mamba: Linear-Time Sequence Modeling with Selective State Spaces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860352-5CD8-7C3C-4895-73EA1D685F58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F97335-D44F-EC14-8C21-C375AF7B4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646" y="1834763"/>
            <a:ext cx="11380708" cy="355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191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74C9D-DF94-E0DB-C46A-4989FAEC8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C2D3895-072C-13A2-BE3B-126DED5FA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D6E5547-6ACF-027E-3980-AEDA1C2E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177495-DECE-BB5D-6915-80B1752B1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06211" y="6356351"/>
            <a:ext cx="6979578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000" dirty="0">
                <a:solidFill>
                  <a:srgbClr val="959595"/>
                </a:solidFill>
                <a:effectLst/>
              </a:rPr>
              <a:t>Mamba: Linear-Time Sequence Modeling with Selective State Spaces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B771D0-A75B-82B4-57E8-6086500BE9B4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B9B35B-1A01-3573-50EE-8CC13BCE3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637" y="1304764"/>
            <a:ext cx="6608726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58817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377BA-C25B-30D4-EE0D-C6557EAFF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8CB33C2-73B6-E57A-0619-5D814C619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89D0FE2-8848-5A8D-F131-6EF47481D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A7C01B-4EAC-6F4F-C4D0-B8D7F8DB8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06211" y="6356351"/>
            <a:ext cx="6979578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" altLang="ko-KR" sz="1000" dirty="0">
                <a:solidFill>
                  <a:srgbClr val="959595"/>
                </a:solidFill>
                <a:effectLst/>
              </a:rPr>
              <a:t>Mamba: Linear-Time Sequence Modeling with Selective State Spaces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258BD2-AE07-4D1B-2FB1-F2335E503B4A}"/>
              </a:ext>
            </a:extLst>
          </p:cNvPr>
          <p:cNvSpPr txBox="1"/>
          <p:nvPr/>
        </p:nvSpPr>
        <p:spPr>
          <a:xfrm>
            <a:off x="8546" y="1290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65678C-3664-84B4-660E-64ED2FF71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11" y="2013735"/>
            <a:ext cx="11256178" cy="315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9809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749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24395</TotalTime>
  <Words>5727</Words>
  <Application>Microsoft Macintosh PowerPoint</Application>
  <PresentationFormat>와이드스크린</PresentationFormat>
  <Paragraphs>963</Paragraphs>
  <Slides>85</Slides>
  <Notes>84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85</vt:i4>
      </vt:variant>
    </vt:vector>
  </HeadingPairs>
  <TitlesOfParts>
    <vt:vector size="95" baseType="lpstr">
      <vt:lpstr>Wingdings</vt:lpstr>
      <vt:lpstr>Candara</vt:lpstr>
      <vt:lpstr>Corbel</vt:lpstr>
      <vt:lpstr>맑은 고딕</vt:lpstr>
      <vt:lpstr>Arial</vt:lpstr>
      <vt:lpstr>Times New Roman</vt:lpstr>
      <vt:lpstr>Cambria Math</vt:lpstr>
      <vt:lpstr>Wingdings 3</vt:lpstr>
      <vt:lpstr>Office 테마</vt:lpstr>
      <vt:lpstr>1_Office 테마</vt:lpstr>
      <vt:lpstr>PowerPoint 프레젠테이션</vt:lpstr>
      <vt:lpstr>Table of Contents</vt:lpstr>
      <vt:lpstr>Preliminary</vt:lpstr>
      <vt:lpstr>Preliminary</vt:lpstr>
      <vt:lpstr>Preliminary</vt:lpstr>
      <vt:lpstr>Preliminary</vt:lpstr>
      <vt:lpstr>Preliminary</vt:lpstr>
      <vt:lpstr>Preliminary</vt:lpstr>
      <vt:lpstr>Preliminary</vt:lpstr>
      <vt:lpstr>Preliminary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Mamba: Selective State Space Models</vt:lpstr>
      <vt:lpstr>Mamba: Selective State Space Models</vt:lpstr>
      <vt:lpstr>Mamba: Selective State Space Models</vt:lpstr>
      <vt:lpstr>Mamba: Selective State Space Models</vt:lpstr>
      <vt:lpstr>Mamba: Selective State Space Models</vt:lpstr>
      <vt:lpstr>Mamba: Selective State Space Models</vt:lpstr>
      <vt:lpstr>Mamba: Selective State Space Models</vt:lpstr>
      <vt:lpstr>Mamba: Selective State Space Models</vt:lpstr>
      <vt:lpstr>Mamba: Selective State Space Models</vt:lpstr>
      <vt:lpstr>Mamba: Selective State Space Models</vt:lpstr>
      <vt:lpstr>Mamba: Selective State Space Models</vt:lpstr>
      <vt:lpstr>Mamba: Selective State Space Models</vt:lpstr>
      <vt:lpstr>Mamba: Selective State Space Models</vt:lpstr>
      <vt:lpstr>Mamba: Selective State Space Models</vt:lpstr>
      <vt:lpstr>Mamba: Selective State Space Models</vt:lpstr>
      <vt:lpstr>Mamba: Selective State Space Models</vt:lpstr>
      <vt:lpstr>Mamba: Selective State Space Models</vt:lpstr>
      <vt:lpstr>Mamba: Selective State Space Models</vt:lpstr>
      <vt:lpstr>Experiments</vt:lpstr>
      <vt:lpstr>Experiments</vt:lpstr>
      <vt:lpstr>Experiments</vt:lpstr>
      <vt:lpstr>Experiments</vt:lpstr>
      <vt:lpstr>Experiments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Taehoon Lee</dc:creator>
  <cp:lastModifiedBy>강현오</cp:lastModifiedBy>
  <cp:revision>2651</cp:revision>
  <dcterms:created xsi:type="dcterms:W3CDTF">2013-05-08T06:38:33Z</dcterms:created>
  <dcterms:modified xsi:type="dcterms:W3CDTF">2025-02-05T17:15:01Z</dcterms:modified>
</cp:coreProperties>
</file>