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1"/>
    <p:sldMasterId id="2147483665" r:id="rId2"/>
  </p:sldMasterIdLst>
  <p:notesMasterIdLst>
    <p:notesMasterId r:id="rId17"/>
  </p:notesMasterIdLst>
  <p:handoutMasterIdLst>
    <p:handoutMasterId r:id="rId18"/>
  </p:handoutMasterIdLst>
  <p:sldIdLst>
    <p:sldId id="394" r:id="rId3"/>
    <p:sldId id="395" r:id="rId4"/>
    <p:sldId id="396" r:id="rId5"/>
    <p:sldId id="397" r:id="rId6"/>
    <p:sldId id="398" r:id="rId7"/>
    <p:sldId id="399" r:id="rId8"/>
    <p:sldId id="400" r:id="rId9"/>
    <p:sldId id="401" r:id="rId10"/>
    <p:sldId id="402" r:id="rId11"/>
    <p:sldId id="403" r:id="rId12"/>
    <p:sldId id="404" r:id="rId13"/>
    <p:sldId id="405" r:id="rId14"/>
    <p:sldId id="406" r:id="rId15"/>
    <p:sldId id="275" r:id="rId16"/>
  </p:sldIdLst>
  <p:sldSz cx="12192000" cy="6858000"/>
  <p:notesSz cx="9928225" cy="679767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8" userDrawn="1">
          <p15:clr>
            <a:srgbClr val="A4A3A4"/>
          </p15:clr>
        </p15:guide>
        <p15:guide id="2" orient="horz" pos="2931" userDrawn="1">
          <p15:clr>
            <a:srgbClr val="A4A3A4"/>
          </p15:clr>
        </p15:guide>
        <p15:guide id="3" pos="383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on lee" initials="sl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C71B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8A107856-5554-42FB-B03E-39F5DBC370BA}" styleName="보통 스타일 4 - 강조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TxStyle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TxStyle/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TxStyle/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396" autoAdjust="0"/>
    <p:restoredTop sz="82721" autoAdjust="0"/>
  </p:normalViewPr>
  <p:slideViewPr>
    <p:cSldViewPr>
      <p:cViewPr>
        <p:scale>
          <a:sx n="95" d="100"/>
          <a:sy n="95" d="100"/>
        </p:scale>
        <p:origin x="1056" y="296"/>
      </p:cViewPr>
      <p:guideLst>
        <p:guide orient="horz" pos="2158"/>
        <p:guide orient="horz" pos="2931"/>
        <p:guide pos="3837"/>
      </p:guideLst>
    </p:cSldViewPr>
  </p:slideViewPr>
  <p:outlineViewPr>
    <p:cViewPr>
      <p:scale>
        <a:sx n="33" d="100"/>
        <a:sy n="33" d="100"/>
      </p:scale>
      <p:origin x="0" y="-4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100" d="100"/>
          <a:sy n="100" d="100"/>
        </p:scale>
        <p:origin x="3552" y="78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commentAuthors" Target="commentAuthor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5623697" y="0"/>
            <a:ext cx="4302230" cy="34106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81CB499-57DE-4459-8164-C24C1927EE22}" type="datetime1">
              <a:rPr lang="ko-KR" altLang="en-US"/>
              <a:pPr lvl="0">
                <a:defRPr lang="ko-KR" altLang="en-US"/>
              </a:pPr>
              <a:t>2026. 3. 11.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5623697" y="6456613"/>
            <a:ext cx="4302230" cy="341063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8708606D-7016-48C6-AD55-6C46873277CB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3-11T16:59:52.1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 0,'74'0,"0"0,11 0,5 0,-20 0,3 0,2 0,5 0,2 0,6 0,5 0,6 0,2 0,-6 0,5 0,-5 0,5 0,-22 0,5 0,1 0,-2 0,-6 0,15 0,-7 0,0 0,0 0,0 0,-1 0,-3 0,-1 0,-3 0,22 0,-3 0,-10 0,-5 0,-15 0,-4 0,33 0,-20 1,-16 2,-11 0,-11 1,-4 0,-2-2,-1 0,1 1,2 0,2 2,2 0,0-2,-4 2,-10-3,-8 0,-6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3697" y="0"/>
            <a:ext cx="4302230" cy="339884"/>
          </a:xfrm>
          <a:prstGeom prst="rect">
            <a:avLst/>
          </a:prstGeom>
        </p:spPr>
        <p:txBody>
          <a:bodyPr vert="horz" lIns="92117" tIns="46058" rIns="92117" bIns="46058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626B28A4-0406-4D64-A121-EFDA8C66E1AC}" type="datetime1">
              <a:rPr lang="ko-KR" altLang="en-US"/>
              <a:pPr lvl="0">
                <a:defRPr lang="ko-KR" altLang="en-US"/>
              </a:pPr>
              <a:t>2026. 3. 11.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2698750" y="487363"/>
            <a:ext cx="4530725" cy="25495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117" tIns="46058" rIns="92117" bIns="46058" anchor="ctr"/>
          <a:lstStyle/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823" y="3228897"/>
            <a:ext cx="7942580" cy="3058953"/>
          </a:xfrm>
          <a:prstGeom prst="rect">
            <a:avLst/>
          </a:prstGeom>
        </p:spPr>
        <p:txBody>
          <a:bodyPr vert="horz" lIns="92117" tIns="46058" rIns="92117" bIns="46058"/>
          <a:lstStyle/>
          <a:p>
            <a:pPr lvl="0">
              <a:defRPr lang="ko-KR" altLang="en-US"/>
            </a:pPr>
            <a:r>
              <a:rPr lang="ko-KR" altLang="en-US"/>
              <a:t>마스터 텍스트 스타일을 편집합니다</a:t>
            </a:r>
          </a:p>
          <a:p>
            <a:pPr lvl="1">
              <a:defRPr lang="ko-KR" altLang="en-US"/>
            </a:pPr>
            <a:r>
              <a:rPr lang="ko-KR" altLang="en-US"/>
              <a:t>둘째 수준</a:t>
            </a:r>
          </a:p>
          <a:p>
            <a:pPr lvl="2">
              <a:defRPr lang="ko-KR" altLang="en-US"/>
            </a:pPr>
            <a:r>
              <a:rPr lang="ko-KR" altLang="en-US"/>
              <a:t>셋째 수준</a:t>
            </a:r>
          </a:p>
          <a:p>
            <a:pPr lvl="3">
              <a:defRPr lang="ko-KR" altLang="en-US"/>
            </a:pPr>
            <a:r>
              <a:rPr lang="ko-KR" altLang="en-US"/>
              <a:t>넷째 수준</a:t>
            </a:r>
          </a:p>
          <a:p>
            <a:pPr lvl="4">
              <a:defRPr lang="ko-KR" altLang="en-US"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l">
              <a:defRPr sz="1200"/>
            </a:lvl1pPr>
          </a:lstStyle>
          <a:p>
            <a:pPr lvl="0">
              <a:defRPr lang="ko-KR" altLang="en-US"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3697" y="6456611"/>
            <a:ext cx="4302230" cy="339884"/>
          </a:xfrm>
          <a:prstGeom prst="rect">
            <a:avLst/>
          </a:prstGeom>
        </p:spPr>
        <p:txBody>
          <a:bodyPr vert="horz" lIns="92117" tIns="46058" rIns="92117" bIns="46058" anchor="b"/>
          <a:lstStyle>
            <a:lvl1pPr algn="r">
              <a:defRPr sz="1200"/>
            </a:lvl1pPr>
          </a:lstStyle>
          <a:p>
            <a:pPr lvl="0">
              <a:defRPr lang="ko-KR" altLang="en-US"/>
            </a:pPr>
            <a:fld id="{562CCEFF-A2AE-45F8-B6D1-C9F23FC7D7B9}" type="slidenum">
              <a:rPr lang="ko-KR" altLang="en-US"/>
              <a:pPr lvl="0">
                <a:defRPr lang="ko-KR" altLang="en-US"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모델은</a:t>
            </a:r>
            <a:br>
              <a:rPr lang="ko-KR" altLang="en-US" dirty="0"/>
            </a:br>
            <a:r>
              <a:rPr lang="ko-KR" altLang="en-US" dirty="0"/>
              <a:t>“</a:t>
            </a:r>
            <a:r>
              <a:rPr lang="en" altLang="ko-KR" dirty="0"/>
              <a:t>instruction </a:t>
            </a:r>
            <a:r>
              <a:rPr lang="ko-KR" altLang="en-US" dirty="0"/>
              <a:t>문자열 </a:t>
            </a:r>
            <a:r>
              <a:rPr lang="ko-KR" altLang="en-US" dirty="0" err="1"/>
              <a:t>하나”와</a:t>
            </a:r>
            <a:r>
              <a:rPr lang="ko-KR" altLang="en-US" dirty="0"/>
              <a:t> “</a:t>
            </a:r>
            <a:r>
              <a:rPr lang="en" altLang="ko-KR" dirty="0"/>
              <a:t>data </a:t>
            </a:r>
            <a:r>
              <a:rPr lang="ko-KR" altLang="en-US" dirty="0"/>
              <a:t>문자열 </a:t>
            </a:r>
            <a:r>
              <a:rPr lang="ko-KR" altLang="en-US" dirty="0" err="1"/>
              <a:t>하나”를</a:t>
            </a:r>
            <a:r>
              <a:rPr lang="ko-KR" altLang="en-US" dirty="0"/>
              <a:t> 받아서</a:t>
            </a:r>
            <a:br>
              <a:rPr lang="ko-KR" altLang="en-US" dirty="0"/>
            </a:br>
            <a:r>
              <a:rPr lang="ko-KR" altLang="en-US" dirty="0"/>
              <a:t>“출력 문자열의 </a:t>
            </a:r>
            <a:r>
              <a:rPr lang="ko-KR" altLang="en-US" dirty="0" err="1"/>
              <a:t>확률분포”를</a:t>
            </a:r>
            <a:r>
              <a:rPr lang="ko-KR" altLang="en-US" dirty="0"/>
              <a:t> 내는 함수로 보겠다는 겁니다</a:t>
            </a:r>
            <a:r>
              <a:rPr lang="en-US" altLang="ko-KR" dirty="0"/>
              <a:t>.</a:t>
            </a:r>
          </a:p>
          <a:p>
            <a:endParaRPr kumimoji="1" lang="en-US" altLang="ko-KR" dirty="0"/>
          </a:p>
          <a:p>
            <a:r>
              <a:rPr lang="ko-KR" altLang="en-US" dirty="0"/>
              <a:t>이 정의의 포인트는 </a:t>
            </a:r>
            <a:r>
              <a:rPr lang="ko-KR" altLang="en-US" b="1" dirty="0"/>
              <a:t>엄청 추상적</a:t>
            </a:r>
            <a:r>
              <a:rPr lang="ko-KR" altLang="en-US" dirty="0"/>
              <a:t>이라는 거예요</a:t>
            </a:r>
            <a:r>
              <a:rPr lang="en-US" altLang="ko-KR" dirty="0"/>
              <a:t>.</a:t>
            </a:r>
            <a:br>
              <a:rPr lang="en-US" altLang="ko-KR" dirty="0"/>
            </a:br>
            <a:r>
              <a:rPr lang="ko-KR" altLang="en-US" dirty="0"/>
              <a:t>저자들은 일부러 “</a:t>
            </a:r>
            <a:r>
              <a:rPr lang="ko-KR" altLang="en-US" dirty="0" err="1"/>
              <a:t>트랜스포머냐</a:t>
            </a:r>
            <a:r>
              <a:rPr lang="ko-KR" altLang="en-US" dirty="0"/>
              <a:t> 아니냐”</a:t>
            </a:r>
            <a:r>
              <a:rPr lang="en-US" altLang="ko-KR" dirty="0"/>
              <a:t>, “</a:t>
            </a:r>
            <a:r>
              <a:rPr lang="en" altLang="ko-KR" dirty="0"/>
              <a:t>system/user role</a:t>
            </a:r>
            <a:r>
              <a:rPr lang="ko-KR" altLang="en-US" dirty="0"/>
              <a:t>이 있느냐 없느냐”</a:t>
            </a:r>
            <a:r>
              <a:rPr lang="en-US" altLang="ko-KR" dirty="0"/>
              <a:t>, “</a:t>
            </a:r>
            <a:r>
              <a:rPr lang="ko-KR" altLang="en-US" dirty="0"/>
              <a:t>어떻게 </a:t>
            </a:r>
            <a:r>
              <a:rPr lang="ko-KR" altLang="en-US" dirty="0" err="1"/>
              <a:t>분리하느냐”를</a:t>
            </a:r>
            <a:r>
              <a:rPr lang="ko-KR" altLang="en-US" dirty="0"/>
              <a:t> 전혀 가정하지 않습니다</a:t>
            </a:r>
            <a:r>
              <a:rPr lang="en-US" altLang="ko-KR" dirty="0"/>
              <a:t>. </a:t>
            </a:r>
            <a:r>
              <a:rPr lang="ko-KR" altLang="en-US" dirty="0"/>
              <a:t>그냥 </a:t>
            </a:r>
            <a:r>
              <a:rPr lang="ko-KR" altLang="en-US" b="1" dirty="0"/>
              <a:t>이상적으로는 </a:t>
            </a:r>
            <a:r>
              <a:rPr lang="en" altLang="ko-KR" b="1" dirty="0"/>
              <a:t>instruction</a:t>
            </a:r>
            <a:r>
              <a:rPr lang="ko-KR" altLang="en-US" b="1" dirty="0"/>
              <a:t>용 슬롯과 </a:t>
            </a:r>
            <a:r>
              <a:rPr lang="en" altLang="ko-KR" b="1" dirty="0"/>
              <a:t>data</a:t>
            </a:r>
            <a:r>
              <a:rPr lang="ko-KR" altLang="en-US" b="1" dirty="0"/>
              <a:t>용 슬롯이 있는 함수</a:t>
            </a:r>
            <a:r>
              <a:rPr lang="ko-KR" altLang="en-US" dirty="0"/>
              <a:t>로만 봅니다</a:t>
            </a:r>
            <a:r>
              <a:rPr lang="en-US" altLang="ko-KR" dirty="0"/>
              <a:t>. </a:t>
            </a:r>
          </a:p>
          <a:p>
            <a:endParaRPr kumimoji="1" lang="en-US" altLang="ko-KR" dirty="0"/>
          </a:p>
          <a:p>
            <a:r>
              <a:rPr lang="ko-KR" altLang="en-US" dirty="0"/>
              <a:t>쉽게 말하면</a:t>
            </a:r>
            <a:r>
              <a:rPr lang="en-US" altLang="ko-KR" dirty="0"/>
              <a:t>, </a:t>
            </a:r>
            <a:r>
              <a:rPr lang="en" altLang="ko-KR" dirty="0"/>
              <a:t>Definition 1</a:t>
            </a:r>
            <a:r>
              <a:rPr lang="ko-KR" altLang="en-US" dirty="0"/>
              <a:t>은</a:t>
            </a:r>
            <a:br>
              <a:rPr lang="ko-KR" altLang="en-US" dirty="0"/>
            </a:br>
            <a:r>
              <a:rPr lang="ko-KR" altLang="en-US" dirty="0"/>
              <a:t>“일단 모델을 ‘</a:t>
            </a:r>
            <a:r>
              <a:rPr lang="ko-KR" altLang="en-US" dirty="0" err="1"/>
              <a:t>지시칸’과</a:t>
            </a:r>
            <a:r>
              <a:rPr lang="ko-KR" altLang="en-US" dirty="0"/>
              <a:t> ‘</a:t>
            </a:r>
            <a:r>
              <a:rPr lang="ko-KR" altLang="en-US" dirty="0" err="1"/>
              <a:t>데이터칸’을</a:t>
            </a:r>
            <a:r>
              <a:rPr lang="ko-KR" altLang="en-US" dirty="0"/>
              <a:t> 받는 블랙박스라고 상상하자”</a:t>
            </a:r>
            <a:br>
              <a:rPr lang="ko-KR" altLang="en-US" dirty="0"/>
            </a:br>
            <a:r>
              <a:rPr lang="ko-KR" altLang="en-US" dirty="0"/>
              <a:t>는 출발점이에요</a:t>
            </a:r>
            <a:r>
              <a:rPr lang="en-US" altLang="ko-KR" dirty="0"/>
              <a:t>.</a:t>
            </a:r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9707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식은 </a:t>
                </a:r>
                <a:r>
                  <a:rPr lang="en" altLang="ko-KR" b="1" dirty="0"/>
                  <a:t>probe </a:t>
                </a:r>
                <a14:m>
                  <m:oMath xmlns:m="http://schemas.openxmlformats.org/officeDocument/2006/math">
                    <m:r>
                      <a:rPr lang="en" altLang="ko-K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ko-KR" altLang="en-US" dirty="0" err="1"/>
                  <a:t>를</a:t>
                </a:r>
                <a:r>
                  <a:rPr lang="ko-KR" altLang="en-US" dirty="0"/>
                  <a:t> 두 군데에 번갈아 넣어 봅니다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𝑠</m:t>
                        </m:r>
                      </m:e>
                      <m:e>
                        <m:r>
                          <a:rPr lang="ar-AE" altLang="ko-KR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𝑥𝑑</m:t>
                        </m:r>
                      </m:e>
                    </m:d>
                  </m:oMath>
                </a14:m>
                <a:r>
                  <a:rPr lang="ar-AE" altLang="ko-KR" dirty="0"/>
                  <a:t>: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가 </a:t>
                </a:r>
                <a:r>
                  <a:rPr lang="en" altLang="ko-KR" b="1" dirty="0"/>
                  <a:t>instruction argument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있음</a:t>
                </a:r>
                <a:br>
                  <a:rPr lang="ko-KR" altLang="en-US" dirty="0"/>
                </a:br>
                <a:r>
                  <a:rPr lang="ko-KR" altLang="en-US" dirty="0"/>
                  <a:t>→ 이상적 모델이라면 </a:t>
                </a:r>
                <a:r>
                  <a:rPr lang="ko-KR" altLang="en-US" b="1" dirty="0"/>
                  <a:t>실행</a:t>
                </a:r>
                <a:endParaRPr lang="ko-KR" altLang="en-US" dirty="0"/>
              </a:p>
              <a:p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𝑔</m:t>
                    </m:r>
                    <m:d>
                      <m:dPr>
                        <m:sepChr m:val=","/>
                        <m:ctrlP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𝑠</m:t>
                        </m:r>
                      </m:e>
                      <m:e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  <m:r>
                          <a:rPr lang="ar-AE" altLang="ko-KR" sz="1200" i="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+</m:t>
                        </m:r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𝑑</m:t>
                        </m:r>
                      </m:e>
                    </m:d>
                  </m:oMath>
                </a14:m>
                <a:r>
                  <a:rPr lang="ar-AE" altLang="ko-KR" dirty="0"/>
                  <a:t>: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가 </a:t>
                </a:r>
                <a:r>
                  <a:rPr lang="en" altLang="ko-KR" b="1" dirty="0"/>
                  <a:t>data argument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있음</a:t>
                </a:r>
                <a:br>
                  <a:rPr lang="ko-KR" altLang="en-US" dirty="0"/>
                </a:br>
                <a:r>
                  <a:rPr lang="ko-KR" altLang="en-US" dirty="0"/>
                  <a:t>→ 이상적 모델이라면 </a:t>
                </a:r>
                <a:r>
                  <a:rPr lang="ko-KR" altLang="en-US" b="1" dirty="0"/>
                  <a:t>처리만</a:t>
                </a:r>
                <a:endParaRPr lang="ko-KR" altLang="en-US" dirty="0"/>
              </a:p>
              <a:p>
                <a:r>
                  <a:rPr lang="ko-KR" altLang="en-US" dirty="0"/>
                  <a:t>그리고 이 두 경우의 출력 분포가 </a:t>
                </a:r>
                <a:r>
                  <a:rPr lang="ko-KR" altLang="en-US" b="1" dirty="0"/>
                  <a:t>얼마나 </a:t>
                </a:r>
                <a:r>
                  <a:rPr lang="ko-KR" altLang="en-US" b="1" dirty="0" err="1"/>
                  <a:t>다른지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재는 거예요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다르면 분리가 잘 된 것이고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비슷하면 </a:t>
                </a:r>
                <a:r>
                  <a:rPr lang="en" altLang="ko-KR" dirty="0"/>
                  <a:t>probe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</a:t>
                </a:r>
                <a:r>
                  <a:rPr lang="en" altLang="ko-KR" dirty="0"/>
                  <a:t>data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넣어도 </a:t>
                </a:r>
                <a:r>
                  <a:rPr lang="en" altLang="ko-KR" dirty="0"/>
                  <a:t>instruction</a:t>
                </a:r>
                <a:r>
                  <a:rPr lang="ko-KR" altLang="en-US" dirty="0" err="1"/>
                  <a:t>처럼</a:t>
                </a:r>
                <a:r>
                  <a:rPr lang="ko-KR" altLang="en-US" dirty="0"/>
                  <a:t> 받아들인 것이니까 분리가 안 된 겁니다</a:t>
                </a:r>
                <a:r>
                  <a:rPr lang="en-US" altLang="ko-KR" dirty="0"/>
                  <a:t>.</a:t>
                </a:r>
              </a:p>
              <a:p>
                <a:endParaRPr kumimoji="1" lang="ko-KR" altLang="en-US" dirty="0"/>
              </a:p>
            </p:txBody>
          </p:sp>
        </mc:Choice>
        <mc:Fallback>
          <p:sp>
            <p:nvSpPr>
              <p:cNvPr id="3" name="슬라이드 노트 개체 틀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이 식은 </a:t>
                </a:r>
                <a:r>
                  <a:rPr lang="en" altLang="ko-KR" b="1" dirty="0"/>
                  <a:t>probe </a:t>
                </a:r>
                <a:r>
                  <a:rPr lang="en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두 군데에 번갈아 넣어 봅니다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(𝑠ⓜ,+𝑥𝑑)</a:t>
                </a:r>
                <a:r>
                  <a:rPr lang="ar-AE" altLang="ko-KR" dirty="0"/>
                  <a:t>: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가 </a:t>
                </a:r>
                <a:r>
                  <a:rPr lang="en" altLang="ko-KR" b="1" dirty="0"/>
                  <a:t>instruction argument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있음</a:t>
                </a:r>
                <a:br>
                  <a:rPr lang="ko-KR" altLang="en-US" dirty="0"/>
                </a:br>
                <a:r>
                  <a:rPr lang="ko-KR" altLang="en-US" dirty="0"/>
                  <a:t>→ 이상적 모델이라면 </a:t>
                </a:r>
                <a:r>
                  <a:rPr lang="ko-KR" altLang="en-US" b="1" dirty="0"/>
                  <a:t>실행</a:t>
                </a:r>
                <a:endParaRPr lang="ko-KR" altLang="en-US" dirty="0"/>
              </a:p>
              <a:p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𝑔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(𝑠ⓜ,𝑥+𝑑)</a:t>
                </a:r>
                <a:r>
                  <a:rPr lang="ar-AE" altLang="ko-KR" dirty="0"/>
                  <a:t>: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가 </a:t>
                </a:r>
                <a:r>
                  <a:rPr lang="en" altLang="ko-KR" b="1" dirty="0"/>
                  <a:t>data argument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있음</a:t>
                </a:r>
                <a:br>
                  <a:rPr lang="ko-KR" altLang="en-US" dirty="0"/>
                </a:br>
                <a:r>
                  <a:rPr lang="ko-KR" altLang="en-US" dirty="0"/>
                  <a:t>→ 이상적 모델이라면 </a:t>
                </a:r>
                <a:r>
                  <a:rPr lang="ko-KR" altLang="en-US" b="1" dirty="0"/>
                  <a:t>처리만</a:t>
                </a:r>
                <a:endParaRPr lang="ko-KR" altLang="en-US" dirty="0"/>
              </a:p>
              <a:p>
                <a:r>
                  <a:rPr lang="ko-KR" altLang="en-US" dirty="0"/>
                  <a:t>그리고 이 두 경우의 출력 분포가 </a:t>
                </a:r>
                <a:r>
                  <a:rPr lang="ko-KR" altLang="en-US" b="1" dirty="0"/>
                  <a:t>얼마나 </a:t>
                </a:r>
                <a:r>
                  <a:rPr lang="ko-KR" altLang="en-US" b="1" dirty="0" err="1"/>
                  <a:t>다른지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재는 거예요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다르면 분리가 잘 된 것이고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비슷하면 </a:t>
                </a:r>
                <a:r>
                  <a:rPr lang="en" altLang="ko-KR" dirty="0"/>
                  <a:t>probe</a:t>
                </a:r>
                <a:r>
                  <a:rPr lang="ko-KR" altLang="en-US" dirty="0" err="1"/>
                  <a:t>를</a:t>
                </a:r>
                <a:r>
                  <a:rPr lang="ko-KR" altLang="en-US" dirty="0"/>
                  <a:t> </a:t>
                </a:r>
                <a:r>
                  <a:rPr lang="en" altLang="ko-KR" dirty="0"/>
                  <a:t>data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넣어도 </a:t>
                </a:r>
                <a:r>
                  <a:rPr lang="en" altLang="ko-KR" dirty="0"/>
                  <a:t>instruction</a:t>
                </a:r>
                <a:r>
                  <a:rPr lang="ko-KR" altLang="en-US" dirty="0" err="1"/>
                  <a:t>처럼</a:t>
                </a:r>
                <a:r>
                  <a:rPr lang="ko-KR" altLang="en-US" dirty="0"/>
                  <a:t> 받아들인 것이니까 분리가 안 된 겁니다</a:t>
                </a:r>
                <a:r>
                  <a:rPr lang="en-US" altLang="ko-KR" dirty="0"/>
                  <a:t>.</a:t>
                </a:r>
              </a:p>
              <a:p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5109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BDD32-C7E4-C565-E829-38F467E72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2F1C56-C1CB-D4FC-0764-69033E5E1F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7616490F-F3DC-399E-068E-C20E8A9581C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저자들은 이 점수가 단지 </a:t>
                </a:r>
                <a:r>
                  <a:rPr lang="en" altLang="ko-KR" dirty="0"/>
                  <a:t>probe </a:t>
                </a:r>
                <a14:m>
                  <m:oMath xmlns:m="http://schemas.openxmlformats.org/officeDocument/2006/math">
                    <m:r>
                      <a:rPr lang="en" altLang="ko-K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𝑥</m:t>
                    </m:r>
                  </m:oMath>
                </a14:m>
                <a:r>
                  <a:rPr lang="ko-KR" altLang="en-US" dirty="0"/>
                  <a:t>만의 성질이 아니라</a:t>
                </a:r>
                <a:r>
                  <a:rPr lang="en-US" altLang="ko-KR" dirty="0"/>
                  <a:t>, </a:t>
                </a:r>
                <a:r>
                  <a:rPr lang="ko-KR" altLang="en-US" b="1" dirty="0"/>
                  <a:t>문맥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𝑠</m:t>
                    </m:r>
                    <m:r>
                      <a:rPr lang="en-US" altLang="ko-K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,</m:t>
                    </m:r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𝑑</m:t>
                    </m:r>
                  </m:oMath>
                </a14:m>
                <a:r>
                  <a:rPr lang="ko-KR" altLang="en-US" dirty="0"/>
                  <a:t>에도 달려 있다고 말합니다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같은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라도 어떤 작업을 하는 중인지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 데이터가 붙어 있는지에 따라 모델 반응이 달라질 수 있기 때문이죠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그래서 식에서는 </a:t>
                </a:r>
                <a14:m>
                  <m:oMath xmlns:m="http://schemas.openxmlformats.org/officeDocument/2006/math">
                    <m:d>
                      <m:dPr>
                        <m:sepChr m:val=","/>
                        <m:ctrlPr>
                          <a:rPr lang="ar-AE" altLang="ko-KR" sz="1200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</m:ctrlPr>
                      </m:dPr>
                      <m:e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𝑠</m:t>
                        </m:r>
                      </m:e>
                      <m:e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𝑑</m:t>
                        </m:r>
                      </m:e>
                      <m:e>
                        <m:r>
                          <a:rPr lang="ar-AE" altLang="ko-KR" sz="1200" i="1" kern="1200">
                            <a:solidFill>
                              <a:schemeClr val="tx1"/>
                            </a:solidFill>
                            <a:latin typeface="+mn-lt"/>
                            <a:ea typeface="+mn-ea"/>
                            <a:cs typeface="+mn-cs"/>
                          </a:rPr>
                          <m:t>𝑥</m:t>
                        </m:r>
                      </m:e>
                    </m:d>
                    <m:r>
                      <a:rPr lang="ar-AE" altLang="ko-KR" sz="1200" i="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∼</m:t>
                    </m:r>
                    <m:r>
                      <a:rPr lang="ar-AE" altLang="ko-KR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𝑝</m:t>
                    </m:r>
                  </m:oMath>
                </a14:m>
                <a:r>
                  <a:rPr lang="ko-KR" altLang="en-US" dirty="0" err="1"/>
                  <a:t>에</a:t>
                </a:r>
                <a:r>
                  <a:rPr lang="ko-KR" altLang="en-US" dirty="0"/>
                  <a:t> 대해 평균을 내서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특정 예시 하나가 아니라 </a:t>
                </a:r>
                <a:r>
                  <a:rPr lang="ko-KR" altLang="en-US" b="1" dirty="0"/>
                  <a:t>모델 전체의 경향</a:t>
                </a:r>
                <a:r>
                  <a:rPr lang="ko-KR" altLang="en-US" dirty="0"/>
                  <a:t>을 보게 만듭니다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이렇게 되면 </a:t>
                </a:r>
                <a:r>
                  <a:rPr lang="en" altLang="ko-KR" dirty="0"/>
                  <a:t>separation score</a:t>
                </a:r>
                <a:r>
                  <a:rPr lang="ko-KR" altLang="en-US" dirty="0"/>
                  <a:t>는 결국 </a:t>
                </a:r>
                <a:r>
                  <a:rPr lang="ko-KR" altLang="en-US" b="1" dirty="0"/>
                  <a:t>모델 하나를 대표하는 숫자</a:t>
                </a:r>
                <a:r>
                  <a:rPr lang="ko-KR" altLang="en-US" dirty="0"/>
                  <a:t>가 됩니다</a:t>
                </a:r>
                <a:endParaRPr kumimoji="1" lang="ko-KR" altLang="en-US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7616490F-F3DC-399E-068E-C20E8A9581C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저자들은 이 점수가 단지 </a:t>
                </a:r>
                <a:r>
                  <a:rPr lang="en" altLang="ko-KR" dirty="0"/>
                  <a:t>probe </a:t>
                </a:r>
                <a:r>
                  <a:rPr lang="en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𝑥</a:t>
                </a:r>
                <a:r>
                  <a:rPr lang="ko-KR" altLang="en-US" dirty="0"/>
                  <a:t>만의 성질이 아니라</a:t>
                </a:r>
                <a:r>
                  <a:rPr lang="en-US" altLang="ko-KR" dirty="0"/>
                  <a:t>, </a:t>
                </a:r>
                <a:r>
                  <a:rPr lang="ko-KR" altLang="en-US" b="1" dirty="0"/>
                  <a:t>문맥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𝑠</a:t>
                </a:r>
                <a:r>
                  <a:rPr lang="en-US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,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𝑑</a:t>
                </a:r>
                <a:r>
                  <a:rPr lang="ko-KR" altLang="en-US" dirty="0"/>
                  <a:t>에도 달려 있다고 말합니다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같은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라도 어떤 작업을 하는 중인지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어떤 데이터가 붙어 있는지에 따라 모델 반응이 달라질 수 있기 때문이죠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그래서 식에서는 </a:t>
                </a:r>
                <a:r>
                  <a:rPr lang="ar-AE" altLang="ko-KR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(𝑠ⓜ,𝑑ⓜ,𝑥)∼𝑝</a:t>
                </a:r>
                <a:r>
                  <a:rPr lang="ko-KR" altLang="en-US" dirty="0" err="1"/>
                  <a:t>에</a:t>
                </a:r>
                <a:r>
                  <a:rPr lang="ko-KR" altLang="en-US" dirty="0"/>
                  <a:t> 대해 평균을 내서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특정 예시 하나가 아니라 </a:t>
                </a:r>
                <a:r>
                  <a:rPr lang="ko-KR" altLang="en-US" b="1" dirty="0"/>
                  <a:t>모델 전체의 경향</a:t>
                </a:r>
                <a:r>
                  <a:rPr lang="ko-KR" altLang="en-US" dirty="0"/>
                  <a:t>을 보게 만듭니다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이렇게 되면 </a:t>
                </a:r>
                <a:r>
                  <a:rPr lang="en" altLang="ko-KR" dirty="0"/>
                  <a:t>separation score</a:t>
                </a:r>
                <a:r>
                  <a:rPr lang="ko-KR" altLang="en-US" dirty="0"/>
                  <a:t>는 결국 </a:t>
                </a:r>
                <a:r>
                  <a:rPr lang="ko-KR" altLang="en-US" b="1" dirty="0"/>
                  <a:t>모델 하나를 대표하는 숫자</a:t>
                </a:r>
                <a:r>
                  <a:rPr lang="ko-KR" altLang="en-US" dirty="0"/>
                  <a:t>가 됩니다</a:t>
                </a:r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55C593-2A87-1108-458D-7E190E32F6D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601952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8BEC73-9FB4-7FCD-AE77-EA9EFAD2B3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B9620EF-C658-DABA-F5B0-95A5D16CDF4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C336F946-4339-2D84-F7A8-8FA8F08928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09DD4C7-1A69-037C-EC10-A124D27A2A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756067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7B4912-D084-32FE-6585-CF337BEA36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6A363F7-2123-2AC8-82B4-D7120C199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CC69B36A-E8CC-5701-C543-F2F37F66175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한 분포에서는 어떤 단어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ko-KR" altLang="en-US" dirty="0"/>
                  <a:t>가 거의 안 나오는데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다른 분포에서는 거의 항상 나온다면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그 </a:t>
                </a:r>
                <a14:m>
                  <m:oMath xmlns:m="http://schemas.openxmlformats.org/officeDocument/2006/math">
                    <m:r>
                      <a:rPr lang="ko-KR" altLang="en-US" sz="1200" i="1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rPr>
                      <m:t>𝑤</m:t>
                    </m:r>
                  </m:oMath>
                </a14:m>
                <a:r>
                  <a:rPr lang="ko-KR" altLang="en-US" dirty="0"/>
                  <a:t>는 두 분포 차이를 드러내는 </a:t>
                </a:r>
                <a:r>
                  <a:rPr lang="ko-KR" altLang="en-US" b="1" dirty="0"/>
                  <a:t>증인 단어</a:t>
                </a:r>
                <a:r>
                  <a:rPr lang="ko-KR" altLang="en-US" dirty="0"/>
                  <a:t> 역할을 한다는 거예요</a:t>
                </a:r>
                <a:r>
                  <a:rPr lang="en-US" altLang="ko-KR" dirty="0"/>
                  <a:t>.</a:t>
                </a:r>
              </a:p>
              <a:p>
                <a:endParaRPr kumimoji="1" lang="en-US" altLang="ko-KR" dirty="0"/>
              </a:p>
              <a:p>
                <a:r>
                  <a:rPr lang="ko-KR" altLang="en-US" dirty="0"/>
                  <a:t>분포 전체를 비교하는 대신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“</a:t>
                </a:r>
                <a:r>
                  <a:rPr lang="ko-KR" altLang="en-US" dirty="0"/>
                  <a:t>이 경우엔 </a:t>
                </a:r>
                <a:r>
                  <a:rPr lang="en" altLang="ko-KR" b="1" dirty="0"/>
                  <a:t>murder</a:t>
                </a:r>
                <a:r>
                  <a:rPr lang="ko-KR" altLang="en-US" dirty="0"/>
                  <a:t>라는 단어가 나오면 안 되고”</a:t>
                </a:r>
              </a:p>
              <a:p>
                <a:r>
                  <a:rPr lang="ko-KR" altLang="en-US" dirty="0"/>
                  <a:t>“저 경우엔 </a:t>
                </a:r>
                <a:r>
                  <a:rPr lang="en" altLang="ko-KR" b="1" dirty="0"/>
                  <a:t>murder</a:t>
                </a:r>
                <a:r>
                  <a:rPr lang="ko-KR" altLang="en-US" dirty="0"/>
                  <a:t>가 거의 반드시 나와야 한다”</a:t>
                </a:r>
              </a:p>
              <a:p>
                <a:r>
                  <a:rPr lang="ko-KR" altLang="en-US" dirty="0"/>
                  <a:t>같은 식으로 </a:t>
                </a:r>
                <a:r>
                  <a:rPr lang="ko-KR" altLang="en-US" b="1" dirty="0"/>
                  <a:t>핵심 신호 하나만 본다</a:t>
                </a:r>
                <a:r>
                  <a:rPr lang="ko-KR" altLang="en-US" dirty="0"/>
                  <a:t>는 겁니다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단어가 있으면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가 실행된 흔적이고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없으면 실행되지 않았을 가능성이 크다고 보는 거죠</a:t>
                </a:r>
                <a:r>
                  <a:rPr lang="en-US" altLang="ko-KR" dirty="0"/>
                  <a:t>. </a:t>
                </a:r>
              </a:p>
              <a:p>
                <a:endParaRPr kumimoji="1" lang="ko-KR" altLang="en-US" dirty="0"/>
              </a:p>
            </p:txBody>
          </p:sp>
        </mc:Choice>
        <mc:Fallback>
          <p:sp>
            <p:nvSpPr>
              <p:cNvPr id="3" name="슬라이드 노트 개체 틀 2">
                <a:extLst>
                  <a:ext uri="{FF2B5EF4-FFF2-40B4-BE49-F238E27FC236}">
                    <a16:creationId xmlns:a16="http://schemas.microsoft.com/office/drawing/2014/main" id="{CC69B36A-E8CC-5701-C543-F2F37F661753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한 분포에서는 어떤 단어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ko-KR" altLang="en-US" dirty="0"/>
                  <a:t>가 거의 안 나오는데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다른 분포에서는 거의 항상 나온다면</a:t>
                </a:r>
                <a:r>
                  <a:rPr lang="en-US" altLang="ko-KR" dirty="0"/>
                  <a:t>,</a:t>
                </a:r>
                <a:br>
                  <a:rPr lang="en-US" altLang="ko-KR" dirty="0"/>
                </a:br>
                <a:r>
                  <a:rPr lang="ko-KR" altLang="en-US" dirty="0"/>
                  <a:t>그 </a:t>
                </a:r>
                <a:r>
                  <a:rPr lang="ko-KR" altLang="en-US" sz="1200" i="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rPr>
                  <a:t>𝑤</a:t>
                </a:r>
                <a:r>
                  <a:rPr lang="ko-KR" altLang="en-US" dirty="0"/>
                  <a:t>는 두 분포 차이를 드러내는 </a:t>
                </a:r>
                <a:r>
                  <a:rPr lang="ko-KR" altLang="en-US" b="1" dirty="0"/>
                  <a:t>증인 단어</a:t>
                </a:r>
                <a:r>
                  <a:rPr lang="ko-KR" altLang="en-US" dirty="0"/>
                  <a:t> 역할을 한다는 거예요</a:t>
                </a:r>
                <a:r>
                  <a:rPr lang="en-US" altLang="ko-KR" dirty="0"/>
                  <a:t>.</a:t>
                </a:r>
              </a:p>
              <a:p>
                <a:endParaRPr kumimoji="1" lang="en-US" altLang="ko-KR" dirty="0"/>
              </a:p>
              <a:p>
                <a:r>
                  <a:rPr lang="ko-KR" altLang="en-US" dirty="0"/>
                  <a:t>분포 전체를 비교하는 대신</a:t>
                </a:r>
                <a:r>
                  <a:rPr lang="en-US" altLang="ko-KR" dirty="0"/>
                  <a:t>,</a:t>
                </a:r>
              </a:p>
              <a:p>
                <a:r>
                  <a:rPr lang="en-US" altLang="ko-KR" dirty="0"/>
                  <a:t>“</a:t>
                </a:r>
                <a:r>
                  <a:rPr lang="ko-KR" altLang="en-US" dirty="0"/>
                  <a:t>이 경우엔 </a:t>
                </a:r>
                <a:r>
                  <a:rPr lang="en" altLang="ko-KR" b="1" dirty="0"/>
                  <a:t>murder</a:t>
                </a:r>
                <a:r>
                  <a:rPr lang="ko-KR" altLang="en-US" dirty="0"/>
                  <a:t>라는 단어가 나오면 안 되고”</a:t>
                </a:r>
              </a:p>
              <a:p>
                <a:r>
                  <a:rPr lang="ko-KR" altLang="en-US" dirty="0"/>
                  <a:t>“저 경우엔 </a:t>
                </a:r>
                <a:r>
                  <a:rPr lang="en" altLang="ko-KR" b="1" dirty="0"/>
                  <a:t>murder</a:t>
                </a:r>
                <a:r>
                  <a:rPr lang="ko-KR" altLang="en-US" dirty="0"/>
                  <a:t>가 거의 반드시 나와야 한다”</a:t>
                </a:r>
              </a:p>
              <a:p>
                <a:r>
                  <a:rPr lang="ko-KR" altLang="en-US" dirty="0"/>
                  <a:t>같은 식으로 </a:t>
                </a:r>
                <a:r>
                  <a:rPr lang="ko-KR" altLang="en-US" b="1" dirty="0"/>
                  <a:t>핵심 신호 하나만 본다</a:t>
                </a:r>
                <a:r>
                  <a:rPr lang="ko-KR" altLang="en-US" dirty="0"/>
                  <a:t>는 겁니다</a:t>
                </a:r>
                <a:r>
                  <a:rPr lang="en-US" altLang="ko-KR" dirty="0"/>
                  <a:t>.</a:t>
                </a:r>
                <a:br>
                  <a:rPr lang="en-US" altLang="ko-KR" dirty="0"/>
                </a:br>
                <a:r>
                  <a:rPr lang="ko-KR" altLang="en-US" dirty="0"/>
                  <a:t>이 단어가 있으면 </a:t>
                </a:r>
                <a:r>
                  <a:rPr lang="en" altLang="ko-KR" dirty="0"/>
                  <a:t>probe</a:t>
                </a:r>
                <a:r>
                  <a:rPr lang="ko-KR" altLang="en-US" dirty="0"/>
                  <a:t>가 실행된 흔적이고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없으면 실행되지 않았을 가능성이 크다고 보는 거죠</a:t>
                </a:r>
                <a:r>
                  <a:rPr lang="en-US" altLang="ko-KR" dirty="0"/>
                  <a:t>. </a:t>
                </a:r>
              </a:p>
              <a:p>
                <a:endParaRPr kumimoji="1" lang="ko-KR" altLang="en-US" dirty="0"/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1B5B105-8E2B-CA29-9A48-85B6F15242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7004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FDB3-FE51-4866-CA70-0D8721AC7B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F28C4A5-91AF-9032-31D6-675AC9FA0C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AD4E02-67E7-0293-2075-C4080A8F24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" altLang="ko-KR" b="1" dirty="0"/>
              <a:t>empirical separation</a:t>
            </a:r>
            <a:r>
              <a:rPr lang="ko-KR" altLang="en-US" b="1" dirty="0"/>
              <a:t>을 쉽게 풀면</a:t>
            </a:r>
            <a:endParaRPr lang="en-US" altLang="ko-KR" dirty="0"/>
          </a:p>
          <a:p>
            <a:r>
              <a:rPr lang="ko-KR" altLang="en-US" dirty="0"/>
              <a:t>실행해야 할 때는 </a:t>
            </a:r>
            <a:r>
              <a:rPr lang="en" altLang="ko-KR" dirty="0"/>
              <a:t>witness</a:t>
            </a:r>
            <a:r>
              <a:rPr lang="ko-KR" altLang="en-US" dirty="0" err="1"/>
              <a:t>를</a:t>
            </a:r>
            <a:r>
              <a:rPr lang="ko-KR" altLang="en-US" dirty="0"/>
              <a:t> 내고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처리만 해야 할 때는 </a:t>
            </a:r>
            <a:r>
              <a:rPr lang="en" altLang="ko-KR" dirty="0"/>
              <a:t>witness</a:t>
            </a:r>
            <a:r>
              <a:rPr lang="ko-KR" altLang="en-US" dirty="0" err="1"/>
              <a:t>를</a:t>
            </a:r>
            <a:r>
              <a:rPr lang="ko-KR" altLang="en-US" dirty="0"/>
              <a:t> 안 내는 비율</a:t>
            </a:r>
            <a:endParaRPr lang="en-US" altLang="ko-KR" dirty="0"/>
          </a:p>
          <a:p>
            <a:endParaRPr kumimoji="1" lang="en-US" altLang="ko-KR" dirty="0"/>
          </a:p>
          <a:p>
            <a:r>
              <a:rPr kumimoji="1" lang="en-US" altLang="ko-KR" dirty="0"/>
              <a:t>Quality</a:t>
            </a:r>
            <a:r>
              <a:rPr kumimoji="1" lang="ko-KR" altLang="en-US" dirty="0"/>
              <a:t>와는 상관 없음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accuracy</a:t>
            </a:r>
            <a:r>
              <a:rPr kumimoji="1" lang="ko-KR" altLang="en-US" dirty="0"/>
              <a:t>는 </a:t>
            </a:r>
            <a:r>
              <a:rPr kumimoji="1" lang="ko-KR" altLang="en-US" dirty="0" err="1"/>
              <a:t>안봄</a:t>
            </a: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B16F375-BFE7-EA93-2943-5AEFA9A6F4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856505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010708-9876-ACDD-9EF2-9479C8EB7E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CF76CC2-5F86-9FE3-9198-D5AB2AE2BE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582B810-8FB2-7023-C38C-DC1F619FC3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1213E5-702F-426D-338F-ACFF929DB2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14973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737165-58B5-24F3-202B-DD83C8EF0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572B58F-A44A-E31F-71A3-81C437347B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AB3CFE3-D8B9-8E67-9D53-411DE298FD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F917DF-684F-CD37-CCD5-28774BDDA9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68716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38BC3-19CD-ADE9-49E7-741A0EF638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EC11FCB-940C-9770-B92D-ED603F2CC5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16FDF15-1B6C-BD4A-425B-740044D2FE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5A1FC4-DCF8-A181-0DF8-1DC6B27B7D2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 lang="ko-KR" altLang="en-US"/>
            </a:pPr>
            <a:fld id="{562CCEFF-A2AE-45F8-B6D1-C9F23FC7D7B9}" type="slidenum">
              <a:rPr lang="ko-KR" altLang="en-US" smtClean="0"/>
              <a:pPr lvl="0">
                <a:defRPr lang="ko-KR" altLang="en-US"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11791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D10EDEE-B3FB-4441-A82B-78B5794C52D0}"/>
              </a:ext>
            </a:extLst>
          </p:cNvPr>
          <p:cNvSpPr/>
          <p:nvPr userDrawn="1"/>
        </p:nvSpPr>
        <p:spPr>
          <a:xfrm>
            <a:off x="0" y="-27384"/>
            <a:ext cx="12192000" cy="648072"/>
          </a:xfrm>
          <a:prstGeom prst="rect">
            <a:avLst/>
          </a:prstGeom>
          <a:solidFill>
            <a:srgbClr val="2C7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3395819" y="3272456"/>
            <a:ext cx="540036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28937" y="1904304"/>
            <a:ext cx="10534129" cy="1296144"/>
          </a:xfrm>
        </p:spPr>
        <p:txBody>
          <a:bodyPr>
            <a:normAutofit/>
          </a:bodyPr>
          <a:lstStyle>
            <a:lvl1pPr algn="ctr">
              <a:defRPr sz="40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6" name="부제목 2"/>
          <p:cNvSpPr txBox="1">
            <a:spLocks/>
          </p:cNvSpPr>
          <p:nvPr userDrawn="1"/>
        </p:nvSpPr>
        <p:spPr>
          <a:xfrm>
            <a:off x="3395819" y="3840532"/>
            <a:ext cx="5400363" cy="5417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3">
                  <a:lumMod val="75000"/>
                </a:schemeClr>
              </a:buClr>
              <a:buFont typeface="Wingdings" panose="05000000000000000000" pitchFamily="2" charset="2"/>
              <a:buNone/>
              <a:defRPr sz="2200" kern="12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4"/>
              </a:buClr>
              <a:buFont typeface="Wingdings 3" panose="05040102010807070707" pitchFamily="18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2pPr>
            <a:lvl3pPr marL="9144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Clr>
                <a:schemeClr val="accent1">
                  <a:lumMod val="60000"/>
                  <a:lumOff val="40000"/>
                </a:schemeClr>
              </a:buClr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3pPr>
            <a:lvl4pPr marL="13716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4pPr>
            <a:lvl5pPr marL="1828800" indent="0" algn="ctr" defTabSz="914400" rtl="0" eaLnBrk="1" latinLnBrk="1" hangingPunct="1">
              <a:lnSpc>
                <a:spcPct val="120000"/>
              </a:lnSpc>
              <a:spcBef>
                <a:spcPct val="20000"/>
              </a:spcBef>
              <a:buFont typeface="Arial" pitchFamily="34" charset="0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5pPr>
            <a:lvl6pPr marL="22860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1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ko-KR" altLang="en-US" sz="2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CE214F-ADB8-5846-8B01-50FC3B4C0B4C}"/>
              </a:ext>
            </a:extLst>
          </p:cNvPr>
          <p:cNvSpPr/>
          <p:nvPr userDrawn="1"/>
        </p:nvSpPr>
        <p:spPr>
          <a:xfrm>
            <a:off x="0" y="6237312"/>
            <a:ext cx="12192000" cy="648072"/>
          </a:xfrm>
          <a:prstGeom prst="rect">
            <a:avLst/>
          </a:prstGeom>
          <a:solidFill>
            <a:srgbClr val="2C71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 sz="180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6A452CCE-B678-CC60-8B42-5C29DA78C25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399166" y="4112385"/>
            <a:ext cx="3353268" cy="943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899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3" name="제목 개체 틀 1"/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b="1" spc="-30" baseline="0">
                <a:solidFill>
                  <a:schemeClr val="tx1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1400"/>
            </a:lvl1pPr>
          </a:lstStyle>
          <a:p>
            <a:endParaRPr lang="ko-KR" altLang="en-US" dirty="0"/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623AA08C-F22A-4B00-84B6-DF3FE08CC7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518383"/>
      </p:ext>
    </p:extLst>
  </p:cSld>
  <p:clrMapOvr>
    <a:masterClrMapping/>
  </p:clrMapOvr>
  <p:hf hdr="0" ftr="0" dt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직사각형 7"/>
          <p:cNvSpPr/>
          <p:nvPr userDrawn="1"/>
        </p:nvSpPr>
        <p:spPr>
          <a:xfrm>
            <a:off x="0" y="0"/>
            <a:ext cx="12192000" cy="648000"/>
          </a:xfrm>
          <a:prstGeom prst="rect">
            <a:avLst/>
          </a:prstGeom>
          <a:solidFill>
            <a:srgbClr val="EBF2F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>
              <a:solidFill>
                <a:prstClr val="white"/>
              </a:solidFill>
              <a:latin typeface="Corbel" pitchFamily="34" charset="0"/>
              <a:ea typeface="함초롬돋움" panose="0203050400010101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5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4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600" spc="-30" baseline="0">
                <a:solidFill>
                  <a:srgbClr val="4747BA"/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6EB2EDCB-2452-B540-8700-E8A8C013A6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960442"/>
            <a:ext cx="11472000" cy="5024842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A01032FD-E55F-4943-9EDD-C2B6EE7705AC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3EDC6D30-05A9-CB79-5DEB-8F8B1E4989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86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12" name="바닥글 개체 틀 3">
            <a:extLst>
              <a:ext uri="{FF2B5EF4-FFF2-40B4-BE49-F238E27FC236}">
                <a16:creationId xmlns:a16="http://schemas.microsoft.com/office/drawing/2014/main" id="{D19F37D1-40CA-0E40-B900-AA4A5C99C4DD}"/>
              </a:ext>
            </a:extLst>
          </p:cNvPr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/>
              <a:t>‹#›</a:t>
            </a:fld>
            <a:endParaRPr lang="ko-KR" altLang="en-US" sz="1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53AF0EE-46D0-8789-6920-E3D5E0B7660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805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5F5B913A-7BFE-FC3F-5723-36474050955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15701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 descr="illustrator for researcher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229" b="-607"/>
          <a:stretch/>
        </p:blipFill>
        <p:spPr bwMode="auto">
          <a:xfrm>
            <a:off x="66544" y="-1984"/>
            <a:ext cx="12097344" cy="4536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4987138" y="6021288"/>
            <a:ext cx="2874923" cy="541736"/>
          </a:xfrm>
        </p:spPr>
        <p:txBody>
          <a:bodyPr anchor="ctr">
            <a:noAutofit/>
          </a:bodyPr>
          <a:lstStyle>
            <a:lvl1pPr marL="0" indent="0" algn="ctr">
              <a:buNone/>
              <a:defRPr sz="2200" spc="-30" baseline="0">
                <a:solidFill>
                  <a:schemeClr val="accent2">
                    <a:lumMod val="75000"/>
                  </a:schemeClr>
                </a:solidFill>
                <a:latin typeface="Corbel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/>
              <a:t>이름</a:t>
            </a: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76602" y="4571871"/>
            <a:ext cx="10095995" cy="1296144"/>
          </a:xfrm>
        </p:spPr>
        <p:txBody>
          <a:bodyPr>
            <a:normAutofit/>
          </a:bodyPr>
          <a:lstStyle>
            <a:lvl1pPr algn="ctr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67BE6D7-73B9-12F2-F48D-B37255BA371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8688288" y="6013518"/>
            <a:ext cx="2577283" cy="724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2357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7383" y="4727433"/>
            <a:ext cx="11139411" cy="1296145"/>
          </a:xfrm>
        </p:spPr>
        <p:txBody>
          <a:bodyPr>
            <a:normAutofit/>
          </a:bodyPr>
          <a:lstStyle>
            <a:lvl1pPr algn="l">
              <a:defRPr sz="3600" spc="-3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10" name="텍스트 개체 틀 9"/>
          <p:cNvSpPr>
            <a:spLocks noGrp="1"/>
          </p:cNvSpPr>
          <p:nvPr>
            <p:ph type="body" sz="quarter" idx="10"/>
          </p:nvPr>
        </p:nvSpPr>
        <p:spPr>
          <a:xfrm>
            <a:off x="527051" y="3850708"/>
            <a:ext cx="11140016" cy="876725"/>
          </a:xfrm>
        </p:spPr>
        <p:txBody>
          <a:bodyPr anchor="b"/>
          <a:lstStyle>
            <a:lvl1pPr marL="0" indent="0"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pic>
        <p:nvPicPr>
          <p:cNvPr id="6" name="Picture 2" descr="focusì ëí ì´ë¯¸ì§ ê²ìê²°ê³¼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20" t="27578" r="1337" b="27578"/>
          <a:stretch/>
        </p:blipFill>
        <p:spPr bwMode="auto">
          <a:xfrm>
            <a:off x="0" y="-27384"/>
            <a:ext cx="12192000" cy="3873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E917F6C-29AB-DE66-320E-CC4D620C40F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40" y="6023579"/>
            <a:ext cx="2527161" cy="71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95776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3"/>
          <p:cNvSpPr txBox="1">
            <a:spLocks/>
          </p:cNvSpPr>
          <p:nvPr userDrawn="1"/>
        </p:nvSpPr>
        <p:spPr>
          <a:xfrm>
            <a:off x="10896533" y="6348770"/>
            <a:ext cx="129092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3AC94BC-4602-4ECC-942C-2123D1E31FE8}" type="slidenum">
              <a:rPr lang="en-US" altLang="ko-KR" sz="1400" smtClean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pPr/>
              <a:t>‹#›</a:t>
            </a:fld>
            <a:r>
              <a:rPr lang="en-US" altLang="ko-KR" sz="1400" dirty="0">
                <a:solidFill>
                  <a:prstClr val="black">
                    <a:tint val="75000"/>
                  </a:prst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rPr>
              <a:t>/29</a:t>
            </a:r>
          </a:p>
        </p:txBody>
      </p:sp>
      <p:sp>
        <p:nvSpPr>
          <p:cNvPr id="12" name="제목 개체 틀 1"/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sp>
        <p:nvSpPr>
          <p:cNvPr id="14" name="내용 개체 틀 2">
            <a:extLst>
              <a:ext uri="{FF2B5EF4-FFF2-40B4-BE49-F238E27FC236}">
                <a16:creationId xmlns:a16="http://schemas.microsoft.com/office/drawing/2014/main" id="{E4E955C6-C3C0-2D40-921D-8B5751E91E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76772"/>
            <a:ext cx="11472000" cy="4772814"/>
          </a:xfrm>
        </p:spPr>
        <p:txBody>
          <a:bodyPr>
            <a:normAutofit/>
          </a:bodyPr>
          <a:lstStyle>
            <a:lvl1pPr marL="342900" indent="-342900">
              <a:buClr>
                <a:srgbClr val="FCB536"/>
              </a:buClr>
              <a:buFont typeface="Arial" pitchFamily="34" charset="0"/>
              <a:buChar char="•"/>
              <a:defRPr sz="24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1pPr>
            <a:lvl2pPr marL="742950" indent="-285750">
              <a:buClr>
                <a:srgbClr val="EF99BE"/>
              </a:buClr>
              <a:buFont typeface="Arial" pitchFamily="34" charset="0"/>
              <a:buChar char="•"/>
              <a:defRPr sz="20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2pPr>
            <a:lvl3pPr>
              <a:buClr>
                <a:schemeClr val="accent1">
                  <a:lumMod val="60000"/>
                  <a:lumOff val="40000"/>
                </a:schemeClr>
              </a:buClr>
              <a:defRPr sz="18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3pPr>
            <a:lvl4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4pPr>
            <a:lvl5pPr>
              <a:defRPr sz="1600" spc="-20" baseline="0">
                <a:solidFill>
                  <a:schemeClr val="tx1"/>
                </a:solidFill>
                <a:latin typeface="Corbel" pitchFamily="34" charset="0"/>
                <a:ea typeface="함초롬돋움" panose="02030504000101010101" pitchFamily="18" charset="-127"/>
                <a:cs typeface="함초롬돋움" panose="02030504000101010101" pitchFamily="18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C8D08EF-D95D-7D3D-58D8-457BF4AA31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54346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Yoon 윤고딕 115_TT" panose="02090603020101020101" pitchFamily="18" charset="-127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2" name="제목 개체 틀 1">
            <a:extLst>
              <a:ext uri="{FF2B5EF4-FFF2-40B4-BE49-F238E27FC236}">
                <a16:creationId xmlns:a16="http://schemas.microsoft.com/office/drawing/2014/main" id="{11715C41-99E2-B14A-A7D4-65D82428C0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000" y="296652"/>
            <a:ext cx="11904000" cy="8367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3600" spc="-30" baseline="0">
                <a:solidFill>
                  <a:schemeClr val="accent2">
                    <a:lumMod val="75000"/>
                  </a:schemeClr>
                </a:solidFill>
                <a:latin typeface="Arial" panose="020B0604020202020204" pitchFamily="34" charset="0"/>
                <a:ea typeface="Yoon 윤고딕 115_TT" panose="0209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dirty="0"/>
              <a:t>페이지 제목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712C36-7A30-55EE-A1F7-F457CAF996D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91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9" name="Picture 2" descr="https://encrypted-tbn0.gstatic.com/images?q=tbn:ANd9GcTV0fzHlVSVGEYIELVu_BMH0nnLG5jNKza4l_e4zNkxgBxhHFQ3Kw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2600" y="2581276"/>
            <a:ext cx="3606800" cy="16954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DB5C717B-BA75-EE44-8215-72B58E4626F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5340" y="6147747"/>
            <a:ext cx="2085671" cy="58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52413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0.xml"/><Relationship Id="rId4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153102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66" r:id="rId5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60000" y="900000"/>
            <a:ext cx="11472000" cy="525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2"/>
          </p:nvPr>
        </p:nvSpPr>
        <p:spPr>
          <a:xfrm>
            <a:off x="36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696000" y="6356351"/>
            <a:ext cx="4800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9760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Candara" panose="020E0502030303020204" pitchFamily="34" charset="0"/>
                <a:ea typeface="함초롬돋움" pitchFamily="18" charset="-127"/>
                <a:cs typeface="함초롬돋움" pitchFamily="18" charset="-127"/>
              </a:defRPr>
            </a:lvl1pPr>
          </a:lstStyle>
          <a:p>
            <a:endParaRPr lang="ko-KR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144000" y="0"/>
            <a:ext cx="11904000" cy="61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페이지 제목</a:t>
            </a:r>
          </a:p>
        </p:txBody>
      </p:sp>
    </p:spTree>
    <p:extLst>
      <p:ext uri="{BB962C8B-B14F-4D97-AF65-F5344CB8AC3E}">
        <p14:creationId xmlns:p14="http://schemas.microsoft.com/office/powerpoint/2010/main" val="33240342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</p:sldLayoutIdLst>
  <p:hf sldNum="0" hdr="0" ftr="0" dt="0"/>
  <p:txStyles>
    <p:titleStyle>
      <a:lvl1pPr algn="l" defTabSz="914400" rtl="0" eaLnBrk="1" latinLnBrk="1" hangingPunct="1">
        <a:spcBef>
          <a:spcPct val="0"/>
        </a:spcBef>
        <a:buNone/>
        <a:defRPr sz="2500" kern="1200">
          <a:solidFill>
            <a:schemeClr val="bg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</p:titleStyle>
    <p:bodyStyle>
      <a:lvl1pPr marL="342900" indent="-3429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3">
            <a:lumMod val="75000"/>
          </a:schemeClr>
        </a:buClr>
        <a:buFont typeface="Wingdings" panose="05000000000000000000" pitchFamily="2" charset="2"/>
        <a:buChar char=""/>
        <a:defRPr sz="24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1pPr>
      <a:lvl2pPr marL="742950" indent="-28575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4"/>
        </a:buClr>
        <a:buFont typeface="Wingdings 3" panose="05040102010807070707" pitchFamily="18" charset="2"/>
        <a:buChar char=""/>
        <a:defRPr sz="18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2pPr>
      <a:lvl3pPr marL="1143000" indent="-228600" algn="l" defTabSz="914400" rtl="0" eaLnBrk="1" latinLnBrk="1" hangingPunct="1">
        <a:lnSpc>
          <a:spcPct val="120000"/>
        </a:lnSpc>
        <a:spcBef>
          <a:spcPct val="20000"/>
        </a:spcBef>
        <a:buClr>
          <a:schemeClr val="accent1">
            <a:lumMod val="60000"/>
            <a:lumOff val="40000"/>
          </a:schemeClr>
        </a:buClr>
        <a:buFont typeface="Arial" pitchFamily="34" charset="0"/>
        <a:buChar char="•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3pPr>
      <a:lvl4pPr marL="16002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4pPr>
      <a:lvl5pPr marL="2057400" indent="-228600" algn="l" defTabSz="914400" rtl="0" eaLnBrk="1" latinLnBrk="1" hangingPunct="1">
        <a:lnSpc>
          <a:spcPct val="120000"/>
        </a:lnSpc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Candara" panose="020E0502030303020204" pitchFamily="34" charset="0"/>
          <a:ea typeface="함초롬돋움" pitchFamily="18" charset="-127"/>
          <a:cs typeface="함초롬돋움" pitchFamily="18" charset="-127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634E5-20A8-67A4-AF35-857CEA1FEF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7E58A493-A795-AC90-2E29-E0E621C732F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ICLR 2025, citation: 56 (~26.03.12)</a:t>
            </a:r>
            <a:endParaRPr lang="en-KR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19C6ED65-6E7D-1F21-F0D5-4D67FE9D08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935" y="1976312"/>
            <a:ext cx="10534129" cy="1296144"/>
          </a:xfrm>
        </p:spPr>
        <p:txBody>
          <a:bodyPr>
            <a:normAutofit fontScale="90000"/>
          </a:bodyPr>
          <a:lstStyle/>
          <a:p>
            <a:r>
              <a:rPr lang="en" altLang="ko-KR" b="1" dirty="0"/>
              <a:t>CAN LLMS SEPARATE INSTRUCTIONS FROM DATA? AND WHAT DO WE EVEN MEAN BY THAT?</a:t>
            </a:r>
            <a:endParaRPr lang="en-KR" b="1" dirty="0"/>
          </a:p>
        </p:txBody>
      </p:sp>
    </p:spTree>
    <p:extLst>
      <p:ext uri="{BB962C8B-B14F-4D97-AF65-F5344CB8AC3E}">
        <p14:creationId xmlns:p14="http://schemas.microsoft.com/office/powerpoint/2010/main" val="482878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2D8B508C-B991-FAC5-0FD1-B31BBA734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The execution of any instructions in the data must be prohibited</a:t>
            </a:r>
          </a:p>
          <a:p>
            <a:r>
              <a:rPr lang="en-US" altLang="ko-KR" dirty="0"/>
              <a:t>However, current LLMs </a:t>
            </a:r>
            <a:r>
              <a:rPr lang="en-US" altLang="ko-KR" b="1" dirty="0"/>
              <a:t>do not enforce explicit separation</a:t>
            </a:r>
            <a:r>
              <a:rPr lang="en-US" altLang="ko-KR" dirty="0"/>
              <a:t> between the </a:t>
            </a:r>
            <a:r>
              <a:rPr lang="en-US" altLang="ko-KR" b="1" dirty="0">
                <a:solidFill>
                  <a:srgbClr val="FF0000"/>
                </a:solidFill>
              </a:rPr>
              <a:t>instructions</a:t>
            </a:r>
            <a:r>
              <a:rPr lang="en-US" altLang="ko-KR" dirty="0"/>
              <a:t> (execute) and the </a:t>
            </a:r>
            <a:r>
              <a:rPr lang="en-US" altLang="ko-KR" b="1" dirty="0">
                <a:solidFill>
                  <a:srgbClr val="0070C0"/>
                </a:solidFill>
              </a:rPr>
              <a:t>data</a:t>
            </a:r>
            <a:r>
              <a:rPr lang="en-US" altLang="ko-KR" dirty="0"/>
              <a:t> (process)</a:t>
            </a:r>
          </a:p>
          <a:p>
            <a:r>
              <a:rPr lang="en-US" altLang="ko-KR" dirty="0"/>
              <a:t>Therefore, model wrongly treats a harmless input as an instructions and executes it</a:t>
            </a:r>
          </a:p>
          <a:p>
            <a:endParaRPr lang="en-US" altLang="ko-KR" dirty="0"/>
          </a:p>
          <a:p>
            <a:r>
              <a:rPr lang="en-US" altLang="ko-KR" dirty="0"/>
              <a:t>For example, in modern computer systems</a:t>
            </a:r>
          </a:p>
          <a:p>
            <a:pPr lvl="1"/>
            <a:r>
              <a:rPr lang="en-US" altLang="ko-KR" dirty="0"/>
              <a:t>SQL injection</a:t>
            </a:r>
          </a:p>
          <a:p>
            <a:pPr lvl="1"/>
            <a:r>
              <a:rPr lang="en-US" altLang="ko-KR" dirty="0"/>
              <a:t>Memory regions</a:t>
            </a:r>
          </a:p>
          <a:p>
            <a:pPr lvl="1"/>
            <a:r>
              <a:rPr lang="en-US" altLang="ko-KR" dirty="0"/>
              <a:t>Operating systems</a:t>
            </a:r>
            <a:endParaRPr lang="ko-KR" altLang="en-US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576C996-FED5-749E-2811-C67F79170B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45341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C68428-50AD-627C-C0C2-C12B7EB06E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 descr="텍스트, 폰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1706C72-3927-55F7-2116-02F30CD6F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0363" y="1242745"/>
            <a:ext cx="11471275" cy="3425508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DA53D9F6-DBBB-8919-8A57-7E4F16357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9255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F6E9CB-CEA8-5F96-3321-570CFBCE6D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DE54058-5EDD-AB21-C227-83E34B73CE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Contributions</a:t>
            </a:r>
          </a:p>
          <a:p>
            <a:pPr lvl="1"/>
            <a:r>
              <a:rPr lang="en-US" altLang="ko-KR" dirty="0"/>
              <a:t>Formal characterization of instruction-data separation for single-turn language models</a:t>
            </a:r>
          </a:p>
          <a:p>
            <a:pPr lvl="1"/>
            <a:r>
              <a:rPr lang="en-US" altLang="ko-KR" dirty="0"/>
              <a:t>A proxy measure and a dataset</a:t>
            </a:r>
          </a:p>
          <a:p>
            <a:pPr lvl="1"/>
            <a:r>
              <a:rPr lang="en-US" altLang="ko-KR" dirty="0"/>
              <a:t>Empirical evaluation of the data-instruction separation of several </a:t>
            </a:r>
            <a:r>
              <a:rPr lang="en-US" altLang="ko-KR" dirty="0" err="1"/>
              <a:t>SoTA</a:t>
            </a:r>
            <a:r>
              <a:rPr lang="en-US" altLang="ko-KR" dirty="0"/>
              <a:t> LMs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prompt injection already exist (2023~)</a:t>
            </a:r>
          </a:p>
          <a:p>
            <a:r>
              <a:rPr lang="en-US" altLang="ko-KR" dirty="0"/>
              <a:t>This paper formalizes concept of why prompt injection success in LLMs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3C9A8D0B-6AAC-4E9B-2FED-3694CA0029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7614378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8AA081-8CE2-594D-767E-7297772039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91D780D-4996-87E0-7FE1-5E420F73A55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ko-KR" dirty="0"/>
                  <a:t>Definition 1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Single-turn LM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Discussion 1</a:t>
                </a:r>
              </a:p>
              <a:p>
                <a:pPr lvl="1"/>
                <a:r>
                  <a:rPr lang="en-US" altLang="ko-KR" dirty="0"/>
                  <a:t>Define LMs as abstract function 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altLang="ko-KR" dirty="0"/>
                  <a:t>Quantify the separation a model achieves between instructions and data</a:t>
                </a:r>
              </a:p>
              <a:p>
                <a:pPr lvl="1"/>
                <a14:m/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691D780D-4996-87E0-7FE1-5E420F73A55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 t="-531" b="-74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526F51EC-DFF4-0728-3C6D-39AABC1FC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  <p:pic>
        <p:nvPicPr>
          <p:cNvPr id="5" name="그림 4" descr="폰트, 타이포그래피, 친필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3B7ADB0-7660-3E19-58C7-E323963F728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59200" y="2276872"/>
            <a:ext cx="4673600" cy="584200"/>
          </a:xfrm>
          <a:prstGeom prst="rect">
            <a:avLst/>
          </a:prstGeom>
        </p:spPr>
      </p:pic>
      <p:pic>
        <p:nvPicPr>
          <p:cNvPr id="7" name="그림 6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9CEB6E2-026B-A7E4-7F25-E04202380A6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408" y="2861072"/>
            <a:ext cx="3996444" cy="1791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12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EA4B63-BCD4-051B-D73D-B510533E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88EA6FE7-E765-CFD6-6A70-DC051D326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Definition 2</a:t>
            </a:r>
          </a:p>
          <a:p>
            <a:endParaRPr lang="en-US" altLang="ko-KR" dirty="0"/>
          </a:p>
          <a:p>
            <a:r>
              <a:rPr lang="en-US" altLang="ko-KR" dirty="0" err="1"/>
              <a:t>Seperation</a:t>
            </a:r>
            <a:r>
              <a:rPr lang="en-US" altLang="ko-KR" dirty="0"/>
              <a:t> Score</a:t>
            </a:r>
          </a:p>
          <a:p>
            <a:pPr lvl="1"/>
            <a:endParaRPr lang="en-US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6865EFBE-C745-50F2-94C5-6BEE24D3B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F7D089E-E1FA-69DA-3034-B3A05998FD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3682" y="2312876"/>
            <a:ext cx="7772400" cy="624227"/>
          </a:xfrm>
          <a:prstGeom prst="rect">
            <a:avLst/>
          </a:prstGeom>
        </p:spPr>
      </p:pic>
      <p:pic>
        <p:nvPicPr>
          <p:cNvPr id="11" name="그림 10" descr="텍스트, 폰트, 화이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4CD60E-0788-8B4B-7033-3B46B6D5068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3858838"/>
            <a:ext cx="4572508" cy="1300564"/>
          </a:xfrm>
          <a:prstGeom prst="rect">
            <a:avLst/>
          </a:prstGeom>
        </p:spPr>
      </p:pic>
      <p:pic>
        <p:nvPicPr>
          <p:cNvPr id="9" name="그림 8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5B80222-9A86-0EF5-03F9-D35466B25DF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416" y="2744924"/>
            <a:ext cx="2050126" cy="1261616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잉크 11">
                <a:extLst>
                  <a:ext uri="{FF2B5EF4-FFF2-40B4-BE49-F238E27FC236}">
                    <a16:creationId xmlns:a16="http://schemas.microsoft.com/office/drawing/2014/main" id="{2071E909-21A4-B89D-4733-8A3C24423110}"/>
                  </a:ext>
                </a:extLst>
              </p14:cNvPr>
              <p14:cNvContentPartPr/>
              <p14:nvPr/>
            </p14:nvContentPartPr>
            <p14:xfrm>
              <a:off x="1615260" y="4917200"/>
              <a:ext cx="1350360" cy="18000"/>
            </p14:xfrm>
          </p:contentPart>
        </mc:Choice>
        <mc:Fallback>
          <p:pic>
            <p:nvPicPr>
              <p:cNvPr id="12" name="잉크 11">
                <a:extLst>
                  <a:ext uri="{FF2B5EF4-FFF2-40B4-BE49-F238E27FC236}">
                    <a16:creationId xmlns:a16="http://schemas.microsoft.com/office/drawing/2014/main" id="{2071E909-21A4-B89D-4733-8A3C2442311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561620" y="4809200"/>
                <a:ext cx="1458000" cy="23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17210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68A74-A4C8-9DB2-9325-BA1F9325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0A9E6275-387B-B398-692B-E9D2779C9A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Discussion 2</a:t>
            </a:r>
          </a:p>
          <a:p>
            <a:endParaRPr lang="en-US" altLang="ko-KR" dirty="0"/>
          </a:p>
          <a:p>
            <a:r>
              <a:rPr lang="en-US" altLang="ko-KR" dirty="0"/>
              <a:t>Expectation -&gt; the influence of the context and the probe are marginalized out according to their distribution p.</a:t>
            </a:r>
          </a:p>
          <a:p>
            <a:r>
              <a:rPr lang="en-US" altLang="ko-KR" dirty="0"/>
              <a:t>Can use expected separation score as a tool for comparing models</a:t>
            </a:r>
          </a:p>
          <a:p>
            <a:endParaRPr lang="en-US" altLang="ko-KR" dirty="0"/>
          </a:p>
          <a:p>
            <a:r>
              <a:rPr lang="en-US" altLang="ko-KR" dirty="0"/>
              <a:t>Small score: the model does not separate instruction and data well</a:t>
            </a:r>
          </a:p>
          <a:p>
            <a:r>
              <a:rPr lang="en-US" altLang="ko-KR" dirty="0"/>
              <a:t>Large score: data arguments are never treated as instructions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720E4FCB-88BE-3B17-6176-2ED0BCE81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831405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ADA93-C9EC-966D-9867-141400FCEB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4415481C-022E-33FF-AC4B-D51EB71D9E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Discussion 2</a:t>
            </a:r>
          </a:p>
          <a:p>
            <a:endParaRPr lang="en-US" altLang="ko-KR" dirty="0"/>
          </a:p>
          <a:p>
            <a:r>
              <a:rPr lang="en-US" altLang="ko-KR" dirty="0"/>
              <a:t>However, the separation score is not computable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The unknown data distribution, p</a:t>
            </a:r>
          </a:p>
          <a:p>
            <a:pPr marL="1314450" lvl="2" indent="-457200">
              <a:buFont typeface="Wingdings" pitchFamily="2" charset="2"/>
              <a:buChar char="Ø"/>
            </a:pPr>
            <a:r>
              <a:rPr lang="en-US" altLang="ko-KR" dirty="0"/>
              <a:t>Create dataset D to approximate the expected separation score by an empirical estimate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the set of all potential model outputs is typically intractably large -&gt; standard dissimilarity measures cannot be evaluated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altLang="ko-KR" dirty="0"/>
              <a:t>the model’s output probabilities might not be known</a:t>
            </a:r>
          </a:p>
          <a:p>
            <a:pPr marL="1314450" lvl="2" indent="-457200">
              <a:buFont typeface="Wingdings" pitchFamily="2" charset="2"/>
              <a:buChar char="Ø"/>
            </a:pPr>
            <a:r>
              <a:rPr lang="en-US" altLang="ko-KR" dirty="0"/>
              <a:t>2,3:</a:t>
            </a:r>
            <a:r>
              <a:rPr lang="ko-KR" altLang="en-US" dirty="0"/>
              <a:t> </a:t>
            </a:r>
            <a:r>
              <a:rPr lang="en" altLang="ko-KR" dirty="0"/>
              <a:t>propose an empirical measure </a:t>
            </a:r>
            <a:r>
              <a:rPr lang="en-US" altLang="ko-KR" b="1" dirty="0"/>
              <a:t>surprise witness</a:t>
            </a:r>
            <a:r>
              <a:rPr lang="en-US" altLang="ko-KR" dirty="0"/>
              <a:t> (definition 3)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DC327572-7524-9EA5-D5B9-49BF895A8C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09640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FAA30-6459-B6FB-4BE5-3C5D55251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5BE2307-B3C6-E091-582E-6496A9E3B88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</p:spPr>
            <p:txBody>
              <a:bodyPr/>
              <a:lstStyle/>
              <a:p>
                <a:r>
                  <a:rPr lang="en-US" altLang="ko-KR" dirty="0"/>
                  <a:t>Definition 3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Surprise Witness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ko-KR" i="1" dirty="0" smtClean="0">
                        <a:latin typeface="Cambria Math" panose="02040503050406030204" pitchFamily="18" charset="0"/>
                      </a:rPr>
                      <m:t>∈</m:t>
                    </m:r>
                  </m:oMath>
                </a14:m>
                <a:r>
                  <a:rPr lang="en-US" altLang="ko-KR" dirty="0"/>
                  <a:t>: appears as a substring</a:t>
                </a:r>
              </a:p>
              <a:p>
                <a:pPr lvl="1"/>
                <a:endParaRPr lang="en-US" altLang="ko-KR" dirty="0"/>
              </a:p>
              <a:p>
                <a:pPr lvl="1"/>
                <a:r>
                  <a:rPr lang="en-US" altLang="ko-KR" dirty="0"/>
                  <a:t>The existence of a surprise witness implies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lang="en-US" altLang="ko-KR" i="1" dirty="0" smtClean="0">
                            <a:latin typeface="Cambria Math" panose="02040503050406030204" pitchFamily="18" charset="0"/>
                          </a:rPr>
                          <m:t>𝐾𝐿</m:t>
                        </m:r>
                      </m:sub>
                    </m:sSub>
                    <m:d>
                      <m:dPr>
                        <m:ctrlPr>
                          <a:rPr lang="en-US" altLang="ko-KR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∥</m:t>
                        </m:r>
                        <m:r>
                          <a:rPr lang="en-US" altLang="ko-KR" i="1" dirty="0" err="1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</m:oMath>
                </a14:m>
                <a:r>
                  <a:rPr lang="en-US" altLang="ko-KR" dirty="0"/>
                  <a:t> cannot be small</a:t>
                </a:r>
              </a:p>
              <a:p>
                <a:pPr lvl="1"/>
                <a:r>
                  <a:rPr lang="en-US" altLang="ko-KR" dirty="0"/>
                  <a:t>Surprise witness can easily be estimated by sampling or checking</a:t>
                </a:r>
              </a:p>
              <a:p>
                <a:pPr lvl="1">
                  <a:buFont typeface="Wingdings" pitchFamily="2" charset="2"/>
                  <a:buChar char="Ø"/>
                </a:pPr>
                <a:r>
                  <a:rPr lang="en-US" altLang="ko-KR" dirty="0"/>
                  <a:t>No access to the model’s output probabilities is required.</a:t>
                </a:r>
              </a:p>
            </p:txBody>
          </p:sp>
        </mc:Choice>
        <mc:Fallback>
          <p:sp>
            <p:nvSpPr>
              <p:cNvPr id="2" name="내용 개체 틀 1">
                <a:extLst>
                  <a:ext uri="{FF2B5EF4-FFF2-40B4-BE49-F238E27FC236}">
                    <a16:creationId xmlns:a16="http://schemas.microsoft.com/office/drawing/2014/main" id="{15BE2307-B3C6-E091-582E-6496A9E3B88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60000" y="1304764"/>
                <a:ext cx="11472000" cy="4772814"/>
              </a:xfrm>
              <a:blipFill>
                <a:blip r:embed="rId3"/>
                <a:stretch>
                  <a:fillRect l="-77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제목 2">
            <a:extLst>
              <a:ext uri="{FF2B5EF4-FFF2-40B4-BE49-F238E27FC236}">
                <a16:creationId xmlns:a16="http://schemas.microsoft.com/office/drawing/2014/main" id="{700353A8-F081-559E-1DAC-343FA7554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  <p:pic>
        <p:nvPicPr>
          <p:cNvPr id="5" name="그림 4" descr="폰트, 텍스트, 화이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94DA32-7F40-CA59-D347-8490D8A81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62300" y="2348880"/>
            <a:ext cx="37338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62814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D3618-3160-CFF1-EF05-BDA8A8B1F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BC9997CC-AD0F-2EBE-955B-26F02D199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Definition 4</a:t>
            </a:r>
          </a:p>
          <a:p>
            <a:endParaRPr lang="en-US" altLang="ko-KR" dirty="0"/>
          </a:p>
          <a:p>
            <a:r>
              <a:rPr lang="en" altLang="ko-KR" dirty="0"/>
              <a:t>Empirical Separation Score</a:t>
            </a:r>
            <a:r>
              <a:rPr lang="en-US" altLang="ko-KR" dirty="0"/>
              <a:t> and</a:t>
            </a:r>
            <a:r>
              <a:rPr lang="ko-KR" altLang="en-US" dirty="0"/>
              <a:t> </a:t>
            </a:r>
            <a:r>
              <a:rPr lang="en" altLang="ko-KR" dirty="0"/>
              <a:t>Utility Score</a:t>
            </a:r>
          </a:p>
          <a:p>
            <a:endParaRPr lang="en" altLang="ko-KR" dirty="0"/>
          </a:p>
          <a:p>
            <a:endParaRPr lang="en" altLang="ko-KR" dirty="0"/>
          </a:p>
          <a:p>
            <a:pPr lvl="1"/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09169B27-0BFA-4520-7611-B370CB437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EDC1621-A26B-27BE-4EF2-02CAEED73F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3432" y="2931177"/>
            <a:ext cx="8357392" cy="995646"/>
          </a:xfrm>
          <a:prstGeom prst="rect">
            <a:avLst/>
          </a:prstGeom>
        </p:spPr>
      </p:pic>
      <p:pic>
        <p:nvPicPr>
          <p:cNvPr id="8" name="그림 7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16D03ED-5EF5-0823-A6D4-ABB9B15CA48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996" y="3926823"/>
            <a:ext cx="2451100" cy="143510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62461DC4-5C03-9668-BB82-3259FCD06A3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7704" y="5310088"/>
            <a:ext cx="5994400" cy="711200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150C8481-3732-7E72-6C63-AF1BA1CD17E1}"/>
              </a:ext>
            </a:extLst>
          </p:cNvPr>
          <p:cNvSpPr/>
          <p:nvPr/>
        </p:nvSpPr>
        <p:spPr>
          <a:xfrm>
            <a:off x="6096000" y="5697252"/>
            <a:ext cx="1368152" cy="380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0026690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C44342-2719-AEE9-365B-0FDA14241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3558CC51-DBAE-5B57-A351-3760352D60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000" y="1304764"/>
            <a:ext cx="11472000" cy="4772814"/>
          </a:xfrm>
        </p:spPr>
        <p:txBody>
          <a:bodyPr/>
          <a:lstStyle/>
          <a:p>
            <a:r>
              <a:rPr lang="en-US" altLang="ko-KR" dirty="0"/>
              <a:t>Example</a:t>
            </a:r>
            <a:endParaRPr lang="en" altLang="ko-KR" dirty="0"/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55D2A95A-ED4E-71B5-EC46-93E0F07DE5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Formula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F45765E-01D4-F184-9349-FBB4370BEC2B}"/>
              </a:ext>
            </a:extLst>
          </p:cNvPr>
          <p:cNvSpPr/>
          <p:nvPr/>
        </p:nvSpPr>
        <p:spPr>
          <a:xfrm>
            <a:off x="6096000" y="5697252"/>
            <a:ext cx="1368152" cy="380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pic>
        <p:nvPicPr>
          <p:cNvPr id="5" name="그림 4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FB47C80-B973-8E88-3C83-39A54690D5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8685" y="2096852"/>
            <a:ext cx="11105106" cy="1981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6495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9ED8D-A8D7-E681-B131-F82B84CCF6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텍스트, 번호, 영수증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39E3A33-D961-8DAC-430A-56F9517B167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9716" y="276245"/>
            <a:ext cx="7848872" cy="6431236"/>
          </a:xfrm>
          <a:prstGeom prst="rect">
            <a:avLst/>
          </a:prstGeom>
        </p:spPr>
      </p:pic>
      <p:sp>
        <p:nvSpPr>
          <p:cNvPr id="3" name="제목 2">
            <a:extLst>
              <a:ext uri="{FF2B5EF4-FFF2-40B4-BE49-F238E27FC236}">
                <a16:creationId xmlns:a16="http://schemas.microsoft.com/office/drawing/2014/main" id="{7A4B33A0-8CEF-6712-78BF-3385887D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EB03C7D-AF1F-5984-6837-B8A393D4011F}"/>
              </a:ext>
            </a:extLst>
          </p:cNvPr>
          <p:cNvSpPr/>
          <p:nvPr/>
        </p:nvSpPr>
        <p:spPr>
          <a:xfrm>
            <a:off x="6096000" y="5697252"/>
            <a:ext cx="1368152" cy="380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609155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A6D76-D0DF-145D-3994-472FE3EBD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F0D2385A-3854-3D2E-21B4-9554AB30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0000" y="368732"/>
            <a:ext cx="11154700" cy="648000"/>
          </a:xfrm>
        </p:spPr>
        <p:txBody>
          <a:bodyPr/>
          <a:lstStyle/>
          <a:p>
            <a:r>
              <a:rPr lang="en-US" altLang="ko-KR" dirty="0"/>
              <a:t>Experiments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AE66793-F06E-F2BE-0420-C7EC4872A614}"/>
              </a:ext>
            </a:extLst>
          </p:cNvPr>
          <p:cNvSpPr/>
          <p:nvPr/>
        </p:nvSpPr>
        <p:spPr>
          <a:xfrm>
            <a:off x="6096000" y="5697252"/>
            <a:ext cx="1368152" cy="3803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9D51465-97FF-455B-7027-C933D78A8A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9452165-4C49-807B-505C-8AD49AD33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508" y="1151458"/>
            <a:ext cx="8856984" cy="507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49809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07183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테마">
  <a:themeElements>
    <a:clrScheme name="Taehoon Lee">
      <a:dk1>
        <a:sysClr val="windowText" lastClr="000000"/>
      </a:dk1>
      <a:lt1>
        <a:sysClr val="window" lastClr="FFFFFF"/>
      </a:lt1>
      <a:dk2>
        <a:srgbClr val="433021"/>
      </a:dk2>
      <a:lt2>
        <a:srgbClr val="E8D8CA"/>
      </a:lt2>
      <a:accent1>
        <a:srgbClr val="9A57CD"/>
      </a:accent1>
      <a:accent2>
        <a:srgbClr val="0070C0"/>
      </a:accent2>
      <a:accent3>
        <a:srgbClr val="00B0F0"/>
      </a:accent3>
      <a:accent4>
        <a:srgbClr val="F1C10F"/>
      </a:accent4>
      <a:accent5>
        <a:srgbClr val="FBA305"/>
      </a:accent5>
      <a:accent6>
        <a:srgbClr val="EA76A8"/>
      </a:accent6>
      <a:hlink>
        <a:srgbClr val="008685"/>
      </a:hlink>
      <a:folHlink>
        <a:srgbClr val="EA5A23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20000000000000000000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46216</TotalTime>
  <Words>696</Words>
  <Application>Microsoft Macintosh PowerPoint</Application>
  <PresentationFormat>와이드스크린</PresentationFormat>
  <Paragraphs>99</Paragraphs>
  <Slides>14</Slides>
  <Notes>9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14</vt:i4>
      </vt:variant>
    </vt:vector>
  </HeadingPairs>
  <TitlesOfParts>
    <vt:vector size="24" baseType="lpstr">
      <vt:lpstr>맑은 고딕</vt:lpstr>
      <vt:lpstr>Yoon 윤고딕 115_TT</vt:lpstr>
      <vt:lpstr>Arial</vt:lpstr>
      <vt:lpstr>Cambria Math</vt:lpstr>
      <vt:lpstr>Candara</vt:lpstr>
      <vt:lpstr>Corbel</vt:lpstr>
      <vt:lpstr>Wingdings</vt:lpstr>
      <vt:lpstr>Wingdings 3</vt:lpstr>
      <vt:lpstr>Office 테마</vt:lpstr>
      <vt:lpstr>1_Office 테마</vt:lpstr>
      <vt:lpstr>CAN LLMS SEPARATE INSTRUCTIONS FROM DATA? AND WHAT DO WE EVEN MEAN BY THAT?</vt:lpstr>
      <vt:lpstr>Introduction</vt:lpstr>
      <vt:lpstr>Introduction</vt:lpstr>
      <vt:lpstr>Introduction</vt:lpstr>
      <vt:lpstr>Formula</vt:lpstr>
      <vt:lpstr>Formula</vt:lpstr>
      <vt:lpstr>Formula</vt:lpstr>
      <vt:lpstr>Formula</vt:lpstr>
      <vt:lpstr>Formula</vt:lpstr>
      <vt:lpstr>Formula</vt:lpstr>
      <vt:lpstr>Formula</vt:lpstr>
      <vt:lpstr>Experiments</vt:lpstr>
      <vt:lpstr>Experiments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Taehoon Lee</dc:creator>
  <cp:lastModifiedBy>강현오</cp:lastModifiedBy>
  <cp:revision>4196</cp:revision>
  <dcterms:created xsi:type="dcterms:W3CDTF">2013-05-08T06:38:33Z</dcterms:created>
  <dcterms:modified xsi:type="dcterms:W3CDTF">2026-03-12T03:48:35Z</dcterms:modified>
</cp:coreProperties>
</file>