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4" r:id="rId1"/>
    <p:sldMasterId id="2147483665" r:id="rId2"/>
  </p:sldMasterIdLst>
  <p:notesMasterIdLst>
    <p:notesMasterId r:id="rId32"/>
  </p:notesMasterIdLst>
  <p:handoutMasterIdLst>
    <p:handoutMasterId r:id="rId33"/>
  </p:handoutMasterIdLst>
  <p:sldIdLst>
    <p:sldId id="257" r:id="rId3"/>
    <p:sldId id="262" r:id="rId4"/>
    <p:sldId id="263" r:id="rId5"/>
    <p:sldId id="264" r:id="rId6"/>
    <p:sldId id="275" r:id="rId7"/>
    <p:sldId id="276" r:id="rId8"/>
    <p:sldId id="277" r:id="rId9"/>
    <p:sldId id="278" r:id="rId10"/>
    <p:sldId id="279" r:id="rId11"/>
    <p:sldId id="280" r:id="rId12"/>
    <p:sldId id="284" r:id="rId13"/>
    <p:sldId id="281" r:id="rId14"/>
    <p:sldId id="283" r:id="rId15"/>
    <p:sldId id="282" r:id="rId16"/>
    <p:sldId id="285" r:id="rId17"/>
    <p:sldId id="286" r:id="rId18"/>
    <p:sldId id="287" r:id="rId19"/>
    <p:sldId id="288" r:id="rId20"/>
    <p:sldId id="289" r:id="rId21"/>
    <p:sldId id="290" r:id="rId22"/>
    <p:sldId id="272" r:id="rId23"/>
    <p:sldId id="274" r:id="rId24"/>
    <p:sldId id="266" r:id="rId25"/>
    <p:sldId id="267" r:id="rId26"/>
    <p:sldId id="271" r:id="rId27"/>
    <p:sldId id="270" r:id="rId28"/>
    <p:sldId id="269" r:id="rId29"/>
    <p:sldId id="273" r:id="rId30"/>
    <p:sldId id="260" r:id="rId31"/>
  </p:sldIdLst>
  <p:sldSz cx="12192000" cy="6858000"/>
  <p:notesSz cx="9928225" cy="6797675"/>
  <p:embeddedFontLst>
    <p:embeddedFont>
      <p:font typeface="맑은 고딕" panose="020B0503020000020004" pitchFamily="34" charset="-127"/>
      <p:regular r:id="rId34"/>
      <p:bold r:id="rId35"/>
    </p:embeddedFont>
    <p:embeddedFont>
      <p:font typeface="Cambria Math" panose="02040503050406030204" pitchFamily="18" charset="0"/>
      <p:regular r:id="rId36"/>
    </p:embeddedFont>
    <p:embeddedFont>
      <p:font typeface="Candara" panose="020E0502030303020204" pitchFamily="34" charset="0"/>
      <p:regular r:id="rId37"/>
      <p:bold r:id="rId38"/>
      <p:italic r:id="rId39"/>
      <p:boldItalic r:id="rId40"/>
    </p:embeddedFont>
    <p:embeddedFont>
      <p:font typeface="Corbel" panose="020B0503020204020204" pitchFamily="34" charset="0"/>
      <p:regular r:id="rId41"/>
      <p:bold r:id="rId42"/>
      <p:italic r:id="rId43"/>
      <p:boldItalic r:id="rId44"/>
    </p:embeddedFont>
    <p:embeddedFont>
      <p:font typeface="Wingdings 3" pitchFamily="2" charset="2"/>
      <p:regular r:id="rId4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3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mon lee" initials="sl" lastIdx="1" clrIdx="0"/>
  <p:cmAuthor id="2" name="편하늘" initials="편" lastIdx="3" clrIdx="1">
    <p:extLst>
      <p:ext uri="{19B8F6BF-5375-455C-9EA6-DF929625EA0E}">
        <p15:presenceInfo xmlns:p15="http://schemas.microsoft.com/office/powerpoint/2012/main" userId="S::1102444016@soongsil.ac.kr::b9ebc181-39dc-45ef-8c38-868373cf86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46" autoAdjust="0"/>
    <p:restoredTop sz="85034" autoAdjust="0"/>
  </p:normalViewPr>
  <p:slideViewPr>
    <p:cSldViewPr snapToGrid="0">
      <p:cViewPr varScale="1">
        <p:scale>
          <a:sx n="103" d="100"/>
          <a:sy n="103" d="100"/>
        </p:scale>
        <p:origin x="1128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846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1954" y="53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6.fntdata"/><Relationship Id="rId21" Type="http://schemas.openxmlformats.org/officeDocument/2006/relationships/slide" Target="slides/slide19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3.fntdata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1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handoutMaster" Target="handoutMasters/handoutMaster1.xml"/><Relationship Id="rId38" Type="http://schemas.openxmlformats.org/officeDocument/2006/relationships/font" Target="fonts/font5.fntdata"/><Relationship Id="rId46" Type="http://schemas.openxmlformats.org/officeDocument/2006/relationships/commentAuthors" Target="commentAuthors.xml"/><Relationship Id="rId20" Type="http://schemas.openxmlformats.org/officeDocument/2006/relationships/slide" Target="slides/slide18.xml"/><Relationship Id="rId41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0" cy="34106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3697" y="0"/>
            <a:ext cx="4302230" cy="34106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681CB499-57DE-4459-8164-C24C1927EE22}" type="datetime1">
              <a:rPr lang="ko-KR" altLang="en-US"/>
              <a:pPr lvl="0">
                <a:defRPr lang="ko-KR" altLang="en-US"/>
              </a:pPr>
              <a:t>2025. 8. 14.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3"/>
            <a:ext cx="4302230" cy="341063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3697" y="6456613"/>
            <a:ext cx="4302230" cy="341063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8708606D-7016-48C6-AD55-6C46873277CB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0" cy="33988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697" y="0"/>
            <a:ext cx="4302230" cy="33988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626B28A4-0406-4D64-A121-EFDA8C66E1AC}" type="datetime1">
              <a:rPr lang="ko-KR" altLang="en-US"/>
              <a:pPr lvl="0">
                <a:defRPr lang="ko-KR" altLang="en-US"/>
              </a:pPr>
              <a:t>2025. 8. 14.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698750" y="487363"/>
            <a:ext cx="45307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17" tIns="46058" rIns="92117" bIns="46058" anchor="ctr"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28897"/>
            <a:ext cx="7942580" cy="3058953"/>
          </a:xfrm>
          <a:prstGeom prst="rect">
            <a:avLst/>
          </a:prstGeom>
        </p:spPr>
        <p:txBody>
          <a:bodyPr vert="horz" lIns="92117" tIns="46058" rIns="92117" bIns="46058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56611"/>
            <a:ext cx="4302230" cy="339884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697" y="6456611"/>
            <a:ext cx="4302230" cy="339884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562CCEFF-A2AE-45F8-B6D1-C9F23FC7D7B9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18807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dirty="0"/>
              <a:t>only for entropy minimization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6960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19F83-A0A4-3F1D-5A92-4A807D874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E28C83-D682-BC2B-AD4E-B611229D4F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43426E7-80D4-CD18-8F40-563B48A2A0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저 </a:t>
            </a:r>
            <a:r>
              <a:rPr kumimoji="1" lang="en-US" altLang="ko-KR" dirty="0"/>
              <a:t>SAR</a:t>
            </a:r>
            <a:r>
              <a:rPr kumimoji="1" lang="ko-KR" altLang="en-US" dirty="0"/>
              <a:t>이 </a:t>
            </a:r>
            <a:r>
              <a:rPr kumimoji="1" lang="ko-KR" altLang="en-US" dirty="0" err="1"/>
              <a:t>최초라는게</a:t>
            </a:r>
            <a:r>
              <a:rPr kumimoji="1" lang="ko-KR" altLang="en-US" dirty="0"/>
              <a:t> 아님</a:t>
            </a:r>
            <a:r>
              <a:rPr kumimoji="1" lang="en-US" altLang="ko-KR" dirty="0"/>
              <a:t>.</a:t>
            </a:r>
            <a:r>
              <a:rPr kumimoji="1" lang="ko-KR" altLang="en-US" dirty="0"/>
              <a:t> 최초는 </a:t>
            </a:r>
            <a:r>
              <a:rPr kumimoji="1" lang="en-US" altLang="ko-KR" dirty="0"/>
              <a:t>EATA.</a:t>
            </a:r>
            <a:r>
              <a:rPr kumimoji="1" lang="ko-KR" altLang="en-US" dirty="0"/>
              <a:t> 근데 </a:t>
            </a:r>
            <a:r>
              <a:rPr kumimoji="1" lang="en-US" altLang="ko-KR" dirty="0"/>
              <a:t>wild </a:t>
            </a:r>
            <a:r>
              <a:rPr kumimoji="1" lang="ko-KR" altLang="en-US" dirty="0"/>
              <a:t>한 상황에서는 </a:t>
            </a:r>
            <a:r>
              <a:rPr kumimoji="1" lang="en-US" altLang="ko-KR" dirty="0"/>
              <a:t>SAR</a:t>
            </a:r>
            <a:r>
              <a:rPr kumimoji="1" lang="ko-KR" altLang="en-US" dirty="0"/>
              <a:t>이 먼저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E0A953-2781-A8DD-207F-F4828E7E53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24384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BFFA5-946D-4F8E-4490-B373787A1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2B8A76-EF35-4FAE-6122-6037124883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41A597-2844-2577-A03B-BF78539828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저 </a:t>
            </a:r>
            <a:r>
              <a:rPr kumimoji="1" lang="en-US" altLang="ko-KR" dirty="0"/>
              <a:t>SAR</a:t>
            </a:r>
            <a:r>
              <a:rPr kumimoji="1" lang="ko-KR" altLang="en-US" dirty="0"/>
              <a:t>이 </a:t>
            </a:r>
            <a:r>
              <a:rPr kumimoji="1" lang="ko-KR" altLang="en-US" dirty="0" err="1"/>
              <a:t>최초라는게</a:t>
            </a:r>
            <a:r>
              <a:rPr kumimoji="1" lang="ko-KR" altLang="en-US" dirty="0"/>
              <a:t> 아님</a:t>
            </a:r>
            <a:r>
              <a:rPr kumimoji="1" lang="en-US" altLang="ko-KR" dirty="0"/>
              <a:t>.</a:t>
            </a:r>
            <a:r>
              <a:rPr kumimoji="1" lang="ko-KR" altLang="en-US" dirty="0"/>
              <a:t> 최초는 </a:t>
            </a:r>
            <a:r>
              <a:rPr kumimoji="1" lang="en-US" altLang="ko-KR" dirty="0"/>
              <a:t>EATA.</a:t>
            </a:r>
            <a:r>
              <a:rPr kumimoji="1" lang="ko-KR" altLang="en-US" dirty="0"/>
              <a:t> 근데 </a:t>
            </a:r>
            <a:r>
              <a:rPr kumimoji="1" lang="en-US" altLang="ko-KR" dirty="0"/>
              <a:t>wild </a:t>
            </a:r>
            <a:r>
              <a:rPr kumimoji="1" lang="ko-KR" altLang="en-US" dirty="0"/>
              <a:t>한 상황에서는 </a:t>
            </a:r>
            <a:r>
              <a:rPr kumimoji="1" lang="en-US" altLang="ko-KR" dirty="0"/>
              <a:t>SAR</a:t>
            </a:r>
            <a:r>
              <a:rPr kumimoji="1" lang="ko-KR" altLang="en-US" dirty="0"/>
              <a:t>이 먼저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 err="1"/>
              <a:t>백본모델이</a:t>
            </a:r>
            <a:r>
              <a:rPr kumimoji="1" lang="ko-KR" altLang="en-US" dirty="0"/>
              <a:t> 특징공간을 잘 학습했다는 가정하에</a:t>
            </a:r>
            <a:r>
              <a:rPr kumimoji="1" lang="en-US" altLang="ko-KR" dirty="0"/>
              <a:t>,</a:t>
            </a:r>
          </a:p>
          <a:p>
            <a:r>
              <a:rPr kumimoji="1" lang="ko-KR" altLang="en-US" dirty="0"/>
              <a:t>다음 사진을 통해서 </a:t>
            </a:r>
            <a:r>
              <a:rPr kumimoji="1" lang="en-US" altLang="ko-KR" dirty="0"/>
              <a:t>wild</a:t>
            </a:r>
            <a:r>
              <a:rPr kumimoji="1" lang="ko-KR" altLang="en-US" dirty="0"/>
              <a:t>한 환경에서는 유사한 </a:t>
            </a:r>
            <a:r>
              <a:rPr kumimoji="1" lang="ko-KR" altLang="en-US" dirty="0" err="1"/>
              <a:t>시맨틱에서</a:t>
            </a:r>
            <a:r>
              <a:rPr kumimoji="1" lang="ko-KR" altLang="en-US" dirty="0"/>
              <a:t> 전혀 다른 예측을 함을 보임</a:t>
            </a: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4EBD50-FB92-7E07-D6F5-282C916D4E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20676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88EAB-82CC-F366-748A-338A3AAC4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6935D0D-A419-CE43-FF8D-8CF9CDBE97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1166A0-3D57-6D49-4C99-763A8DAFBC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9F7578-D93C-5B70-E66C-5F1770F716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76867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AEE77-8662-0086-BB79-5F3938FAD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9C6A9B-AD88-785F-21CF-50D3729D71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57760C-8833-4F25-4C9A-64D3FA7F66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7668AE-B5D2-B686-A5D4-5D3AF6543C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63582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066FA-F160-EFBB-A5B4-D03367B61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985968-03C9-42F5-0760-BE103AC0B1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C8B12DE-AAA7-182A-8D08-F508353022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저게 왜 저렇게 되냐</a:t>
            </a:r>
            <a:r>
              <a:rPr kumimoji="1" lang="en-US" altLang="ko-KR" dirty="0"/>
              <a:t>?</a:t>
            </a:r>
          </a:p>
          <a:p>
            <a:r>
              <a:rPr kumimoji="1" lang="ko-KR" altLang="en-US" dirty="0"/>
              <a:t>결정경계가 한 샘플마다 변경이 되니까 주변에 샘플들이 </a:t>
            </a:r>
            <a:r>
              <a:rPr kumimoji="1" lang="ko-KR" altLang="en-US" dirty="0" err="1"/>
              <a:t>영향받음</a:t>
            </a:r>
            <a:endParaRPr kumimoji="1" lang="en-US" altLang="ko-KR" dirty="0"/>
          </a:p>
          <a:p>
            <a:r>
              <a:rPr kumimoji="1" lang="ko-KR" altLang="en-US" dirty="0"/>
              <a:t>이게 일관성이 있으면 결정경계가 제대로 형성되는데</a:t>
            </a:r>
            <a:endParaRPr kumimoji="1" lang="en-US" altLang="ko-KR" dirty="0"/>
          </a:p>
          <a:p>
            <a:r>
              <a:rPr kumimoji="1" lang="ko-KR" altLang="en-US" dirty="0" err="1"/>
              <a:t>반대일경우</a:t>
            </a:r>
            <a:r>
              <a:rPr kumimoji="1" lang="ko-KR" altLang="en-US" dirty="0"/>
              <a:t> </a:t>
            </a:r>
            <a:r>
              <a:rPr kumimoji="1" lang="en-US" altLang="ko-KR" dirty="0"/>
              <a:t>+</a:t>
            </a:r>
            <a:r>
              <a:rPr kumimoji="1" lang="ko-KR" altLang="en-US" dirty="0"/>
              <a:t> </a:t>
            </a:r>
            <a:r>
              <a:rPr kumimoji="1" lang="en-US" altLang="ko-KR" dirty="0"/>
              <a:t>-</a:t>
            </a:r>
            <a:r>
              <a:rPr kumimoji="1" lang="ko-KR" altLang="en-US" dirty="0"/>
              <a:t> 막 되다가 이상해짐</a:t>
            </a: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ECF4D0-FFA8-2E97-8057-19D6D38C7A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17597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9C6B0-2E64-7954-3EFA-C74E496A8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4B0B15E-107C-C80F-8C70-57EEF39B01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B96A3BF-927C-2DC9-933D-1EB0090996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(a): mild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inconsistency</a:t>
            </a:r>
            <a:r>
              <a:rPr kumimoji="1" lang="ko-KR" altLang="en-US" dirty="0"/>
              <a:t> 확률이 낮은데 </a:t>
            </a:r>
            <a:r>
              <a:rPr kumimoji="1" lang="en-US" altLang="ko-KR" dirty="0"/>
              <a:t>wild</a:t>
            </a:r>
            <a:r>
              <a:rPr kumimoji="1" lang="ko-KR" altLang="en-US" dirty="0"/>
              <a:t>는 높음</a:t>
            </a:r>
            <a:endParaRPr kumimoji="1" lang="en-US" altLang="ko-KR" dirty="0"/>
          </a:p>
          <a:p>
            <a:r>
              <a:rPr kumimoji="1" lang="en-US" altLang="ko-KR" dirty="0"/>
              <a:t>(b):</a:t>
            </a:r>
            <a:r>
              <a:rPr kumimoji="1" lang="ko-KR" altLang="en-US" dirty="0"/>
              <a:t> </a:t>
            </a:r>
            <a:r>
              <a:rPr kumimoji="1" lang="en-US" altLang="ko-KR" dirty="0"/>
              <a:t>KL</a:t>
            </a:r>
            <a:r>
              <a:rPr kumimoji="1" lang="ko-KR" altLang="en-US" dirty="0"/>
              <a:t>로 봐도 엔트로피는 비슷해도 </a:t>
            </a:r>
            <a:r>
              <a:rPr kumimoji="1" lang="en-US" altLang="ko-KR" dirty="0"/>
              <a:t>KL</a:t>
            </a:r>
            <a:r>
              <a:rPr kumimoji="1" lang="ko-KR" altLang="en-US" dirty="0"/>
              <a:t>이 엄청 크게 나옴</a:t>
            </a:r>
            <a:endParaRPr kumimoji="1" lang="en-US" altLang="ko-KR" dirty="0"/>
          </a:p>
          <a:p>
            <a:r>
              <a:rPr kumimoji="1" lang="en-US" altLang="ko-KR" dirty="0"/>
              <a:t>(c): area 2</a:t>
            </a:r>
            <a:r>
              <a:rPr kumimoji="1" lang="ko-KR" altLang="en-US" dirty="0"/>
              <a:t>는 성능저하를 유발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1</a:t>
            </a:r>
            <a:r>
              <a:rPr kumimoji="1" lang="ko-KR" altLang="en-US" dirty="0"/>
              <a:t>은 성능이 오름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1+2</a:t>
            </a:r>
            <a:r>
              <a:rPr kumimoji="1" lang="ko-KR" altLang="en-US" dirty="0"/>
              <a:t>는 좀 애매</a:t>
            </a:r>
            <a:endParaRPr kumimoji="1" lang="en-US" altLang="ko-KR" dirty="0"/>
          </a:p>
          <a:p>
            <a:r>
              <a:rPr kumimoji="1" lang="en-US" altLang="ko-KR" dirty="0"/>
              <a:t>1+2</a:t>
            </a:r>
            <a:r>
              <a:rPr kumimoji="1" lang="ko-KR" altLang="en-US" dirty="0"/>
              <a:t>도 </a:t>
            </a:r>
            <a:r>
              <a:rPr kumimoji="1" lang="ko-KR" altLang="en-US" dirty="0" err="1"/>
              <a:t>애매한것을</a:t>
            </a:r>
            <a:r>
              <a:rPr kumimoji="1" lang="ko-KR" altLang="en-US" dirty="0"/>
              <a:t> 통해 </a:t>
            </a:r>
            <a:r>
              <a:rPr kumimoji="1" lang="en-US" altLang="ko-KR" dirty="0"/>
              <a:t>EM+</a:t>
            </a:r>
            <a:r>
              <a:rPr kumimoji="1" lang="ko-KR" altLang="en-US" dirty="0"/>
              <a:t>기존의 선택 필터 방법도 일관성을 유지하지 못해 성능이 </a:t>
            </a:r>
            <a:r>
              <a:rPr kumimoji="1" lang="ko-KR" altLang="en-US" dirty="0" err="1"/>
              <a:t>별로다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라고</a:t>
            </a:r>
            <a:r>
              <a:rPr kumimoji="1" lang="ko-KR" altLang="en-US" dirty="0"/>
              <a:t> 주장</a:t>
            </a:r>
            <a:endParaRPr kumimoji="1" lang="en-US" altLang="ko-KR" dirty="0"/>
          </a:p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CAC7BE-2449-1CA8-0CC6-36719BD381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28777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B4961-9E44-4F4F-9C62-C59B1CA10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DC0BF07-C0E6-5D31-B379-C15E490C18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9C875A5-5D77-5829-CB9E-A9F2E251F1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local region </a:t>
            </a:r>
            <a:r>
              <a:rPr kumimoji="1" lang="el-GR" altLang="ko-KR" dirty="0"/>
              <a:t>Ω </a:t>
            </a:r>
            <a:r>
              <a:rPr kumimoji="1" lang="en-US" altLang="ko-KR" dirty="0"/>
              <a:t>of a sample x</a:t>
            </a:r>
          </a:p>
          <a:p>
            <a:r>
              <a:rPr kumimoji="1" lang="ko-KR" altLang="en-US" dirty="0"/>
              <a:t>적분 하는 이유는 </a:t>
            </a:r>
            <a:r>
              <a:rPr kumimoji="1" lang="ko-KR" altLang="en-US" dirty="0" err="1"/>
              <a:t>기대값</a:t>
            </a:r>
            <a:r>
              <a:rPr kumimoji="1" lang="ko-KR" altLang="en-US" dirty="0"/>
              <a:t> 사용하기 위해</a:t>
            </a:r>
            <a:r>
              <a:rPr kumimoji="1" lang="en-US" altLang="ko-KR" dirty="0"/>
              <a:t>(</a:t>
            </a:r>
            <a:r>
              <a:rPr kumimoji="1" lang="ko-KR" altLang="en-US" dirty="0"/>
              <a:t>로컬을 평균</a:t>
            </a:r>
            <a:r>
              <a:rPr kumimoji="1" lang="en-US" altLang="ko-KR" dirty="0"/>
              <a:t>)</a:t>
            </a:r>
          </a:p>
          <a:p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/>
              <a:t>바이어스</a:t>
            </a:r>
            <a:r>
              <a:rPr lang="en-US" altLang="ko-KR" b="1" dirty="0"/>
              <a:t>(</a:t>
            </a:r>
            <a:r>
              <a:rPr lang="ko-KR" altLang="en-US" b="1" dirty="0"/>
              <a:t>개별 샘플 업데이트의 </a:t>
            </a:r>
            <a:r>
              <a:rPr lang="ko-KR" altLang="en-US" b="1" dirty="0" err="1"/>
              <a:t>방향”과</a:t>
            </a:r>
            <a:r>
              <a:rPr lang="ko-KR" altLang="en-US" b="1" dirty="0"/>
              <a:t> “지역적 목표” 사이의 방향 편향</a:t>
            </a:r>
            <a:r>
              <a:rPr lang="en-US" altLang="ko-KR" b="1" dirty="0"/>
              <a:t>(</a:t>
            </a:r>
            <a:r>
              <a:rPr lang="en" altLang="ko-KR" b="1" dirty="0"/>
              <a:t>bias)</a:t>
            </a:r>
            <a:r>
              <a:rPr lang="ko-KR" altLang="en-US" b="1" dirty="0"/>
              <a:t>을 줄인다</a:t>
            </a:r>
            <a:r>
              <a:rPr lang="en-US" altLang="ko-KR" b="1" dirty="0"/>
              <a:t>)</a:t>
            </a:r>
            <a:r>
              <a:rPr lang="en-US" altLang="ko-KR" dirty="0"/>
              <a:t>: </a:t>
            </a:r>
            <a:r>
              <a:rPr lang="ko-KR" altLang="en-US" dirty="0"/>
              <a:t>지역 전반의 “</a:t>
            </a:r>
            <a:r>
              <a:rPr lang="ko-KR" altLang="en-US" dirty="0" err="1"/>
              <a:t>수준”을</a:t>
            </a:r>
            <a:r>
              <a:rPr lang="ko-KR" altLang="en-US" dirty="0"/>
              <a:t> 맞추는 평균</a:t>
            </a:r>
            <a:r>
              <a:rPr lang="en-US" altLang="ko-KR" dirty="0"/>
              <a:t>(</a:t>
            </a:r>
            <a:r>
              <a:rPr lang="ko-KR" altLang="en-US" dirty="0"/>
              <a:t>엔트로피 </a:t>
            </a:r>
            <a:r>
              <a:rPr lang="ko-KR" altLang="en-US" dirty="0" err="1"/>
              <a:t>기대값</a:t>
            </a:r>
            <a:r>
              <a:rPr lang="en-US" altLang="ko-KR" dirty="0"/>
              <a:t>) → </a:t>
            </a:r>
            <a:r>
              <a:rPr lang="ko-KR" altLang="en-US" b="1" dirty="0"/>
              <a:t>방향 정렬</a:t>
            </a:r>
            <a:r>
              <a:rPr lang="en-US" altLang="ko-KR" dirty="0"/>
              <a:t>.  </a:t>
            </a:r>
          </a:p>
          <a:p>
            <a:r>
              <a:rPr lang="ko-KR" altLang="en-US" b="1" dirty="0"/>
              <a:t>분산</a:t>
            </a:r>
            <a:r>
              <a:rPr lang="en-US" altLang="ko-KR" dirty="0"/>
              <a:t>: </a:t>
            </a:r>
            <a:r>
              <a:rPr lang="ko-KR" altLang="en-US" dirty="0"/>
              <a:t>지역 내부의 “</a:t>
            </a:r>
            <a:r>
              <a:rPr lang="ko-KR" altLang="en-US" dirty="0" err="1"/>
              <a:t>흩어짐”을</a:t>
            </a:r>
            <a:r>
              <a:rPr lang="ko-KR" altLang="en-US" dirty="0"/>
              <a:t> 줄이는 불일치 </a:t>
            </a:r>
            <a:r>
              <a:rPr lang="ko-KR" altLang="en-US" dirty="0" err="1"/>
              <a:t>패널티</a:t>
            </a:r>
            <a:r>
              <a:rPr lang="en-US" altLang="ko-KR" dirty="0"/>
              <a:t>(</a:t>
            </a:r>
            <a:r>
              <a:rPr lang="en" altLang="ko-KR" dirty="0"/>
              <a:t>KL) → </a:t>
            </a:r>
            <a:r>
              <a:rPr lang="ko-KR" altLang="en-US" b="1" dirty="0"/>
              <a:t>동역학 분산 감소</a:t>
            </a:r>
            <a:r>
              <a:rPr lang="en-US" altLang="ko-KR" b="1" dirty="0"/>
              <a:t>/</a:t>
            </a:r>
            <a:r>
              <a:rPr lang="ko-KR" altLang="en-US" b="1" dirty="0"/>
              <a:t>일관성 증대</a:t>
            </a:r>
            <a:r>
              <a:rPr lang="en-US" altLang="ko-KR" dirty="0"/>
              <a:t>.  </a:t>
            </a:r>
          </a:p>
          <a:p>
            <a:r>
              <a:rPr lang="ko-KR" altLang="en-US" b="1" dirty="0"/>
              <a:t>둘을 합쳐</a:t>
            </a:r>
            <a:r>
              <a:rPr lang="ko-KR" altLang="en-US" dirty="0"/>
              <a:t> 지역에서 </a:t>
            </a:r>
            <a:r>
              <a:rPr lang="ko-KR" altLang="en-US" b="1" dirty="0"/>
              <a:t>자신감↑ </a:t>
            </a:r>
            <a:r>
              <a:rPr lang="en-US" altLang="ko-KR" b="1" dirty="0"/>
              <a:t>+ </a:t>
            </a:r>
            <a:r>
              <a:rPr lang="ko-KR" altLang="en-US" b="1" dirty="0" err="1"/>
              <a:t>일관성↑</a:t>
            </a:r>
            <a:r>
              <a:rPr lang="ko-KR" altLang="en-US" dirty="0" err="1"/>
              <a:t>를</a:t>
            </a:r>
            <a:r>
              <a:rPr lang="ko-KR" altLang="en-US" dirty="0"/>
              <a:t> 동시에 달성하자는 설계 취지라</a:t>
            </a:r>
            <a:r>
              <a:rPr lang="en-US" altLang="ko-KR" dirty="0"/>
              <a:t>, </a:t>
            </a:r>
            <a:r>
              <a:rPr lang="ko-KR" altLang="en-US" dirty="0"/>
              <a:t>이름을 </a:t>
            </a:r>
            <a:r>
              <a:rPr lang="en" altLang="ko-KR" b="1" dirty="0"/>
              <a:t>bias/variance</a:t>
            </a:r>
            <a:r>
              <a:rPr lang="ko-KR" altLang="en-US" dirty="0"/>
              <a:t>로 잡은 거예요</a:t>
            </a:r>
            <a:r>
              <a:rPr lang="en-US" altLang="ko-KR" dirty="0"/>
              <a:t>.  </a:t>
            </a:r>
          </a:p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C38CEB-5F8B-6218-609D-53C82CBB29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84602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D1131-CCEF-2CD5-AB75-C1CA5FEA2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A7D9FEB-0E3D-BE32-3A0F-183ABB90B1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07D5C7-D5F0-40D1-EC36-EF9FEE2F3E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D32D9E-B21B-7F7F-08BD-791EDAA552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04266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58503-CD80-7E36-1560-36E4A14BF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BEBEEE-36CE-5ED6-2275-8729AB9410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9E0414E-EE18-9C77-6DC3-9A10E8D784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580F12-800A-B2E2-35BF-F0689FCC22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94852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BBB69-937C-C12A-215D-B8713F750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A3D8D2-E4D0-608F-7FF5-BD79DA2127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51EE7C-8C55-A6F0-D319-51F25C34D3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BE26EF-1ADB-327B-0D14-B6A36FEE8E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95380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495EA-7D80-EE81-7442-9DA09D65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5C6E36-06CF-10A6-7FFF-2CC6D05171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D35EB3-F216-0972-1D87-6A261B3001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소스는 원본인 </a:t>
            </a:r>
            <a:r>
              <a:rPr kumimoji="1" lang="en-US" altLang="ko-KR" dirty="0" err="1"/>
              <a:t>imagenet</a:t>
            </a:r>
            <a:r>
              <a:rPr kumimoji="1" lang="ko-KR" altLang="en-US" dirty="0"/>
              <a:t>의미</a:t>
            </a: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1370CE-1BDB-5D8A-4122-1F3C750DC7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6633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863D4-D3D6-0946-F169-E8BBC4383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222795-8726-E9DC-A52C-591BBD4374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224483-DBFA-E0A3-8E5E-344FE4B3B7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4B993D-160E-0E23-4B75-B244981A9E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09708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58084-B5A9-A3B5-D122-309C253F9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A45F8AC-4868-6CD0-8F07-A23B50A6D6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F78CAD-C647-D355-FED9-4A5B49569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E66C9D-F654-3A50-61A3-00F859C228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40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C5F03-6A12-1BC7-AF27-E6240AFED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BFDC6C-BE89-D87A-5C70-BDEEEF34BA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A8AEE3-5A08-C6B7-18F1-63F7CBAAE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FE012F-B66C-B8D4-CD4C-E3F37387E6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89212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8865F-5B78-C25E-0205-E52AAD9D9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97F6DC-B983-0BA0-E9C2-BA00B3E0E2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0EB8C51-E968-5C98-32D4-260F9CF7AC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E7DE65-FCDD-9897-EDB1-B8E3ACA75C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33514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AC5CF-0052-E741-3470-346ADF445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5D97D8-3AB9-C02C-0183-5B3FD54C45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D88E38-0BC4-D325-3869-08528C4C02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3D192F-AF1F-7012-D393-FDE09E2911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38109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A88D8-3403-0F1B-9B6F-CA0DCFD44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29F59B-F373-B0E0-553E-55984F10D2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05931A-9CFE-CE33-74E7-CC4ED05BA5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689BA5-D338-18E8-ABF5-3055FB3925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20858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9E85F-A59E-47DB-B9EB-C261F52FE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47BD3C-6797-3017-76CD-5DB60A96E8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DF9ACE5-F662-736E-192F-9112264AE4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3E9068-970D-EB42-601A-2981DFD57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12566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DBFA4-8CBB-8868-8E03-833C1FA48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9222E4-3C25-A019-7049-9F2EF20533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CD16E0-6AC5-1229-1CCE-CF9EB81E01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A74E11-2564-18B9-2A9F-2F6002A240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9247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ABC84-0E3B-0BEB-570B-37092E9DF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E2E2BA-1210-3A75-9A93-A6CBCFC5C7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AAEC53-0E38-E547-E132-2879EB8C2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07A811-5BDF-49B1-2AE6-35345C4A62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28574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FCA30-2116-CC34-F8FC-5DD9D2EFA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DEA5464-D076-81E8-A215-4838AE35D5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889144-845B-848A-130C-4AB1F48BB2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2B5548-D6CA-76F0-D563-34F4674486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35340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B3615-30C9-5FA8-DE26-77DFA1E50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7A2BD6-DDB3-4187-4D19-F72FA7CDBD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04F1FA-8692-C683-2255-DB01FD1AD8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E60077-D2A9-287C-A8EA-2288E81CA1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958688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A3758-2838-4D5A-C92B-84571EEEB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BD1D8A1-6731-43CE-1A2A-3E02FE4484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FD57DC-DD35-C7D3-5CEA-F0523936DA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2193FC-1808-1B4C-8DD2-BD93260647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4244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1D151-0E43-D62C-B2C0-E53F170C3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3A50709-40A8-D0EB-4293-8FB74C0A35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395A0C-0E65-F14E-2E15-61668C73F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A76D06-2963-C49F-863E-3D4D6B0075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37220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B966C-A16B-3E94-C50D-74C6AB0CA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54D1FEE-0099-50E7-FE3F-15C0647321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6E0435-9F82-3BF2-CF69-2E4F5D7E70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395B4E-46BD-5C13-2E4F-7707B63111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891214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5031A-4A80-2506-7B73-F6676827F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FB266B-C598-0DBF-605C-FA8DF75DF3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F15CAC-B0D0-6DA7-5909-40A4C5C6BD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31F716-8149-934B-F074-B11311C348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514035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4395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D10EDEE-B3FB-4441-A82B-78B5794C52D0}"/>
              </a:ext>
            </a:extLst>
          </p:cNvPr>
          <p:cNvSpPr/>
          <p:nvPr userDrawn="1"/>
        </p:nvSpPr>
        <p:spPr>
          <a:xfrm>
            <a:off x="0" y="-27384"/>
            <a:ext cx="12192000" cy="648072"/>
          </a:xfrm>
          <a:prstGeom prst="rect">
            <a:avLst/>
          </a:prstGeom>
          <a:solidFill>
            <a:srgbClr val="0067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800"/>
          </a:p>
        </p:txBody>
      </p:sp>
      <p:sp>
        <p:nvSpPr>
          <p:cNvPr id="11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3395819" y="3272456"/>
            <a:ext cx="5400363" cy="541736"/>
          </a:xfrm>
        </p:spPr>
        <p:txBody>
          <a:bodyPr anchor="ctr">
            <a:noAutofit/>
          </a:bodyPr>
          <a:lstStyle>
            <a:lvl1pPr marL="0" indent="0" algn="ctr">
              <a:buNone/>
              <a:defRPr sz="2200" spc="-30" baseline="0">
                <a:solidFill>
                  <a:schemeClr val="accent2">
                    <a:lumMod val="75000"/>
                  </a:schemeClr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이름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28937" y="1904304"/>
            <a:ext cx="10534129" cy="1296144"/>
          </a:xfrm>
        </p:spPr>
        <p:txBody>
          <a:bodyPr>
            <a:normAutofit/>
          </a:bodyPr>
          <a:lstStyle>
            <a:lvl1pPr algn="ctr">
              <a:defRPr sz="4000" spc="-3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부제목 2"/>
          <p:cNvSpPr txBox="1">
            <a:spLocks/>
          </p:cNvSpPr>
          <p:nvPr userDrawn="1"/>
        </p:nvSpPr>
        <p:spPr>
          <a:xfrm>
            <a:off x="3395819" y="3840532"/>
            <a:ext cx="5400363" cy="5417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None/>
              <a:defRPr sz="2200" kern="1200" spc="-30" baseline="0">
                <a:solidFill>
                  <a:srgbClr val="4747BA"/>
                </a:solidFill>
                <a:latin typeface="Corbel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4"/>
              </a:buClr>
              <a:buFont typeface="Wingdings 3" panose="050401020108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2pPr>
            <a:lvl3pPr marL="9144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3pPr>
            <a:lvl4pPr marL="13716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4pPr>
            <a:lvl5pPr marL="18288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200" dirty="0">
              <a:solidFill>
                <a:schemeClr val="accent2">
                  <a:lumMod val="50000"/>
                </a:schemeClr>
              </a:solidFill>
              <a:latin typeface="Corbel" panose="020B0503020204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52A7C40-6EDC-5148-B154-A68DF9CCA265}"/>
              </a:ext>
            </a:extLst>
          </p:cNvPr>
          <p:cNvGrpSpPr/>
          <p:nvPr userDrawn="1"/>
        </p:nvGrpSpPr>
        <p:grpSpPr>
          <a:xfrm>
            <a:off x="3868451" y="4221088"/>
            <a:ext cx="3931282" cy="792088"/>
            <a:chOff x="827584" y="5517232"/>
            <a:chExt cx="2948461" cy="792088"/>
          </a:xfrm>
        </p:grpSpPr>
        <p:pic>
          <p:nvPicPr>
            <p:cNvPr id="8" name="Picture 2" descr="숭실대학교 로고">
              <a:extLst>
                <a:ext uri="{FF2B5EF4-FFF2-40B4-BE49-F238E27FC236}">
                  <a16:creationId xmlns:a16="http://schemas.microsoft.com/office/drawing/2014/main" id="{2421234D-30E1-C444-9C10-442BAD6E17E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517232"/>
              <a:ext cx="1734462" cy="72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2AD3F52-407F-FD40-997E-699FE28AF26B}"/>
                </a:ext>
              </a:extLst>
            </p:cNvPr>
            <p:cNvSpPr txBox="1"/>
            <p:nvPr userDrawn="1"/>
          </p:nvSpPr>
          <p:spPr>
            <a:xfrm>
              <a:off x="2483768" y="5704026"/>
              <a:ext cx="1292277" cy="6052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2000"/>
                </a:lnSpc>
              </a:pPr>
              <a:r>
                <a:rPr lang="en-US" sz="40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2000"/>
                </a:lnSpc>
              </a:pPr>
              <a:r>
                <a:rPr lang="en-US" sz="1800" spc="-15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800" spc="-15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A2CE214F-ADB8-5846-8B01-50FC3B4C0B4C}"/>
              </a:ext>
            </a:extLst>
          </p:cNvPr>
          <p:cNvSpPr/>
          <p:nvPr userDrawn="1"/>
        </p:nvSpPr>
        <p:spPr>
          <a:xfrm>
            <a:off x="0" y="6237312"/>
            <a:ext cx="12192000" cy="648072"/>
          </a:xfrm>
          <a:prstGeom prst="rect">
            <a:avLst/>
          </a:prstGeom>
          <a:solidFill>
            <a:srgbClr val="0067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800"/>
          </a:p>
        </p:txBody>
      </p:sp>
    </p:spTree>
    <p:extLst>
      <p:ext uri="{BB962C8B-B14F-4D97-AF65-F5344CB8AC3E}">
        <p14:creationId xmlns:p14="http://schemas.microsoft.com/office/powerpoint/2010/main" val="2338997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prstClr val="white"/>
              </a:solidFill>
              <a:latin typeface="Corbel" panose="020B0503020204020204" pitchFamily="34" charset="0"/>
              <a:ea typeface="함초롬돋움" panose="0203050400010101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>
            <a:lvl1pPr marL="342900" indent="-342900">
              <a:buClr>
                <a:srgbClr val="FCB536"/>
              </a:buClr>
              <a:buFont typeface="Arial" pitchFamily="34" charset="0"/>
              <a:buChar char="•"/>
              <a:defRPr sz="24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  <a:lvl2pPr marL="742950" indent="-285750">
              <a:buClr>
                <a:srgbClr val="EF99BE"/>
              </a:buClr>
              <a:buFont typeface="Arial" pitchFamily="34" charset="0"/>
              <a:buChar char="•"/>
              <a:defRPr sz="20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2pPr>
            <a:lvl3pPr>
              <a:buClr>
                <a:schemeClr val="accent1">
                  <a:lumMod val="60000"/>
                  <a:lumOff val="40000"/>
                </a:schemeClr>
              </a:buClr>
              <a:defRPr sz="18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3pPr>
            <a:lvl4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4pPr>
            <a:lvl5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3" name="제목 개체 틀 1"/>
          <p:cNvSpPr>
            <a:spLocks noGrp="1"/>
          </p:cNvSpPr>
          <p:nvPr>
            <p:ph type="title"/>
          </p:nvPr>
        </p:nvSpPr>
        <p:spPr>
          <a:xfrm>
            <a:off x="413908" y="368732"/>
            <a:ext cx="11154700" cy="64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 b="1" spc="-30" baseline="0">
                <a:solidFill>
                  <a:schemeClr val="tx1"/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ko-KR" altLang="en-US" dirty="0"/>
          </a:p>
        </p:txBody>
      </p:sp>
      <p:sp>
        <p:nvSpPr>
          <p:cNvPr id="10" name="바닥글 개체 틀 3"/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smtClean="0"/>
              <a:t>‹#›</a:t>
            </a:fld>
            <a:endParaRPr lang="ko-KR" altLang="en-US" sz="14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90C2B4-BF74-6744-A1CC-033C7E9B91ED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16" name="Picture 2" descr="숭실대학교 로고">
              <a:extLst>
                <a:ext uri="{FF2B5EF4-FFF2-40B4-BE49-F238E27FC236}">
                  <a16:creationId xmlns:a16="http://schemas.microsoft.com/office/drawing/2014/main" id="{14BE7F3A-ED04-524F-A4F1-9F7573BCDA4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F2B9A1C-78C6-5F47-8940-F4E741C02469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751838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0"/>
            <a:ext cx="12192000" cy="648000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prstClr val="white"/>
              </a:solidFill>
              <a:latin typeface="Corbel" panose="020B0503020204020204" pitchFamily="34" charset="0"/>
              <a:ea typeface="함초롬돋움" panose="0203050400010101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9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10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15" name="제목 개체 틀 1"/>
          <p:cNvSpPr>
            <a:spLocks noGrp="1"/>
          </p:cNvSpPr>
          <p:nvPr>
            <p:ph type="title"/>
          </p:nvPr>
        </p:nvSpPr>
        <p:spPr>
          <a:xfrm>
            <a:off x="144000" y="0"/>
            <a:ext cx="11904000" cy="64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 spc="-30" baseline="0">
                <a:solidFill>
                  <a:srgbClr val="4747BA"/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46B7E3B-6136-B440-8BB2-FBC052C1CD0A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16" name="Picture 2" descr="숭실대학교 로고">
              <a:extLst>
                <a:ext uri="{FF2B5EF4-FFF2-40B4-BE49-F238E27FC236}">
                  <a16:creationId xmlns:a16="http://schemas.microsoft.com/office/drawing/2014/main" id="{C04B6D2B-8A94-B142-BC47-E1CF62EBCBB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B1E585A-7FD4-7F43-A83A-8DA4DD75A304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EB2EDCB-2452-B540-8700-E8A8C013A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960442"/>
            <a:ext cx="11472000" cy="5024842"/>
          </a:xfrm>
        </p:spPr>
        <p:txBody>
          <a:bodyPr>
            <a:normAutofit/>
          </a:bodyPr>
          <a:lstStyle>
            <a:lvl1pPr marL="342900" indent="-342900">
              <a:buClr>
                <a:srgbClr val="FCB536"/>
              </a:buClr>
              <a:buFont typeface="Arial" pitchFamily="34" charset="0"/>
              <a:buChar char="•"/>
              <a:defRPr sz="24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  <a:lvl2pPr marL="742950" indent="-285750">
              <a:buClr>
                <a:srgbClr val="EF99BE"/>
              </a:buClr>
              <a:buFont typeface="Arial" pitchFamily="34" charset="0"/>
              <a:buChar char="•"/>
              <a:defRPr sz="20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2pPr>
            <a:lvl3pPr>
              <a:buClr>
                <a:schemeClr val="accent1">
                  <a:lumMod val="60000"/>
                  <a:lumOff val="40000"/>
                </a:schemeClr>
              </a:buClr>
              <a:defRPr sz="18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3pPr>
            <a:lvl4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4pPr>
            <a:lvl5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2" name="바닥글 개체 틀 3">
            <a:extLst>
              <a:ext uri="{FF2B5EF4-FFF2-40B4-BE49-F238E27FC236}">
                <a16:creationId xmlns:a16="http://schemas.microsoft.com/office/drawing/2014/main" id="{A01032FD-E55F-4943-9EDD-C2B6EE7705AC}"/>
              </a:ext>
            </a:extLst>
          </p:cNvPr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smtClean="0"/>
              <a:t>‹#›</a:t>
            </a:fld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08786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A469D99-20DF-4A42-A06A-8AAB1EA1FCF5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10" name="Picture 2" descr="숭실대학교 로고">
              <a:extLst>
                <a:ext uri="{FF2B5EF4-FFF2-40B4-BE49-F238E27FC236}">
                  <a16:creationId xmlns:a16="http://schemas.microsoft.com/office/drawing/2014/main" id="{E6BF0C0C-88A6-B645-9F2F-BE7128B9F5C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7558D9D-0A52-6348-964A-6E7A56A83A03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바닥글 개체 틀 3">
            <a:extLst>
              <a:ext uri="{FF2B5EF4-FFF2-40B4-BE49-F238E27FC236}">
                <a16:creationId xmlns:a16="http://schemas.microsoft.com/office/drawing/2014/main" id="{D19F37D1-40CA-0E40-B900-AA4A5C99C4DD}"/>
              </a:ext>
            </a:extLst>
          </p:cNvPr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smtClean="0"/>
              <a:t>‹#›</a:t>
            </a:fld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207805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Picture 2" descr="https://encrypted-tbn0.gstatic.com/images?q=tbn:ANd9GcTV0fzHlVSVGEYIELVu_BMH0nnLG5jNKza4l_e4zNkxgBxhHFQ3Kw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600" y="2581276"/>
            <a:ext cx="3606800" cy="1695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E9AC152-29D4-6345-98BD-7FF3ACF816FE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11" name="Picture 2" descr="숭실대학교 로고">
              <a:extLst>
                <a:ext uri="{FF2B5EF4-FFF2-40B4-BE49-F238E27FC236}">
                  <a16:creationId xmlns:a16="http://schemas.microsoft.com/office/drawing/2014/main" id="{FE2AABF5-D942-6A4B-82C5-773AC8FFCF5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3FDA9A0-C09B-F944-9161-B127E415081C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1570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llustrator for researcherì ëí ì´ë¯¸ì§ ê²ìê²°ê³¼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29" b="-607"/>
          <a:stretch/>
        </p:blipFill>
        <p:spPr bwMode="auto">
          <a:xfrm>
            <a:off x="66544" y="-1984"/>
            <a:ext cx="12097344" cy="45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4987138" y="6021288"/>
            <a:ext cx="2874923" cy="541736"/>
          </a:xfrm>
        </p:spPr>
        <p:txBody>
          <a:bodyPr anchor="ctr">
            <a:noAutofit/>
          </a:bodyPr>
          <a:lstStyle>
            <a:lvl1pPr marL="0" indent="0" algn="ctr">
              <a:buNone/>
              <a:defRPr sz="2200" spc="-30" baseline="0">
                <a:solidFill>
                  <a:schemeClr val="accent2">
                    <a:lumMod val="75000"/>
                  </a:schemeClr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이름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6602" y="4571871"/>
            <a:ext cx="10095995" cy="1296144"/>
          </a:xfrm>
        </p:spPr>
        <p:txBody>
          <a:bodyPr>
            <a:normAutofit/>
          </a:bodyPr>
          <a:lstStyle>
            <a:lvl1pPr algn="ctr">
              <a:defRPr sz="3600" spc="-3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932994A-5376-864D-ABBB-D7619C927A9B}"/>
              </a:ext>
            </a:extLst>
          </p:cNvPr>
          <p:cNvGrpSpPr/>
          <p:nvPr userDrawn="1"/>
        </p:nvGrpSpPr>
        <p:grpSpPr>
          <a:xfrm>
            <a:off x="8208235" y="6016508"/>
            <a:ext cx="3515914" cy="724861"/>
            <a:chOff x="827584" y="5805264"/>
            <a:chExt cx="2178982" cy="432048"/>
          </a:xfrm>
        </p:grpSpPr>
        <p:pic>
          <p:nvPicPr>
            <p:cNvPr id="7" name="Picture 2" descr="숭실대학교 로고">
              <a:extLst>
                <a:ext uri="{FF2B5EF4-FFF2-40B4-BE49-F238E27FC236}">
                  <a16:creationId xmlns:a16="http://schemas.microsoft.com/office/drawing/2014/main" id="{9286454C-EB5C-6C43-AD4B-59991888BE8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2CECE5B-3D7C-534B-B7FF-5C3A3EF7B589}"/>
                </a:ext>
              </a:extLst>
            </p:cNvPr>
            <p:cNvSpPr txBox="1"/>
            <p:nvPr userDrawn="1"/>
          </p:nvSpPr>
          <p:spPr>
            <a:xfrm>
              <a:off x="2066198" y="5934025"/>
              <a:ext cx="940368" cy="2871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-US" sz="36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500"/>
                </a:lnSpc>
              </a:pPr>
              <a:r>
                <a:rPr lang="en-US" sz="1600" spc="-15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600" spc="-15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235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7383" y="4727433"/>
            <a:ext cx="11139411" cy="1296145"/>
          </a:xfrm>
        </p:spPr>
        <p:txBody>
          <a:bodyPr>
            <a:normAutofit/>
          </a:bodyPr>
          <a:lstStyle>
            <a:lvl1pPr algn="l">
              <a:defRPr sz="3600" spc="-3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527051" y="3850708"/>
            <a:ext cx="11140016" cy="876725"/>
          </a:xfrm>
        </p:spPr>
        <p:txBody>
          <a:bodyPr anchor="b"/>
          <a:lstStyle>
            <a:lvl1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pic>
        <p:nvPicPr>
          <p:cNvPr id="6" name="Picture 2" descr="focusì ëí ì´ë¯¸ì§ ê²ìê²°ê³¼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0" t="27578" r="1337" b="27578"/>
          <a:stretch/>
        </p:blipFill>
        <p:spPr bwMode="auto">
          <a:xfrm>
            <a:off x="0" y="-27384"/>
            <a:ext cx="12192000" cy="3873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4DC9759-2D39-6342-B857-D85A2EAA1634}"/>
              </a:ext>
            </a:extLst>
          </p:cNvPr>
          <p:cNvGrpSpPr/>
          <p:nvPr userDrawn="1"/>
        </p:nvGrpSpPr>
        <p:grpSpPr>
          <a:xfrm>
            <a:off x="143339" y="6093297"/>
            <a:ext cx="3437151" cy="652853"/>
            <a:chOff x="827584" y="5805264"/>
            <a:chExt cx="2365121" cy="432048"/>
          </a:xfrm>
        </p:grpSpPr>
        <p:pic>
          <p:nvPicPr>
            <p:cNvPr id="8" name="Picture 2" descr="숭실대학교 로고">
              <a:extLst>
                <a:ext uri="{FF2B5EF4-FFF2-40B4-BE49-F238E27FC236}">
                  <a16:creationId xmlns:a16="http://schemas.microsoft.com/office/drawing/2014/main" id="{7F25E809-A7D8-BC4B-8B0A-5D317684629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CBE382B-9EFD-FE4F-8462-C46BA9C4EE03}"/>
                </a:ext>
              </a:extLst>
            </p:cNvPr>
            <p:cNvSpPr txBox="1"/>
            <p:nvPr userDrawn="1"/>
          </p:nvSpPr>
          <p:spPr>
            <a:xfrm>
              <a:off x="2066198" y="5918441"/>
              <a:ext cx="1126507" cy="315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-US" sz="32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500"/>
                </a:lnSpc>
              </a:pPr>
              <a:r>
                <a:rPr lang="en-US" sz="14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4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9577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Yoon 윤고딕 115_TT" panose="02090603020101020101" pitchFamily="18" charset="-127"/>
                <a:cs typeface="Arial" panose="020B0604020202020204" pitchFamily="34" charset="0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바닥글 개체 틀 3"/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  <a:ea typeface="Yoon 윤고딕 115_TT" panose="02090603020101020101" pitchFamily="18" charset="-127"/>
                <a:cs typeface="Arial" panose="020B0604020202020204" pitchFamily="34" charset="0"/>
              </a:rPr>
              <a:pPr/>
              <a:t>‹#›</a:t>
            </a:fld>
            <a:r>
              <a:rPr lang="en-US" altLang="ko-KR" sz="1400" dirty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  <a:ea typeface="Yoon 윤고딕 115_TT" panose="02090603020101020101" pitchFamily="18" charset="-127"/>
                <a:cs typeface="Arial" panose="020B0604020202020204" pitchFamily="34" charset="0"/>
              </a:rPr>
              <a:t>/29</a:t>
            </a:r>
          </a:p>
        </p:txBody>
      </p:sp>
      <p:sp>
        <p:nvSpPr>
          <p:cNvPr id="12" name="제목 개체 틀 1"/>
          <p:cNvSpPr>
            <a:spLocks noGrp="1"/>
          </p:cNvSpPr>
          <p:nvPr>
            <p:ph type="title"/>
          </p:nvPr>
        </p:nvSpPr>
        <p:spPr>
          <a:xfrm>
            <a:off x="144000" y="296652"/>
            <a:ext cx="11904000" cy="8367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3600" spc="-30" baseline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Yoon 윤고딕 115_TT" panose="0209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485C3FF-8E9C-4D4F-906C-EC39755DF58A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9" name="Picture 2" descr="숭실대학교 로고">
              <a:extLst>
                <a:ext uri="{FF2B5EF4-FFF2-40B4-BE49-F238E27FC236}">
                  <a16:creationId xmlns:a16="http://schemas.microsoft.com/office/drawing/2014/main" id="{C615A142-2D92-D04F-8E99-9AA21DD4452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A606131-78BB-6544-8972-DB41BB2696EE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E4E955C6-C3C0-2D40-921D-8B5751E91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76772"/>
            <a:ext cx="11472000" cy="4772814"/>
          </a:xfrm>
        </p:spPr>
        <p:txBody>
          <a:bodyPr>
            <a:normAutofit/>
          </a:bodyPr>
          <a:lstStyle>
            <a:lvl1pPr marL="342900" indent="-342900">
              <a:buClr>
                <a:srgbClr val="FCB536"/>
              </a:buClr>
              <a:buFont typeface="Arial" pitchFamily="34" charset="0"/>
              <a:buChar char="•"/>
              <a:defRPr sz="24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  <a:lvl2pPr marL="742950" indent="-285750">
              <a:buClr>
                <a:srgbClr val="EF99BE"/>
              </a:buClr>
              <a:buFont typeface="Arial" pitchFamily="34" charset="0"/>
              <a:buChar char="•"/>
              <a:defRPr sz="20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2pPr>
            <a:lvl3pPr>
              <a:buClr>
                <a:schemeClr val="accent1">
                  <a:lumMod val="60000"/>
                  <a:lumOff val="40000"/>
                </a:schemeClr>
              </a:buClr>
              <a:defRPr sz="18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3pPr>
            <a:lvl4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4pPr>
            <a:lvl5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045434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Yoon 윤고딕 115_TT" panose="02090603020101020101" pitchFamily="18" charset="-127"/>
                <a:ea typeface="Yoon 윤고딕 115_TT" panose="02090603020101020101" pitchFamily="18" charset="-127"/>
                <a:cs typeface="Arial" panose="020B0604020202020204" pitchFamily="34" charset="0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Yoon 윤고딕 115_TT" panose="02090603020101020101" pitchFamily="18" charset="-127"/>
                <a:ea typeface="Yoon 윤고딕 115_TT" panose="02090603020101020101" pitchFamily="18" charset="-127"/>
                <a:cs typeface="Arial" panose="020B0604020202020204" pitchFamily="34" charset="0"/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F1A320-D0BB-9B49-87FF-5D14B0314E6C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7" name="Picture 2" descr="숭실대학교 로고">
              <a:extLst>
                <a:ext uri="{FF2B5EF4-FFF2-40B4-BE49-F238E27FC236}">
                  <a16:creationId xmlns:a16="http://schemas.microsoft.com/office/drawing/2014/main" id="{C535D48B-8EC0-3C4C-91D5-206A80EFBAC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BF3B131-E1C6-8C44-A2AE-8FBAE278ED45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제목 개체 틀 1">
            <a:extLst>
              <a:ext uri="{FF2B5EF4-FFF2-40B4-BE49-F238E27FC236}">
                <a16:creationId xmlns:a16="http://schemas.microsoft.com/office/drawing/2014/main" id="{11715C41-99E2-B14A-A7D4-65D82428C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" y="296652"/>
            <a:ext cx="11904000" cy="8367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3600" spc="-30" baseline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Yoon 윤고딕 115_TT" panose="0209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</p:spTree>
    <p:extLst>
      <p:ext uri="{BB962C8B-B14F-4D97-AF65-F5344CB8AC3E}">
        <p14:creationId xmlns:p14="http://schemas.microsoft.com/office/powerpoint/2010/main" val="2145914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Picture 2" descr="https://encrypted-tbn0.gstatic.com/images?q=tbn:ANd9GcTV0fzHlVSVGEYIELVu_BMH0nnLG5jNKza4l_e4zNkxgBxhHFQ3Kw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600" y="2581276"/>
            <a:ext cx="3606800" cy="1695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E9AC152-29D4-6345-98BD-7FF3ACF816FE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11" name="Picture 2" descr="숭실대학교 로고">
              <a:extLst>
                <a:ext uri="{FF2B5EF4-FFF2-40B4-BE49-F238E27FC236}">
                  <a16:creationId xmlns:a16="http://schemas.microsoft.com/office/drawing/2014/main" id="{FE2AABF5-D942-6A4B-82C5-773AC8FFCF5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3FDA9A0-C09B-F944-9161-B127E415081C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5241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60000" y="900000"/>
            <a:ext cx="11472000" cy="525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9760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44000" y="0"/>
            <a:ext cx="11904000" cy="61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페이지 제목</a:t>
            </a:r>
          </a:p>
        </p:txBody>
      </p:sp>
    </p:spTree>
    <p:extLst>
      <p:ext uri="{BB962C8B-B14F-4D97-AF65-F5344CB8AC3E}">
        <p14:creationId xmlns:p14="http://schemas.microsoft.com/office/powerpoint/2010/main" val="1531023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  <p:sldLayoutId id="2147483666" r:id="rId5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500" kern="1200">
          <a:solidFill>
            <a:schemeClr val="bg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</p:titleStyle>
    <p:bodyStyle>
      <a:lvl1pPr marL="342900" indent="-3429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3">
            <a:lumMod val="75000"/>
          </a:schemeClr>
        </a:buClr>
        <a:buFont typeface="Wingdings" panose="05000000000000000000" pitchFamily="2" charset="2"/>
        <a:buChar char=""/>
        <a:defRPr sz="24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  <a:lvl2pPr marL="742950" indent="-28575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4"/>
        </a:buClr>
        <a:buFont typeface="Wingdings 3" panose="05040102010807070707" pitchFamily="18" charset="2"/>
        <a:buChar char=""/>
        <a:defRPr sz="18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1">
            <a:lumMod val="60000"/>
            <a:lumOff val="4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60000" y="900000"/>
            <a:ext cx="11472000" cy="525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9760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44000" y="0"/>
            <a:ext cx="11904000" cy="61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페이지 제목</a:t>
            </a:r>
          </a:p>
        </p:txBody>
      </p:sp>
    </p:spTree>
    <p:extLst>
      <p:ext uri="{BB962C8B-B14F-4D97-AF65-F5344CB8AC3E}">
        <p14:creationId xmlns:p14="http://schemas.microsoft.com/office/powerpoint/2010/main" val="3324034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</p:sldLayoutIdLst>
  <p:hf sldNum="0" hdr="0" ftr="0" dt="0"/>
  <p:txStyles>
    <p:titleStyle>
      <a:lvl1pPr algn="l" defTabSz="914400" rtl="0" eaLnBrk="1" latinLnBrk="1" hangingPunct="1">
        <a:spcBef>
          <a:spcPct val="0"/>
        </a:spcBef>
        <a:buNone/>
        <a:defRPr sz="2500" kern="1200">
          <a:solidFill>
            <a:schemeClr val="bg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</p:titleStyle>
    <p:bodyStyle>
      <a:lvl1pPr marL="342900" indent="-3429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3">
            <a:lumMod val="75000"/>
          </a:schemeClr>
        </a:buClr>
        <a:buFont typeface="Wingdings" panose="05000000000000000000" pitchFamily="2" charset="2"/>
        <a:buChar char=""/>
        <a:defRPr sz="24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  <a:lvl2pPr marL="742950" indent="-28575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4"/>
        </a:buClr>
        <a:buFont typeface="Wingdings 3" panose="05040102010807070707" pitchFamily="18" charset="2"/>
        <a:buChar char=""/>
        <a:defRPr sz="18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1">
            <a:lumMod val="60000"/>
            <a:lumOff val="4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0849522-1E40-0049-A66A-5CFF68A06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925" y="1904304"/>
            <a:ext cx="10847683" cy="129614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cs typeface="Times New Roman" panose="02020603050405020304" pitchFamily="18" charset="0"/>
              </a:rPr>
              <a:t>Beyond Entropy: Region Confidence Proxy </a:t>
            </a:r>
            <a:br>
              <a:rPr lang="en-US" b="1" dirty="0">
                <a:cs typeface="Times New Roman" panose="02020603050405020304" pitchFamily="18" charset="0"/>
              </a:rPr>
            </a:br>
            <a:r>
              <a:rPr lang="en-US" b="1" dirty="0">
                <a:cs typeface="Times New Roman" panose="02020603050405020304" pitchFamily="18" charset="0"/>
              </a:rPr>
              <a:t>for Wild Test-Time Adaptation</a:t>
            </a:r>
            <a:endParaRPr lang="en-KR" b="1" dirty="0">
              <a:cs typeface="Times New Roman" panose="02020603050405020304" pitchFamily="18" charset="0"/>
            </a:endParaRPr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3B9364B0-10F8-B7A0-4642-F25293BD8A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95819" y="3573016"/>
            <a:ext cx="5400363" cy="541736"/>
          </a:xfrm>
        </p:spPr>
        <p:txBody>
          <a:bodyPr/>
          <a:lstStyle/>
          <a:p>
            <a:r>
              <a:rPr lang="en-US" altLang="ko-KR" dirty="0" err="1"/>
              <a:t>Hyunoh</a:t>
            </a:r>
            <a:r>
              <a:rPr lang="en-US" altLang="ko-KR" dirty="0"/>
              <a:t> Kang</a:t>
            </a:r>
            <a:endParaRPr lang="ko-KR" altLang="en-US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C1D96A54-999D-9330-32FF-E828B9716FCE}"/>
              </a:ext>
            </a:extLst>
          </p:cNvPr>
          <p:cNvSpPr txBox="1">
            <a:spLocks/>
          </p:cNvSpPr>
          <p:nvPr/>
        </p:nvSpPr>
        <p:spPr>
          <a:xfrm>
            <a:off x="720925" y="3081489"/>
            <a:ext cx="10847683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000" kern="1200" spc="-3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</a:lstStyle>
          <a:p>
            <a:r>
              <a:rPr lang="en-US" sz="2000" dirty="0">
                <a:cs typeface="Times New Roman" panose="02020603050405020304" pitchFamily="18" charset="0"/>
              </a:rPr>
              <a:t>ICML 2025</a:t>
            </a:r>
            <a:endParaRPr lang="en-KR" sz="20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4885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85318-CF51-6BDF-C266-E0E87C0D7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A7883FE-D6AF-E2B7-5A35-7CA075DE6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ko-KR" dirty="0"/>
              <a:t>TTA methods have achieved promising results under mild conditions</a:t>
            </a:r>
          </a:p>
          <a:p>
            <a:r>
              <a:rPr lang="en" altLang="ko-KR" dirty="0"/>
              <a:t>But, they show significant performance drops in wild scenarios</a:t>
            </a:r>
          </a:p>
          <a:p>
            <a:pPr lvl="1">
              <a:buFont typeface="Wingdings" pitchFamily="2" charset="2"/>
              <a:buChar char="Ø"/>
            </a:pPr>
            <a:r>
              <a:rPr lang="en" altLang="ko-KR" dirty="0"/>
              <a:t>focus on developing selection criteria to leverage reliable samples</a:t>
            </a:r>
            <a:endParaRPr kumimoji="1"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A5092D2-A5AE-D183-5BE0-090A085FA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Introduction</a:t>
            </a:r>
            <a:endParaRPr kumimoji="1" lang="ko-KR" altLang="en-US" dirty="0"/>
          </a:p>
        </p:txBody>
      </p:sp>
      <p:pic>
        <p:nvPicPr>
          <p:cNvPr id="5" name="그림 4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8FFE6AA-2051-33E1-D8D7-B50591FEDD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2969854"/>
            <a:ext cx="7772400" cy="310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319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FEF80-1663-6C38-F1D1-BFD563054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FE05D48-3337-0CF1-8099-977024991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ko-KR" dirty="0"/>
              <a:t>TTA methods have achieved promising results under mild conditions</a:t>
            </a:r>
          </a:p>
          <a:p>
            <a:r>
              <a:rPr lang="en" altLang="ko-KR" dirty="0"/>
              <a:t>But, they show significant performance drops in wild scenarios</a:t>
            </a:r>
          </a:p>
          <a:p>
            <a:pPr lvl="1">
              <a:buFont typeface="Wingdings" pitchFamily="2" charset="2"/>
              <a:buChar char="Ø"/>
            </a:pPr>
            <a:r>
              <a:rPr lang="en" altLang="ko-KR" dirty="0"/>
              <a:t>focus on developing selection criteria to leverage reliable samples</a:t>
            </a:r>
          </a:p>
          <a:p>
            <a:pPr lvl="2"/>
            <a:r>
              <a:rPr lang="en" altLang="ko-KR" dirty="0"/>
              <a:t>SAR (Niu et al., 2023) excluded samples with high entropy</a:t>
            </a:r>
          </a:p>
          <a:p>
            <a:pPr lvl="2"/>
            <a:r>
              <a:rPr lang="en" altLang="ko-KR" dirty="0" err="1"/>
              <a:t>DeYO</a:t>
            </a:r>
            <a:r>
              <a:rPr lang="en" altLang="ko-KR" dirty="0"/>
              <a:t> (Lee et al., 2024) filtered out samples with sensitive prediction changes under image transformation</a:t>
            </a:r>
          </a:p>
          <a:p>
            <a:pPr lvl="2"/>
            <a:endParaRPr kumimoji="1" lang="en" altLang="ko-KR" dirty="0"/>
          </a:p>
          <a:p>
            <a:pPr lvl="1"/>
            <a:r>
              <a:rPr kumimoji="1" lang="en" altLang="ko-KR" dirty="0"/>
              <a:t>This paper aims to approach the more fundamental problem of entropy minimization</a:t>
            </a:r>
          </a:p>
          <a:p>
            <a:pPr lvl="1">
              <a:buFont typeface="Wingdings" pitchFamily="2" charset="2"/>
              <a:buChar char="Ø"/>
            </a:pPr>
            <a:r>
              <a:rPr kumimoji="1" lang="en" altLang="ko-KR" dirty="0"/>
              <a:t>Not what to choose(criteria), but </a:t>
            </a:r>
            <a:r>
              <a:rPr kumimoji="1" lang="en" altLang="ko-KR" b="1" dirty="0">
                <a:solidFill>
                  <a:srgbClr val="FF0000"/>
                </a:solidFill>
              </a:rPr>
              <a:t>what to minimize(objective)</a:t>
            </a:r>
            <a:endParaRPr kumimoji="1"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C6B661C-0BB1-95D9-E902-423B6E763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Introduction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3378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F2D6F-D9C4-FA01-389F-FB74BAF96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6009521-0FA9-928D-8B9A-70BB44F53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ko-KR" dirty="0"/>
              <a:t>In wild scenes, we observe a notable instability</a:t>
            </a:r>
            <a:r>
              <a:rPr lang="ko-KR" altLang="en-US" dirty="0"/>
              <a:t> </a:t>
            </a:r>
            <a:r>
              <a:rPr lang="en-US" altLang="ko-KR" dirty="0"/>
              <a:t>in feature space</a:t>
            </a:r>
          </a:p>
          <a:p>
            <a:r>
              <a:rPr lang="en-US" altLang="ko-KR" dirty="0"/>
              <a:t>Feature space should be grouped with samples that have semantically similar meanings</a:t>
            </a:r>
          </a:p>
          <a:p>
            <a:pPr lvl="1">
              <a:buFont typeface="Wingdings" pitchFamily="2" charset="2"/>
              <a:buChar char="Ø"/>
            </a:pPr>
            <a:r>
              <a:rPr lang="en-US" altLang="ko-KR" dirty="0"/>
              <a:t>Enhance Region confidence</a:t>
            </a:r>
          </a:p>
          <a:p>
            <a:pPr marL="0" indent="0">
              <a:buNone/>
            </a:pPr>
            <a:endParaRPr lang="en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4938E63-48F5-F9CB-5FF6-1055AB0E4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Introduction</a:t>
            </a:r>
            <a:endParaRPr kumimoji="1" lang="ko-KR" altLang="en-US" dirty="0"/>
          </a:p>
        </p:txBody>
      </p:sp>
      <p:pic>
        <p:nvPicPr>
          <p:cNvPr id="5" name="그림 4" descr="스크린샷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F58BDD7-4F24-F0E0-3BBA-674B735513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2832030"/>
            <a:ext cx="7772400" cy="2492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933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064D2-786E-9B18-A57B-157F1BDFA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344BC170-D9C3-D439-72EB-0B5EFB5C9A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" altLang="ko-KR" dirty="0"/>
                  <a:t>Practical Scenario in Wild TTA </a:t>
                </a:r>
              </a:p>
              <a:p>
                <a:pPr lvl="1"/>
                <a:r>
                  <a:rPr lang="en" altLang="ko-KR" dirty="0"/>
                  <a:t>Limited data stream: batch size = 1</a:t>
                </a:r>
              </a:p>
              <a:p>
                <a:pPr lvl="1"/>
                <a:r>
                  <a:rPr lang="en" altLang="ko-KR" dirty="0"/>
                  <a:t>Mixed testing domain: target domain consists of k different sub-domains</a:t>
                </a:r>
              </a:p>
              <a:p>
                <a:pPr lvl="1"/>
                <a:r>
                  <a:rPr lang="en" altLang="ko-KR" dirty="0"/>
                  <a:t>Imbalanced label shift</a:t>
                </a:r>
                <a:r>
                  <a:rPr lang="en-US" altLang="ko-KR" dirty="0"/>
                  <a:t>:</a:t>
                </a:r>
                <a:r>
                  <a:rPr lang="ko-KR" altLang="en-US" dirty="0"/>
                  <a:t> </a:t>
                </a:r>
                <a:r>
                  <a:rPr lang="en" altLang="ko-KR" dirty="0"/>
                  <a:t>the test label distribution is imbalanced and shifts over time according to a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altLang="ko-KR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" altLang="ko-KR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" altLang="ko-K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" altLang="ko-KR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" altLang="ko-K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" altLang="ko-KR" dirty="0"/>
              </a:p>
              <a:p>
                <a:pPr lvl="1"/>
                <a:endParaRPr lang="en" altLang="ko-KR" dirty="0"/>
              </a:p>
              <a:p>
                <a:pPr lvl="1"/>
                <a:r>
                  <a:rPr lang="en" altLang="ko-KR" dirty="0"/>
                  <a:t>Existing solutions</a:t>
                </a:r>
                <a:r>
                  <a:rPr lang="en-US" altLang="ko-KR" dirty="0"/>
                  <a:t>: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Entropy Minimization + selection criteria</a:t>
                </a:r>
                <a:endParaRPr lang="en" altLang="ko-KR" dirty="0"/>
              </a:p>
            </p:txBody>
          </p:sp>
        </mc:Choice>
        <mc:Fallback xmlns="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344BC170-D9C3-D439-72EB-0B5EFB5C9A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9A019A68-1DDE-458C-785F-A55217F74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Preliminaries for Wild Test-Time Adaptation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791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C89A2-2699-62BA-4607-EDEC6963C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93C791E4-C23F-2EAC-DF0E-C4C80B1E88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" altLang="ko-KR" dirty="0"/>
                  <a:t>Practical Scenario in Wild TTA </a:t>
                </a:r>
              </a:p>
              <a:p>
                <a:pPr lvl="1"/>
                <a:r>
                  <a:rPr lang="en" altLang="ko-KR" dirty="0"/>
                  <a:t>Limited data stream: batch size = 1</a:t>
                </a:r>
              </a:p>
              <a:p>
                <a:pPr lvl="1"/>
                <a:r>
                  <a:rPr lang="en" altLang="ko-KR" dirty="0"/>
                  <a:t>Mixed testing domain: target domain consists of k different sub-domains</a:t>
                </a:r>
              </a:p>
              <a:p>
                <a:pPr lvl="1"/>
                <a:r>
                  <a:rPr lang="en" altLang="ko-KR" dirty="0"/>
                  <a:t>Imbalanced label shift</a:t>
                </a:r>
                <a:r>
                  <a:rPr lang="en-US" altLang="ko-KR" dirty="0"/>
                  <a:t>:</a:t>
                </a:r>
                <a:r>
                  <a:rPr lang="ko-KR" altLang="en-US" dirty="0"/>
                  <a:t> </a:t>
                </a:r>
                <a:r>
                  <a:rPr lang="en" altLang="ko-KR" dirty="0"/>
                  <a:t>the test label distribution is imbalanced and shifts over time according to a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altLang="ko-KR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" altLang="ko-KR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" altLang="ko-K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" altLang="ko-KR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" altLang="ko-K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" altLang="ko-KR" dirty="0"/>
              </a:p>
              <a:p>
                <a:pPr lvl="1"/>
                <a:endParaRPr lang="en" altLang="ko-KR" dirty="0"/>
              </a:p>
              <a:p>
                <a:pPr lvl="1"/>
                <a:r>
                  <a:rPr lang="en" altLang="ko-KR" dirty="0"/>
                  <a:t>Existing solutions</a:t>
                </a:r>
                <a:r>
                  <a:rPr lang="en-US" altLang="ko-KR" dirty="0"/>
                  <a:t>: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Entropy Minimization + selection criteria</a:t>
                </a:r>
                <a:endParaRPr lang="en" altLang="ko-KR" dirty="0"/>
              </a:p>
            </p:txBody>
          </p:sp>
        </mc:Choice>
        <mc:Fallback xmlns="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93C791E4-C23F-2EAC-DF0E-C4C80B1E88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7810B86C-F2D2-9014-9D0E-5D2A9211D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Preliminaries for Wild Test-Time Adaptation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08216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AD407-F697-DE5E-7927-209031279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F81B7BF-1CD2-CF7B-3941-D6677EC77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EM’s effectiveness heavily relies on the </a:t>
            </a:r>
            <a:r>
              <a:rPr lang="en-US" altLang="ko-KR" u="sng" dirty="0"/>
              <a:t>local consistency</a:t>
            </a:r>
            <a:r>
              <a:rPr lang="en-US" altLang="ko-KR" dirty="0"/>
              <a:t> to extend sample-wise confidence to a regional scale</a:t>
            </a:r>
          </a:p>
          <a:p>
            <a:pPr lvl="1"/>
            <a:r>
              <a:rPr lang="en" altLang="ko-KR" dirty="0"/>
              <a:t>* Local consistency: nearby points share the similar prediction</a:t>
            </a:r>
          </a:p>
          <a:p>
            <a:pPr lvl="1"/>
            <a:endParaRPr lang="en" altLang="ko-KR" dirty="0"/>
          </a:p>
          <a:p>
            <a:r>
              <a:rPr lang="en" altLang="ko-KR" dirty="0"/>
              <a:t>local consistency</a:t>
            </a:r>
          </a:p>
          <a:p>
            <a:pPr lvl="1"/>
            <a:r>
              <a:rPr lang="en" altLang="ko-KR" dirty="0"/>
              <a:t>O: optimization for individual points align with the overall direction, magnifying the local effects</a:t>
            </a:r>
          </a:p>
          <a:p>
            <a:pPr lvl="1"/>
            <a:r>
              <a:rPr lang="en" altLang="ko-KR" dirty="0"/>
              <a:t>X: introducing noise that hinders adaptation in the affected region</a:t>
            </a:r>
          </a:p>
          <a:p>
            <a:pPr lvl="1"/>
            <a:endParaRPr lang="en" altLang="ko-KR" dirty="0"/>
          </a:p>
          <a:p>
            <a:pPr>
              <a:buFont typeface="Wingdings" pitchFamily="2" charset="2"/>
              <a:buChar char="Ø"/>
            </a:pPr>
            <a:r>
              <a:rPr lang="en" altLang="ko-KR" dirty="0"/>
              <a:t>it is crucial to evaluate the reliability of entropy minimization in </a:t>
            </a:r>
            <a:r>
              <a:rPr lang="en" altLang="ko-KR" b="1" dirty="0">
                <a:solidFill>
                  <a:srgbClr val="FF0000"/>
                </a:solidFill>
              </a:rPr>
              <a:t>preserving local consistency</a:t>
            </a:r>
            <a:r>
              <a:rPr lang="en" altLang="ko-KR" dirty="0"/>
              <a:t> under wild scenes.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9436C77-3FA5-AC9A-6E5B-D14BF3AA7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Exploring Entropy Minimization via Local Consistency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0267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F392A-8E82-DCA5-6E43-854E952D8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02DEF5C-BDFA-8728-5215-60112A1C4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A1A731A-BB5F-84FC-A715-B70349C90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Exploring Entropy Minimization via Local Consistency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CB37131-0D1E-E700-81B3-045C3A056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746" y="1948543"/>
            <a:ext cx="11352508" cy="3747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187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3B070-EC23-7FDB-562A-097E42E1F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BF8C5FB-4D27-E439-38EF-44CF9B961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Introduce a novel objective called </a:t>
            </a:r>
            <a:r>
              <a:rPr lang="en-US" altLang="ko-KR" b="1" dirty="0">
                <a:solidFill>
                  <a:srgbClr val="FF0000"/>
                </a:solidFill>
              </a:rPr>
              <a:t>region confidence</a:t>
            </a:r>
            <a:r>
              <a:rPr lang="en-US" altLang="ko-KR" dirty="0"/>
              <a:t> to replace vanilla entropy</a:t>
            </a:r>
          </a:p>
          <a:p>
            <a:pPr lvl="1"/>
            <a:r>
              <a:rPr lang="en-US" altLang="ko-KR" dirty="0"/>
              <a:t>optimizes both region-wise confidence and stability simultaneously</a:t>
            </a:r>
          </a:p>
          <a:p>
            <a:pPr lvl="1"/>
            <a:r>
              <a:rPr lang="en-US" altLang="ko-KR" dirty="0"/>
              <a:t>improving global optimization efficiency</a:t>
            </a:r>
          </a:p>
          <a:p>
            <a:r>
              <a:rPr lang="en-US" altLang="ko-KR" dirty="0"/>
              <a:t>Mathematical definition: 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714F0EC-757A-DF71-35BB-C0C84E9F9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From Sample Confidence to Region Confidence</a:t>
            </a:r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54790A2-A5B4-DD56-84CD-BAA238FFB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3208040"/>
            <a:ext cx="7772400" cy="1292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671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1F651-C2B7-00EF-F3D8-DB973876B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B727E26-161B-97B0-C77B-5F602305D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There are still two considerable challenges to optimize</a:t>
            </a:r>
            <a:r>
              <a:rPr lang="ko-KR" altLang="en-US" dirty="0"/>
              <a:t> </a:t>
            </a:r>
            <a:r>
              <a:rPr lang="en" altLang="ko-KR" dirty="0"/>
              <a:t>region confidence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altLang="ko-KR" dirty="0"/>
              <a:t>Uncertain region scope</a:t>
            </a:r>
          </a:p>
          <a:p>
            <a:pPr marL="1257300" lvl="2" indent="-457200"/>
            <a:r>
              <a:rPr lang="en-US" altLang="ko-KR" dirty="0"/>
              <a:t>The static regions fix the sample location, making it difficult to determine an appropriate local scope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altLang="ko-KR" dirty="0"/>
              <a:t>Heavy computational burden</a:t>
            </a:r>
          </a:p>
          <a:p>
            <a:pPr marL="1257300" lvl="2" indent="-457200"/>
            <a:r>
              <a:rPr lang="en-US" altLang="ko-KR" dirty="0"/>
              <a:t>Previous term is intractable, relying on extensive sampling and additional model forwards for measurement</a:t>
            </a:r>
          </a:p>
          <a:p>
            <a:pPr>
              <a:buFont typeface="Wingdings" pitchFamily="2" charset="2"/>
              <a:buChar char="Ø"/>
            </a:pPr>
            <a:r>
              <a:rPr lang="en-US" altLang="ko-KR" dirty="0"/>
              <a:t>Propose </a:t>
            </a:r>
            <a:r>
              <a:rPr lang="en-US" altLang="ko-KR" b="1" dirty="0">
                <a:solidFill>
                  <a:srgbClr val="FF0000"/>
                </a:solidFill>
              </a:rPr>
              <a:t>Region Confidence Adaptive Proxy (</a:t>
            </a:r>
            <a:r>
              <a:rPr lang="en-US" altLang="ko-KR" b="1" dirty="0" err="1">
                <a:solidFill>
                  <a:srgbClr val="FF0000"/>
                </a:solidFill>
              </a:rPr>
              <a:t>ReCAP</a:t>
            </a:r>
            <a:r>
              <a:rPr lang="en-US" altLang="ko-KR" b="1" dirty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en-US" altLang="ko-KR" dirty="0"/>
              <a:t>Probabilistic region modeling mechanism</a:t>
            </a:r>
          </a:p>
          <a:p>
            <a:pPr lvl="1"/>
            <a:r>
              <a:rPr lang="en-US" altLang="ko-KR" dirty="0"/>
              <a:t>Efficient proxy for optimizing region confidence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530F12A-A98D-0AEE-81DC-B2726A907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Region Confidence Proxy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7335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F733A-0684-AD93-B7D5-EBE763449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A570897-C9AA-F596-051D-4EAE0E07D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554E246-066C-D5C0-AD0A-0C3F929E1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Region Confidence Proxy</a:t>
            </a:r>
            <a:endParaRPr kumimoji="1" lang="ko-KR" altLang="en-US" dirty="0"/>
          </a:p>
        </p:txBody>
      </p:sp>
      <p:pic>
        <p:nvPicPr>
          <p:cNvPr id="6" name="그림 5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2CA715-4A1B-CB60-8379-3C4FFDE4E9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08" y="1501079"/>
            <a:ext cx="11364184" cy="4204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561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820F4-7B11-D339-D6CA-DDE4E6034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8567048C-A608-4E39-0146-987C019F44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dirty="0"/>
                  <a:t>Different directions in feature space can imply potentials of valuable semantic changes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en-US" altLang="ko-KR" dirty="0"/>
                  <a:t>Model local regions</a:t>
                </a:r>
                <a:r>
                  <a:rPr lang="en-US" altLang="ko-KR" b="1" dirty="0">
                    <a:solidFill>
                      <a:srgbClr val="FF0000"/>
                    </a:solidFill>
                  </a:rPr>
                  <a:t> in feature space</a:t>
                </a:r>
                <a:r>
                  <a:rPr lang="en-US" altLang="ko-KR" dirty="0"/>
                  <a:t> to flexibly capture rich semantic information</a:t>
                </a:r>
              </a:p>
              <a:p>
                <a:pPr lvl="2"/>
                <a:r>
                  <a:rPr lang="en-US" altLang="ko-KR" dirty="0"/>
                  <a:t>Select the latent space extracted by the backbone</a:t>
                </a:r>
              </a:p>
              <a:p>
                <a:pPr lvl="2">
                  <a:buFont typeface="Wingdings" pitchFamily="2" charset="2"/>
                  <a:buChar char="Ø"/>
                </a:pPr>
                <a:r>
                  <a:rPr lang="en-US" altLang="ko-KR" dirty="0"/>
                  <a:t>Avoid class mixing</a:t>
                </a:r>
              </a:p>
              <a:p>
                <a:pPr lvl="2">
                  <a:buFont typeface="Wingdings" pitchFamily="2" charset="2"/>
                  <a:buChar char="Ø"/>
                </a:pPr>
                <a:endParaRPr lang="en-US" altLang="ko-KR" dirty="0"/>
              </a:p>
              <a:p>
                <a:r>
                  <a:rPr lang="en-US" altLang="ko-KR" dirty="0"/>
                  <a:t>Mathematical Definition</a:t>
                </a:r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pPr lvl="1"/>
                <a:r>
                  <a:rPr lang="en-US" altLang="ko-KR" dirty="0" err="1"/>
                  <a:t>i</a:t>
                </a:r>
                <a:r>
                  <a:rPr lang="en-US" altLang="ko-KR" dirty="0"/>
                  <a:t>: class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altLang="ko-KR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altLang="ko-KR" dirty="0"/>
                  <a:t>: the linear and bias coefficients of the affine layer in the classifier</a:t>
                </a:r>
              </a:p>
            </p:txBody>
          </p:sp>
        </mc:Choice>
        <mc:Fallback xmlns="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8567048C-A608-4E39-0146-987C019F44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7AEFF871-061C-51E4-B91D-6BC26C8F9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Probabilistic Region Modeling</a:t>
            </a:r>
            <a:endParaRPr kumimoji="1" lang="ko-KR" altLang="en-US" dirty="0"/>
          </a:p>
        </p:txBody>
      </p:sp>
      <p:pic>
        <p:nvPicPr>
          <p:cNvPr id="5" name="그림 4" descr="텍스트, 폰트, 라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276C3F-9441-0E7D-2812-A6DE911948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3843117"/>
            <a:ext cx="6836228" cy="1057272"/>
          </a:xfrm>
          <a:prstGeom prst="rect">
            <a:avLst/>
          </a:prstGeom>
        </p:spPr>
      </p:pic>
      <p:pic>
        <p:nvPicPr>
          <p:cNvPr id="7" name="그림 6" descr="폰트, 친필, 서예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D94C7CD-6D6D-E93F-628C-51AEE3BB99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84" y="4073534"/>
            <a:ext cx="4219142" cy="531122"/>
          </a:xfrm>
          <a:prstGeom prst="rect">
            <a:avLst/>
          </a:prstGeom>
        </p:spPr>
      </p:pic>
      <p:sp>
        <p:nvSpPr>
          <p:cNvPr id="8" name="오른쪽 화살표[R] 7">
            <a:extLst>
              <a:ext uri="{FF2B5EF4-FFF2-40B4-BE49-F238E27FC236}">
                <a16:creationId xmlns:a16="http://schemas.microsoft.com/office/drawing/2014/main" id="{6CAC6583-08EB-9CBC-BE19-A83CEC76FDC7}"/>
              </a:ext>
            </a:extLst>
          </p:cNvPr>
          <p:cNvSpPr/>
          <p:nvPr/>
        </p:nvSpPr>
        <p:spPr>
          <a:xfrm>
            <a:off x="4459399" y="4266185"/>
            <a:ext cx="221458" cy="14581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B60DF3F-3C4B-80E5-FF96-04E65FE4DD74}"/>
              </a:ext>
            </a:extLst>
          </p:cNvPr>
          <p:cNvSpPr/>
          <p:nvPr/>
        </p:nvSpPr>
        <p:spPr>
          <a:xfrm>
            <a:off x="3646714" y="4103914"/>
            <a:ext cx="812685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064DD14-B11A-45C6-6B5A-3A32A2CDC1A9}"/>
              </a:ext>
            </a:extLst>
          </p:cNvPr>
          <p:cNvSpPr/>
          <p:nvPr/>
        </p:nvSpPr>
        <p:spPr>
          <a:xfrm>
            <a:off x="2097758" y="4103914"/>
            <a:ext cx="812685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58683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134EB-B35F-754E-A5DE-24644E55C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158B24D8-81C8-E08C-61E9-684EEDF537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dirty="0"/>
                  <a:t>Local region as a static range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-&gt;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a probabilistic representation following a </a:t>
                </a:r>
                <a:r>
                  <a:rPr lang="en-US" altLang="ko-KR" b="1" dirty="0">
                    <a:solidFill>
                      <a:srgbClr val="FF0000"/>
                    </a:solidFill>
                  </a:rPr>
                  <a:t>multivariate Gaussian distribution</a:t>
                </a:r>
              </a:p>
              <a:p>
                <a:endParaRPr lang="en-US" altLang="ko-KR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ko-KR" i="0" dirty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l-GR" altLang="ko-KR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err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/>
                  <a:t>: the local region of the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ko-KR" dirty="0"/>
                  <a:t>-</a:t>
                </a:r>
                <a:r>
                  <a:rPr lang="en-US" altLang="ko-KR" dirty="0" err="1"/>
                  <a:t>th</a:t>
                </a:r>
                <a:r>
                  <a:rPr lang="en-US" altLang="ko-KR" dirty="0"/>
                  <a:t> test batch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ko-KR" i="0" dirty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altLang="ko-KR" dirty="0"/>
                  <a:t>: the diagonal matrix of variance on a small set of source data (e.g.500 is enough)</a:t>
                </a:r>
              </a:p>
              <a:p>
                <a14:m>
                  <m:oMath xmlns:m="http://schemas.openxmlformats.org/officeDocument/2006/math">
                    <m:r>
                      <a:rPr lang="el-GR" altLang="ko-KR" i="1" dirty="0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ko-KR" dirty="0"/>
                  <a:t>: a hyper-parameter to control the scope.</a:t>
                </a:r>
              </a:p>
            </p:txBody>
          </p:sp>
        </mc:Choice>
        <mc:Fallback xmlns="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158B24D8-81C8-E08C-61E9-684EEDF537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0798D082-8E87-8834-A924-337F2C323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Probabilistic Region Modeling</a:t>
            </a:r>
            <a:endParaRPr kumimoji="1"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2A9F208-4924-3269-512B-3F37A9C9A5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2670489"/>
            <a:ext cx="7772400" cy="758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398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1D69D-7BE2-C989-F8D2-35518841D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15066CA-B1E6-FD87-2420-FE827A795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the computation of two terms </a:t>
            </a:r>
          </a:p>
          <a:p>
            <a:pPr lvl="1"/>
            <a:r>
              <a:rPr lang="en-US" altLang="ko-KR" dirty="0"/>
              <a:t>depends on an infinite number of potential samples from the distribution</a:t>
            </a:r>
          </a:p>
          <a:p>
            <a:pPr lvl="1"/>
            <a:r>
              <a:rPr lang="en-US" altLang="ko-KR" dirty="0"/>
              <a:t>requires extensive sampling to capture the statistical information</a:t>
            </a:r>
          </a:p>
          <a:p>
            <a:pPr lvl="1">
              <a:buFont typeface="Wingdings" pitchFamily="2" charset="2"/>
              <a:buChar char="Ø"/>
            </a:pPr>
            <a:endParaRPr lang="en-US" altLang="ko-KR" dirty="0"/>
          </a:p>
          <a:p>
            <a:pPr lvl="1">
              <a:buFont typeface="Wingdings" pitchFamily="2" charset="2"/>
              <a:buChar char="Ø"/>
            </a:pPr>
            <a:r>
              <a:rPr lang="en-US" altLang="ko-KR" dirty="0"/>
              <a:t>Computational overhead and memory usage increase almost linearly with the number of sampling</a:t>
            </a:r>
          </a:p>
          <a:p>
            <a:pPr>
              <a:buFont typeface="Wingdings" pitchFamily="2" charset="2"/>
              <a:buChar char="Ø"/>
            </a:pPr>
            <a:r>
              <a:rPr lang="en-US" altLang="ko-KR" dirty="0"/>
              <a:t>Approximation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B08E1F6-A4CE-EFBB-81EB-6A8A9657C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Efficient Metric of Region Confidence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38135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E589E-847D-F641-650F-852675E54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53F6456-099B-D47C-FBF8-604AC1642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C016596-4B7A-9745-AC39-41F271D2E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Efficient Metric of Region Confidence</a:t>
            </a:r>
            <a:endParaRPr kumimoji="1" lang="ko-KR" altLang="en-US" dirty="0"/>
          </a:p>
        </p:txBody>
      </p:sp>
      <p:pic>
        <p:nvPicPr>
          <p:cNvPr id="5" name="그림 4" descr="텍스트, 폰트, 화이트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6CEAED-DE16-06A0-0D06-5DF8B0729F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243" y="1608183"/>
            <a:ext cx="9499914" cy="364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489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F1F07-A7BB-33B8-FD1F-9F750FD8E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A232BAB-4079-1419-275C-42FE3DD93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F821654-D3CC-3186-10B8-2C47DE5F1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Efficient Metric of Region Confidence</a:t>
            </a:r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5A9BCE9-E39E-1D13-C3EB-6C895E9638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35081" y="1526903"/>
            <a:ext cx="7912237" cy="3804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6220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21E3A-0DFF-F4C1-AF5C-0AEE169E6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C3EBB6E6-B03C-A964-1AC6-0161834E45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𝑅𝐸</m:t>
                        </m:r>
                      </m:sub>
                    </m:sSub>
                  </m:oMath>
                </a14:m>
                <a:r>
                  <a:rPr lang="en-US" altLang="ko-KR" dirty="0"/>
                  <a:t>: Regional Entropy</a:t>
                </a:r>
              </a:p>
            </p:txBody>
          </p:sp>
        </mc:Choice>
        <mc:Fallback xmlns="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C3EBB6E6-B03C-A964-1AC6-0161834E45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A2890D9C-7224-3BF3-CF27-C74A03AD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Efficient Metric of Region Confidence</a:t>
            </a:r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931C055-BD9F-CBFD-63F3-9C3A85F7A4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83971" y="1879146"/>
            <a:ext cx="6814458" cy="429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2724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FAE3A-4E5B-34ED-B7AE-F015228BF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63EC88F7-81E1-5DDC-8CCE-B4F9940EBB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US" altLang="ko-KR" dirty="0"/>
                  <a:t>: Regional Instability</a:t>
                </a:r>
              </a:p>
            </p:txBody>
          </p:sp>
        </mc:Choice>
        <mc:Fallback xmlns="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63EC88F7-81E1-5DDC-8CCE-B4F9940EBB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86540976-6552-3874-1292-5CA724E93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Efficient Metric of Region Confidence</a:t>
            </a:r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69125AC-9818-E272-A48D-01306B8391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36370" y="1975188"/>
            <a:ext cx="6509660" cy="4102390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61D064F8-0FD0-4C6D-5CEB-2C1FA2BC9A2C}"/>
              </a:ext>
            </a:extLst>
          </p:cNvPr>
          <p:cNvGrpSpPr/>
          <p:nvPr/>
        </p:nvGrpSpPr>
        <p:grpSpPr>
          <a:xfrm>
            <a:off x="2222354" y="1894114"/>
            <a:ext cx="7747292" cy="4464262"/>
            <a:chOff x="2209800" y="1886880"/>
            <a:chExt cx="7772400" cy="447873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FAE66B92-5FA3-1952-801B-D40D3135CD1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09800" y="2630038"/>
              <a:ext cx="7772400" cy="3735572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8F5F3F33-F366-72F8-2C90-4E1686C5631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09800" y="1886880"/>
              <a:ext cx="7772400" cy="8314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787121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F2980-1B2A-C4D9-C79F-EF563D60C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109442D-F92E-DF72-D035-D3FD98AD9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E3FF704-F7C2-C236-6395-1ADA01F9E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Overall Procedure of </a:t>
            </a:r>
            <a:r>
              <a:rPr kumimoji="1" lang="en-US" altLang="ko-KR" dirty="0" err="1"/>
              <a:t>ReCAP</a:t>
            </a:r>
            <a:endParaRPr kumimoji="1"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1EF3E31-624A-9FED-55C9-1BAD9D3F2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750260"/>
            <a:ext cx="7772400" cy="1618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6650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4EE17-4294-3822-FCE8-D971B23EC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584DA3C-74EB-71F0-465F-5B5FF91C4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C088154-F580-2F6C-AF9B-BAB8735D4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Overall Procedure of </a:t>
            </a:r>
            <a:r>
              <a:rPr kumimoji="1" lang="en-US" altLang="ko-KR" dirty="0" err="1"/>
              <a:t>ReCAP</a:t>
            </a:r>
            <a:endParaRPr kumimoji="1" lang="ko-KR" altLang="en-US" dirty="0"/>
          </a:p>
        </p:txBody>
      </p:sp>
      <p:pic>
        <p:nvPicPr>
          <p:cNvPr id="4" name="그림 3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6588C60-5AEA-DFD7-3AEC-509259D370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08" y="1501079"/>
            <a:ext cx="11364184" cy="4204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526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796D0-7AE7-51CC-5318-EEB092803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EFF1398-F25E-906A-F42F-C0275C1A2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3E2EE68-8564-F4C1-057A-93228F384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Ablation studies</a:t>
            </a:r>
            <a:endParaRPr kumimoji="1"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7AC36DE-3F74-7A82-4DB5-34F5921062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2331"/>
          <a:stretch>
            <a:fillRect/>
          </a:stretch>
        </p:blipFill>
        <p:spPr>
          <a:xfrm>
            <a:off x="3393022" y="1144518"/>
            <a:ext cx="5405956" cy="2738839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F00BCC97-38BD-A679-D60F-AF2613D43E77}"/>
              </a:ext>
            </a:extLst>
          </p:cNvPr>
          <p:cNvGrpSpPr/>
          <p:nvPr/>
        </p:nvGrpSpPr>
        <p:grpSpPr>
          <a:xfrm>
            <a:off x="1566580" y="4032272"/>
            <a:ext cx="9058840" cy="2700525"/>
            <a:chOff x="1538038" y="3807293"/>
            <a:chExt cx="9058840" cy="270052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5C94475E-1FE6-B7CA-F5C5-A647DBC5D0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20069"/>
            <a:stretch>
              <a:fillRect/>
            </a:stretch>
          </p:blipFill>
          <p:spPr>
            <a:xfrm>
              <a:off x="1538038" y="3807293"/>
              <a:ext cx="9058840" cy="2548126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467EDA15-5ACD-13A3-B7BD-234DC3F33D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90395" b="-582"/>
            <a:stretch>
              <a:fillRect/>
            </a:stretch>
          </p:blipFill>
          <p:spPr>
            <a:xfrm>
              <a:off x="1538038" y="6183085"/>
              <a:ext cx="9058840" cy="3247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599865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9D86A-DE87-3001-8A15-86E5270B1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1299648-245B-DD13-A867-119511805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0ACB00D-E605-040B-6AAE-A83785643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Ablation studies</a:t>
            </a:r>
            <a:endParaRPr kumimoji="1"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D4B5D8E-0BD5-3B5D-5A49-D3851F225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94" y="2659158"/>
            <a:ext cx="10634928" cy="184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1336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1A8F2-F6CA-53ED-A229-9B54FD660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8F8D0F2-AFE5-EF0C-704E-1199BA8B1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240694A-933A-7D9C-C892-01BAB23B9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Experiments</a:t>
            </a:r>
            <a:endParaRPr kumimoji="1"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B8AC155-3C07-3D15-8BBF-B4E638378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977" y="1569371"/>
            <a:ext cx="7835812" cy="42436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4F5531C-335A-6C0B-8894-05A9185849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1817" y="1569371"/>
            <a:ext cx="3985206" cy="42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8493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9040B-71D7-3976-39E3-051AF78EE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3668C4F-FBDB-1BFC-C411-DBA26FC4C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ACF0861-7090-2A54-AC8F-3D8EBF3C8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Experiments</a:t>
            </a:r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CFF0912-A50E-EB89-9EA4-29A094046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790" y="1304764"/>
            <a:ext cx="9088420" cy="4772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0597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A2BAC-DE4E-3B9D-C412-44A2DBF31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AA9BBE5-1CA8-064E-410F-06F2439F4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635D710-C983-5271-E292-F7FA17C14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Experiments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BB4E394-FA9E-AA51-9371-F49A11CEB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218135"/>
            <a:ext cx="7772400" cy="4946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7664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B462E-3EFA-B2FC-2BC2-ABE01AAA8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0B3F0A6-2C33-A9AA-B881-B50726699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DB2AF6F-4F9D-E293-EE02-5B461B7B0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Experiments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D382533-8172-6FC5-8108-8EC229915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6660" y="1970314"/>
            <a:ext cx="6398680" cy="344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8011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CB408-1CE6-1D2B-0365-DFE04B10A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56943E1C-4EBE-2560-CE35-2E69AB8F8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EAB767F-DC4B-7E5F-3E40-0067D7B68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Experiments</a:t>
            </a:r>
            <a:endParaRPr kumimoji="1"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DBA26FD-61DF-B04C-94CC-D116CBEA0A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837"/>
          <a:stretch>
            <a:fillRect/>
          </a:stretch>
        </p:blipFill>
        <p:spPr>
          <a:xfrm>
            <a:off x="523905" y="2165750"/>
            <a:ext cx="5405956" cy="276720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1643A1F-7673-F78F-EF0B-AC5FDC1F81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141" y="1545466"/>
            <a:ext cx="5321576" cy="4007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2239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3D923-05AC-1A96-DE47-4CB01AAC0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59D8CEF-75FB-9A62-6B6F-343DEF8F4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7BC5788-4A36-A9A3-C683-0AB6C66CD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Experiments</a:t>
            </a:r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8E088A1-B942-E2A0-BC5A-0C8FC0ED6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049" y="1566935"/>
            <a:ext cx="10725902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4866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0236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Taehoon Lee">
      <a:dk1>
        <a:sysClr val="windowText" lastClr="000000"/>
      </a:dk1>
      <a:lt1>
        <a:sysClr val="window" lastClr="FFFFFF"/>
      </a:lt1>
      <a:dk2>
        <a:srgbClr val="433021"/>
      </a:dk2>
      <a:lt2>
        <a:srgbClr val="E8D8CA"/>
      </a:lt2>
      <a:accent1>
        <a:srgbClr val="9A57CD"/>
      </a:accent1>
      <a:accent2>
        <a:srgbClr val="0070C0"/>
      </a:accent2>
      <a:accent3>
        <a:srgbClr val="00B0F0"/>
      </a:accent3>
      <a:accent4>
        <a:srgbClr val="F1C10F"/>
      </a:accent4>
      <a:accent5>
        <a:srgbClr val="FBA305"/>
      </a:accent5>
      <a:accent6>
        <a:srgbClr val="EA76A8"/>
      </a:accent6>
      <a:hlink>
        <a:srgbClr val="008685"/>
      </a:hlink>
      <a:folHlink>
        <a:srgbClr val="EA5A23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테마">
  <a:themeElements>
    <a:clrScheme name="Taehoon Lee">
      <a:dk1>
        <a:sysClr val="windowText" lastClr="000000"/>
      </a:dk1>
      <a:lt1>
        <a:sysClr val="window" lastClr="FFFFFF"/>
      </a:lt1>
      <a:dk2>
        <a:srgbClr val="433021"/>
      </a:dk2>
      <a:lt2>
        <a:srgbClr val="E8D8CA"/>
      </a:lt2>
      <a:accent1>
        <a:srgbClr val="9A57CD"/>
      </a:accent1>
      <a:accent2>
        <a:srgbClr val="0070C0"/>
      </a:accent2>
      <a:accent3>
        <a:srgbClr val="00B0F0"/>
      </a:accent3>
      <a:accent4>
        <a:srgbClr val="F1C10F"/>
      </a:accent4>
      <a:accent5>
        <a:srgbClr val="FBA305"/>
      </a:accent5>
      <a:accent6>
        <a:srgbClr val="EA76A8"/>
      </a:accent6>
      <a:hlink>
        <a:srgbClr val="008685"/>
      </a:hlink>
      <a:folHlink>
        <a:srgbClr val="EA5A23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000000000000000000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15958</TotalTime>
  <Words>950</Words>
  <Application>Microsoft Macintosh PowerPoint</Application>
  <PresentationFormat>와이드스크린</PresentationFormat>
  <Paragraphs>150</Paragraphs>
  <Slides>29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29</vt:i4>
      </vt:variant>
    </vt:vector>
  </HeadingPairs>
  <TitlesOfParts>
    <vt:vector size="40" baseType="lpstr">
      <vt:lpstr>Arial</vt:lpstr>
      <vt:lpstr>Times New Roman</vt:lpstr>
      <vt:lpstr>Cambria Math</vt:lpstr>
      <vt:lpstr>Wingdings 3</vt:lpstr>
      <vt:lpstr>Wingdings</vt:lpstr>
      <vt:lpstr>Candara</vt:lpstr>
      <vt:lpstr>Corbel</vt:lpstr>
      <vt:lpstr>맑은 고딕</vt:lpstr>
      <vt:lpstr>Yoon 윤고딕 115_TT</vt:lpstr>
      <vt:lpstr>Office 테마</vt:lpstr>
      <vt:lpstr>1_Office 테마</vt:lpstr>
      <vt:lpstr>Beyond Entropy: Region Confidence Proxy  for Wild Test-Time Adaptation</vt:lpstr>
      <vt:lpstr>Introduction</vt:lpstr>
      <vt:lpstr>Introduction</vt:lpstr>
      <vt:lpstr>Introduction</vt:lpstr>
      <vt:lpstr>Preliminaries for Wild Test-Time Adaptation</vt:lpstr>
      <vt:lpstr>Preliminaries for Wild Test-Time Adaptation</vt:lpstr>
      <vt:lpstr>Exploring Entropy Minimization via Local Consistency</vt:lpstr>
      <vt:lpstr>Exploring Entropy Minimization via Local Consistency</vt:lpstr>
      <vt:lpstr>From Sample Confidence to Region Confidence</vt:lpstr>
      <vt:lpstr>Region Confidence Proxy</vt:lpstr>
      <vt:lpstr>Region Confidence Proxy</vt:lpstr>
      <vt:lpstr>Probabilistic Region Modeling</vt:lpstr>
      <vt:lpstr>Probabilistic Region Modeling</vt:lpstr>
      <vt:lpstr>Efficient Metric of Region Confidence</vt:lpstr>
      <vt:lpstr>Efficient Metric of Region Confidence</vt:lpstr>
      <vt:lpstr>Efficient Metric of Region Confidence</vt:lpstr>
      <vt:lpstr>Efficient Metric of Region Confidence</vt:lpstr>
      <vt:lpstr>Efficient Metric of Region Confidence</vt:lpstr>
      <vt:lpstr>Overall Procedure of ReCAP</vt:lpstr>
      <vt:lpstr>Overall Procedure of ReCAP</vt:lpstr>
      <vt:lpstr>Ablation studies</vt:lpstr>
      <vt:lpstr>Ablation studies</vt:lpstr>
      <vt:lpstr>Experiments</vt:lpstr>
      <vt:lpstr>Experiments</vt:lpstr>
      <vt:lpstr>Experiments</vt:lpstr>
      <vt:lpstr>Experiments</vt:lpstr>
      <vt:lpstr>Experiments</vt:lpstr>
      <vt:lpstr>Experiments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Taehoon Lee</dc:creator>
  <cp:lastModifiedBy>강현오</cp:lastModifiedBy>
  <cp:revision>3045</cp:revision>
  <dcterms:created xsi:type="dcterms:W3CDTF">2013-05-08T06:38:33Z</dcterms:created>
  <dcterms:modified xsi:type="dcterms:W3CDTF">2025-08-14T08:47:04Z</dcterms:modified>
</cp:coreProperties>
</file>