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5" r:id="rId2"/>
  </p:sldMasterIdLst>
  <p:notesMasterIdLst>
    <p:notesMasterId r:id="rId41"/>
  </p:notesMasterIdLst>
  <p:handoutMasterIdLst>
    <p:handoutMasterId r:id="rId42"/>
  </p:handoutMasterIdLst>
  <p:sldIdLst>
    <p:sldId id="257" r:id="rId3"/>
    <p:sldId id="411" r:id="rId4"/>
    <p:sldId id="412" r:id="rId5"/>
    <p:sldId id="413" r:id="rId6"/>
    <p:sldId id="414" r:id="rId7"/>
    <p:sldId id="415" r:id="rId8"/>
    <p:sldId id="416" r:id="rId9"/>
    <p:sldId id="418" r:id="rId10"/>
    <p:sldId id="419" r:id="rId11"/>
    <p:sldId id="420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41" r:id="rId20"/>
    <p:sldId id="430" r:id="rId21"/>
    <p:sldId id="429" r:id="rId22"/>
    <p:sldId id="431" r:id="rId23"/>
    <p:sldId id="432" r:id="rId24"/>
    <p:sldId id="433" r:id="rId25"/>
    <p:sldId id="434" r:id="rId26"/>
    <p:sldId id="435" r:id="rId27"/>
    <p:sldId id="442" r:id="rId28"/>
    <p:sldId id="440" r:id="rId29"/>
    <p:sldId id="443" r:id="rId30"/>
    <p:sldId id="444" r:id="rId31"/>
    <p:sldId id="445" r:id="rId32"/>
    <p:sldId id="447" r:id="rId33"/>
    <p:sldId id="446" r:id="rId34"/>
    <p:sldId id="448" r:id="rId35"/>
    <p:sldId id="436" r:id="rId36"/>
    <p:sldId id="437" r:id="rId37"/>
    <p:sldId id="438" r:id="rId38"/>
    <p:sldId id="439" r:id="rId39"/>
    <p:sldId id="260" r:id="rId40"/>
  </p:sldIdLst>
  <p:sldSz cx="12192000" cy="6858000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  <p:cmAuthor id="2" name="편하늘" initials="편" lastIdx="3" clrIdx="1">
    <p:extLst>
      <p:ext uri="{19B8F6BF-5375-455C-9EA6-DF929625EA0E}">
        <p15:presenceInfo xmlns:p15="http://schemas.microsoft.com/office/powerpoint/2012/main" userId="S::1102444016@soongsil.ac.kr::b9ebc181-39dc-45ef-8c38-868373cf86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41" autoAdjust="0"/>
    <p:restoredTop sz="84944" autoAdjust="0"/>
  </p:normalViewPr>
  <p:slideViewPr>
    <p:cSldViewPr snapToGrid="0">
      <p:cViewPr>
        <p:scale>
          <a:sx n="162" d="100"/>
          <a:sy n="162" d="100"/>
        </p:scale>
        <p:origin x="552" y="-3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954" y="53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2025. 3. 17.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2025. 3. 17.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88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학습후</a:t>
            </a:r>
            <a:r>
              <a:rPr kumimoji="1" lang="ko-KR" altLang="en-US" dirty="0"/>
              <a:t> </a:t>
            </a:r>
            <a:r>
              <a:rPr kumimoji="1" lang="en-US" altLang="ko-KR" dirty="0"/>
              <a:t>fine turning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이루어짐</a:t>
            </a:r>
            <a:endParaRPr kumimoji="1" lang="en-US" altLang="ko-KR" dirty="0"/>
          </a:p>
          <a:p>
            <a:r>
              <a:rPr kumimoji="1" lang="ko-KR" altLang="en-US" dirty="0"/>
              <a:t>기존 </a:t>
            </a:r>
            <a:r>
              <a:rPr kumimoji="1" lang="en-US" altLang="ko-KR" dirty="0"/>
              <a:t>classifier</a:t>
            </a:r>
            <a:r>
              <a:rPr kumimoji="1" lang="ko-KR" altLang="en-US" dirty="0"/>
              <a:t>에서 추가 학습으로 </a:t>
            </a:r>
            <a:r>
              <a:rPr kumimoji="1" lang="en-US" altLang="ko-KR" dirty="0"/>
              <a:t>target domain</a:t>
            </a:r>
            <a:r>
              <a:rPr kumimoji="1" lang="ko-KR" altLang="en-US" dirty="0"/>
              <a:t>에서도 잘 되게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전체적인 도메인 다 </a:t>
            </a:r>
            <a:r>
              <a:rPr kumimoji="1" lang="en-US" altLang="ko-KR" dirty="0"/>
              <a:t>robust</a:t>
            </a:r>
            <a:r>
              <a:rPr kumimoji="1" lang="ko-KR" altLang="en-US" dirty="0"/>
              <a:t>하게는 </a:t>
            </a:r>
            <a:r>
              <a:rPr kumimoji="1" lang="en-US" altLang="ko-KR" dirty="0"/>
              <a:t>domain generalization</a:t>
            </a:r>
            <a:r>
              <a:rPr kumimoji="1" lang="ko-KR" altLang="en-US" dirty="0"/>
              <a:t>이나</a:t>
            </a:r>
            <a:endParaRPr kumimoji="1" lang="en-US" altLang="ko-KR" dirty="0"/>
          </a:p>
          <a:p>
            <a:r>
              <a:rPr kumimoji="1" lang="en-US" altLang="ko-KR" dirty="0"/>
              <a:t>TTA</a:t>
            </a:r>
            <a:r>
              <a:rPr kumimoji="1" lang="ko-KR" altLang="en-US" dirty="0"/>
              <a:t>가 필요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 err="1"/>
              <a:t>학습때</a:t>
            </a:r>
            <a:r>
              <a:rPr kumimoji="1" lang="ko-KR" altLang="en-US" dirty="0"/>
              <a:t> 걍 다 추가하면 </a:t>
            </a:r>
            <a:r>
              <a:rPr kumimoji="1" lang="ko-KR" altLang="en-US" dirty="0" err="1"/>
              <a:t>되는거</a:t>
            </a:r>
            <a:r>
              <a:rPr kumimoji="1" lang="ko-KR" altLang="en-US" dirty="0"/>
              <a:t> 아니냐</a:t>
            </a:r>
            <a:r>
              <a:rPr kumimoji="1" lang="en-US" altLang="ko-KR" dirty="0"/>
              <a:t>?</a:t>
            </a:r>
          </a:p>
          <a:p>
            <a:r>
              <a:rPr kumimoji="1" lang="ko-KR" altLang="en-US" dirty="0" err="1"/>
              <a:t>학습떄</a:t>
            </a:r>
            <a:r>
              <a:rPr kumimoji="1" lang="ko-KR" altLang="en-US" dirty="0"/>
              <a:t> 다른 도메인 데이터를 그냥 추가해서 </a:t>
            </a:r>
            <a:r>
              <a:rPr kumimoji="1" lang="ko-KR" altLang="en-US" dirty="0" err="1"/>
              <a:t>하는건</a:t>
            </a:r>
            <a:r>
              <a:rPr kumimoji="1" lang="ko-KR" altLang="en-US" dirty="0"/>
              <a:t> 기존 분포가 </a:t>
            </a:r>
            <a:r>
              <a:rPr kumimoji="1" lang="ko-KR" altLang="en-US" dirty="0" err="1"/>
              <a:t>달라지느거</a:t>
            </a:r>
            <a:endParaRPr kumimoji="1" lang="en-US" altLang="ko-KR" dirty="0"/>
          </a:p>
          <a:p>
            <a:r>
              <a:rPr kumimoji="1" lang="ko-KR" altLang="en-US" dirty="0"/>
              <a:t>얘는 타겟 분포를 대충 소스 분포에 맞게 추가 학습 </a:t>
            </a:r>
            <a:r>
              <a:rPr kumimoji="1" lang="ko-KR" altLang="en-US" dirty="0" err="1"/>
              <a:t>시키는것으로</a:t>
            </a:r>
            <a:r>
              <a:rPr kumimoji="1" lang="ko-KR" altLang="en-US" dirty="0"/>
              <a:t> 데이터 하나하나 학습이 아니라 분포를 </a:t>
            </a:r>
            <a:r>
              <a:rPr kumimoji="1" lang="ko-KR" altLang="en-US" dirty="0" err="1"/>
              <a:t>학습하는걸로</a:t>
            </a:r>
            <a:r>
              <a:rPr kumimoji="1" lang="ko-KR" altLang="en-US" dirty="0"/>
              <a:t> 이해하면 됨</a:t>
            </a:r>
            <a:endParaRPr kumimoji="1" lang="en-US" altLang="ko-KR" dirty="0"/>
          </a:p>
          <a:p>
            <a:r>
              <a:rPr kumimoji="1" lang="en-US" altLang="ko-KR" dirty="0"/>
              <a:t>unseen-class</a:t>
            </a:r>
            <a:r>
              <a:rPr kumimoji="1" lang="ko-KR" altLang="en-US" dirty="0"/>
              <a:t>도 가능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583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TTA</a:t>
            </a:r>
            <a:r>
              <a:rPr kumimoji="1" lang="ko-KR" altLang="en-US" dirty="0"/>
              <a:t>는 이름에서 알 수 있듯이 테스트 시간 적응은 훈련 데이터와 테스트 데이터 간의 분포 변화로 인한 부정적인 영향을 줄이기 위해 추론과 함께 적응 절차를 수행합니다</a:t>
            </a:r>
            <a:r>
              <a:rPr kumimoji="1" lang="en-US" altLang="ko-KR" dirty="0"/>
              <a:t>[319]. </a:t>
            </a:r>
            <a:r>
              <a:rPr kumimoji="1" lang="ko-KR" altLang="en-US" dirty="0"/>
              <a:t>훈련 중에는 목표 테스트 데이터에 액세스하지 않고 훈련 데이터 분포만을 기반으로 일반 모델을 개발합니다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테스트 시에는 훈련된 모델 파라미터 또는 테스트 데이터 표현을 조정하여 훈련과 테스트 데이터 분포 간의 격차를 해소함으로써 특정 테스트 샘플에 대한 모델의 성능과 견고성을 향상시키는 데 중점을 둡니다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온라인 방식으로 추론과 함께 적응을 촉진함으로써 테스트 시간 적응은 계산적으로 효율적이며 실제 사용 사례에서 흔히 볼 수 있는 온라인 또는 제한된 테스트 데이터와 관련된 시나리오에 매우 적합합니다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현재의 테스트 시간 적응 접근 방식은 이러한 구성 요소 각각 또는 조합을 적응시킵니다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또한 테스트 시간 적응은 각 테스트 단계에서 대량의 대상 데이터에 액세스하지 않고도 온라인 또는 배치 방식으로 추론과 함께 이루어집니다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DA </a:t>
            </a:r>
            <a:r>
              <a:rPr kumimoji="1" lang="ko-KR" altLang="en-US" dirty="0"/>
              <a:t>는 </a:t>
            </a:r>
            <a:r>
              <a:rPr kumimoji="1" lang="ko-KR" altLang="en-US" dirty="0" err="1"/>
              <a:t>학습중에</a:t>
            </a:r>
            <a:r>
              <a:rPr kumimoji="1" lang="ko-KR" altLang="en-US" dirty="0"/>
              <a:t> 타겟이 조금이라도 들어가서 같이 학습되지만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TTA</a:t>
            </a:r>
            <a:r>
              <a:rPr kumimoji="1" lang="ko-KR" altLang="en-US" dirty="0"/>
              <a:t>는 하나도 </a:t>
            </a:r>
            <a:r>
              <a:rPr kumimoji="1" lang="ko-KR" altLang="en-US" dirty="0" err="1"/>
              <a:t>안들어감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DG</a:t>
            </a:r>
            <a:r>
              <a:rPr kumimoji="1" lang="ko-KR" altLang="en-US" dirty="0"/>
              <a:t>는 </a:t>
            </a:r>
            <a:r>
              <a:rPr kumimoji="1" lang="ko-KR" altLang="en-US" dirty="0" err="1"/>
              <a:t>학습때</a:t>
            </a:r>
            <a:r>
              <a:rPr kumimoji="1" lang="ko-KR" altLang="en-US" dirty="0"/>
              <a:t> </a:t>
            </a:r>
            <a:r>
              <a:rPr kumimoji="1" lang="en-US" altLang="ko-KR" dirty="0"/>
              <a:t>source</a:t>
            </a:r>
            <a:r>
              <a:rPr kumimoji="1" lang="ko-KR" altLang="en-US" dirty="0"/>
              <a:t>만 써서 이 </a:t>
            </a:r>
            <a:r>
              <a:rPr kumimoji="1" lang="en-US" altLang="ko-KR" dirty="0"/>
              <a:t>source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domain</a:t>
            </a:r>
            <a:r>
              <a:rPr kumimoji="1" lang="ko-KR" altLang="en-US" dirty="0"/>
              <a:t>의 특징을 뽑는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Source-free DA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target</a:t>
            </a:r>
            <a:r>
              <a:rPr kumimoji="1" lang="ko-KR" altLang="en-US" dirty="0"/>
              <a:t>만 가지고 </a:t>
            </a:r>
            <a:r>
              <a:rPr kumimoji="1" lang="en-US" altLang="ko-KR" dirty="0"/>
              <a:t>fine tuning </a:t>
            </a:r>
            <a:r>
              <a:rPr kumimoji="1" lang="ko-KR" altLang="en-US" dirty="0"/>
              <a:t>한번 더 하는 느낌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SFDA</a:t>
            </a:r>
            <a:r>
              <a:rPr kumimoji="1" lang="ko-KR" altLang="en-US" dirty="0"/>
              <a:t>랑 </a:t>
            </a:r>
            <a:r>
              <a:rPr kumimoji="1" lang="en-US" altLang="ko-KR" dirty="0"/>
              <a:t>TTA</a:t>
            </a:r>
            <a:r>
              <a:rPr kumimoji="1" lang="ko-KR" altLang="en-US" dirty="0"/>
              <a:t>랑 뭐가 다르냐</a:t>
            </a:r>
            <a:r>
              <a:rPr kumimoji="1" lang="en-US" altLang="ko-KR" dirty="0"/>
              <a:t>? </a:t>
            </a:r>
            <a:r>
              <a:rPr kumimoji="1" lang="ko-KR" altLang="en-US" dirty="0"/>
              <a:t>사실상 </a:t>
            </a:r>
            <a:r>
              <a:rPr kumimoji="1" lang="en-US" altLang="ko-KR" dirty="0"/>
              <a:t>online</a:t>
            </a:r>
            <a:r>
              <a:rPr kumimoji="1" lang="ko-KR" altLang="en-US" dirty="0"/>
              <a:t>이냐 아니냐 정도 차이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45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1CABA-B5DD-88E2-A7E0-E487D252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B17330-2011-8046-489C-E159BD635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092C77-1593-5218-B923-67B926F70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 </a:t>
            </a:r>
            <a:r>
              <a:rPr kumimoji="1" lang="en-US" altLang="ko-KR" dirty="0"/>
              <a:t>survey</a:t>
            </a:r>
            <a:r>
              <a:rPr kumimoji="1" lang="ko-KR" altLang="en-US" dirty="0"/>
              <a:t>에서는 </a:t>
            </a:r>
            <a:r>
              <a:rPr kumimoji="1" lang="en-US" altLang="ko-KR" dirty="0"/>
              <a:t>TTA</a:t>
            </a:r>
            <a:r>
              <a:rPr kumimoji="1" lang="ko-KR" altLang="en-US" dirty="0"/>
              <a:t>의 하위 적응법을 다섯가지로 정의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Model</a:t>
            </a:r>
            <a:r>
              <a:rPr kumimoji="1" lang="ko-KR" altLang="en-US" dirty="0"/>
              <a:t>은 </a:t>
            </a:r>
            <a:r>
              <a:rPr kumimoji="1" lang="ko-KR" altLang="en-US" dirty="0" err="1"/>
              <a:t>백프롭으로</a:t>
            </a:r>
            <a:r>
              <a:rPr kumimoji="1" lang="ko-KR" altLang="en-US" dirty="0"/>
              <a:t> 파라미터 </a:t>
            </a:r>
            <a:r>
              <a:rPr kumimoji="1" lang="ko-KR" altLang="en-US" dirty="0" err="1"/>
              <a:t>업뎃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많은 수의 대상 샘플과 반복 계산이 필요한 모델 적응 요건을 피하기 위해 </a:t>
            </a:r>
            <a:r>
              <a:rPr kumimoji="1" lang="en-US" altLang="ko-KR" dirty="0"/>
              <a:t>Inf</a:t>
            </a:r>
            <a:r>
              <a:rPr kumimoji="1" lang="ko-KR" altLang="en-US" dirty="0"/>
              <a:t>는 순전파만 사용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모델 파라미터를 조정하는 것은 계산 비용이 많이 들고 훈련에 따라 달라질 수 있으므로 </a:t>
            </a:r>
            <a:r>
              <a:rPr kumimoji="1" lang="en-US" altLang="ko-KR" dirty="0"/>
              <a:t>Nor</a:t>
            </a:r>
            <a:r>
              <a:rPr kumimoji="1" lang="ko-KR" altLang="en-US" dirty="0"/>
              <a:t>은 배치 놈의 정규화 통계만 조정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Sam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target</a:t>
            </a:r>
            <a:r>
              <a:rPr kumimoji="1" lang="ko-KR" altLang="en-US" dirty="0"/>
              <a:t>을</a:t>
            </a:r>
            <a:r>
              <a:rPr kumimoji="1" lang="en-US" altLang="ko-KR" dirty="0"/>
              <a:t> source</a:t>
            </a:r>
            <a:r>
              <a:rPr kumimoji="1" lang="ko-KR" altLang="en-US" dirty="0" err="1"/>
              <a:t>처럼</a:t>
            </a:r>
            <a:r>
              <a:rPr kumimoji="1" lang="ko-KR" altLang="en-US" dirty="0"/>
              <a:t> 변환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Prompt</a:t>
            </a:r>
            <a:r>
              <a:rPr kumimoji="1" lang="ko-KR" altLang="en-US" dirty="0"/>
              <a:t>는 프롬프트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Training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Training</a:t>
            </a:r>
            <a:r>
              <a:rPr kumimoji="1" lang="ko-KR" altLang="en-US" dirty="0"/>
              <a:t>좀 </a:t>
            </a:r>
            <a:r>
              <a:rPr kumimoji="1" lang="ko-KR" altLang="en-US" dirty="0" err="1"/>
              <a:t>바꾼거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+data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까지 </a:t>
            </a:r>
            <a:r>
              <a:rPr kumimoji="1" lang="ko-KR" altLang="en-US" dirty="0" err="1"/>
              <a:t>바꾼거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E M </a:t>
            </a:r>
            <a:r>
              <a:rPr kumimoji="1" lang="ko-KR" altLang="en-US" dirty="0"/>
              <a:t>이 보편적으로 가장 많이 쓰인다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5FA798-3E87-E685-E466-FED09CE05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635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5E34E-2ED0-57C8-65A3-E746847E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949DBF-82AF-BBC9-698A-795A070A9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DDC480-99EE-7CCB-63AD-9423C79B6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항상 </a:t>
            </a:r>
            <a:r>
              <a:rPr kumimoji="1" lang="en-US" altLang="ko-KR" dirty="0"/>
              <a:t>CE</a:t>
            </a:r>
            <a:r>
              <a:rPr kumimoji="1" lang="ko-KR" altLang="en-US" dirty="0"/>
              <a:t>로 보는 </a:t>
            </a:r>
            <a:r>
              <a:rPr kumimoji="1" lang="ko-KR" altLang="en-US" dirty="0" err="1"/>
              <a:t>그친구들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N</a:t>
            </a:r>
            <a:r>
              <a:rPr kumimoji="1" lang="ko-KR" altLang="en-US" dirty="0"/>
              <a:t>은 데이터 증강 </a:t>
            </a:r>
            <a:r>
              <a:rPr kumimoji="1" lang="ko-KR" altLang="en-US" dirty="0" err="1"/>
              <a:t>방법수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P</a:t>
            </a:r>
            <a:r>
              <a:rPr kumimoji="1" lang="ko-KR" altLang="en-US" dirty="0"/>
              <a:t>는 클래스별 소프트 맥스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DFD421-49D0-C165-63C4-18195D536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339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BEE6-E391-1FA2-9746-BCCFA738C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2A4693-E1FA-9047-EAB3-30E1F6DB0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9BCDCE-7E88-E2E6-A000-CF99289DD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오늘 </a:t>
            </a:r>
            <a:r>
              <a:rPr kumimoji="1" lang="en-US" altLang="ko-KR" dirty="0"/>
              <a:t>method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위해서 </a:t>
            </a:r>
            <a:r>
              <a:rPr kumimoji="1" lang="en-US" altLang="ko-KR" dirty="0"/>
              <a:t>MEM</a:t>
            </a:r>
            <a:r>
              <a:rPr kumimoji="1" lang="ko-KR" altLang="en-US" dirty="0"/>
              <a:t>을 깊게 이해해보자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왜 </a:t>
            </a:r>
            <a:r>
              <a:rPr kumimoji="1" lang="en-US" altLang="ko-KR" dirty="0"/>
              <a:t>MEM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mar~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영향을 미치는가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그리고 이 </a:t>
            </a:r>
            <a:r>
              <a:rPr kumimoji="1" lang="en-US" altLang="ko-KR" dirty="0"/>
              <a:t>mar~</a:t>
            </a:r>
            <a:r>
              <a:rPr kumimoji="1" lang="ko-KR" altLang="en-US" dirty="0"/>
              <a:t>이 그냥 평범한 </a:t>
            </a:r>
            <a:r>
              <a:rPr kumimoji="1" lang="en-US" altLang="ko-KR" dirty="0"/>
              <a:t>inf</a:t>
            </a:r>
            <a:r>
              <a:rPr kumimoji="1" lang="ko-KR" altLang="en-US" dirty="0"/>
              <a:t>과정에 어떤 연관이 있는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VLM</a:t>
            </a:r>
            <a:r>
              <a:rPr kumimoji="1" lang="ko-KR" altLang="en-US" dirty="0"/>
              <a:t>을 위한 </a:t>
            </a:r>
            <a:r>
              <a:rPr kumimoji="1" lang="en-US" altLang="ko-KR" dirty="0"/>
              <a:t>MEM</a:t>
            </a:r>
            <a:r>
              <a:rPr kumimoji="1" lang="ko-KR" altLang="en-US" dirty="0"/>
              <a:t>을 보기 위해 먼저 </a:t>
            </a:r>
            <a:r>
              <a:rPr kumimoji="1" lang="en-US" altLang="ko-KR" dirty="0"/>
              <a:t>TPT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봐보자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3E1B3A-ED46-C4E0-4C40-724FE2818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76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5E4A0-9545-3D28-C9C0-880027127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BC7A86-69E7-5922-62C3-AC252BDEC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BC3C97-4A87-95B8-E5AE-89BA843F5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오늘 </a:t>
            </a:r>
            <a:r>
              <a:rPr kumimoji="1" lang="en-US" altLang="ko-KR" dirty="0"/>
              <a:t>method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위해서 </a:t>
            </a:r>
            <a:r>
              <a:rPr kumimoji="1" lang="en-US" altLang="ko-KR" dirty="0"/>
              <a:t>MEM</a:t>
            </a:r>
            <a:r>
              <a:rPr kumimoji="1" lang="ko-KR" altLang="en-US" dirty="0"/>
              <a:t>을 깊게 이해해보자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왜 </a:t>
            </a:r>
            <a:r>
              <a:rPr kumimoji="1" lang="en-US" altLang="ko-KR" dirty="0"/>
              <a:t>MEM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mar~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영향을 미치는가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그리고 이 </a:t>
            </a:r>
            <a:r>
              <a:rPr kumimoji="1" lang="en-US" altLang="ko-KR" dirty="0"/>
              <a:t>mar~</a:t>
            </a:r>
            <a:r>
              <a:rPr kumimoji="1" lang="ko-KR" altLang="en-US" dirty="0"/>
              <a:t>이 그냥 평범한 </a:t>
            </a:r>
            <a:r>
              <a:rPr kumimoji="1" lang="en-US" altLang="ko-KR" dirty="0"/>
              <a:t>inf</a:t>
            </a:r>
            <a:r>
              <a:rPr kumimoji="1" lang="ko-KR" altLang="en-US" dirty="0"/>
              <a:t>과정에 어떤 연관이 있는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90E51-8922-86DD-899F-66BEC835B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563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8B3D1-4816-5F9F-E17D-587267FC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B53E05-BA23-30B5-D63A-EDB387823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9AE308-C1D4-E6C8-C86A-5CA58F206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21</a:t>
            </a:r>
            <a:r>
              <a:rPr kumimoji="1" lang="ko-KR" altLang="en-US" dirty="0"/>
              <a:t>년도 </a:t>
            </a:r>
            <a:r>
              <a:rPr kumimoji="1" lang="en-US" altLang="ko-KR" dirty="0"/>
              <a:t>MEMO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의해서 </a:t>
            </a:r>
            <a:r>
              <a:rPr kumimoji="1" lang="en-US" altLang="ko-KR" dirty="0"/>
              <a:t>MEM</a:t>
            </a:r>
            <a:r>
              <a:rPr kumimoji="1" lang="ko-KR" altLang="en-US" dirty="0"/>
              <a:t>을 사용한 </a:t>
            </a:r>
            <a:r>
              <a:rPr kumimoji="1" lang="en-US" altLang="ko-KR" dirty="0"/>
              <a:t>TTA</a:t>
            </a:r>
            <a:r>
              <a:rPr kumimoji="1" lang="ko-KR" altLang="en-US" dirty="0"/>
              <a:t>가 연구되고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22</a:t>
            </a:r>
            <a:r>
              <a:rPr kumimoji="1" lang="ko-KR" altLang="en-US" dirty="0"/>
              <a:t>년도 </a:t>
            </a:r>
            <a:r>
              <a:rPr kumimoji="1" lang="en-US" altLang="ko-KR" dirty="0"/>
              <a:t>TPT</a:t>
            </a:r>
            <a:r>
              <a:rPr kumimoji="1" lang="ko-KR" altLang="en-US" dirty="0"/>
              <a:t>가 연구됨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TPT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MEM</a:t>
            </a:r>
            <a:r>
              <a:rPr kumimoji="1" lang="ko-KR" altLang="en-US" dirty="0"/>
              <a:t>에서 조건으로 </a:t>
            </a:r>
            <a:r>
              <a:rPr kumimoji="1" lang="en-US" altLang="ko-KR" dirty="0" err="1"/>
              <a:t>t_ctx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주고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t_ctx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최적화</a:t>
            </a:r>
            <a:r>
              <a:rPr kumimoji="1" lang="en-US" altLang="ko-KR" dirty="0"/>
              <a:t>(</a:t>
            </a:r>
            <a:r>
              <a:rPr kumimoji="1" lang="ko-KR" altLang="en-US" dirty="0"/>
              <a:t>왜인지는 모름</a:t>
            </a:r>
            <a:r>
              <a:rPr kumimoji="1" lang="en-US" altLang="ko-KR" dirty="0"/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확률분포는 </a:t>
            </a:r>
            <a:r>
              <a:rPr kumimoji="1" lang="en-US" altLang="ko-KR" dirty="0"/>
              <a:t>cos sim</a:t>
            </a:r>
            <a:r>
              <a:rPr kumimoji="1" lang="ko-KR" altLang="en-US" dirty="0"/>
              <a:t>을 통해서 </a:t>
            </a:r>
            <a:r>
              <a:rPr kumimoji="1" lang="en-US" altLang="ko-KR" dirty="0"/>
              <a:t>, </a:t>
            </a:r>
            <a:r>
              <a:rPr kumimoji="1" lang="ko-KR" altLang="en-US" dirty="0"/>
              <a:t>내적만 하고 있는데 </a:t>
            </a:r>
            <a:r>
              <a:rPr kumimoji="1" lang="en-US" altLang="ko-KR" dirty="0"/>
              <a:t>z</a:t>
            </a:r>
            <a:r>
              <a:rPr kumimoji="1" lang="ko-KR" altLang="en-US" dirty="0"/>
              <a:t>들의 </a:t>
            </a:r>
            <a:r>
              <a:rPr kumimoji="1" lang="en-US" altLang="ko-KR" dirty="0"/>
              <a:t>norm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1</a:t>
            </a:r>
            <a:r>
              <a:rPr kumimoji="1" lang="ko-KR" altLang="en-US" dirty="0"/>
              <a:t>로 맞춰서 내적만 해도 </a:t>
            </a:r>
            <a:r>
              <a:rPr kumimoji="1" lang="en-US" altLang="ko-KR" dirty="0"/>
              <a:t>cos sim</a:t>
            </a:r>
            <a:r>
              <a:rPr kumimoji="1" lang="ko-KR" altLang="en-US" dirty="0"/>
              <a:t>이다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err="1"/>
              <a:t>타우는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softmax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temperature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err="1"/>
              <a:t>타우가</a:t>
            </a:r>
            <a:r>
              <a:rPr kumimoji="1" lang="ko-KR" altLang="en-US" dirty="0"/>
              <a:t> 작으면 </a:t>
            </a:r>
            <a:r>
              <a:rPr kumimoji="1" lang="ko-KR" altLang="en-US" dirty="0" err="1"/>
              <a:t>큰값은</a:t>
            </a:r>
            <a:r>
              <a:rPr kumimoji="1" lang="ko-KR" altLang="en-US" dirty="0"/>
              <a:t> 크게 </a:t>
            </a:r>
            <a:r>
              <a:rPr kumimoji="1" lang="ko-KR" altLang="en-US" dirty="0" err="1"/>
              <a:t>작은건</a:t>
            </a:r>
            <a:r>
              <a:rPr kumimoji="1" lang="ko-KR" altLang="en-US" dirty="0"/>
              <a:t> 작게 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신뢰성을 크게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err="1"/>
              <a:t>타우가</a:t>
            </a:r>
            <a:r>
              <a:rPr kumimoji="1" lang="ko-KR" altLang="en-US" dirty="0"/>
              <a:t> 크면 신뢰성이 낮아짐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749D49-4B49-81C2-5DE1-BBEC50E89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189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7122-9C97-EFD4-423B-CA3A57BE7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78CA87-9E59-2DA6-314C-C5B98B1ED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06598-2A2A-A1E5-CE9C-74B22F3BB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첫번째 질문에 답을 찾아보자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B1A21-5B45-7E04-E84A-250171BD7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110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6318-4D8F-DE8A-EF4A-2D59A10EC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CED068-6561-D393-BC97-6B978A205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A55AAF-90EB-4834-470B-CCCDD2D19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먼저</a:t>
            </a:r>
            <a:r>
              <a:rPr kumimoji="1" lang="en-US" altLang="ko-KR" dirty="0"/>
              <a:t> </a:t>
            </a:r>
            <a:r>
              <a:rPr kumimoji="1" lang="ko-KR" altLang="en-US" dirty="0"/>
              <a:t>엔트로피를 최소화하면 모델이 </a:t>
            </a:r>
            <a:r>
              <a:rPr kumimoji="1" lang="ko-KR" altLang="en-US" dirty="0" err="1"/>
              <a:t>견고해진다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근데 이게 왜 분포 </a:t>
            </a:r>
            <a:r>
              <a:rPr kumimoji="1" lang="en-US" altLang="ko-KR" dirty="0"/>
              <a:t>p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영향을 미치는지는 분명치 않았다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그래서 가설을 세움으로 알아보고자 했다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엔트로피를 </a:t>
            </a:r>
            <a:r>
              <a:rPr kumimoji="1" lang="ko-KR" altLang="en-US" dirty="0" err="1"/>
              <a:t>최소화하는것이</a:t>
            </a:r>
            <a:r>
              <a:rPr kumimoji="1" lang="ko-KR" altLang="en-US" dirty="0"/>
              <a:t> 주변 분포에서 가장 가능성이 높은 클래스의 확률을 </a:t>
            </a:r>
            <a:r>
              <a:rPr kumimoji="1" lang="ko-KR" altLang="en-US" dirty="0" err="1"/>
              <a:t>높이는것으로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그럼 아래와 같은 식이 성립된다 볼 수 있다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만약 가설이 성립한다면 </a:t>
            </a:r>
            <a:r>
              <a:rPr kumimoji="1" lang="en-US" altLang="ko-KR" dirty="0" err="1"/>
              <a:t>t_ctx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최적화해도 주변분포에서 가장 우세한 클래스는 계속 유지되므로 아래 식이 성립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(</a:t>
            </a:r>
            <a:r>
              <a:rPr kumimoji="1" lang="ko-KR" altLang="en-US" dirty="0"/>
              <a:t>신뢰도</a:t>
            </a:r>
            <a:r>
              <a:rPr kumimoji="1" lang="en-US" altLang="ko-KR" dirty="0"/>
              <a:t>: </a:t>
            </a:r>
            <a:r>
              <a:rPr kumimoji="1" lang="ko-KR" altLang="en-US" dirty="0"/>
              <a:t>신뢰도가 낮으면 균등하니까 및 </a:t>
            </a:r>
            <a:r>
              <a:rPr kumimoji="1" lang="ko-KR" altLang="en-US" dirty="0" err="1"/>
              <a:t>그라데이션에</a:t>
            </a:r>
            <a:r>
              <a:rPr kumimoji="1" lang="ko-KR" altLang="en-US" dirty="0"/>
              <a:t> 대한 느슨한 제약 조건 하에서</a:t>
            </a:r>
            <a:r>
              <a:rPr kumimoji="1" lang="en-US" altLang="ko-KR" dirty="0"/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0A5712-4ABD-6644-889F-4BB6C0F69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65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F1C79-CBED-40BC-B444-44FF0DEF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0B7C9B-B354-B4B3-7A45-0ED1AA8CC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22614E-2EE8-870B-9E43-4241959AA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BEEC7B-C28A-F282-AD45-B582F2872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595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A052C-E775-0635-407A-C29ACD1B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66B25-6990-01A1-F961-FCC847713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E4AB89-D567-6E3C-41C9-BE9EBB777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3D6045-D5E8-DE98-137D-BE5F6AFCA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017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AE5FF-849F-E137-B1EA-2D5E81B0F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7E7F32-1715-C17F-5C88-AB1DCEB6E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ED2916-A287-6BDB-A34C-FD9A0E64B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뒤에 나올 </a:t>
            </a:r>
            <a:r>
              <a:rPr kumimoji="1" lang="en-US" altLang="ko-KR" dirty="0"/>
              <a:t>proposition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notation</a:t>
            </a:r>
            <a:r>
              <a:rPr kumimoji="1" lang="ko-KR" altLang="en-US" dirty="0"/>
              <a:t>을 간단히 하기 위해 </a:t>
            </a:r>
            <a:r>
              <a:rPr kumimoji="1" lang="en-US" altLang="ko-KR" dirty="0"/>
              <a:t>g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정의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대충 주변분포 </a:t>
            </a:r>
            <a:r>
              <a:rPr kumimoji="1" lang="en-US" altLang="ko-KR" dirty="0"/>
              <a:t>p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좀 </a:t>
            </a:r>
            <a:r>
              <a:rPr kumimoji="1" lang="ko-KR" altLang="en-US" dirty="0" err="1"/>
              <a:t>바꾼거임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이에 따라 </a:t>
            </a:r>
            <a:r>
              <a:rPr kumimoji="1" lang="en-US" altLang="ko-KR" dirty="0"/>
              <a:t>negative variation </a:t>
            </a:r>
            <a:r>
              <a:rPr kumimoji="1" lang="ko-KR" altLang="en-US" dirty="0"/>
              <a:t>델타 </a:t>
            </a:r>
            <a:r>
              <a:rPr kumimoji="1" lang="en-US" altLang="ko-KR" dirty="0"/>
              <a:t>g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다음과 같이 정의</a:t>
            </a:r>
            <a:r>
              <a:rPr kumimoji="1" lang="en-US" altLang="ko-KR" dirty="0"/>
              <a:t>	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7E3BC5-C0BF-B822-474D-320FA9ACF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5102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72FD-2ECE-DF8A-5956-087D9541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950EE-FAAD-3E17-2A47-13B4287A8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F5718D-E709-1CCA-FE51-DB60955CF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앞에 나온 내용들을 명제로 정리하면 다음과 같다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논문에서 저 델타 </a:t>
            </a:r>
            <a:r>
              <a:rPr kumimoji="1" lang="en-US" altLang="ko-KR" dirty="0"/>
              <a:t>g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t_ctx</a:t>
            </a:r>
            <a:r>
              <a:rPr kumimoji="1" lang="ko-KR" altLang="en-US" dirty="0"/>
              <a:t>의 기울기와 연결해서 위 명제를 증명했다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자세한 내용은 </a:t>
            </a:r>
            <a:r>
              <a:rPr kumimoji="1" lang="en-US" altLang="ko-KR" dirty="0"/>
              <a:t>appendix a</a:t>
            </a:r>
            <a:r>
              <a:rPr kumimoji="1" lang="ko-KR" altLang="en-US" dirty="0"/>
              <a:t>에서 증명을 잘 해 놨는데 다루지는 않겠다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암튼 </a:t>
            </a:r>
            <a:r>
              <a:rPr kumimoji="1" lang="en-US" altLang="ko-KR" dirty="0"/>
              <a:t>MEM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p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미치는 영향은 더 큰 </a:t>
            </a:r>
            <a:r>
              <a:rPr kumimoji="1" lang="ko-KR" altLang="en-US" dirty="0" err="1"/>
              <a:t>신회도로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만들데</a:t>
            </a:r>
            <a:r>
              <a:rPr kumimoji="1" lang="ko-KR" altLang="en-US" dirty="0"/>
              <a:t> 답은 같게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만약 초기가 틀리면 계속 </a:t>
            </a:r>
            <a:r>
              <a:rPr kumimoji="1" lang="ko-KR" altLang="en-US" dirty="0" err="1"/>
              <a:t>틀리는거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8F14EA-453B-6854-F384-D4C5319A8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960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3B62-34D5-BF57-8EB8-E47524697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EF0B8C-D8DD-4E79-0ECA-61D2DCA5A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4314B4-C6FB-A020-412B-06FB80DED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초기 엔트로피가 높으면 불변성을 가지게 </a:t>
            </a:r>
            <a:r>
              <a:rPr kumimoji="1" lang="ko-KR" altLang="en-US" dirty="0" err="1"/>
              <a:t>될떄가</a:t>
            </a:r>
            <a:r>
              <a:rPr kumimoji="1" lang="ko-KR" altLang="en-US" dirty="0"/>
              <a:t> </a:t>
            </a:r>
            <a:r>
              <a:rPr kumimoji="1" lang="en-US" altLang="ko-KR" dirty="0"/>
              <a:t>0.82</a:t>
            </a:r>
            <a:r>
              <a:rPr kumimoji="1" lang="ko-KR" altLang="en-US" dirty="0" err="1"/>
              <a:t>정도고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낮으면 거의 불변성을 갖게 </a:t>
            </a:r>
            <a:r>
              <a:rPr kumimoji="1" lang="ko-KR" altLang="en-US" dirty="0" err="1"/>
              <a:t>되는걸</a:t>
            </a:r>
            <a:r>
              <a:rPr kumimoji="1" lang="ko-KR" altLang="en-US" dirty="0"/>
              <a:t> 보여줌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44F8B4-E351-75B2-7CF2-7B06963B7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242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A0F15-A983-08BB-8EB4-73F3CCD6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20E499-686C-51DD-433F-D9541A23E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6C6AFE-A271-E20E-CAA2-3B1F5F8CC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두번째 질문에 답을 찾아보자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80266B-DE08-81DC-926D-235C2BE8A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93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FFBE-BCC8-B339-68CF-2BA0B4762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DAE5D0-0242-6F5C-02C4-B2EB3E2A3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7EB6F1C4-4575-0BF5-01BA-7FE3168E337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dirty="0"/>
                  <a:t>Test time augmentation</a:t>
                </a:r>
                <a:r>
                  <a:rPr kumimoji="1" lang="ko-KR" altLang="en-US" dirty="0"/>
                  <a:t>에서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𝑚𝑜𝑟𝑒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𝑟𝑜𝑏𝑢𝑠𝑡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𝑡h𝑎𝑛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제안</a:t>
                </a:r>
                <a:endParaRPr kumimoji="1" lang="en-US" altLang="ko-KR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dirty="0"/>
                  <a:t>그래서 다음과 같은 가설을 세웠는데</a:t>
                </a:r>
                <a:r>
                  <a:rPr kumimoji="1" lang="en-US" altLang="ko-KR" dirty="0"/>
                  <a:t> </a:t>
                </a:r>
                <a:r>
                  <a:rPr kumimoji="1" lang="ko-KR" altLang="en-US" dirty="0"/>
                  <a:t>이는 특정 케이스에만 작용</a:t>
                </a:r>
                <a:endParaRPr kumimoji="1" lang="en-US" altLang="ko-KR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dirty="0"/>
                  <a:t>따라서 본 논문에서는 모델 앙상블을 통해 이를 증명</a:t>
                </a:r>
                <a:endParaRPr kumimoji="1" lang="en-US" altLang="ko-KR" dirty="0"/>
              </a:p>
            </p:txBody>
          </p:sp>
        </mc:Choice>
        <mc:Fallback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7EB6F1C4-4575-0BF5-01BA-7FE3168E337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dirty="0"/>
                  <a:t>Test time augmentation</a:t>
                </a:r>
                <a:r>
                  <a:rPr kumimoji="1" lang="ko-KR" altLang="en-US" dirty="0"/>
                  <a:t>에서 </a:t>
                </a:r>
                <a:r>
                  <a:rPr kumimoji="1" lang="en-US" altLang="ko-KR" b="0" i="0" dirty="0">
                    <a:latin typeface="Cambria Math" panose="02040503050406030204" pitchFamily="18" charset="0"/>
                  </a:rPr>
                  <a:t>𝑝 ̅(⋅│𝑥)  𝑖𝑠 𝑚𝑜𝑟𝑒 𝑟𝑜𝑏𝑢𝑠𝑡 𝑡ℎ𝑎𝑛 𝑝(⋅│𝑥)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제안</a:t>
                </a:r>
                <a:endParaRPr kumimoji="1" lang="en-US" altLang="ko-KR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dirty="0"/>
                  <a:t>그래서 다음과 같은 가설을 세웠는데</a:t>
                </a:r>
                <a:r>
                  <a:rPr kumimoji="1" lang="en-US" altLang="ko-KR" dirty="0"/>
                  <a:t> </a:t>
                </a:r>
                <a:r>
                  <a:rPr kumimoji="1" lang="ko-KR" altLang="en-US" dirty="0"/>
                  <a:t>이는 특정 케이스에만 작용</a:t>
                </a:r>
                <a:endParaRPr kumimoji="1" lang="en-US" altLang="ko-KR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dirty="0"/>
                  <a:t>따라서 본 논문에서는 모델 앙상블을 통해 이를 증명</a:t>
                </a:r>
                <a:endParaRPr kumimoji="1" lang="en-US" altLang="ko-KR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9A364D-87FB-FDDA-10D8-4479CDF2F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2824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AF3DE-C62B-E8B2-5564-64F662EB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59A5C3-A22F-3AAF-181D-9D540AB69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C8AC2F-8CFD-3AC2-F0E4-6B4C49C71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모델 앙상블에 대한 간단한 </a:t>
            </a:r>
            <a:r>
              <a:rPr kumimoji="1" lang="en-US" altLang="ko-KR" dirty="0"/>
              <a:t>preliminaries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N</a:t>
            </a:r>
            <a:r>
              <a:rPr kumimoji="1" lang="ko-KR" altLang="en-US" dirty="0"/>
              <a:t>개의 서로 다른 </a:t>
            </a:r>
            <a:r>
              <a:rPr kumimoji="1" lang="en-US" altLang="ko-KR" dirty="0"/>
              <a:t>classifier</a:t>
            </a:r>
            <a:r>
              <a:rPr kumimoji="1" lang="ko-KR" altLang="en-US" dirty="0"/>
              <a:t>가 있다고 할 때</a:t>
            </a:r>
            <a:r>
              <a:rPr kumimoji="1" lang="en-US" altLang="ko-KR" dirty="0"/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Error</a:t>
            </a:r>
            <a:r>
              <a:rPr kumimoji="1" lang="ko-KR" altLang="en-US" dirty="0"/>
              <a:t>는 엡실론으로 놓으면 이를 베르누이 시행으로 설계</a:t>
            </a:r>
            <a:r>
              <a:rPr kumimoji="1" lang="en-US" altLang="ko-KR" dirty="0"/>
              <a:t>(</a:t>
            </a:r>
            <a:r>
              <a:rPr kumimoji="1" lang="ko-KR" altLang="en-US" dirty="0"/>
              <a:t>대충 </a:t>
            </a:r>
            <a:r>
              <a:rPr kumimoji="1" lang="en-US" altLang="ko-KR" dirty="0"/>
              <a:t>1~N</a:t>
            </a:r>
            <a:r>
              <a:rPr kumimoji="1" lang="ko-KR" altLang="en-US" dirty="0"/>
              <a:t>까지 </a:t>
            </a:r>
            <a:r>
              <a:rPr kumimoji="1" lang="ko-KR" altLang="en-US" dirty="0" err="1"/>
              <a:t>다같다고</a:t>
            </a:r>
            <a:r>
              <a:rPr kumimoji="1" lang="ko-KR" altLang="en-US" dirty="0"/>
              <a:t> 여김</a:t>
            </a:r>
            <a:r>
              <a:rPr kumimoji="1" lang="en-US" altLang="ko-KR" dirty="0"/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잘못 예측한 분류기가 </a:t>
            </a:r>
            <a:r>
              <a:rPr kumimoji="1" lang="en-US" altLang="ko-KR" dirty="0"/>
              <a:t>k</a:t>
            </a:r>
            <a:r>
              <a:rPr kumimoji="1" lang="ko-KR" altLang="en-US" dirty="0"/>
              <a:t>개 있다고 </a:t>
            </a:r>
            <a:r>
              <a:rPr kumimoji="1" lang="ko-KR" altLang="en-US" dirty="0" err="1"/>
              <a:t>할때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이산 분포를 활용해서 다음과 같은 식이 나온다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4CD8A5-3F65-9A3A-4F16-CE7BBFCFD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741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7D63-61E0-30F1-46A9-44E616B7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E6D7A0-DFB8-D26E-A840-F6719D0DF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23A59B-B34C-8239-9C5C-99C5475F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모델 앙상블에 대한 간단한 </a:t>
            </a:r>
            <a:r>
              <a:rPr kumimoji="1" lang="en-US" altLang="ko-KR" dirty="0"/>
              <a:t>preliminaries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N</a:t>
            </a:r>
            <a:r>
              <a:rPr kumimoji="1" lang="ko-KR" altLang="en-US" dirty="0"/>
              <a:t>개의 서로 다른 </a:t>
            </a:r>
            <a:r>
              <a:rPr kumimoji="1" lang="en-US" altLang="ko-KR" dirty="0"/>
              <a:t>classifier</a:t>
            </a:r>
            <a:r>
              <a:rPr kumimoji="1" lang="ko-KR" altLang="en-US" dirty="0"/>
              <a:t>가 있다고 할 때</a:t>
            </a:r>
            <a:r>
              <a:rPr kumimoji="1" lang="en-US" altLang="ko-KR" dirty="0"/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Error</a:t>
            </a:r>
            <a:r>
              <a:rPr kumimoji="1" lang="ko-KR" altLang="en-US" dirty="0"/>
              <a:t>는 엡실론으로 놓으면 이를 베르누이 시행으로 설계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잘못 예측한 분류기가 </a:t>
            </a:r>
            <a:r>
              <a:rPr kumimoji="1" lang="en-US" altLang="ko-KR" dirty="0"/>
              <a:t>k</a:t>
            </a:r>
            <a:r>
              <a:rPr kumimoji="1" lang="ko-KR" altLang="en-US" dirty="0"/>
              <a:t>개 있다고 </a:t>
            </a:r>
            <a:r>
              <a:rPr kumimoji="1" lang="ko-KR" altLang="en-US" dirty="0" err="1"/>
              <a:t>할때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이산 분포를 활용해서 다음과 같은 식이 나온다</a:t>
            </a:r>
            <a:r>
              <a:rPr kumimoji="1" lang="en-US" altLang="ko-KR"/>
              <a:t>.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6F5128-95E8-1192-844E-7205BC56D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3998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6AB77-2F85-D02B-D06B-B1D38F3A4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C9B01E-2A6B-507C-B85F-EF9415F43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C51E55-4B64-8709-5882-118644E9E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이제 </a:t>
            </a:r>
            <a:r>
              <a:rPr kumimoji="1" lang="en-US" altLang="ko-KR" dirty="0"/>
              <a:t>TTA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위해 모델 앙상블 식을 다시 한번 </a:t>
            </a:r>
            <a:r>
              <a:rPr kumimoji="1" lang="ko-KR" altLang="en-US" dirty="0" err="1"/>
              <a:t>봐보자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먼저 이 식은 각 분류기가 잘 못 예측하는 사건이 독립적이어야 가능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이제 반대로 </a:t>
            </a:r>
            <a:r>
              <a:rPr kumimoji="1" lang="en-US" altLang="ko-KR" dirty="0" err="1"/>
              <a:t>classifer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1</a:t>
            </a:r>
            <a:r>
              <a:rPr kumimoji="1" lang="ko-KR" altLang="en-US" dirty="0"/>
              <a:t>개 입력이 </a:t>
            </a:r>
            <a:r>
              <a:rPr kumimoji="1" lang="ko-KR" altLang="en-US" dirty="0" err="1"/>
              <a:t>여러개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있을때</a:t>
            </a:r>
            <a:r>
              <a:rPr kumimoji="1" lang="ko-KR" altLang="en-US" dirty="0"/>
              <a:t> 틀린 레이블이 </a:t>
            </a:r>
            <a:r>
              <a:rPr kumimoji="1" lang="en-US" altLang="ko-KR" dirty="0"/>
              <a:t>k</a:t>
            </a:r>
            <a:r>
              <a:rPr kumimoji="1" lang="ko-KR" altLang="en-US" dirty="0"/>
              <a:t>개라고 해보자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이때도 동일하게 위의 식으로 처리 할 수 있다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이 설정은 한 데이터를 </a:t>
            </a:r>
            <a:r>
              <a:rPr kumimoji="1" lang="en-US" altLang="ko-KR" dirty="0"/>
              <a:t>N</a:t>
            </a:r>
            <a:r>
              <a:rPr kumimoji="1" lang="ko-KR" altLang="en-US" dirty="0"/>
              <a:t>개로 </a:t>
            </a:r>
            <a:r>
              <a:rPr kumimoji="1" lang="en-US" altLang="ko-KR" dirty="0" err="1"/>
              <a:t>aug</a:t>
            </a:r>
            <a:r>
              <a:rPr kumimoji="1" lang="ko-KR" altLang="en-US" dirty="0"/>
              <a:t>해서 쓰는 </a:t>
            </a:r>
            <a:r>
              <a:rPr kumimoji="1" lang="en-US" altLang="ko-KR" dirty="0"/>
              <a:t>TTA</a:t>
            </a:r>
            <a:r>
              <a:rPr kumimoji="1" lang="ko-KR" altLang="en-US" dirty="0"/>
              <a:t>랑 설정이 유사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(</a:t>
            </a:r>
            <a:r>
              <a:rPr kumimoji="1" lang="ko-KR" altLang="en-US" dirty="0"/>
              <a:t>참고로 인풋의 독립화는 </a:t>
            </a:r>
            <a:r>
              <a:rPr kumimoji="1" lang="en-US" altLang="ko-KR" dirty="0"/>
              <a:t>cropping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한거</a:t>
            </a:r>
            <a:r>
              <a:rPr kumimoji="1" lang="ko-KR" altLang="en-US" dirty="0"/>
              <a:t> 같음 </a:t>
            </a:r>
            <a:r>
              <a:rPr kumimoji="1" lang="en-US" altLang="ko-KR" dirty="0"/>
              <a:t>in </a:t>
            </a:r>
            <a:r>
              <a:rPr kumimoji="1" lang="en-US" altLang="ko-KR" dirty="0" err="1"/>
              <a:t>appen</a:t>
            </a:r>
            <a:r>
              <a:rPr kumimoji="1" lang="en-US" altLang="ko-KR" dirty="0"/>
              <a:t> H)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403F09-A42E-9C6D-EC9C-68D05B60A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3140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A633-9208-9D05-DC25-893CBB8B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A5F07A-57C4-27EF-5881-5CF4E7B05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E7E68D-F607-884A-52CC-725849459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이제 분류기를 </a:t>
            </a:r>
            <a:r>
              <a:rPr kumimoji="1" lang="ko-KR" altLang="en-US" dirty="0" err="1"/>
              <a:t>조정할때</a:t>
            </a:r>
            <a:r>
              <a:rPr kumimoji="1" lang="ko-KR" altLang="en-US" dirty="0"/>
              <a:t> 모델의 정확도와 신뢰도를 매칭시킨다</a:t>
            </a:r>
            <a:r>
              <a:rPr kumimoji="1" lang="en-US" altLang="ko-KR" dirty="0"/>
              <a:t>(</a:t>
            </a:r>
            <a:r>
              <a:rPr kumimoji="1" lang="ko-KR" altLang="en-US" dirty="0"/>
              <a:t>신뢰도는 </a:t>
            </a:r>
            <a:r>
              <a:rPr kumimoji="1" lang="en-US" altLang="ko-KR" dirty="0"/>
              <a:t>p()</a:t>
            </a:r>
            <a:r>
              <a:rPr kumimoji="1" lang="ko-KR" altLang="en-US" dirty="0"/>
              <a:t>에서 제일 </a:t>
            </a:r>
            <a:r>
              <a:rPr kumimoji="1" lang="ko-KR" altLang="en-US" dirty="0" err="1"/>
              <a:t>높은거</a:t>
            </a:r>
            <a:r>
              <a:rPr kumimoji="1" lang="en-US" altLang="ko-KR" dirty="0"/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신뢰도는 가장 확률이 높은 클래스의 확률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정확도는 전체중에 </a:t>
            </a:r>
            <a:r>
              <a:rPr kumimoji="1" lang="ko-KR" altLang="en-US" dirty="0" err="1"/>
              <a:t>맞힌거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만약 </a:t>
            </a:r>
            <a:r>
              <a:rPr kumimoji="1" lang="en-US" altLang="ko-KR" dirty="0"/>
              <a:t>f</a:t>
            </a:r>
            <a:r>
              <a:rPr kumimoji="1" lang="ko-KR" altLang="en-US" dirty="0"/>
              <a:t>가 잘 </a:t>
            </a:r>
            <a:r>
              <a:rPr kumimoji="1" lang="ko-KR" altLang="en-US" dirty="0" err="1"/>
              <a:t>조정됬다면</a:t>
            </a:r>
            <a:r>
              <a:rPr kumimoji="1" lang="ko-KR" altLang="en-US" dirty="0"/>
              <a:t> 정확도가 오르면 신뢰도도 </a:t>
            </a:r>
            <a:r>
              <a:rPr kumimoji="1" lang="ko-KR" altLang="en-US" dirty="0" err="1"/>
              <a:t>올라야함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따라서 만약 정확도가 </a:t>
            </a:r>
            <a:r>
              <a:rPr kumimoji="1" lang="en-US" altLang="ko-KR" dirty="0"/>
              <a:t>0.5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넘는다면 신뢰도도 </a:t>
            </a:r>
            <a:r>
              <a:rPr kumimoji="1" lang="en-US" altLang="ko-KR" dirty="0"/>
              <a:t>0.5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넘기게 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신뢰도는 곧 정답 레이블의 확률이 된다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이거를 전 슬라이드 식을 이용해서 에러에 관한 식으로 변경하면</a:t>
            </a:r>
            <a:r>
              <a:rPr kumimoji="1" lang="en-US" altLang="ko-KR" dirty="0"/>
              <a:t> </a:t>
            </a:r>
            <a:r>
              <a:rPr kumimoji="1" lang="ko-KR" altLang="en-US" dirty="0"/>
              <a:t>다음과 같은 이항 분포의 누적확률로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Condorcet Jury Theorem</a:t>
            </a:r>
            <a:r>
              <a:rPr lang="en-US" altLang="ko-KR" dirty="0"/>
              <a:t>(</a:t>
            </a:r>
            <a:r>
              <a:rPr lang="ko-KR" altLang="en-US" dirty="0"/>
              <a:t>배심원 정리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의하면</a:t>
            </a:r>
            <a:r>
              <a:rPr lang="en-US" altLang="ko-KR" dirty="0"/>
              <a:t>, </a:t>
            </a:r>
            <a:r>
              <a:rPr lang="ko-KR" altLang="en-US" dirty="0"/>
              <a:t>각 개별 분류기의 </a:t>
            </a:r>
            <a:r>
              <a:rPr lang="ko-KR" altLang="en-US" dirty="0" err="1"/>
              <a:t>오류율</a:t>
            </a:r>
            <a:r>
              <a:rPr lang="ko-KR" altLang="en-US" dirty="0"/>
              <a:t> </a:t>
            </a:r>
            <a:r>
              <a:rPr lang="en-US" altLang="ko-KR" dirty="0"/>
              <a:t>\</a:t>
            </a:r>
            <a:r>
              <a:rPr lang="en" altLang="ko-KR" dirty="0"/>
              <a:t>epsilon</a:t>
            </a:r>
            <a:r>
              <a:rPr lang="ko-KR" altLang="en-US" dirty="0"/>
              <a:t>이 랜덤 추측</a:t>
            </a:r>
            <a:r>
              <a:rPr lang="en-US" altLang="ko-KR" dirty="0"/>
              <a:t>(0.5)</a:t>
            </a:r>
            <a:r>
              <a:rPr lang="ko-KR" altLang="en-US" dirty="0"/>
              <a:t>보다 높다면</a:t>
            </a:r>
            <a:r>
              <a:rPr lang="en-US" altLang="ko-KR" dirty="0"/>
              <a:t>, </a:t>
            </a:r>
            <a:r>
              <a:rPr lang="ko-KR" altLang="en-US" dirty="0"/>
              <a:t>독립적인 여러 예측을 결합한 다수결의 </a:t>
            </a:r>
            <a:r>
              <a:rPr lang="ko-KR" altLang="en-US" dirty="0" err="1"/>
              <a:t>오류율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" altLang="ko-KR" dirty="0"/>
              <a:t>p</a:t>
            </a:r>
            <a:r>
              <a:rPr lang="ko-KR" altLang="en-US" dirty="0"/>
              <a:t>의 </a:t>
            </a:r>
            <a:r>
              <a:rPr lang="ko-KR" altLang="en-US" dirty="0" err="1"/>
              <a:t>오류율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\</a:t>
            </a:r>
            <a:r>
              <a:rPr lang="en" altLang="ko-KR" dirty="0"/>
              <a:t>epsilon</a:t>
            </a:r>
            <a:r>
              <a:rPr lang="ko-KR" altLang="en-US" dirty="0"/>
              <a:t>보다 낮아지게 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8C2F54-6571-1051-2D73-8C2B6D884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8852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D2E6-58B2-F2DD-B8A2-CEDE4FA51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75F4B3-6AAF-4E62-C593-902E201A4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64037D-7733-15C0-58F1-B33CEEDC5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이제 분류기를 </a:t>
            </a:r>
            <a:r>
              <a:rPr kumimoji="1" lang="ko-KR" altLang="en-US" dirty="0" err="1"/>
              <a:t>조정할때</a:t>
            </a:r>
            <a:r>
              <a:rPr kumimoji="1" lang="ko-KR" altLang="en-US" dirty="0"/>
              <a:t> 모델의 정확도와 신뢰도를 매칭시킨다</a:t>
            </a:r>
            <a:r>
              <a:rPr kumimoji="1" lang="en-US" altLang="ko-KR" dirty="0"/>
              <a:t>(</a:t>
            </a:r>
            <a:r>
              <a:rPr kumimoji="1" lang="ko-KR" altLang="en-US" dirty="0"/>
              <a:t>신뢰도는 </a:t>
            </a:r>
            <a:r>
              <a:rPr kumimoji="1" lang="en-US" altLang="ko-KR" dirty="0"/>
              <a:t>p()</a:t>
            </a:r>
            <a:r>
              <a:rPr kumimoji="1" lang="ko-KR" altLang="en-US" dirty="0"/>
              <a:t>에서 제일 </a:t>
            </a:r>
            <a:r>
              <a:rPr kumimoji="1" lang="ko-KR" altLang="en-US" dirty="0" err="1"/>
              <a:t>높은거</a:t>
            </a:r>
            <a:r>
              <a:rPr kumimoji="1" lang="en-US" altLang="ko-KR" dirty="0"/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신뢰도는 가장 확률이 높은 클래스의 확률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정확도는 전체중에 </a:t>
            </a:r>
            <a:r>
              <a:rPr kumimoji="1" lang="ko-KR" altLang="en-US" dirty="0" err="1"/>
              <a:t>맞힌거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만약 </a:t>
            </a:r>
            <a:r>
              <a:rPr kumimoji="1" lang="en-US" altLang="ko-KR" dirty="0"/>
              <a:t>f</a:t>
            </a:r>
            <a:r>
              <a:rPr kumimoji="1" lang="ko-KR" altLang="en-US" dirty="0"/>
              <a:t>가 잘 </a:t>
            </a:r>
            <a:r>
              <a:rPr kumimoji="1" lang="ko-KR" altLang="en-US" dirty="0" err="1"/>
              <a:t>조정됬다면</a:t>
            </a:r>
            <a:r>
              <a:rPr kumimoji="1" lang="ko-KR" altLang="en-US" dirty="0"/>
              <a:t> 정확도가 오르면 신뢰도도 </a:t>
            </a:r>
            <a:r>
              <a:rPr kumimoji="1" lang="ko-KR" altLang="en-US" dirty="0" err="1"/>
              <a:t>올라야함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따라서 만약 정확도가 </a:t>
            </a:r>
            <a:r>
              <a:rPr kumimoji="1" lang="en-US" altLang="ko-KR" dirty="0"/>
              <a:t>0.5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넘는다면 신뢰도도 </a:t>
            </a:r>
            <a:r>
              <a:rPr kumimoji="1" lang="en-US" altLang="ko-KR" dirty="0"/>
              <a:t>0.5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넘기게 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신뢰도는 곧 정답 레이블의 확률이 된다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이거를 전 슬라이드 식을 이용해서 에러에 관한 식으로 변경하면</a:t>
            </a:r>
            <a:r>
              <a:rPr kumimoji="1" lang="en-US" altLang="ko-KR" dirty="0"/>
              <a:t> </a:t>
            </a:r>
            <a:r>
              <a:rPr kumimoji="1" lang="ko-KR" altLang="en-US" dirty="0"/>
              <a:t>다음과 같은 이항 분포의 누적확률로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Condorcet Jury Theorem</a:t>
            </a:r>
            <a:r>
              <a:rPr lang="en-US" altLang="ko-KR" dirty="0"/>
              <a:t>(</a:t>
            </a:r>
            <a:r>
              <a:rPr lang="ko-KR" altLang="en-US" dirty="0"/>
              <a:t>배심원 정리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의하면</a:t>
            </a:r>
            <a:r>
              <a:rPr lang="en-US" altLang="ko-KR" dirty="0"/>
              <a:t>, </a:t>
            </a:r>
            <a:r>
              <a:rPr lang="ko-KR" altLang="en-US" dirty="0"/>
              <a:t>각 개별 분류기의 </a:t>
            </a:r>
            <a:r>
              <a:rPr lang="ko-KR" altLang="en-US" dirty="0" err="1"/>
              <a:t>오류율</a:t>
            </a:r>
            <a:r>
              <a:rPr lang="ko-KR" altLang="en-US" dirty="0"/>
              <a:t> </a:t>
            </a:r>
            <a:r>
              <a:rPr lang="en-US" altLang="ko-KR" dirty="0"/>
              <a:t>\</a:t>
            </a:r>
            <a:r>
              <a:rPr lang="en" altLang="ko-KR" dirty="0"/>
              <a:t>epsilon</a:t>
            </a:r>
            <a:r>
              <a:rPr lang="ko-KR" altLang="en-US" dirty="0"/>
              <a:t>이 랜덤 추측보다 좋다면</a:t>
            </a:r>
            <a:r>
              <a:rPr lang="en-US" altLang="ko-KR" dirty="0"/>
              <a:t>, </a:t>
            </a:r>
            <a:r>
              <a:rPr lang="ko-KR" altLang="en-US" dirty="0"/>
              <a:t>독립적인 여러 예측을 결합한 다수결의 </a:t>
            </a:r>
            <a:r>
              <a:rPr lang="ko-KR" altLang="en-US" dirty="0" err="1"/>
              <a:t>오류율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" altLang="ko-KR" dirty="0"/>
              <a:t>p</a:t>
            </a:r>
            <a:r>
              <a:rPr lang="ko-KR" altLang="en-US" dirty="0"/>
              <a:t>의 </a:t>
            </a:r>
            <a:r>
              <a:rPr lang="ko-KR" altLang="en-US" dirty="0" err="1"/>
              <a:t>오류율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\</a:t>
            </a:r>
            <a:r>
              <a:rPr lang="en" altLang="ko-KR" dirty="0"/>
              <a:t>epsilon</a:t>
            </a:r>
            <a:r>
              <a:rPr lang="ko-KR" altLang="en-US" dirty="0"/>
              <a:t>보다 낮아지게 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1B5B0-35D1-51EE-5D60-150E5EA6E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5400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565CC-4636-C2EF-C4D6-99485910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830433-CDE5-D109-0ECF-7A0F8E9BA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16FD92-1468-64A3-933D-E5F6C9E24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이제 분류기를 </a:t>
            </a:r>
            <a:r>
              <a:rPr kumimoji="1" lang="ko-KR" altLang="en-US" dirty="0" err="1"/>
              <a:t>조정할때</a:t>
            </a:r>
            <a:r>
              <a:rPr kumimoji="1" lang="ko-KR" altLang="en-US" dirty="0"/>
              <a:t> 모델의 정확도와 신뢰도를 매칭시킨다</a:t>
            </a:r>
            <a:r>
              <a:rPr kumimoji="1" lang="en-US" altLang="ko-KR" dirty="0"/>
              <a:t>(</a:t>
            </a:r>
            <a:r>
              <a:rPr kumimoji="1" lang="ko-KR" altLang="en-US" dirty="0"/>
              <a:t>신뢰도는 </a:t>
            </a:r>
            <a:r>
              <a:rPr kumimoji="1" lang="en-US" altLang="ko-KR" dirty="0"/>
              <a:t>p()</a:t>
            </a:r>
            <a:r>
              <a:rPr kumimoji="1" lang="ko-KR" altLang="en-US" dirty="0"/>
              <a:t>에서 제일 </a:t>
            </a:r>
            <a:r>
              <a:rPr kumimoji="1" lang="ko-KR" altLang="en-US" dirty="0" err="1"/>
              <a:t>높은거</a:t>
            </a:r>
            <a:r>
              <a:rPr kumimoji="1" lang="en-US" altLang="ko-KR" dirty="0"/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신뢰도는 가장 확률이 높은 클래스의 확률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정확도는 전체중에 </a:t>
            </a:r>
            <a:r>
              <a:rPr kumimoji="1" lang="ko-KR" altLang="en-US" dirty="0" err="1"/>
              <a:t>맞힌거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만약 </a:t>
            </a:r>
            <a:r>
              <a:rPr kumimoji="1" lang="en-US" altLang="ko-KR" dirty="0"/>
              <a:t>f</a:t>
            </a:r>
            <a:r>
              <a:rPr kumimoji="1" lang="ko-KR" altLang="en-US" dirty="0"/>
              <a:t>가 잘 </a:t>
            </a:r>
            <a:r>
              <a:rPr kumimoji="1" lang="ko-KR" altLang="en-US" dirty="0" err="1"/>
              <a:t>조정됬다면</a:t>
            </a:r>
            <a:r>
              <a:rPr kumimoji="1" lang="ko-KR" altLang="en-US" dirty="0"/>
              <a:t> 정확도가 오르면 신뢰도도 </a:t>
            </a:r>
            <a:r>
              <a:rPr kumimoji="1" lang="ko-KR" altLang="en-US" dirty="0" err="1"/>
              <a:t>올라야함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따라서 만약 정확도가 </a:t>
            </a:r>
            <a:r>
              <a:rPr kumimoji="1" lang="en-US" altLang="ko-KR" dirty="0"/>
              <a:t>0.5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넘는다면 신뢰도도 </a:t>
            </a:r>
            <a:r>
              <a:rPr kumimoji="1" lang="en-US" altLang="ko-KR" dirty="0"/>
              <a:t>0.5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넘기게 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신뢰도는 곧 정답 레이블의 확률이 된다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이거를 전 슬라이드 식을 이용해서 에러에 관한 식으로 변경하면</a:t>
            </a:r>
            <a:r>
              <a:rPr kumimoji="1" lang="en-US" altLang="ko-KR" dirty="0"/>
              <a:t> </a:t>
            </a:r>
            <a:r>
              <a:rPr kumimoji="1" lang="ko-KR" altLang="en-US" dirty="0"/>
              <a:t>다음과 같은 이항 분포의 누적확률로</a:t>
            </a: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Condorcet Jury Theorem</a:t>
            </a:r>
            <a:r>
              <a:rPr lang="en-US" altLang="ko-KR" dirty="0"/>
              <a:t>(</a:t>
            </a:r>
            <a:r>
              <a:rPr lang="ko-KR" altLang="en-US" dirty="0"/>
              <a:t>배심원 정리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의하면</a:t>
            </a:r>
            <a:r>
              <a:rPr lang="en-US" altLang="ko-KR" dirty="0"/>
              <a:t>, </a:t>
            </a:r>
            <a:r>
              <a:rPr lang="ko-KR" altLang="en-US" dirty="0"/>
              <a:t>각 개별 분류기의 </a:t>
            </a:r>
            <a:r>
              <a:rPr lang="ko-KR" altLang="en-US" dirty="0" err="1"/>
              <a:t>오류율</a:t>
            </a:r>
            <a:r>
              <a:rPr lang="ko-KR" altLang="en-US" dirty="0"/>
              <a:t> </a:t>
            </a:r>
            <a:r>
              <a:rPr lang="en-US" altLang="ko-KR" dirty="0"/>
              <a:t>\</a:t>
            </a:r>
            <a:r>
              <a:rPr lang="en" altLang="ko-KR" dirty="0"/>
              <a:t>epsilon</a:t>
            </a:r>
            <a:r>
              <a:rPr lang="ko-KR" altLang="en-US" dirty="0"/>
              <a:t>이 랜덤 추측보다 좋다면</a:t>
            </a:r>
            <a:r>
              <a:rPr lang="en-US" altLang="ko-KR" dirty="0"/>
              <a:t>, </a:t>
            </a:r>
            <a:r>
              <a:rPr lang="ko-KR" altLang="en-US" dirty="0"/>
              <a:t>독립적인 여러 예측을 결합한 다수결의 </a:t>
            </a:r>
            <a:r>
              <a:rPr lang="ko-KR" altLang="en-US" dirty="0" err="1"/>
              <a:t>오류율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" altLang="ko-KR" dirty="0"/>
              <a:t>p</a:t>
            </a:r>
            <a:r>
              <a:rPr lang="ko-KR" altLang="en-US" dirty="0"/>
              <a:t>의 </a:t>
            </a:r>
            <a:r>
              <a:rPr lang="ko-KR" altLang="en-US" dirty="0" err="1"/>
              <a:t>오류율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\</a:t>
            </a:r>
            <a:r>
              <a:rPr lang="en" altLang="ko-KR" dirty="0"/>
              <a:t>epsilon</a:t>
            </a:r>
            <a:r>
              <a:rPr lang="ko-KR" altLang="en-US" dirty="0"/>
              <a:t>보다 낮아지게 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A5E4F5-781B-9EF6-2761-5836BA781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1777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그냥 로스 </a:t>
            </a:r>
            <a:r>
              <a:rPr kumimoji="1" lang="ko-KR" altLang="en-US" dirty="0" err="1"/>
              <a:t>안흘려도</a:t>
            </a:r>
            <a:r>
              <a:rPr kumimoji="1" lang="ko-KR" altLang="en-US" dirty="0"/>
              <a:t> 기본 주변 분포 자체가 아주 </a:t>
            </a:r>
            <a:r>
              <a:rPr kumimoji="1" lang="ko-KR" altLang="en-US" dirty="0" err="1"/>
              <a:t>강력하다는것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7390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3654E-C63D-8E92-28B2-B7870BDD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1AAAE6-1BED-DD3B-CC26-5A00A49EE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131F58-8C5A-2F60-FD0D-18D00B8D2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따라서 주변 분포에 </a:t>
            </a:r>
            <a:r>
              <a:rPr kumimoji="1" lang="ko-KR" altLang="en-US" dirty="0" err="1"/>
              <a:t>악양향을</a:t>
            </a:r>
            <a:r>
              <a:rPr kumimoji="1" lang="ko-KR" altLang="en-US" dirty="0"/>
              <a:t> 끼치는 요인을 찾아봄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데이터 증강은 </a:t>
            </a:r>
            <a:r>
              <a:rPr kumimoji="1" lang="en-US" altLang="ko-KR" dirty="0"/>
              <a:t>TTA</a:t>
            </a:r>
            <a:r>
              <a:rPr kumimoji="1" lang="ko-KR" altLang="en-US" dirty="0"/>
              <a:t>에서 필수적 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증강으로 </a:t>
            </a:r>
            <a:r>
              <a:rPr kumimoji="1" lang="en-US" altLang="ko-KR" dirty="0"/>
              <a:t>noise</a:t>
            </a:r>
            <a:r>
              <a:rPr kumimoji="1" lang="ko-KR" altLang="en-US" dirty="0"/>
              <a:t>된 </a:t>
            </a:r>
            <a:r>
              <a:rPr kumimoji="1" lang="en-US" altLang="ko-KR" dirty="0"/>
              <a:t>view</a:t>
            </a:r>
            <a:r>
              <a:rPr kumimoji="1" lang="ko-KR" altLang="en-US" dirty="0"/>
              <a:t>들이 분포에서 벗어남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원래 </a:t>
            </a:r>
            <a:r>
              <a:rPr kumimoji="1" lang="en-US" altLang="ko-KR" dirty="0"/>
              <a:t>OOD view</a:t>
            </a:r>
            <a:r>
              <a:rPr kumimoji="1" lang="ko-KR" altLang="en-US" dirty="0"/>
              <a:t>는 보통 신뢰도가 </a:t>
            </a:r>
            <a:r>
              <a:rPr kumimoji="1" lang="ko-KR" altLang="en-US" dirty="0" err="1"/>
              <a:t>낮을테니까</a:t>
            </a:r>
            <a:r>
              <a:rPr kumimoji="1" lang="ko-KR" altLang="en-US" dirty="0"/>
              <a:t> 이를 기반으로</a:t>
            </a:r>
            <a:endParaRPr kumimoji="1" lang="en-US" altLang="ko-KR" dirty="0"/>
          </a:p>
          <a:p>
            <a:r>
              <a:rPr kumimoji="1" lang="ko-KR" altLang="en-US" dirty="0"/>
              <a:t>이전 </a:t>
            </a:r>
            <a:r>
              <a:rPr kumimoji="1" lang="ko-KR" altLang="en-US" dirty="0" err="1"/>
              <a:t>메소드중에서</a:t>
            </a:r>
            <a:r>
              <a:rPr kumimoji="1" lang="ko-KR" altLang="en-US" dirty="0"/>
              <a:t> 이걸 필터로 </a:t>
            </a:r>
            <a:r>
              <a:rPr kumimoji="1" lang="ko-KR" altLang="en-US" dirty="0" err="1"/>
              <a:t>걸르려는</a:t>
            </a:r>
            <a:r>
              <a:rPr kumimoji="1" lang="ko-KR" altLang="en-US" dirty="0"/>
              <a:t> 노력이 있었는데</a:t>
            </a:r>
            <a:r>
              <a:rPr kumimoji="1" lang="en-US" altLang="ko-KR" dirty="0"/>
              <a:t> OOD view</a:t>
            </a:r>
            <a:r>
              <a:rPr kumimoji="1" lang="ko-KR" altLang="en-US" dirty="0"/>
              <a:t>가 주변 </a:t>
            </a:r>
            <a:r>
              <a:rPr kumimoji="1" lang="ko-KR" altLang="en-US" dirty="0" err="1"/>
              <a:t>분포과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overconf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가질때</a:t>
            </a:r>
            <a:r>
              <a:rPr kumimoji="1" lang="en-US" altLang="ko-KR" dirty="0"/>
              <a:t>(</a:t>
            </a:r>
            <a:r>
              <a:rPr kumimoji="1" lang="ko-KR" altLang="en-US" dirty="0"/>
              <a:t>엔트로피가 </a:t>
            </a:r>
            <a:r>
              <a:rPr kumimoji="1" lang="ko-KR" altLang="en-US" dirty="0" err="1"/>
              <a:t>낮을때</a:t>
            </a:r>
            <a:r>
              <a:rPr kumimoji="1" lang="en-US" altLang="ko-KR" dirty="0"/>
              <a:t>) </a:t>
            </a:r>
            <a:r>
              <a:rPr kumimoji="1" lang="ko-KR" altLang="en-US" dirty="0"/>
              <a:t>해결이 안됨</a:t>
            </a:r>
            <a:endParaRPr kumimoji="1" lang="en-US" altLang="ko-KR" dirty="0"/>
          </a:p>
          <a:p>
            <a:r>
              <a:rPr kumimoji="1" lang="ko-KR" altLang="en-US" dirty="0"/>
              <a:t>근데 이 경우가 모델에 훨씬 더 </a:t>
            </a:r>
            <a:r>
              <a:rPr kumimoji="1" lang="ko-KR" altLang="en-US" dirty="0" err="1"/>
              <a:t>안좋은</a:t>
            </a:r>
            <a:r>
              <a:rPr kumimoji="1" lang="ko-KR" altLang="en-US" dirty="0"/>
              <a:t> 영향을 끼침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8D1597-F97D-8D8B-6C59-520CA9D17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3217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81C7-AF9F-D2D1-1B6F-9BCBE3B97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F0C0AC-4477-F99C-0A55-F54D612EF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2E737E-E890-4E37-F570-F6F485A83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번이 </a:t>
            </a:r>
            <a:r>
              <a:rPr kumimoji="1" lang="en-US" altLang="ko-KR" dirty="0"/>
              <a:t>data </a:t>
            </a:r>
            <a:r>
              <a:rPr kumimoji="1" lang="en-US" altLang="ko-KR" dirty="0" err="1"/>
              <a:t>aug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poor calibration</a:t>
            </a:r>
            <a:r>
              <a:rPr kumimoji="1" lang="ko-KR" altLang="en-US" dirty="0"/>
              <a:t>을 </a:t>
            </a:r>
            <a:r>
              <a:rPr kumimoji="1" lang="ko-KR" altLang="en-US" dirty="0" err="1"/>
              <a:t>이끔을</a:t>
            </a:r>
            <a:r>
              <a:rPr kumimoji="1" lang="ko-KR" altLang="en-US" dirty="0"/>
              <a:t> 실험</a:t>
            </a:r>
            <a:endParaRPr kumimoji="1" lang="en-US" altLang="ko-KR" dirty="0"/>
          </a:p>
          <a:p>
            <a:r>
              <a:rPr kumimoji="1" lang="en-US" altLang="ko-KR" dirty="0"/>
              <a:t>2</a:t>
            </a:r>
            <a:r>
              <a:rPr kumimoji="1" lang="ko-KR" altLang="en-US" dirty="0"/>
              <a:t>번이 </a:t>
            </a:r>
            <a:r>
              <a:rPr kumimoji="1" lang="en-US" altLang="ko-KR" dirty="0"/>
              <a:t>data </a:t>
            </a:r>
            <a:r>
              <a:rPr kumimoji="1" lang="en-US" altLang="ko-KR" dirty="0" err="1"/>
              <a:t>aug</a:t>
            </a:r>
            <a:r>
              <a:rPr kumimoji="1" lang="ko-KR" altLang="en-US" dirty="0"/>
              <a:t>중에 </a:t>
            </a:r>
            <a:r>
              <a:rPr kumimoji="1" lang="en-US" altLang="ko-KR" dirty="0" err="1"/>
              <a:t>overconf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poor </a:t>
            </a:r>
            <a:r>
              <a:rPr kumimoji="1" lang="en-US" altLang="ko-KR" dirty="0" err="1"/>
              <a:t>cal</a:t>
            </a:r>
            <a:r>
              <a:rPr kumimoji="1" lang="ko-KR" altLang="en-US" dirty="0"/>
              <a:t>과 주로 연관 </a:t>
            </a:r>
            <a:r>
              <a:rPr kumimoji="1" lang="ko-KR" altLang="en-US" dirty="0" err="1"/>
              <a:t>되있음을</a:t>
            </a:r>
            <a:r>
              <a:rPr kumimoji="1" lang="ko-KR" altLang="en-US" dirty="0"/>
              <a:t> 실험</a:t>
            </a:r>
            <a:br>
              <a:rPr kumimoji="1" lang="en-US" altLang="ko-KR" dirty="0"/>
            </a:br>
            <a:r>
              <a:rPr kumimoji="1" lang="en-US" altLang="ko-KR" dirty="0"/>
              <a:t>y=x </a:t>
            </a:r>
            <a:r>
              <a:rPr kumimoji="1" lang="ko-KR" altLang="en-US" dirty="0"/>
              <a:t>밑은 </a:t>
            </a:r>
            <a:r>
              <a:rPr kumimoji="1" lang="en-US" altLang="ko-KR" dirty="0" err="1"/>
              <a:t>overconf</a:t>
            </a:r>
            <a:r>
              <a:rPr kumimoji="1" lang="en-US" altLang="ko-KR" dirty="0"/>
              <a:t> </a:t>
            </a:r>
            <a:r>
              <a:rPr kumimoji="1" lang="ko-KR" altLang="en-US" dirty="0"/>
              <a:t>반대는 </a:t>
            </a:r>
            <a:r>
              <a:rPr kumimoji="1" lang="en-US" altLang="ko-KR" dirty="0" err="1"/>
              <a:t>underconf</a:t>
            </a:r>
            <a:endParaRPr kumimoji="1" lang="en-US" altLang="ko-KR" dirty="0"/>
          </a:p>
          <a:p>
            <a:r>
              <a:rPr kumimoji="1" lang="en-US" altLang="ko-KR" dirty="0" err="1"/>
              <a:t>Overconf</a:t>
            </a:r>
            <a:r>
              <a:rPr kumimoji="1" lang="ko-KR" altLang="en-US" dirty="0"/>
              <a:t>가 막 </a:t>
            </a:r>
            <a:r>
              <a:rPr kumimoji="1" lang="ko-KR" altLang="en-US" dirty="0" err="1"/>
              <a:t>높은신뢰도가</a:t>
            </a:r>
            <a:r>
              <a:rPr kumimoji="1" lang="ko-KR" altLang="en-US" dirty="0"/>
              <a:t> 아니라 </a:t>
            </a:r>
            <a:r>
              <a:rPr kumimoji="1" lang="en-US" altLang="ko-KR" dirty="0"/>
              <a:t>acc &gt; conf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의미</a:t>
            </a:r>
            <a:endParaRPr kumimoji="1" lang="en-US" altLang="ko-KR" dirty="0"/>
          </a:p>
          <a:p>
            <a:r>
              <a:rPr kumimoji="1" lang="ko-KR" altLang="en-US" dirty="0"/>
              <a:t>그래서 보면 </a:t>
            </a:r>
            <a:r>
              <a:rPr kumimoji="1" lang="en-US" altLang="ko-KR" dirty="0"/>
              <a:t>conf</a:t>
            </a:r>
            <a:r>
              <a:rPr kumimoji="1" lang="ko-KR" altLang="en-US" dirty="0"/>
              <a:t>가 높아도 </a:t>
            </a:r>
            <a:r>
              <a:rPr kumimoji="1" lang="en-US" altLang="ko-KR" dirty="0" err="1"/>
              <a:t>overconf</a:t>
            </a:r>
            <a:r>
              <a:rPr kumimoji="1" lang="ko-KR" altLang="en-US" dirty="0"/>
              <a:t>가 된 경우가 많기에 기존 </a:t>
            </a:r>
            <a:r>
              <a:rPr kumimoji="1" lang="en-US" altLang="ko-KR" dirty="0"/>
              <a:t>filter</a:t>
            </a:r>
            <a:r>
              <a:rPr kumimoji="1" lang="ko-KR" altLang="en-US" dirty="0"/>
              <a:t>가 무의미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E79F9C-D059-9760-4F32-2F095D199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2395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B14F-3444-25BE-B7AB-E94BE4BB1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5C10A8-F480-5F01-0995-33802D3DD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90FD90-AA99-2530-AFDE-2B7D7DC1D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따라서 주변 분포에 </a:t>
            </a:r>
            <a:r>
              <a:rPr kumimoji="1" lang="ko-KR" altLang="en-US" dirty="0" err="1"/>
              <a:t>악양향을</a:t>
            </a:r>
            <a:r>
              <a:rPr kumimoji="1" lang="ko-KR" altLang="en-US" dirty="0"/>
              <a:t> 끼치는 요인을 찾아봄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데이터 증강은 </a:t>
            </a:r>
            <a:r>
              <a:rPr kumimoji="1" lang="en-US" altLang="ko-KR" dirty="0"/>
              <a:t>TTA</a:t>
            </a:r>
            <a:r>
              <a:rPr kumimoji="1" lang="ko-KR" altLang="en-US" dirty="0"/>
              <a:t>에서 필수적 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증강으로 </a:t>
            </a:r>
            <a:r>
              <a:rPr kumimoji="1" lang="en-US" altLang="ko-KR" dirty="0"/>
              <a:t>noise</a:t>
            </a:r>
            <a:r>
              <a:rPr kumimoji="1" lang="ko-KR" altLang="en-US" dirty="0"/>
              <a:t>된 </a:t>
            </a:r>
            <a:r>
              <a:rPr kumimoji="1" lang="en-US" altLang="ko-KR" dirty="0"/>
              <a:t>view</a:t>
            </a:r>
            <a:r>
              <a:rPr kumimoji="1" lang="ko-KR" altLang="en-US" dirty="0"/>
              <a:t>들이 분포에서 벗어남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원래 </a:t>
            </a:r>
            <a:r>
              <a:rPr kumimoji="1" lang="en-US" altLang="ko-KR" dirty="0"/>
              <a:t>OOD view</a:t>
            </a:r>
            <a:r>
              <a:rPr kumimoji="1" lang="ko-KR" altLang="en-US" dirty="0"/>
              <a:t>는 보통 신뢰도가 </a:t>
            </a:r>
            <a:r>
              <a:rPr kumimoji="1" lang="ko-KR" altLang="en-US" dirty="0" err="1"/>
              <a:t>낮을테니까</a:t>
            </a:r>
            <a:r>
              <a:rPr kumimoji="1" lang="ko-KR" altLang="en-US" dirty="0"/>
              <a:t> 이를 기반으로</a:t>
            </a:r>
            <a:endParaRPr kumimoji="1" lang="en-US" altLang="ko-KR" dirty="0"/>
          </a:p>
          <a:p>
            <a:r>
              <a:rPr kumimoji="1" lang="ko-KR" altLang="en-US" dirty="0"/>
              <a:t>이전 </a:t>
            </a:r>
            <a:r>
              <a:rPr kumimoji="1" lang="ko-KR" altLang="en-US" dirty="0" err="1"/>
              <a:t>메소드중에서</a:t>
            </a:r>
            <a:r>
              <a:rPr kumimoji="1" lang="ko-KR" altLang="en-US" dirty="0"/>
              <a:t> 이걸 필터로 </a:t>
            </a:r>
            <a:r>
              <a:rPr kumimoji="1" lang="ko-KR" altLang="en-US" dirty="0" err="1"/>
              <a:t>걸르려는</a:t>
            </a:r>
            <a:r>
              <a:rPr kumimoji="1" lang="ko-KR" altLang="en-US" dirty="0"/>
              <a:t> 노력이 있었는데</a:t>
            </a:r>
            <a:r>
              <a:rPr kumimoji="1" lang="en-US" altLang="ko-KR" dirty="0"/>
              <a:t> OOD view</a:t>
            </a:r>
            <a:r>
              <a:rPr kumimoji="1" lang="ko-KR" altLang="en-US" dirty="0"/>
              <a:t>가 주변 </a:t>
            </a:r>
            <a:r>
              <a:rPr kumimoji="1" lang="ko-KR" altLang="en-US" dirty="0" err="1"/>
              <a:t>분포과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overconf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가질때</a:t>
            </a:r>
            <a:r>
              <a:rPr kumimoji="1" lang="en-US" altLang="ko-KR" dirty="0"/>
              <a:t>(</a:t>
            </a:r>
            <a:r>
              <a:rPr kumimoji="1" lang="ko-KR" altLang="en-US" dirty="0"/>
              <a:t>엔트로피가 </a:t>
            </a:r>
            <a:r>
              <a:rPr kumimoji="1" lang="ko-KR" altLang="en-US" dirty="0" err="1"/>
              <a:t>낮을때</a:t>
            </a:r>
            <a:r>
              <a:rPr kumimoji="1" lang="en-US" altLang="ko-KR" dirty="0"/>
              <a:t>) </a:t>
            </a:r>
            <a:r>
              <a:rPr kumimoji="1" lang="ko-KR" altLang="en-US" dirty="0"/>
              <a:t>해결이 안됨</a:t>
            </a:r>
            <a:endParaRPr kumimoji="1" lang="en-US" altLang="ko-KR" dirty="0"/>
          </a:p>
          <a:p>
            <a:r>
              <a:rPr kumimoji="1" lang="ko-KR" altLang="en-US" dirty="0"/>
              <a:t>근데 이 경우가 모델에 훨씬 더 </a:t>
            </a:r>
            <a:r>
              <a:rPr kumimoji="1" lang="ko-KR" altLang="en-US" dirty="0" err="1"/>
              <a:t>안좋은</a:t>
            </a:r>
            <a:r>
              <a:rPr kumimoji="1" lang="ko-KR" altLang="en-US" dirty="0"/>
              <a:t> 영향을 끼침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B2C447-ED21-E329-2E22-BE66B902A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3253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067E-BE8E-8F72-DBAF-9371E55E1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1BF918-D2B8-156D-2FFC-36B88551F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34F1DA-9A5C-E1C1-FE07-F822CD42E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입력 </a:t>
            </a:r>
            <a:r>
              <a:rPr lang="en" altLang="ko-KR" dirty="0"/>
              <a:t>x</a:t>
            </a:r>
            <a:r>
              <a:rPr lang="ko-KR" altLang="en-US" dirty="0" err="1"/>
              <a:t>에</a:t>
            </a:r>
            <a:r>
              <a:rPr lang="ko-KR" altLang="en-US" dirty="0"/>
              <a:t> 대해 여러 가지 증강을 적용해 </a:t>
            </a:r>
            <a:r>
              <a:rPr lang="en" altLang="ko-KR" dirty="0"/>
              <a:t>x_1, x_2, \dots, </a:t>
            </a:r>
            <a:r>
              <a:rPr lang="en" altLang="ko-KR" dirty="0" err="1"/>
              <a:t>x_N</a:t>
            </a:r>
            <a:r>
              <a:rPr lang="ko-KR" altLang="en-US" dirty="0"/>
              <a:t>과 같이 여러 뷰를 생성합니다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각 증강된 뷰 </a:t>
            </a:r>
            <a:r>
              <a:rPr lang="en" altLang="ko-KR" dirty="0" err="1"/>
              <a:t>x_i</a:t>
            </a:r>
            <a:r>
              <a:rPr lang="ko-KR" altLang="en-US" dirty="0" err="1"/>
              <a:t>에</a:t>
            </a:r>
            <a:r>
              <a:rPr lang="ko-KR" altLang="en-US" dirty="0"/>
              <a:t> 대해</a:t>
            </a:r>
            <a:r>
              <a:rPr lang="en-US" altLang="ko-KR" dirty="0"/>
              <a:t>, </a:t>
            </a:r>
            <a:r>
              <a:rPr lang="ko-KR" altLang="en-US" dirty="0"/>
              <a:t>모델은 텍스트 문맥 </a:t>
            </a:r>
            <a:r>
              <a:rPr lang="en" altLang="ko-KR" dirty="0"/>
              <a:t>t_{\text{</a:t>
            </a:r>
            <a:r>
              <a:rPr lang="en" altLang="ko-KR" dirty="0" err="1"/>
              <a:t>ctx</a:t>
            </a:r>
            <a:r>
              <a:rPr lang="en" altLang="ko-KR" dirty="0"/>
              <a:t>}}</a:t>
            </a:r>
            <a:r>
              <a:rPr lang="ko-KR" altLang="en-US" dirty="0" err="1"/>
              <a:t>를</a:t>
            </a:r>
            <a:r>
              <a:rPr lang="ko-KR" altLang="en-US" dirty="0"/>
              <a:t> 이용하여 예측 확률 분포 </a:t>
            </a:r>
            <a:r>
              <a:rPr lang="en" altLang="ko-KR" dirty="0"/>
              <a:t>p(y \mid </a:t>
            </a:r>
            <a:r>
              <a:rPr lang="en" altLang="ko-KR" dirty="0" err="1"/>
              <a:t>x_i</a:t>
            </a:r>
            <a:r>
              <a:rPr lang="en" altLang="ko-KR" dirty="0"/>
              <a:t>, t_{\text{</a:t>
            </a:r>
            <a:r>
              <a:rPr lang="en" altLang="ko-KR" dirty="0" err="1"/>
              <a:t>ctx</a:t>
            </a:r>
            <a:r>
              <a:rPr lang="en" altLang="ko-KR" dirty="0"/>
              <a:t>}}, \tau)</a:t>
            </a:r>
            <a:r>
              <a:rPr lang="ko-KR" altLang="en-US" dirty="0" err="1"/>
              <a:t>를</a:t>
            </a:r>
            <a:r>
              <a:rPr lang="ko-KR" altLang="en-US" dirty="0"/>
              <a:t> 계산합니다</a:t>
            </a:r>
            <a:r>
              <a:rPr lang="en-US" altLang="ko-KR" dirty="0"/>
              <a:t>. </a:t>
            </a:r>
            <a:r>
              <a:rPr lang="ko-KR" altLang="en-US" dirty="0"/>
              <a:t>여기서 </a:t>
            </a:r>
            <a:r>
              <a:rPr lang="en-US" altLang="ko-KR" dirty="0"/>
              <a:t>\</a:t>
            </a:r>
            <a:r>
              <a:rPr lang="en" altLang="ko-KR" dirty="0"/>
              <a:t>tau</a:t>
            </a:r>
            <a:r>
              <a:rPr lang="ko-KR" altLang="en-US" dirty="0"/>
              <a:t>는 </a:t>
            </a:r>
            <a:r>
              <a:rPr lang="ko-KR" altLang="en-US" dirty="0" err="1"/>
              <a:t>소프트맥스</a:t>
            </a:r>
            <a:r>
              <a:rPr lang="ko-KR" altLang="en-US" dirty="0"/>
              <a:t> 온도 파라미터입니다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생성된 여러 뷰 중에서</a:t>
            </a:r>
            <a:r>
              <a:rPr lang="en-US" altLang="ko-KR" dirty="0"/>
              <a:t>, </a:t>
            </a:r>
            <a:r>
              <a:rPr lang="ko-KR" altLang="en-US" dirty="0"/>
              <a:t>예측의 엔트로피 </a:t>
            </a:r>
            <a:r>
              <a:rPr lang="en" altLang="ko-KR" dirty="0"/>
              <a:t>H(p(\</a:t>
            </a:r>
            <a:r>
              <a:rPr lang="en" altLang="ko-KR" dirty="0" err="1"/>
              <a:t>cdot</a:t>
            </a:r>
            <a:r>
              <a:rPr lang="en" altLang="ko-KR" dirty="0"/>
              <a:t> \mid </a:t>
            </a:r>
            <a:r>
              <a:rPr lang="en" altLang="ko-KR" dirty="0" err="1"/>
              <a:t>x_i</a:t>
            </a:r>
            <a:r>
              <a:rPr lang="en" altLang="ko-KR" dirty="0"/>
              <a:t>, t_{\text{</a:t>
            </a:r>
            <a:r>
              <a:rPr lang="en" altLang="ko-KR" dirty="0" err="1"/>
              <a:t>ctx</a:t>
            </a:r>
            <a:r>
              <a:rPr lang="en" altLang="ko-KR" dirty="0"/>
              <a:t>}}, \tau))</a:t>
            </a:r>
            <a:r>
              <a:rPr lang="ko-KR" altLang="en-US" dirty="0"/>
              <a:t>가 미리 정한 </a:t>
            </a:r>
            <a:r>
              <a:rPr lang="ko-KR" altLang="en-US" dirty="0" err="1"/>
              <a:t>임계값</a:t>
            </a:r>
            <a:r>
              <a:rPr lang="ko-KR" altLang="en-US" dirty="0"/>
              <a:t> </a:t>
            </a:r>
            <a:r>
              <a:rPr lang="en-US" altLang="ko-KR" dirty="0"/>
              <a:t>\</a:t>
            </a:r>
            <a:r>
              <a:rPr lang="en" altLang="ko-KR" dirty="0"/>
              <a:t>rho</a:t>
            </a:r>
            <a:r>
              <a:rPr lang="ko-KR" altLang="en-US" dirty="0"/>
              <a:t>보다 낮은</a:t>
            </a:r>
            <a:r>
              <a:rPr lang="en-US" altLang="ko-KR" dirty="0"/>
              <a:t>, </a:t>
            </a:r>
            <a:r>
              <a:rPr lang="ko-KR" altLang="en-US" dirty="0"/>
              <a:t>즉 모델이 자신 있게 예측하는 뷰들만 선택합니다</a:t>
            </a:r>
            <a:r>
              <a:rPr lang="en-US" altLang="ko-KR" dirty="0"/>
              <a:t>. </a:t>
            </a:r>
            <a:r>
              <a:rPr lang="ko-KR" altLang="en-US" dirty="0"/>
              <a:t>이 집합을 </a:t>
            </a:r>
            <a:r>
              <a:rPr lang="en" altLang="ko-KR" dirty="0"/>
              <a:t>X_{\text{</a:t>
            </a:r>
            <a:r>
              <a:rPr lang="en" altLang="ko-KR" dirty="0" err="1"/>
              <a:t>filt</a:t>
            </a:r>
            <a:r>
              <a:rPr lang="en" altLang="ko-KR" dirty="0"/>
              <a:t>}}</a:t>
            </a:r>
            <a:r>
              <a:rPr lang="ko-KR" altLang="en-US" dirty="0" err="1"/>
              <a:t>라고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온도 </a:t>
            </a:r>
            <a:r>
              <a:rPr lang="en-US" altLang="ko-KR" dirty="0"/>
              <a:t>\</a:t>
            </a:r>
            <a:r>
              <a:rPr lang="en" altLang="ko-KR" dirty="0"/>
              <a:t>tau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의 극한으로 설정하면</a:t>
            </a:r>
            <a:r>
              <a:rPr lang="en-US" altLang="ko-KR" dirty="0"/>
              <a:t>, </a:t>
            </a:r>
            <a:r>
              <a:rPr lang="ko-KR" altLang="en-US" dirty="0" err="1"/>
              <a:t>소프트맥스</a:t>
            </a:r>
            <a:r>
              <a:rPr lang="ko-KR" altLang="en-US" dirty="0"/>
              <a:t> 함수는 확률 분포를 원</a:t>
            </a:r>
            <a:r>
              <a:rPr lang="en-US" altLang="ko-KR" dirty="0"/>
              <a:t>-</a:t>
            </a:r>
            <a:r>
              <a:rPr lang="ko-KR" altLang="en-US" dirty="0"/>
              <a:t>핫</a:t>
            </a:r>
            <a:r>
              <a:rPr lang="en-US" altLang="ko-KR" dirty="0"/>
              <a:t>(</a:t>
            </a:r>
            <a:r>
              <a:rPr lang="en" altLang="ko-KR" dirty="0"/>
              <a:t>one-hot) </a:t>
            </a:r>
            <a:r>
              <a:rPr lang="ko-KR" altLang="en-US" dirty="0"/>
              <a:t>인코딩으로 변환합니다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각 뷰에 대해 가장 높은 확률을 가진 클래스의 값은 </a:t>
            </a:r>
            <a:r>
              <a:rPr lang="en-US" altLang="ko-KR" dirty="0"/>
              <a:t>1, </a:t>
            </a:r>
            <a:r>
              <a:rPr lang="ko-KR" altLang="en-US" dirty="0"/>
              <a:t>나머지는 </a:t>
            </a:r>
            <a:r>
              <a:rPr lang="en-US" altLang="ko-KR" dirty="0"/>
              <a:t>0</a:t>
            </a:r>
            <a:r>
              <a:rPr lang="ko-KR" altLang="en-US" dirty="0"/>
              <a:t>이 됩니다</a:t>
            </a:r>
            <a:r>
              <a:rPr lang="en-US" altLang="ko-KR" dirty="0"/>
              <a:t>. </a:t>
            </a:r>
            <a:r>
              <a:rPr lang="ko-KR" altLang="en-US" dirty="0"/>
              <a:t>이 과정은 각 뷰의 “최종 결정” 즉</a:t>
            </a:r>
            <a:r>
              <a:rPr lang="en-US" altLang="ko-KR" dirty="0"/>
              <a:t>, </a:t>
            </a:r>
            <a:r>
              <a:rPr lang="en" altLang="ko-KR" dirty="0"/>
              <a:t>argmax </a:t>
            </a:r>
            <a:r>
              <a:rPr lang="ko-KR" altLang="en-US" dirty="0"/>
              <a:t>정보만을 추출하는 효과를 가져옵니다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-&gt;</a:t>
            </a:r>
            <a:r>
              <a:rPr lang="ko-KR" altLang="en-US" dirty="0"/>
              <a:t>이로 인해 신뢰도 반영이 아닌 그냥 한 클래스를 </a:t>
            </a:r>
            <a:r>
              <a:rPr lang="ko-KR" altLang="en-US" dirty="0" err="1"/>
              <a:t>선택한거</a:t>
            </a:r>
            <a:r>
              <a:rPr lang="ko-KR" altLang="en-US" dirty="0"/>
              <a:t> 같은 결과 </a:t>
            </a:r>
            <a:r>
              <a:rPr lang="en-US" altLang="ko-KR" dirty="0"/>
              <a:t>=&gt; </a:t>
            </a:r>
            <a:r>
              <a:rPr lang="ko-KR" altLang="en-US" dirty="0"/>
              <a:t>가중평균</a:t>
            </a:r>
            <a:r>
              <a:rPr lang="en-US" altLang="ko-KR" dirty="0"/>
              <a:t>(</a:t>
            </a:r>
            <a:r>
              <a:rPr lang="en" altLang="ko-KR" dirty="0"/>
              <a:t>continuous probability</a:t>
            </a:r>
            <a:r>
              <a:rPr lang="ko-KR" altLang="en-US" dirty="0"/>
              <a:t>의 평균</a:t>
            </a:r>
            <a:r>
              <a:rPr lang="en-US" altLang="ko-KR" dirty="0"/>
              <a:t>)</a:t>
            </a:r>
            <a:r>
              <a:rPr lang="ko-KR" altLang="en-US" dirty="0"/>
              <a:t>에서 단순 투표</a:t>
            </a:r>
            <a:r>
              <a:rPr lang="en-US" altLang="ko-KR" dirty="0"/>
              <a:t>(</a:t>
            </a:r>
            <a:r>
              <a:rPr lang="ko-KR" altLang="en-US" dirty="0"/>
              <a:t>각 뷰의 </a:t>
            </a:r>
            <a:r>
              <a:rPr lang="en" altLang="ko-KR" dirty="0"/>
              <a:t>indicator function)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가장 높은 예측 확률을 가진 클래스 </a:t>
            </a:r>
            <a:r>
              <a:rPr lang="en" altLang="ko-KR" dirty="0"/>
              <a:t>c</a:t>
            </a:r>
            <a:r>
              <a:rPr lang="ko-KR" altLang="en-US" dirty="0" err="1"/>
              <a:t>에</a:t>
            </a:r>
            <a:r>
              <a:rPr lang="ko-KR" altLang="en-US" dirty="0"/>
              <a:t> 대해 </a:t>
            </a:r>
            <a:r>
              <a:rPr lang="en-US" altLang="ko-KR" dirty="0"/>
              <a:t>1, </a:t>
            </a:r>
            <a:r>
              <a:rPr lang="ko-KR" altLang="en-US" dirty="0"/>
              <a:t>그렇지 않은 클래스에 대해 </a:t>
            </a:r>
            <a:r>
              <a:rPr lang="en-US" altLang="ko-KR" dirty="0"/>
              <a:t>0</a:t>
            </a:r>
            <a:r>
              <a:rPr lang="ko-KR" altLang="en-US" dirty="0"/>
              <a:t>이 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선택된 신뢰할 만한 뷰들</a:t>
            </a:r>
            <a:r>
              <a:rPr lang="en-US" altLang="ko-KR" dirty="0"/>
              <a:t>(</a:t>
            </a:r>
            <a:r>
              <a:rPr lang="en" altLang="ko-KR" dirty="0"/>
              <a:t>X_{\text{</a:t>
            </a:r>
            <a:r>
              <a:rPr lang="en" altLang="ko-KR" dirty="0" err="1"/>
              <a:t>filt</a:t>
            </a:r>
            <a:r>
              <a:rPr lang="en" altLang="ko-KR" dirty="0"/>
              <a:t>}})</a:t>
            </a:r>
            <a:r>
              <a:rPr lang="ko-KR" altLang="en-US" dirty="0"/>
              <a:t>에서 나온 원</a:t>
            </a:r>
            <a:r>
              <a:rPr lang="en-US" altLang="ko-KR" dirty="0"/>
              <a:t>-</a:t>
            </a:r>
            <a:r>
              <a:rPr lang="ko-KR" altLang="en-US" dirty="0"/>
              <a:t>핫 예측들을 모두 합산</a:t>
            </a:r>
            <a:r>
              <a:rPr lang="en-US" altLang="ko-KR" dirty="0"/>
              <a:t>(</a:t>
            </a:r>
            <a:r>
              <a:rPr lang="ko-KR" altLang="en-US" dirty="0"/>
              <a:t>또는 투표</a:t>
            </a:r>
            <a:r>
              <a:rPr lang="en-US" altLang="ko-KR" dirty="0"/>
              <a:t>)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최종 예측은 이 합산 결과에서 가장 높은 값을 갖는 클래스</a:t>
            </a:r>
            <a:r>
              <a:rPr lang="en-US" altLang="ko-KR" dirty="0"/>
              <a:t>, </a:t>
            </a:r>
            <a:r>
              <a:rPr lang="ko-KR" altLang="en-US" dirty="0"/>
              <a:t>즉 다수결로 결정됩니다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I</a:t>
            </a:r>
            <a:r>
              <a:rPr kumimoji="1" lang="ko-KR" altLang="en-US" dirty="0"/>
              <a:t>는 원래 </a:t>
            </a:r>
            <a:r>
              <a:rPr kumimoji="1" lang="en-US" altLang="ko-KR" dirty="0"/>
              <a:t>1</a:t>
            </a:r>
            <a:r>
              <a:rPr kumimoji="1" lang="ko-KR" altLang="en-US" dirty="0"/>
              <a:t>로 </a:t>
            </a:r>
            <a:r>
              <a:rPr kumimoji="1" lang="en" altLang="ko-KR" dirty="0"/>
              <a:t>indicator function, whose output is 1 if xi ∈ Xfilt and 0 otherwise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77FEEC-CD55-2579-ED48-843BB325C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6256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4C0F-3C42-7FFD-AC20-ECE955971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F145ED-7602-96D0-C119-F2732E81E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FE10B4-A82F-3EFB-8291-C14436BD6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입력 </a:t>
            </a:r>
            <a:r>
              <a:rPr lang="en" altLang="ko-KR" dirty="0"/>
              <a:t>x</a:t>
            </a:r>
            <a:r>
              <a:rPr lang="ko-KR" altLang="en-US" dirty="0" err="1"/>
              <a:t>에</a:t>
            </a:r>
            <a:r>
              <a:rPr lang="ko-KR" altLang="en-US" dirty="0"/>
              <a:t> 대해 여러 가지 증강을 적용해 </a:t>
            </a:r>
            <a:r>
              <a:rPr lang="en" altLang="ko-KR" dirty="0"/>
              <a:t>x_1, x_2, \dots, </a:t>
            </a:r>
            <a:r>
              <a:rPr lang="en" altLang="ko-KR" dirty="0" err="1"/>
              <a:t>x_N</a:t>
            </a:r>
            <a:r>
              <a:rPr lang="ko-KR" altLang="en-US" dirty="0"/>
              <a:t>과 같이 여러 뷰를 생성합니다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각 증강된 뷰 </a:t>
            </a:r>
            <a:r>
              <a:rPr lang="en" altLang="ko-KR" dirty="0" err="1"/>
              <a:t>x_i</a:t>
            </a:r>
            <a:r>
              <a:rPr lang="ko-KR" altLang="en-US" dirty="0" err="1"/>
              <a:t>에</a:t>
            </a:r>
            <a:r>
              <a:rPr lang="ko-KR" altLang="en-US" dirty="0"/>
              <a:t> 대해</a:t>
            </a:r>
            <a:r>
              <a:rPr lang="en-US" altLang="ko-KR" dirty="0"/>
              <a:t>, </a:t>
            </a:r>
            <a:r>
              <a:rPr lang="ko-KR" altLang="en-US" dirty="0"/>
              <a:t>모델은 텍스트 문맥 </a:t>
            </a:r>
            <a:r>
              <a:rPr lang="en" altLang="ko-KR" dirty="0"/>
              <a:t>t_{\text{</a:t>
            </a:r>
            <a:r>
              <a:rPr lang="en" altLang="ko-KR" dirty="0" err="1"/>
              <a:t>ctx</a:t>
            </a:r>
            <a:r>
              <a:rPr lang="en" altLang="ko-KR" dirty="0"/>
              <a:t>}}</a:t>
            </a:r>
            <a:r>
              <a:rPr lang="ko-KR" altLang="en-US" dirty="0" err="1"/>
              <a:t>를</a:t>
            </a:r>
            <a:r>
              <a:rPr lang="ko-KR" altLang="en-US" dirty="0"/>
              <a:t> 이용하여 예측 확률 분포 </a:t>
            </a:r>
            <a:r>
              <a:rPr lang="en" altLang="ko-KR" dirty="0"/>
              <a:t>p(y \mid </a:t>
            </a:r>
            <a:r>
              <a:rPr lang="en" altLang="ko-KR" dirty="0" err="1"/>
              <a:t>x_i</a:t>
            </a:r>
            <a:r>
              <a:rPr lang="en" altLang="ko-KR" dirty="0"/>
              <a:t>, t_{\text{</a:t>
            </a:r>
            <a:r>
              <a:rPr lang="en" altLang="ko-KR" dirty="0" err="1"/>
              <a:t>ctx</a:t>
            </a:r>
            <a:r>
              <a:rPr lang="en" altLang="ko-KR" dirty="0"/>
              <a:t>}}, \tau)</a:t>
            </a:r>
            <a:r>
              <a:rPr lang="ko-KR" altLang="en-US" dirty="0" err="1"/>
              <a:t>를</a:t>
            </a:r>
            <a:r>
              <a:rPr lang="ko-KR" altLang="en-US" dirty="0"/>
              <a:t> 계산합니다</a:t>
            </a:r>
            <a:r>
              <a:rPr lang="en-US" altLang="ko-KR" dirty="0"/>
              <a:t>. </a:t>
            </a:r>
            <a:r>
              <a:rPr lang="ko-KR" altLang="en-US" dirty="0"/>
              <a:t>여기서 </a:t>
            </a:r>
            <a:r>
              <a:rPr lang="en-US" altLang="ko-KR" dirty="0"/>
              <a:t>\</a:t>
            </a:r>
            <a:r>
              <a:rPr lang="en" altLang="ko-KR" dirty="0"/>
              <a:t>tau</a:t>
            </a:r>
            <a:r>
              <a:rPr lang="ko-KR" altLang="en-US" dirty="0"/>
              <a:t>는 </a:t>
            </a:r>
            <a:r>
              <a:rPr lang="ko-KR" altLang="en-US" dirty="0" err="1"/>
              <a:t>소프트맥스</a:t>
            </a:r>
            <a:r>
              <a:rPr lang="ko-KR" altLang="en-US" dirty="0"/>
              <a:t> 온도 파라미터입니다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생성된 여러 뷰 중에서</a:t>
            </a:r>
            <a:r>
              <a:rPr lang="en-US" altLang="ko-KR" dirty="0"/>
              <a:t>, </a:t>
            </a:r>
            <a:r>
              <a:rPr lang="ko-KR" altLang="en-US" dirty="0"/>
              <a:t>예측의 엔트로피 </a:t>
            </a:r>
            <a:r>
              <a:rPr lang="en" altLang="ko-KR" dirty="0"/>
              <a:t>H(p(\</a:t>
            </a:r>
            <a:r>
              <a:rPr lang="en" altLang="ko-KR" dirty="0" err="1"/>
              <a:t>cdot</a:t>
            </a:r>
            <a:r>
              <a:rPr lang="en" altLang="ko-KR" dirty="0"/>
              <a:t> \mid </a:t>
            </a:r>
            <a:r>
              <a:rPr lang="en" altLang="ko-KR" dirty="0" err="1"/>
              <a:t>x_i</a:t>
            </a:r>
            <a:r>
              <a:rPr lang="en" altLang="ko-KR" dirty="0"/>
              <a:t>, t_{\text{</a:t>
            </a:r>
            <a:r>
              <a:rPr lang="en" altLang="ko-KR" dirty="0" err="1"/>
              <a:t>ctx</a:t>
            </a:r>
            <a:r>
              <a:rPr lang="en" altLang="ko-KR" dirty="0"/>
              <a:t>}}, \tau))</a:t>
            </a:r>
            <a:r>
              <a:rPr lang="ko-KR" altLang="en-US" dirty="0"/>
              <a:t>가 미리 정한 </a:t>
            </a:r>
            <a:r>
              <a:rPr lang="ko-KR" altLang="en-US" dirty="0" err="1"/>
              <a:t>임계값</a:t>
            </a:r>
            <a:r>
              <a:rPr lang="ko-KR" altLang="en-US" dirty="0"/>
              <a:t> </a:t>
            </a:r>
            <a:r>
              <a:rPr lang="en-US" altLang="ko-KR" dirty="0"/>
              <a:t>\</a:t>
            </a:r>
            <a:r>
              <a:rPr lang="en" altLang="ko-KR" dirty="0"/>
              <a:t>rho</a:t>
            </a:r>
            <a:r>
              <a:rPr lang="ko-KR" altLang="en-US" dirty="0"/>
              <a:t>보다 낮은</a:t>
            </a:r>
            <a:r>
              <a:rPr lang="en-US" altLang="ko-KR" dirty="0"/>
              <a:t>, </a:t>
            </a:r>
            <a:r>
              <a:rPr lang="ko-KR" altLang="en-US" dirty="0"/>
              <a:t>즉 모델이 자신 있게 예측하는 뷰들만 선택합니다</a:t>
            </a:r>
            <a:r>
              <a:rPr lang="en-US" altLang="ko-KR" dirty="0"/>
              <a:t>. </a:t>
            </a:r>
            <a:r>
              <a:rPr lang="ko-KR" altLang="en-US" dirty="0"/>
              <a:t>이 집합을 </a:t>
            </a:r>
            <a:r>
              <a:rPr lang="en" altLang="ko-KR" dirty="0"/>
              <a:t>X_{\text{</a:t>
            </a:r>
            <a:r>
              <a:rPr lang="en" altLang="ko-KR" dirty="0" err="1"/>
              <a:t>filt</a:t>
            </a:r>
            <a:r>
              <a:rPr lang="en" altLang="ko-KR" dirty="0"/>
              <a:t>}}</a:t>
            </a:r>
            <a:r>
              <a:rPr lang="ko-KR" altLang="en-US" dirty="0" err="1"/>
              <a:t>라고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온도 </a:t>
            </a:r>
            <a:r>
              <a:rPr lang="en-US" altLang="ko-KR" dirty="0"/>
              <a:t>\</a:t>
            </a:r>
            <a:r>
              <a:rPr lang="en" altLang="ko-KR" dirty="0"/>
              <a:t>tau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의 극한으로 설정하면</a:t>
            </a:r>
            <a:r>
              <a:rPr lang="en-US" altLang="ko-KR" dirty="0"/>
              <a:t>, </a:t>
            </a:r>
            <a:r>
              <a:rPr lang="ko-KR" altLang="en-US" dirty="0" err="1"/>
              <a:t>소프트맥스</a:t>
            </a:r>
            <a:r>
              <a:rPr lang="ko-KR" altLang="en-US" dirty="0"/>
              <a:t> 함수는 확률 분포를 원</a:t>
            </a:r>
            <a:r>
              <a:rPr lang="en-US" altLang="ko-KR" dirty="0"/>
              <a:t>-</a:t>
            </a:r>
            <a:r>
              <a:rPr lang="ko-KR" altLang="en-US" dirty="0"/>
              <a:t>핫</a:t>
            </a:r>
            <a:r>
              <a:rPr lang="en-US" altLang="ko-KR" dirty="0"/>
              <a:t>(</a:t>
            </a:r>
            <a:r>
              <a:rPr lang="en" altLang="ko-KR" dirty="0"/>
              <a:t>one-hot) </a:t>
            </a:r>
            <a:r>
              <a:rPr lang="ko-KR" altLang="en-US" dirty="0"/>
              <a:t>인코딩으로 변환합니다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각 뷰에 대해 가장 높은 확률을 가진 클래스의 값은 </a:t>
            </a:r>
            <a:r>
              <a:rPr lang="en-US" altLang="ko-KR" dirty="0"/>
              <a:t>1, </a:t>
            </a:r>
            <a:r>
              <a:rPr lang="ko-KR" altLang="en-US" dirty="0"/>
              <a:t>나머지는 </a:t>
            </a:r>
            <a:r>
              <a:rPr lang="en-US" altLang="ko-KR" dirty="0"/>
              <a:t>0</a:t>
            </a:r>
            <a:r>
              <a:rPr lang="ko-KR" altLang="en-US" dirty="0"/>
              <a:t>이 됩니다</a:t>
            </a:r>
            <a:r>
              <a:rPr lang="en-US" altLang="ko-KR" dirty="0"/>
              <a:t>. </a:t>
            </a:r>
            <a:r>
              <a:rPr lang="ko-KR" altLang="en-US" dirty="0"/>
              <a:t>이 과정은 각 뷰의 “최종 결정” 즉</a:t>
            </a:r>
            <a:r>
              <a:rPr lang="en-US" altLang="ko-KR" dirty="0"/>
              <a:t>, </a:t>
            </a:r>
            <a:r>
              <a:rPr lang="en" altLang="ko-KR" dirty="0"/>
              <a:t>argmax </a:t>
            </a:r>
            <a:r>
              <a:rPr lang="ko-KR" altLang="en-US" dirty="0"/>
              <a:t>정보만을 추출하는 효과를 가져옵니다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가장 높은 예측 확률을 가진 클래스 </a:t>
            </a:r>
            <a:r>
              <a:rPr lang="en" altLang="ko-KR" dirty="0"/>
              <a:t>c</a:t>
            </a:r>
            <a:r>
              <a:rPr lang="ko-KR" altLang="en-US" dirty="0" err="1"/>
              <a:t>에</a:t>
            </a:r>
            <a:r>
              <a:rPr lang="ko-KR" altLang="en-US" dirty="0"/>
              <a:t> 대해 </a:t>
            </a:r>
            <a:r>
              <a:rPr lang="en-US" altLang="ko-KR" dirty="0"/>
              <a:t>1, </a:t>
            </a:r>
            <a:r>
              <a:rPr lang="ko-KR" altLang="en-US" dirty="0"/>
              <a:t>그렇지 않은 클래스에 대해 </a:t>
            </a:r>
            <a:r>
              <a:rPr lang="en-US" altLang="ko-KR" dirty="0"/>
              <a:t>0</a:t>
            </a:r>
            <a:r>
              <a:rPr lang="ko-KR" altLang="en-US" dirty="0"/>
              <a:t>이 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선택된 신뢰할 만한 뷰들</a:t>
            </a:r>
            <a:r>
              <a:rPr lang="en-US" altLang="ko-KR" dirty="0"/>
              <a:t>(</a:t>
            </a:r>
            <a:r>
              <a:rPr lang="en" altLang="ko-KR" dirty="0"/>
              <a:t>X_{\text{</a:t>
            </a:r>
            <a:r>
              <a:rPr lang="en" altLang="ko-KR" dirty="0" err="1"/>
              <a:t>filt</a:t>
            </a:r>
            <a:r>
              <a:rPr lang="en" altLang="ko-KR" dirty="0"/>
              <a:t>}})</a:t>
            </a:r>
            <a:r>
              <a:rPr lang="ko-KR" altLang="en-US" dirty="0"/>
              <a:t>에서 나온 원</a:t>
            </a:r>
            <a:r>
              <a:rPr lang="en-US" altLang="ko-KR" dirty="0"/>
              <a:t>-</a:t>
            </a:r>
            <a:r>
              <a:rPr lang="ko-KR" altLang="en-US" dirty="0"/>
              <a:t>핫 예측들을 모두 합산</a:t>
            </a:r>
            <a:r>
              <a:rPr lang="en-US" altLang="ko-KR" dirty="0"/>
              <a:t>(</a:t>
            </a:r>
            <a:r>
              <a:rPr lang="ko-KR" altLang="en-US" dirty="0"/>
              <a:t>또는 투표</a:t>
            </a:r>
            <a:r>
              <a:rPr lang="en-US" altLang="ko-KR" dirty="0"/>
              <a:t>)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최종 예측은 이 합산 결과에서 가장 높은 값을 갖는 클래스</a:t>
            </a:r>
            <a:r>
              <a:rPr lang="en-US" altLang="ko-KR" dirty="0"/>
              <a:t>, </a:t>
            </a:r>
            <a:r>
              <a:rPr lang="ko-KR" altLang="en-US" dirty="0"/>
              <a:t>즉 다수결로 결정됩니다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I</a:t>
            </a:r>
            <a:r>
              <a:rPr kumimoji="1" lang="ko-KR" altLang="en-US" dirty="0"/>
              <a:t>는 원래 </a:t>
            </a:r>
            <a:r>
              <a:rPr kumimoji="1" lang="en-US" altLang="ko-KR" dirty="0"/>
              <a:t>1</a:t>
            </a:r>
            <a:r>
              <a:rPr kumimoji="1" lang="ko-KR" altLang="en-US" dirty="0"/>
              <a:t>로 </a:t>
            </a:r>
            <a:r>
              <a:rPr kumimoji="1" lang="en" altLang="ko-KR" dirty="0"/>
              <a:t>indicator function, whose output is 1 if xi ∈ Xfilt and 0 otherwise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DCC545-602E-6976-933F-E95229925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6448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8CE58-9F1D-4749-C11E-9E533DAA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C6AFBF-5E30-C82B-2F9C-30237CD1D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18D983-3E06-71EA-7125-D2C036F60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CBCC6C-8905-DB69-8666-DFC1FC34D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8347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1E073-425C-3BEF-852A-C4FDB0B3C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D7DE26-A84C-2B5D-27DD-5167C29FC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0A55C9-4218-1570-AD10-21B03A489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F964DB-546F-B0CD-D3C5-3A6A7B8EE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6157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95CD2-1688-0C1B-57D4-DF951838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E7C64D-E473-1F76-4070-DE0136DEF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C8D0A4-B52A-5C62-D73A-5651B63D5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976EAF-4B72-3B15-B526-E253588C7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6996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93E6-A934-C37C-8071-C5BD7C65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021FC5-1E4A-B9B4-90D3-46B6531F3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7519B0-5D8E-91F6-E75E-640D29115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1. </a:t>
            </a:r>
            <a:r>
              <a:rPr lang="ko-KR" altLang="en-US" dirty="0"/>
              <a:t>초기 관측이 미래에 </a:t>
            </a:r>
            <a:r>
              <a:rPr lang="en" altLang="ko-KR" dirty="0"/>
              <a:t>VLM</a:t>
            </a:r>
            <a:r>
              <a:rPr lang="ko-KR" altLang="en-US" dirty="0"/>
              <a:t>이나 벤치마크가 크게 바뀌면 더 이상 유효하지 않을 수 있습니다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en" altLang="ko-KR" dirty="0" err="1"/>
              <a:t>EuroSAT</a:t>
            </a:r>
            <a:r>
              <a:rPr lang="en" altLang="ko-KR" dirty="0"/>
              <a:t> zero </a:t>
            </a:r>
            <a:r>
              <a:rPr lang="ko-KR" altLang="en-US" dirty="0"/>
              <a:t>로 </a:t>
            </a:r>
            <a:r>
              <a:rPr lang="en-US" altLang="ko-KR" dirty="0"/>
              <a:t>TTA </a:t>
            </a:r>
            <a:r>
              <a:rPr lang="ko-KR" altLang="en-US" dirty="0" err="1"/>
              <a:t>했을때</a:t>
            </a:r>
            <a:r>
              <a:rPr lang="ko-KR" altLang="en-US" dirty="0"/>
              <a:t> 많이 떨어지는 걸 확인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2.</a:t>
            </a:r>
            <a:r>
              <a:rPr lang="en" altLang="ko-KR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번 식에 대해 경험적 검증은 있었으나</a:t>
            </a:r>
            <a:r>
              <a:rPr lang="en-US" altLang="ko-KR" dirty="0"/>
              <a:t>, </a:t>
            </a:r>
            <a:r>
              <a:rPr lang="ko-KR" altLang="en-US" dirty="0"/>
              <a:t>모든 모델과 데이터셋에 적용되지는 않을 수 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3.</a:t>
            </a:r>
            <a:r>
              <a:rPr lang="en" altLang="ko-KR" dirty="0"/>
              <a:t> </a:t>
            </a:r>
            <a:r>
              <a:rPr lang="ko-KR" altLang="en-US" dirty="0"/>
              <a:t>각 식 증명을 위해 각 뷰가 완전히 독립적이라고 가정하지만</a:t>
            </a:r>
            <a:r>
              <a:rPr lang="en-US" altLang="ko-KR" dirty="0"/>
              <a:t>, </a:t>
            </a:r>
            <a:r>
              <a:rPr lang="ko-KR" altLang="en-US" dirty="0"/>
              <a:t>실제로는 동일한 원본 이미지에서 생성되기 때문에 어느 정도 상호 관련성이 존재합니다</a:t>
            </a:r>
            <a:endParaRPr lang="en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4. </a:t>
            </a:r>
            <a:r>
              <a:rPr lang="en" altLang="ko-KR" dirty="0"/>
              <a:t>ZERO</a:t>
            </a:r>
            <a:r>
              <a:rPr lang="ko-KR" altLang="en-US" dirty="0"/>
              <a:t>의 시각적 분기</a:t>
            </a:r>
            <a:r>
              <a:rPr lang="en-US" altLang="ko-KR" dirty="0"/>
              <a:t>(</a:t>
            </a:r>
            <a:r>
              <a:rPr lang="en" altLang="ko-KR" dirty="0"/>
              <a:t>visual branch)</a:t>
            </a:r>
            <a:r>
              <a:rPr lang="ko-KR" altLang="en-US" dirty="0"/>
              <a:t>는 각 증강된 뷰마다 독립적으로 </a:t>
            </a:r>
            <a:r>
              <a:rPr lang="en" altLang="ko-KR" dirty="0"/>
              <a:t>forward pass</a:t>
            </a:r>
            <a:r>
              <a:rPr lang="ko-KR" altLang="en-US" dirty="0" err="1"/>
              <a:t>를</a:t>
            </a:r>
            <a:r>
              <a:rPr lang="ko-KR" altLang="en-US" dirty="0"/>
              <a:t> 진행해야 하므로</a:t>
            </a:r>
            <a:r>
              <a:rPr lang="en-US" altLang="ko-KR" dirty="0"/>
              <a:t>, </a:t>
            </a:r>
            <a:r>
              <a:rPr lang="ko-KR" altLang="en-US" dirty="0"/>
              <a:t>증강 뷰의 수가 늘어날수록 </a:t>
            </a:r>
            <a:r>
              <a:rPr lang="ko-KR" altLang="en-US" dirty="0" err="1"/>
              <a:t>계산량이</a:t>
            </a:r>
            <a:r>
              <a:rPr lang="ko-KR" altLang="en-US" dirty="0"/>
              <a:t> 선형적으로 증가합니다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이를 해결하기 위해 잠재 공간</a:t>
            </a:r>
            <a:r>
              <a:rPr lang="en-US" altLang="ko-KR" dirty="0"/>
              <a:t>(</a:t>
            </a:r>
            <a:r>
              <a:rPr lang="en" altLang="ko-KR" dirty="0"/>
              <a:t>latent space)</a:t>
            </a:r>
            <a:r>
              <a:rPr lang="ko-KR" altLang="en-US" dirty="0"/>
              <a:t>에서 직접 증강하는 방법을 모색하는 것이 흥미로운 연구 방향입니다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788DE5-3FC6-1702-B532-241FE150B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3541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9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-27384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 dirty="0">
              <a:solidFill>
                <a:schemeClr val="accent2">
                  <a:lumMod val="50000"/>
                </a:schemeClr>
              </a:solidFill>
              <a:latin typeface="Corbel" panose="020B05030202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A7C40-6EDC-5148-B154-A68DF9CCA265}"/>
              </a:ext>
            </a:extLst>
          </p:cNvPr>
          <p:cNvGrpSpPr/>
          <p:nvPr userDrawn="1"/>
        </p:nvGrpSpPr>
        <p:grpSpPr>
          <a:xfrm>
            <a:off x="3868451" y="4221088"/>
            <a:ext cx="3931282" cy="792088"/>
            <a:chOff x="827584" y="5517232"/>
            <a:chExt cx="2948461" cy="79208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2421234D-30E1-C444-9C10-442BAD6E17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517232"/>
              <a:ext cx="1734462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AD3F52-407F-FD40-997E-699FE28AF26B}"/>
                </a:ext>
              </a:extLst>
            </p:cNvPr>
            <p:cNvSpPr txBox="1"/>
            <p:nvPr userDrawn="1"/>
          </p:nvSpPr>
          <p:spPr>
            <a:xfrm>
              <a:off x="2483768" y="5704026"/>
              <a:ext cx="1292277" cy="605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40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2000"/>
                </a:lnSpc>
              </a:pPr>
              <a:r>
                <a:rPr lang="en-US" sz="18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8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413908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0C2B4-BF74-6744-A1CC-033C7E9B91ED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14BE7F3A-ED04-524F-A4F1-9F7573BCDA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B9A1C-78C6-5F47-8940-F4E741C02469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6B7E3B-6136-B440-8BB2-FBC052C1CD0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C04B6D2B-8A94-B142-BC47-E1CF62EBCB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1E585A-7FD4-7F43-A83A-8DA4DD75A304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469D99-20DF-4A42-A06A-8AAB1EA1FCF5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0" name="Picture 2" descr="숭실대학교 로고">
              <a:extLst>
                <a:ext uri="{FF2B5EF4-FFF2-40B4-BE49-F238E27FC236}">
                  <a16:creationId xmlns:a16="http://schemas.microsoft.com/office/drawing/2014/main" id="{E6BF0C0C-88A6-B645-9F2F-BE7128B9F5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558D9D-0A52-6348-964A-6E7A56A83A03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32994A-5376-864D-ABBB-D7619C927A9B}"/>
              </a:ext>
            </a:extLst>
          </p:cNvPr>
          <p:cNvGrpSpPr/>
          <p:nvPr userDrawn="1"/>
        </p:nvGrpSpPr>
        <p:grpSpPr>
          <a:xfrm>
            <a:off x="8208235" y="6016508"/>
            <a:ext cx="3515914" cy="724861"/>
            <a:chOff x="827584" y="5805264"/>
            <a:chExt cx="2178982" cy="43204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9286454C-EB5C-6C43-AD4B-59991888BE8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ECE5B-3D7C-534B-B7FF-5C3A3EF7B589}"/>
                </a:ext>
              </a:extLst>
            </p:cNvPr>
            <p:cNvSpPr txBox="1"/>
            <p:nvPr userDrawn="1"/>
          </p:nvSpPr>
          <p:spPr>
            <a:xfrm>
              <a:off x="2066198" y="5934025"/>
              <a:ext cx="940368" cy="287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6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6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6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DC9759-2D39-6342-B857-D85A2EAA1634}"/>
              </a:ext>
            </a:extLst>
          </p:cNvPr>
          <p:cNvGrpSpPr/>
          <p:nvPr userDrawn="1"/>
        </p:nvGrpSpPr>
        <p:grpSpPr>
          <a:xfrm>
            <a:off x="143339" y="6093297"/>
            <a:ext cx="3437151" cy="652853"/>
            <a:chOff x="827584" y="5805264"/>
            <a:chExt cx="2365121" cy="43204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7F25E809-A7D8-BC4B-8B0A-5D31768462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E382B-9EFD-FE4F-8462-C46BA9C4EE03}"/>
                </a:ext>
              </a:extLst>
            </p:cNvPr>
            <p:cNvSpPr txBox="1"/>
            <p:nvPr userDrawn="1"/>
          </p:nvSpPr>
          <p:spPr>
            <a:xfrm>
              <a:off x="2066198" y="5918441"/>
              <a:ext cx="1126507" cy="315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2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4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4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85C3FF-8E9C-4D4F-906C-EC39755DF58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9" name="Picture 2" descr="숭실대학교 로고">
              <a:extLst>
                <a:ext uri="{FF2B5EF4-FFF2-40B4-BE49-F238E27FC236}">
                  <a16:creationId xmlns:a16="http://schemas.microsoft.com/office/drawing/2014/main" id="{C615A142-2D92-D04F-8E99-9AA21DD445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06131-78BB-6544-8972-DB41BB2696EE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F1A320-D0BB-9B49-87FF-5D14B0314E6C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C535D48B-8EC0-3C4C-91D5-206A80EFBA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F3B131-E1C6-8C44-A2AE-8FBAE278ED45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49522-1E40-0049-A66A-5CFF68A0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25" y="1904304"/>
            <a:ext cx="10847683" cy="12961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Frustratingly Easy Test-Time Adaptation of </a:t>
            </a:r>
            <a:br>
              <a:rPr lang="en-US" b="1" dirty="0">
                <a:cs typeface="Times New Roman" panose="02020603050405020304" pitchFamily="18" charset="0"/>
              </a:rPr>
            </a:br>
            <a:r>
              <a:rPr lang="en-US" b="1" dirty="0">
                <a:cs typeface="Times New Roman" panose="02020603050405020304" pitchFamily="18" charset="0"/>
              </a:rPr>
              <a:t>Vision-Language Models</a:t>
            </a:r>
            <a:endParaRPr lang="en-KR" b="1" dirty="0">
              <a:cs typeface="Times New Roman" panose="02020603050405020304" pitchFamily="18" charset="0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3B9364B0-10F8-B7A0-4642-F25293BD8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819" y="3573016"/>
            <a:ext cx="5400363" cy="541736"/>
          </a:xfrm>
        </p:spPr>
        <p:txBody>
          <a:bodyPr/>
          <a:lstStyle/>
          <a:p>
            <a:r>
              <a:rPr lang="en-US" altLang="ko-KR" dirty="0" err="1"/>
              <a:t>Hyunoh</a:t>
            </a:r>
            <a:r>
              <a:rPr lang="en-US" altLang="ko-KR" dirty="0"/>
              <a:t> Kang</a:t>
            </a:r>
            <a:endParaRPr lang="ko-KR" alt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1D96A54-999D-9330-32FF-E828B9716FCE}"/>
              </a:ext>
            </a:extLst>
          </p:cNvPr>
          <p:cNvSpPr txBox="1">
            <a:spLocks/>
          </p:cNvSpPr>
          <p:nvPr/>
        </p:nvSpPr>
        <p:spPr>
          <a:xfrm>
            <a:off x="720925" y="3081489"/>
            <a:ext cx="1084768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000" kern="12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en-US" sz="2000" dirty="0" err="1">
                <a:cs typeface="Times New Roman" panose="02020603050405020304" pitchFamily="18" charset="0"/>
              </a:rPr>
              <a:t>NeurIPS</a:t>
            </a:r>
            <a:r>
              <a:rPr lang="en-US" sz="2000" dirty="0">
                <a:cs typeface="Times New Roman" panose="02020603050405020304" pitchFamily="18" charset="0"/>
              </a:rPr>
              <a:t> 2024 / 5 citations</a:t>
            </a:r>
            <a:endParaRPr lang="en-KR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8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3D9A593-FB0A-6691-35B2-30C991A8C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</a:p>
          <a:p>
            <a:pPr lvl="1"/>
            <a:r>
              <a:rPr kumimoji="1" lang="en-US" altLang="ko-KR" dirty="0"/>
              <a:t>Domain Adaptation</a:t>
            </a:r>
          </a:p>
          <a:p>
            <a:pPr lvl="1"/>
            <a:r>
              <a:rPr kumimoji="1" lang="en-US" altLang="ko-KR" dirty="0"/>
              <a:t>Test-Time Adaptation</a:t>
            </a:r>
          </a:p>
          <a:p>
            <a:pPr lvl="1"/>
            <a:r>
              <a:rPr kumimoji="1" lang="en-US" altLang="ko-KR" dirty="0"/>
              <a:t>Marginal Entropy Loss</a:t>
            </a:r>
          </a:p>
          <a:p>
            <a:r>
              <a:rPr kumimoji="1" lang="en-US" altLang="ko-KR" dirty="0"/>
              <a:t>Methods</a:t>
            </a:r>
          </a:p>
          <a:p>
            <a:r>
              <a:rPr kumimoji="1" lang="en-US" altLang="ko-KR" dirty="0"/>
              <a:t>Experiments</a:t>
            </a:r>
          </a:p>
          <a:p>
            <a:r>
              <a:rPr kumimoji="1" lang="en-US" altLang="ko-KR" dirty="0"/>
              <a:t>Limitations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2BB53AF-37B3-BDFD-6582-BD675C54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937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E1B785F-693A-1A31-3BCC-FB2C977C7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Domain Adaptation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6A7AB79-4BD6-8401-7884-C2460B66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6E4033-7C93-EBBA-2610-CC86AA4A4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19" y="1916832"/>
            <a:ext cx="10729362" cy="3919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C715B2-46FD-6EEB-F2DE-249071C21E68}"/>
              </a:ext>
            </a:extLst>
          </p:cNvPr>
          <p:cNvSpPr txBox="1"/>
          <p:nvPr/>
        </p:nvSpPr>
        <p:spPr>
          <a:xfrm>
            <a:off x="3778195" y="6448124"/>
            <a:ext cx="4635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DMQA: Introduction to Universal Domain Adaptation</a:t>
            </a:r>
            <a:endParaRPr kumimoji="1" lang="ko-KR" altLang="en-US" sz="1000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28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9462-5A31-54CD-5ED2-15E2001C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2AF16E9-3CC8-2F18-6461-3B7E72648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Domain Adaptation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3D4166-275D-0CD1-EFFA-A8C6D5C4F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6B0F44-FDFE-3D68-53EA-105A47156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0600" y="1988840"/>
            <a:ext cx="10550799" cy="39192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74D6E7-8905-9127-7B83-7A9146374B29}"/>
              </a:ext>
            </a:extLst>
          </p:cNvPr>
          <p:cNvSpPr txBox="1"/>
          <p:nvPr/>
        </p:nvSpPr>
        <p:spPr>
          <a:xfrm>
            <a:off x="6091238" y="4365104"/>
            <a:ext cx="2410172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Corbel" panose="020B0503020204020204" pitchFamily="34" charset="0"/>
              </a:rPr>
              <a:t>Source</a:t>
            </a:r>
            <a:r>
              <a:rPr lang="ko-KR" altLang="en-US" sz="1600" dirty="0">
                <a:latin typeface="Corbel" panose="020B0503020204020204" pitchFamily="34" charset="0"/>
              </a:rPr>
              <a:t> and </a:t>
            </a:r>
            <a:r>
              <a:rPr lang="ko-KR" altLang="en-US" sz="1600" dirty="0" err="1">
                <a:latin typeface="Corbel" panose="020B0503020204020204" pitchFamily="34" charset="0"/>
              </a:rPr>
              <a:t>target</a:t>
            </a:r>
            <a:r>
              <a:rPr lang="ko-KR" altLang="en-US" sz="1600" dirty="0">
                <a:latin typeface="Corbel" panose="020B0503020204020204" pitchFamily="34" charset="0"/>
              </a:rPr>
              <a:t> </a:t>
            </a:r>
            <a:r>
              <a:rPr lang="ko-KR" altLang="en-US" sz="1600" dirty="0" err="1">
                <a:latin typeface="Corbel" panose="020B0503020204020204" pitchFamily="34" charset="0"/>
              </a:rPr>
              <a:t>data</a:t>
            </a:r>
            <a:r>
              <a:rPr lang="ko-KR" altLang="en-US" sz="1600" dirty="0">
                <a:latin typeface="Corbel" panose="020B0503020204020204" pitchFamily="34" charset="0"/>
              </a:rPr>
              <a:t> </a:t>
            </a:r>
            <a:endParaRPr lang="en-US" altLang="ko-KR" sz="1600" dirty="0">
              <a:latin typeface="Corbel" panose="020B0503020204020204" pitchFamily="34" charset="0"/>
            </a:endParaRPr>
          </a:p>
          <a:p>
            <a:pPr algn="ctr"/>
            <a:r>
              <a:rPr lang="ko-KR" altLang="en-US" sz="1600" dirty="0" err="1">
                <a:latin typeface="Corbel" panose="020B0503020204020204" pitchFamily="34" charset="0"/>
              </a:rPr>
              <a:t>have</a:t>
            </a:r>
            <a:r>
              <a:rPr lang="ko-KR" altLang="en-US" sz="1600" dirty="0">
                <a:latin typeface="Corbel" panose="020B0503020204020204" pitchFamily="34" charset="0"/>
              </a:rPr>
              <a:t> </a:t>
            </a:r>
            <a:r>
              <a:rPr lang="ko-KR" altLang="en-US" sz="1600" b="1" dirty="0" err="1">
                <a:solidFill>
                  <a:srgbClr val="FF0000"/>
                </a:solidFill>
                <a:latin typeface="Corbel" panose="020B0503020204020204" pitchFamily="34" charset="0"/>
              </a:rPr>
              <a:t>different</a:t>
            </a:r>
            <a:r>
              <a:rPr lang="ko-KR" altLang="en-US" sz="1600" b="1" dirty="0">
                <a:solidFill>
                  <a:srgbClr val="FF0000"/>
                </a:solidFill>
                <a:latin typeface="Corbel" panose="020B0503020204020204" pitchFamily="34" charset="0"/>
              </a:rPr>
              <a:t> </a:t>
            </a:r>
            <a:r>
              <a:rPr lang="ko-KR" altLang="en-US" sz="1600" b="1" dirty="0" err="1">
                <a:solidFill>
                  <a:srgbClr val="FF0000"/>
                </a:solidFill>
                <a:latin typeface="Corbel" panose="020B0503020204020204" pitchFamily="34" charset="0"/>
              </a:rPr>
              <a:t>distributions</a:t>
            </a:r>
            <a:endParaRPr lang="ko-KR" altLang="en-US" sz="1600" b="1" dirty="0">
              <a:solidFill>
                <a:srgbClr val="FF0000"/>
              </a:solidFill>
              <a:latin typeface="Corbel" panose="020B05030202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E0E0C9-E70D-F94C-F645-3AD79293C3EA}"/>
              </a:ext>
            </a:extLst>
          </p:cNvPr>
          <p:cNvSpPr txBox="1"/>
          <p:nvPr/>
        </p:nvSpPr>
        <p:spPr>
          <a:xfrm>
            <a:off x="3778195" y="6448124"/>
            <a:ext cx="4635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DMQA: Introduction to Universal Domain Adaptation</a:t>
            </a:r>
            <a:endParaRPr kumimoji="1" lang="ko-KR" altLang="en-US" sz="1000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21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8B9A-A988-4AA6-862B-4ADB5A43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06A2883-D987-44BC-ECCD-C22885F8E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Domain Adaptation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D386EDB-4FC3-A95C-510E-D886200C6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71AC3B-C011-2D28-A9E8-CC63A6F65A60}"/>
              </a:ext>
            </a:extLst>
          </p:cNvPr>
          <p:cNvSpPr txBox="1"/>
          <p:nvPr/>
        </p:nvSpPr>
        <p:spPr>
          <a:xfrm>
            <a:off x="3778195" y="6448124"/>
            <a:ext cx="4635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[</a:t>
            </a:r>
            <a:r>
              <a:rPr kumimoji="1" lang="ko-KR" altLang="en-US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논문 리뷰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]</a:t>
            </a:r>
            <a:r>
              <a:rPr kumimoji="1" lang="ko-KR" altLang="en-US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Domain Adaptation</a:t>
            </a:r>
            <a:endParaRPr kumimoji="1" lang="ko-KR" altLang="en-US" sz="1000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0FC2A15-93EC-7037-3B51-5D38E1B0C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528" y="1843744"/>
            <a:ext cx="7256890" cy="436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53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35617-EF81-F8C3-2AF3-E10D505A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9CE5E0B-F849-5CF1-6CE4-C13B87B1B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Test-Time Adaptation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7BBA20-2D32-21BB-8C3C-25678676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68E8B-294A-6DFC-5ED5-1EE9B02A71F3}"/>
              </a:ext>
            </a:extLst>
          </p:cNvPr>
          <p:cNvSpPr txBox="1"/>
          <p:nvPr/>
        </p:nvSpPr>
        <p:spPr>
          <a:xfrm>
            <a:off x="3778195" y="6448124"/>
            <a:ext cx="4635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Beyond Model Adaptation at Test Time: A Survey</a:t>
            </a:r>
            <a:endParaRPr kumimoji="1" lang="ko-KR" altLang="en-US" sz="1000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0A6517-C66D-FC19-52D0-0177D869E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08" y="2441448"/>
            <a:ext cx="11463784" cy="235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3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B228-76EE-2A2B-178B-00176C25F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48B6151-5C18-C1E6-EACA-A90EEB01C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Test-Time Adaptation</a:t>
            </a:r>
          </a:p>
          <a:p>
            <a:pPr lvl="1"/>
            <a:r>
              <a:rPr kumimoji="1" lang="en-US" altLang="ko-KR" dirty="0"/>
              <a:t>Categories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065C9D-FA4C-E9BE-8D25-153254A3D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F7A9C-8950-81ED-EB13-B856922E3A03}"/>
              </a:ext>
            </a:extLst>
          </p:cNvPr>
          <p:cNvSpPr txBox="1"/>
          <p:nvPr/>
        </p:nvSpPr>
        <p:spPr>
          <a:xfrm>
            <a:off x="3778195" y="6448124"/>
            <a:ext cx="4635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Beyond Model Adaptation at Test Time: A Survey</a:t>
            </a:r>
            <a:endParaRPr kumimoji="1" lang="ko-KR" altLang="en-US" sz="1000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4FB274-FDAC-CD96-46A6-599617FB2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0" y="2321062"/>
            <a:ext cx="8656320" cy="375651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41E6C04-3CC8-106E-C350-F3CB9FB213BA}"/>
              </a:ext>
            </a:extLst>
          </p:cNvPr>
          <p:cNvSpPr/>
          <p:nvPr/>
        </p:nvSpPr>
        <p:spPr>
          <a:xfrm>
            <a:off x="1844298" y="2983424"/>
            <a:ext cx="1472339" cy="216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8396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057F4-F3B7-05E0-D436-A633DAD0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607BECC-5E0C-4BC1-DF72-E8E100691B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Marginal Entropy Minimization</a:t>
                </a:r>
              </a:p>
              <a:p>
                <a:pPr marL="0" indent="0">
                  <a:buNone/>
                </a:pPr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US" altLang="ko-K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𝑒𝑛𝑡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acc>
                            <m:accPr>
                              <m:chr m:val="̅"/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ctrlP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kumimoji="1" lang="en-US" altLang="ko-KR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acc>
                            <m:accPr>
                              <m:chr m:val="̅"/>
                              <m:ctrlP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607BECC-5E0C-4BC1-DF72-E8E100691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b="-116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3D64FE61-8942-583D-E6BA-380DA286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0582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E253-85F2-EF0D-C68E-1199CFD0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B2A838-7979-542D-CB36-44E05C49D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Marginal Entropy Minimization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857250" lvl="1" indent="-457200">
              <a:buFont typeface="+mj-lt"/>
              <a:buAutoNum type="arabicPeriod"/>
            </a:pPr>
            <a:r>
              <a:rPr kumimoji="1" lang="en-US" altLang="ko-KR" i="1" dirty="0"/>
              <a:t>How does MEM affect the marginal probability distribution?</a:t>
            </a:r>
          </a:p>
          <a:p>
            <a:pPr marL="857250" lvl="1" indent="-457200">
              <a:buFont typeface="+mj-lt"/>
              <a:buAutoNum type="arabicPeriod"/>
            </a:pPr>
            <a:r>
              <a:rPr kumimoji="1" lang="en-US" altLang="ko-KR" i="1" dirty="0"/>
              <a:t>How does the marginal probability distribution relate to the standard inference protocol?</a:t>
            </a:r>
          </a:p>
          <a:p>
            <a:pPr marL="857250" lvl="1" indent="-457200">
              <a:buFont typeface="+mj-lt"/>
              <a:buAutoNum type="arabicPeriod"/>
            </a:pPr>
            <a:endParaRPr kumimoji="1" lang="en-US" altLang="ko-KR" i="1" dirty="0"/>
          </a:p>
          <a:p>
            <a:pPr marL="857250" lvl="1" indent="-457200">
              <a:buFont typeface="Wingdings" pitchFamily="2" charset="2"/>
              <a:buChar char="Ø"/>
            </a:pPr>
            <a:r>
              <a:rPr kumimoji="1" lang="en-US" altLang="ko-KR" dirty="0"/>
              <a:t>Firstly, let`s look at Test-Time Prompt Tuning (TPT)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14017D-EE8A-4F7C-4097-5BA0E0B8E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8427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E0566-6B1A-C555-BF4B-D310887D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FE06C9F-7FFE-A23A-7D5F-1CD84BFB4C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ko-KR" dirty="0"/>
                  <a:t>Zero-Shot Classification with VLMs</a:t>
                </a:r>
              </a:p>
              <a:p>
                <a:pPr lvl="1"/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𝑡𝑥𝑡</m:t>
                        </m:r>
                      </m:sub>
                    </m:sSub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→ </m:t>
                    </m:r>
                    <m:sSubSup>
                      <m:sSubSup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𝑡𝑥𝑡</m:t>
                        </m:r>
                      </m:sup>
                    </m:sSubSup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𝑡𝑥𝑡</m:t>
                        </m:r>
                      </m:sup>
                    </m:sSubSup>
                  </m:oMath>
                </a14:m>
                <a:endParaRPr kumimoji="1" lang="en-US" altLang="ko-KR" dirty="0"/>
              </a:p>
              <a:p>
                <a:pPr lvl="2"/>
                <a:r>
                  <a:rPr kumimoji="1" lang="en-US" altLang="ko-KR" dirty="0"/>
                  <a:t>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𝑐𝑡𝑥</m:t>
                        </m:r>
                      </m:sub>
                    </m:sSub>
                  </m:oMath>
                </a14:m>
                <a:r>
                  <a:rPr kumimoji="1" lang="en-US" altLang="ko-KR" dirty="0"/>
                  <a:t> = “a photo of a”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𝑖𝑚𝑔</m:t>
                        </m:r>
                      </m:sub>
                    </m:sSub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𝑎𝑟𝑔𝑚𝑎𝑥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kumimoji="1" lang="en-US" altLang="ko-KR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⁡_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𝑠𝑖𝑚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𝑖𝑚𝑔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,   </m:t>
                    </m:r>
                    <m:sSubSup>
                      <m:sSubSup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𝑡𝑥𝑡</m:t>
                        </m:r>
                      </m:sup>
                    </m:sSub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1600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FE06C9F-7FFE-A23A-7D5F-1CD84BFB4C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A289296C-5828-99B5-8F1A-3950B01B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F38B3E-7630-CA68-0838-379B4EE1CF1F}"/>
                  </a:ext>
                </a:extLst>
              </p:cNvPr>
              <p:cNvSpPr txBox="1"/>
              <p:nvPr/>
            </p:nvSpPr>
            <p:spPr>
              <a:xfrm>
                <a:off x="-846667" y="3911600"/>
                <a:ext cx="60960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2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ko-KR" sz="12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ko-KR" sz="120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F38B3E-7630-CA68-0838-379B4EE1C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67" y="3911600"/>
                <a:ext cx="609600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615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AFBD2-E02E-4741-2317-704CF481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E22F1DC6-2B33-B6B7-CEBE-D41C2B5424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ko-KR" dirty="0"/>
                  <a:t>MEM for VLMs</a:t>
                </a:r>
              </a:p>
              <a:p>
                <a:pPr lvl="1"/>
                <a:r>
                  <a:rPr kumimoji="1" lang="en-US" altLang="ko-KR" dirty="0"/>
                  <a:t>Pioneered by MEMO, MEM was repurposed for TTA with VLMs by Test-Time Prompt Tuning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𝑒𝑛𝑡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𝑐𝑡𝑥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acc>
                            <m:accPr>
                              <m:chr m:val="̅"/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𝑐𝑡𝑥</m:t>
                                  </m:r>
                                </m:sub>
                              </m:sSub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func>
                            <m:func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e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ko-KR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i="1" dirty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i="1" dirty="0">
                                              <a:latin typeface="Cambria Math" panose="02040503050406030204" pitchFamily="18" charset="0"/>
                                            </a:rPr>
                                            <m:t>𝑐𝑡𝑥</m:t>
                                          </m:r>
                                        </m:sub>
                                      </m:sSub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kumimoji="1" lang="en-US" altLang="ko-K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d>
                        <m:dPr>
                          <m:ctrlP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e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𝑐𝑡𝑥</m:t>
                              </m:r>
                            </m:sub>
                          </m:sSub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kumimoji="1"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en-US" altLang="ko-KR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Sup>
                                <m:sSubSupPr>
                                  <m:ctrlP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𝑖𝑚𝑔</m:t>
                                  </m:r>
                                </m:sup>
                              </m:sSubSup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Sup>
                                <m:sSubSupPr>
                                  <m:ctrlP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𝑡𝑥𝑡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𝑐𝑡𝑥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kumimoji="1"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dirty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sSubSup>
                                    <m:sSubSupPr>
                                      <m:ctrlP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𝑖𝑚𝑔</m:t>
                                      </m:r>
                                    </m:sup>
                                  </m:sSubSup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Sup>
                                    <m:sSubSupPr>
                                      <m:ctrlP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kumimoji="1" lang="en-US" altLang="ko-KR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  <m:t>𝑡𝑥𝑡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kumimoji="1" lang="en-US" altLang="ko-KR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i="1" dirty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i="1" dirty="0">
                                              <a:latin typeface="Cambria Math" panose="02040503050406030204" pitchFamily="18" charset="0"/>
                                            </a:rPr>
                                            <m:t>𝑐𝑡𝑥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Optimize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ko-KR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𝑐𝑡</m:t>
                        </m:r>
                        <m:r>
                          <a:rPr kumimoji="1" lang="en-US" altLang="ko-KR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kumimoji="1" lang="en-US" altLang="ko-KR" dirty="0"/>
              </a:p>
              <a:p>
                <a:pPr lvl="1"/>
                <a:endParaRPr kumimoji="1" lang="en-US" altLang="ko-KR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E22F1DC6-2B33-B6B7-CEBE-D41C2B5424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t="-1592" b="-9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B7A0C7BD-7EE4-9027-A551-E7ED2A97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9810E-7FEB-8A7D-9E32-F79612727FF9}"/>
              </a:ext>
            </a:extLst>
          </p:cNvPr>
          <p:cNvSpPr txBox="1"/>
          <p:nvPr/>
        </p:nvSpPr>
        <p:spPr>
          <a:xfrm>
            <a:off x="3778195" y="6292059"/>
            <a:ext cx="46356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MEMO: Test Time Robustness via Adaptation and Augmentation</a:t>
            </a:r>
          </a:p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Test-Time Prompt Tuning for Zero-Shot Generalization in Vision-Language Models</a:t>
            </a:r>
          </a:p>
          <a:p>
            <a:pPr algn="ctr"/>
            <a:endParaRPr kumimoji="1" lang="ko-KR" altLang="en-US" sz="1000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365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B50F5-C022-7AEA-C32F-83E08A3E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312ECDF-E29B-5F7C-599B-1CF14543A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Marginal Entropy Minimization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857250" lvl="1" indent="-457200">
              <a:buFont typeface="+mj-lt"/>
              <a:buAutoNum type="arabicPeriod"/>
            </a:pPr>
            <a:r>
              <a:rPr kumimoji="1" lang="en-US" altLang="ko-KR" i="1" dirty="0"/>
              <a:t>How does MEM affect the marginal probability distribution?</a:t>
            </a:r>
          </a:p>
          <a:p>
            <a:pPr marL="857250" lvl="1" indent="-457200">
              <a:buFont typeface="+mj-lt"/>
              <a:buAutoNum type="arabicPeriod"/>
            </a:pPr>
            <a:r>
              <a:rPr kumimoji="1" lang="en-US" altLang="ko-KR" i="1" dirty="0">
                <a:solidFill>
                  <a:schemeClr val="bg1">
                    <a:lumMod val="65000"/>
                  </a:schemeClr>
                </a:solidFill>
              </a:rPr>
              <a:t>How does the marginal probability distribution relate to the standard inference protocol?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B99CE9-857E-F3FA-1474-7B69CA2B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967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E18C1-300F-A063-737F-795F8DC0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A12DAD87-B61A-E50F-4D8F-BDAE858446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MEM affect the marginal probability distribution?</a:t>
                </a:r>
              </a:p>
              <a:p>
                <a:pPr lvl="1"/>
                <a:r>
                  <a:rPr kumimoji="1" lang="en-US" altLang="ko-KR" dirty="0"/>
                  <a:t>Minimizing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𝑒𝑛𝑡</m:t>
                        </m:r>
                      </m:sub>
                    </m:sSub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/>
                  <a:t> Enhancing robustness</a:t>
                </a:r>
              </a:p>
              <a:p>
                <a:pPr lvl="1"/>
                <a:r>
                  <a:rPr kumimoji="1" lang="en-US" altLang="ko-KR" dirty="0"/>
                  <a:t>However, the impact of this process 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kumimoji="1" lang="en-US" altLang="ko-KR" dirty="0"/>
                  <a:t> remains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unclear</a:t>
                </a:r>
                <a:r>
                  <a:rPr kumimoji="1" lang="en-US" altLang="ko-KR" dirty="0"/>
                  <a:t>.</a:t>
                </a:r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Start with hypothesis:</a:t>
                </a:r>
              </a:p>
              <a:p>
                <a:pPr lvl="2"/>
                <a:r>
                  <a:rPr kumimoji="1" lang="en-US" altLang="ko-KR" dirty="0"/>
                  <a:t>Minimizing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𝑒𝑛𝑡</m:t>
                        </m:r>
                      </m:sub>
                    </m:sSub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/>
                  <a:t> Increasing the probability of the most probable class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·</m:t>
                        </m:r>
                      </m:e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ko-KR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̅"/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argmax</m:t>
                        </m:r>
                        <m: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ko-KR" b="0" i="0" dirty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</m:acc>
                        <m:d>
                          <m:d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𝑐𝑡𝑥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kumimoji="1" lang="en-US" altLang="ko-KR" dirty="0"/>
              </a:p>
              <a:p>
                <a:pPr lvl="2"/>
                <a:endParaRPr kumimoji="1" lang="en-US" altLang="ko-KR" dirty="0"/>
              </a:p>
              <a:p>
                <a:pPr lvl="2"/>
                <a:r>
                  <a:rPr kumimoji="1" lang="en-US" altLang="ko-KR" dirty="0"/>
                  <a:t>If this hypothesis is realized,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argmax</m:t>
                    </m:r>
                    <m: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</m:e>
                    </m:d>
                    <m:r>
                      <a:rPr kumimoji="1" lang="en-US" altLang="ko-KR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dirty="0">
                        <a:latin typeface="Cambria Math" panose="02040503050406030204" pitchFamily="18" charset="0"/>
                      </a:rPr>
                      <m:t>argmax</m:t>
                    </m:r>
                    <m:r>
                      <a:rPr kumimoji="1" lang="en-US" altLang="ko-KR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kumimoji="1" lang="en-US" altLang="ko-KR" dirty="0"/>
              </a:p>
              <a:p>
                <a:pPr lvl="2"/>
                <a:endParaRPr kumimoji="1" lang="en-US" altLang="ko-KR" dirty="0"/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kumimoji="1" lang="en-US" altLang="ko-KR" dirty="0"/>
                  <a:t> is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𝑖𝑛𝑣𝑎𝑟𝑖𝑎𝑛𝑡</m:t>
                    </m:r>
                  </m:oMath>
                </a14:m>
                <a:r>
                  <a:rPr kumimoji="1" lang="en-US" altLang="ko-KR" dirty="0"/>
                  <a:t> to Entropy Minimization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A12DAD87-B61A-E50F-4D8F-BDAE858446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26FF7B4E-3236-2CE9-2570-9FCDD24A4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11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9521-6703-6632-C410-FC66C32F7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C9CFC08-F42D-41AE-4EC5-BFAF9C581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8872" y="1304925"/>
            <a:ext cx="7154256" cy="477202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9C460774-7860-2ECE-0C29-E8121DE4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948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653F-2FBF-57EA-469A-7FD89243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194F017-6506-8462-FD1A-7328256C6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8872" y="1304925"/>
            <a:ext cx="7154256" cy="477202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AE31F755-1734-5E03-0368-D9E28069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3590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7836E-57B8-E997-BA02-40369B0D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0417BFA9-E0BC-D717-6B62-FB8684D20B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MEM affect the marginal probability distribution?</a:t>
                </a:r>
              </a:p>
              <a:p>
                <a:pPr lvl="1"/>
                <a:r>
                  <a:rPr kumimoji="1" lang="en-US" altLang="ko-KR" dirty="0"/>
                  <a:t>Start with hypothesis: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kumimoji="1" lang="en-US" altLang="ko-KR" dirty="0"/>
                  <a:t> is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𝑖𝑛𝑣𝑎𝑟𝑖𝑎𝑛𝑡</m:t>
                    </m:r>
                  </m:oMath>
                </a14:m>
                <a:r>
                  <a:rPr kumimoji="1" lang="en-US" altLang="ko-KR" dirty="0"/>
                  <a:t> to Entropy Minimization</a:t>
                </a:r>
              </a:p>
              <a:p>
                <a:pPr lvl="2"/>
                <a:endParaRPr kumimoji="1" lang="en-US" altLang="ko-KR" dirty="0"/>
              </a:p>
              <a:p>
                <a:pPr lvl="2"/>
                <a:r>
                  <a:rPr kumimoji="1" lang="en-US" altLang="ko-KR" dirty="0"/>
                  <a:t>Definition: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𝑖𝑚𝑔</m:t>
                            </m:r>
                          </m:sup>
                        </m:s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𝑡𝑥𝑡</m:t>
                            </m:r>
                          </m:sup>
                        </m:sSub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𝑡𝑥𝑡</m:t>
                            </m:r>
                          </m:sup>
                        </m:sSubSup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b="0" i="0" dirty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𝑖𝑚𝑔</m:t>
                                    </m:r>
                                  </m:sup>
                                </m:sSup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Sup>
                                  <m:sSubSupPr>
                                    <m:ctrlP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𝑡𝑥𝑡</m:t>
                                    </m:r>
                                  </m:sup>
                                </m:sSubSup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𝑖𝑚𝑔</m:t>
                                </m:r>
                              </m:sup>
                            </m:s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Sup>
                              <m:sSubSup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𝑡𝑥𝑡</m:t>
                                </m:r>
                              </m:sup>
                            </m:sSub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kumimoji="1"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𝑖𝑚𝑔</m:t>
                            </m:r>
                          </m:sup>
                        </m:sSup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𝑖𝑚𝑔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𝑡𝑥𝑡</m:t>
                            </m:r>
                          </m:sup>
                        </m:sSub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𝑡𝑥𝑡</m:t>
                            </m:r>
                          </m:sup>
                        </m:sSub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𝑖𝑚𝑔</m:t>
                            </m:r>
                          </m:sup>
                        </m:s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𝑡𝑥𝑡</m:t>
                            </m:r>
                          </m:sup>
                        </m:sSubSup>
                        <m:d>
                          <m:d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𝑐𝑡𝑥</m:t>
                                </m:r>
                              </m:sub>
                              <m:sup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𝑡𝑥𝑡</m:t>
                            </m:r>
                          </m:sup>
                        </m:sSubSup>
                        <m:d>
                          <m:d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𝑐𝑡𝑥</m:t>
                                </m:r>
                              </m:sub>
                              <m:sup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kumimoji="1" lang="en-US" altLang="ko-KR" dirty="0"/>
              </a:p>
              <a:p>
                <a:pPr lvl="2"/>
                <a:endParaRPr kumimoji="1" lang="en-US" altLang="ko-KR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0417BFA9-E0BC-D717-6B62-FB8684D20B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3840CC89-3CB6-C652-24E9-C395F73F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8759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74B3D-3DA5-3DD6-3D4E-95FB0CC5A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BB57A242-BB08-C221-91BF-37C84CBCC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MEM affect the marginal probability distribution?</a:t>
                </a:r>
              </a:p>
              <a:p>
                <a:pPr lvl="1"/>
                <a:r>
                  <a:rPr kumimoji="1" lang="en-US" altLang="ko-KR" dirty="0"/>
                  <a:t>proposition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𝑚𝑖𝑛𝑖𝑚𝑖𝑧𝑒𝑑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&amp;&amp; </m:t>
                    </m:r>
                    <m:acc>
                      <m:accPr>
                        <m:chr m:val="̅"/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𝑖𝑚𝑔</m:t>
                                </m:r>
                              </m:sup>
                            </m:sSubSup>
                          </m:e>
                        </m:d>
                      </m:e>
                    </m:nary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̅"/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r>
                      <m:rPr>
                        <m:nor/>
                      </m:rPr>
                      <a:rPr kumimoji="1" lang="en-US" altLang="ko-KR" dirty="0"/>
                      <m:t> </m:t>
                    </m:r>
                    <m:r>
                      <m:rPr>
                        <m:nor/>
                      </m:rPr>
                      <a:rPr kumimoji="1" lang="en-US" altLang="ko-KR" dirty="0"/>
                      <m:t>is</m:t>
                    </m:r>
                    <m:r>
                      <m:rPr>
                        <m:nor/>
                      </m:rPr>
                      <a:rPr kumimoji="1" lang="en-US" altLang="ko-KR" dirty="0"/>
                      <m:t> </m:t>
                    </m:r>
                    <m:r>
                      <a:rPr kumimoji="1"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𝑖𝑛𝑣𝑎𝑟𝑖𝑎𝑛𝑡</m:t>
                    </m:r>
                    <m:r>
                      <m:rPr>
                        <m:nor/>
                      </m:rPr>
                      <a:rPr kumimoji="1" lang="en-US" altLang="ko-KR" dirty="0"/>
                      <m:t> </m:t>
                    </m:r>
                    <m:r>
                      <m:rPr>
                        <m:nor/>
                      </m:rPr>
                      <a:rPr kumimoji="1" lang="en-US" altLang="ko-KR" dirty="0"/>
                      <m:t>to</m:t>
                    </m:r>
                    <m:r>
                      <m:rPr>
                        <m:nor/>
                      </m:rPr>
                      <a:rPr kumimoji="1" lang="en-US" altLang="ko-KR" b="0" i="0" dirty="0" smtClean="0"/>
                      <m:t> </m:t>
                    </m:r>
                    <m:r>
                      <m:rPr>
                        <m:nor/>
                      </m:rPr>
                      <a:rPr kumimoji="1" lang="en-US" altLang="ko-KR" b="0" i="0" dirty="0" smtClean="0"/>
                      <m:t>MEM</m:t>
                    </m:r>
                  </m:oMath>
                </a14:m>
                <a:endParaRPr kumimoji="1" lang="en-US" altLang="ko-KR" dirty="0"/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argmax</m:t>
                    </m:r>
                    <m: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</m:e>
                    </m:d>
                    <m:r>
                      <a:rPr kumimoji="1" lang="en-US" altLang="ko-KR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dirty="0">
                        <a:latin typeface="Cambria Math" panose="02040503050406030204" pitchFamily="18" charset="0"/>
                      </a:rPr>
                      <m:t>argmax</m:t>
                    </m:r>
                    <m:r>
                      <a:rPr kumimoji="1" lang="en-US" altLang="ko-KR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kumimoji="1" lang="en-US" altLang="ko-KR" dirty="0"/>
              </a:p>
              <a:p>
                <a:pPr lvl="2">
                  <a:buFont typeface="Wingdings" pitchFamily="2" charset="2"/>
                  <a:buChar char="Ø"/>
                </a:pPr>
                <a:endParaRPr kumimoji="1" lang="en-US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BB57A242-BB08-C221-91BF-37C84CBCC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817CA9B7-8D4B-FF7C-5581-E28751D51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5949B8-BAE5-5975-40F4-7849E6ECE570}"/>
                  </a:ext>
                </a:extLst>
              </p:cNvPr>
              <p:cNvSpPr txBox="1"/>
              <p:nvPr/>
            </p:nvSpPr>
            <p:spPr>
              <a:xfrm>
                <a:off x="3778195" y="6448124"/>
                <a:ext cx="46356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 err="1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Apendix</a:t>
                </a:r>
                <a:r>
                  <a:rPr kumimoji="1" lang="en-US" altLang="ko-KR" sz="1000" dirty="0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 A: Marginal Entropy Minimization does not influence </a:t>
                </a:r>
                <a:r>
                  <a:rPr kumimoji="1" lang="en-US" altLang="ko-KR" sz="1000" dirty="0" err="1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arg</a:t>
                </a:r>
                <a:r>
                  <a:rPr kumimoji="1" lang="en-US" altLang="ko-KR" sz="1000" dirty="0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 max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orbel" panose="020B0503020204020204" pitchFamily="3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orbel" panose="020B0503020204020204" pitchFamily="34" charset="0"/>
                          </a:rPr>
                          <m:t>p</m:t>
                        </m:r>
                      </m:e>
                    </m:acc>
                  </m:oMath>
                </a14:m>
                <a:endParaRPr kumimoji="1" lang="ko-KR" altLang="en-US" sz="1000" dirty="0">
                  <a:solidFill>
                    <a:schemeClr val="bg1">
                      <a:lumMod val="65000"/>
                    </a:schemeClr>
                  </a:solidFill>
                  <a:latin typeface="Corbel" panose="020B050302020402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5949B8-BAE5-5975-40F4-7849E6ECE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195" y="6448124"/>
                <a:ext cx="4635610" cy="246221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57783A85-E88E-9765-004C-843AFF6F3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858" y="4167963"/>
            <a:ext cx="9120284" cy="103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02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C533B-B08C-06AF-3207-BFEDCEE7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CDFBE7D-F450-0F9E-920E-78AB8A0D26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MEM affect the marginal probability distribution?</a:t>
                </a:r>
              </a:p>
              <a:p>
                <a:pPr lvl="1"/>
                <a:r>
                  <a:rPr kumimoji="1" lang="en-US" altLang="ko-KR" dirty="0"/>
                  <a:t>proposition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𝑚𝑖𝑛𝑖𝑚𝑖𝑧𝑒𝑑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&amp;&amp; </m:t>
                    </m:r>
                    <m:acc>
                      <m:accPr>
                        <m:chr m:val="̅"/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𝑖𝑚𝑔</m:t>
                                </m:r>
                              </m:sup>
                            </m:sSubSup>
                          </m:e>
                        </m:d>
                      </m:e>
                    </m:nary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̅"/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r>
                      <m:rPr>
                        <m:nor/>
                      </m:rPr>
                      <a:rPr kumimoji="1" lang="en-US" altLang="ko-KR" dirty="0"/>
                      <m:t> </m:t>
                    </m:r>
                    <m:r>
                      <m:rPr>
                        <m:nor/>
                      </m:rPr>
                      <a:rPr kumimoji="1" lang="en-US" altLang="ko-KR" dirty="0"/>
                      <m:t>is</m:t>
                    </m:r>
                    <m:r>
                      <m:rPr>
                        <m:nor/>
                      </m:rPr>
                      <a:rPr kumimoji="1" lang="en-US" altLang="ko-KR" dirty="0"/>
                      <m:t> </m:t>
                    </m:r>
                    <m:r>
                      <a:rPr kumimoji="1"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𝑖𝑛𝑣𝑎𝑟𝑖𝑎𝑛𝑡</m:t>
                    </m:r>
                    <m:r>
                      <m:rPr>
                        <m:nor/>
                      </m:rPr>
                      <a:rPr kumimoji="1" lang="en-US" altLang="ko-KR" dirty="0"/>
                      <m:t> </m:t>
                    </m:r>
                    <m:r>
                      <m:rPr>
                        <m:nor/>
                      </m:rPr>
                      <a:rPr kumimoji="1" lang="en-US" altLang="ko-KR" dirty="0"/>
                      <m:t>to</m:t>
                    </m:r>
                    <m:r>
                      <m:rPr>
                        <m:nor/>
                      </m:rPr>
                      <a:rPr kumimoji="1" lang="en-US" altLang="ko-KR" b="0" i="0" dirty="0" smtClean="0"/>
                      <m:t> </m:t>
                    </m:r>
                    <m:r>
                      <m:rPr>
                        <m:nor/>
                      </m:rPr>
                      <a:rPr kumimoji="1" lang="en-US" altLang="ko-KR" b="0" i="0" dirty="0" smtClean="0"/>
                      <m:t>MEM</m:t>
                    </m:r>
                  </m:oMath>
                </a14:m>
                <a:endParaRPr kumimoji="1" lang="en-US" altLang="ko-KR" dirty="0"/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argmax</m:t>
                    </m:r>
                    <m: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</m:e>
                    </m:d>
                    <m:r>
                      <a:rPr kumimoji="1" lang="en-US" altLang="ko-KR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dirty="0">
                        <a:latin typeface="Cambria Math" panose="02040503050406030204" pitchFamily="18" charset="0"/>
                      </a:rPr>
                      <m:t>argmax</m:t>
                    </m:r>
                    <m:r>
                      <a:rPr kumimoji="1" lang="en-US" altLang="ko-KR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kumimoji="1" lang="en-US" altLang="ko-KR" dirty="0"/>
              </a:p>
              <a:p>
                <a:pPr lvl="2">
                  <a:buFont typeface="Wingdings" pitchFamily="2" charset="2"/>
                  <a:buChar char="Ø"/>
                </a:pPr>
                <a:endParaRPr kumimoji="1" lang="en-US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CDFBE7D-F450-0F9E-920E-78AB8A0D2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71099CF7-19F1-F771-525E-8336FCAD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551C05-B67B-E0EE-2693-077BADE6B12F}"/>
                  </a:ext>
                </a:extLst>
              </p:cNvPr>
              <p:cNvSpPr txBox="1"/>
              <p:nvPr/>
            </p:nvSpPr>
            <p:spPr>
              <a:xfrm>
                <a:off x="3778195" y="6448124"/>
                <a:ext cx="46356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 err="1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Apendix</a:t>
                </a:r>
                <a:r>
                  <a:rPr kumimoji="1" lang="en-US" altLang="ko-KR" sz="1000" dirty="0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 A: Marginal Entropy Minimization does not influence </a:t>
                </a:r>
                <a:r>
                  <a:rPr kumimoji="1" lang="en-US" altLang="ko-KR" sz="1000" dirty="0" err="1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arg</a:t>
                </a:r>
                <a:r>
                  <a:rPr kumimoji="1" lang="en-US" altLang="ko-KR" sz="1000" dirty="0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 max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sz="1000" i="1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endParaRPr kumimoji="1" lang="ko-KR" altLang="en-US" sz="1000" dirty="0">
                  <a:solidFill>
                    <a:schemeClr val="bg1">
                      <a:lumMod val="65000"/>
                    </a:schemeClr>
                  </a:solidFill>
                  <a:latin typeface="Corbel" panose="020B050302020402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551C05-B67B-E0EE-2693-077BADE6B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195" y="6448124"/>
                <a:ext cx="4635610" cy="246221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77A339A9-AB68-1E42-046E-C17D43E8D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858" y="4167963"/>
            <a:ext cx="9120284" cy="10313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9FE59C3-2F95-D6D1-4524-78F76938D5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68732"/>
            <a:ext cx="7772400" cy="5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35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8432C-7F23-4CB5-DFE9-CF4C50F9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D8805D0-64AB-D9D4-1CF8-E03A5FEF7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Marginal Entropy Minimization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857250" lvl="1" indent="-457200">
              <a:buFont typeface="+mj-lt"/>
              <a:buAutoNum type="arabicPeriod"/>
            </a:pPr>
            <a:r>
              <a:rPr kumimoji="1" lang="en-US" altLang="ko-KR" i="1" dirty="0">
                <a:solidFill>
                  <a:schemeClr val="bg1">
                    <a:lumMod val="65000"/>
                  </a:schemeClr>
                </a:solidFill>
              </a:rPr>
              <a:t>How does MEM affect the marginal probability distribution?</a:t>
            </a:r>
          </a:p>
          <a:p>
            <a:pPr marL="857250" lvl="1" indent="-457200">
              <a:buFont typeface="+mj-lt"/>
              <a:buAutoNum type="arabicPeriod"/>
            </a:pPr>
            <a:r>
              <a:rPr kumimoji="1" lang="en-US" altLang="ko-KR" i="1" dirty="0"/>
              <a:t>How does the marginal probability distribution relate to the standard inference protocol?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A45EBAF-4D53-A17C-6C70-47B14EB9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0396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F24A-CFC7-95C8-BC4C-C1222186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A2FF2094-B8D0-E85F-1720-5AFEC9FFD5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the marginal probability distribution relate to the standard inference protocol?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𝑚𝑜𝑟𝑒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𝑟𝑜𝑏𝑢𝑠𝑡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𝑡h𝑎𝑛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Leads to the hypothesis</a:t>
                </a:r>
              </a:p>
              <a:p>
                <a:pPr lvl="2"/>
                <a:r>
                  <a:rPr kumimoji="1" lang="en-US" altLang="ko-KR" dirty="0"/>
                  <a:t>The expected risk of predicting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kumimoji="1" lang="en-US" altLang="ko-KR" dirty="0"/>
                  <a:t> is lower than that of doing so with p</a:t>
                </a:r>
              </a:p>
              <a:p>
                <a:pPr lvl="1"/>
                <a:r>
                  <a:rPr kumimoji="1" lang="en-US" altLang="ko-KR" dirty="0"/>
                  <a:t>However, the literature lacks guarantees for this hypothesis, except for the peculiar case in which the risk  function is the squared error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kumimoji="1" lang="en-US" altLang="ko-KR" dirty="0"/>
                  <a:t>Prove by revisiting the theory of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model </a:t>
                </a:r>
                <a:r>
                  <a:rPr kumimoji="1" lang="en-US" altLang="ko-KR" dirty="0" err="1">
                    <a:solidFill>
                      <a:srgbClr val="FF0000"/>
                    </a:solidFill>
                  </a:rPr>
                  <a:t>ensembling</a:t>
                </a:r>
                <a:endParaRPr kumimoji="1" lang="en-US" altLang="ko-KR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A2FF2094-B8D0-E85F-1720-5AFEC9FFD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r="-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A18EB517-B541-5D31-54F1-F41A5158E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6B42B5-E18B-8821-3528-BA91B7293919}"/>
                  </a:ext>
                </a:extLst>
              </p:cNvPr>
              <p:cNvSpPr txBox="1"/>
              <p:nvPr/>
            </p:nvSpPr>
            <p:spPr>
              <a:xfrm>
                <a:off x="3778195" y="6448124"/>
                <a:ext cx="463561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 err="1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Apendix</a:t>
                </a:r>
                <a:r>
                  <a:rPr kumimoji="1" lang="en-US" altLang="ko-KR" sz="1000" dirty="0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 A: Marginal Entropy Minimization does not influence </a:t>
                </a:r>
                <a:r>
                  <a:rPr kumimoji="1" lang="en-US" altLang="ko-KR" sz="1000" dirty="0" err="1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arg</a:t>
                </a:r>
                <a:r>
                  <a:rPr kumimoji="1" lang="en-US" altLang="ko-KR" sz="1000" dirty="0">
                    <a:solidFill>
                      <a:schemeClr val="bg1">
                        <a:lumMod val="65000"/>
                      </a:schemeClr>
                    </a:solidFill>
                    <a:latin typeface="Corbel" panose="020B0503020204020204" pitchFamily="34" charset="0"/>
                  </a:rPr>
                  <a:t> max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sz="1000" i="1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sz="1000" dirty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endParaRPr kumimoji="1" lang="ko-KR" altLang="en-US" sz="1000" dirty="0">
                  <a:solidFill>
                    <a:schemeClr val="bg1">
                      <a:lumMod val="65000"/>
                    </a:schemeClr>
                  </a:solidFill>
                  <a:latin typeface="Corbel" panose="020B050302020402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6B42B5-E18B-8821-3528-BA91B729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195" y="6448124"/>
                <a:ext cx="4635610" cy="246221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828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604D4-FE01-00DF-F491-70633DFF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7314CC8-4D7F-19D8-6598-31464E4359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the marginal probability distribution relate to the standard inference protocol?</a:t>
                </a:r>
              </a:p>
              <a:p>
                <a:pPr lvl="1"/>
                <a:r>
                  <a:rPr kumimoji="1" lang="en-US" altLang="ko-KR" dirty="0"/>
                  <a:t>Preliminaries on model ensemble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𝑎𝑟𝑒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dirty="0"/>
                  <a:t>independent classifiers with </a:t>
                </a:r>
                <a14:m>
                  <m:oMath xmlns:m="http://schemas.openxmlformats.org/officeDocument/2006/math"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𝑒𝑟𝑟𝑜𝑟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kumimoji="1"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ko-KR" dirty="0"/>
                  <a:t> is an example whose label is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 ∈ {0, 1}</m:t>
                    </m:r>
                  </m:oMath>
                </a14:m>
                <a:endParaRPr kumimoji="1" lang="en-US" altLang="ko-KR" dirty="0"/>
              </a:p>
              <a:p>
                <a:pPr lvl="2"/>
                <a:endParaRPr kumimoji="1" lang="en-US" altLang="ko-KR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kumimoji="1" lang="en-US" altLang="ko-K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ko-KR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ko-KR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ko-K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kumimoji="1" lang="en-US" altLang="ko-K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ko-KR" sz="28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kumimoji="1" lang="en-US" altLang="ko-KR" sz="28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kumimoji="1" lang="en-US" altLang="ko-KR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kumimoji="1" lang="en-US" altLang="ko-KR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ko-K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800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ko-KR" sz="2800" b="0" i="1" dirty="0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ko-KR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ko-KR" sz="2800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7314CC8-4D7F-19D8-6598-31464E4359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r="-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EFEC7C95-2919-A507-AF33-96FB9EE7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1443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5C0AA-6E87-7339-A7CB-97A34D01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B378AE6F-1BD9-4D8A-8590-FCDE21D71A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the marginal probability distribution relate to the standard inference protocol?</a:t>
                </a:r>
              </a:p>
              <a:p>
                <a:pPr lvl="2"/>
                <a:endParaRPr kumimoji="1" lang="en-US" altLang="ko-KR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kumimoji="1"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kumimoji="1"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ko-KR" b="0" i="1" dirty="0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B378AE6F-1BD9-4D8A-8590-FCDE21D71A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r="-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0AC61136-21B6-E421-BC0A-E2501377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00B19E2-5E4B-F142-DFE5-75EA37BA61FA}"/>
              </a:ext>
            </a:extLst>
          </p:cNvPr>
          <p:cNvGrpSpPr/>
          <p:nvPr/>
        </p:nvGrpSpPr>
        <p:grpSpPr>
          <a:xfrm>
            <a:off x="3140001" y="2084032"/>
            <a:ext cx="6337300" cy="3206461"/>
            <a:chOff x="3140001" y="2346775"/>
            <a:chExt cx="6337300" cy="320646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959023F-70F0-B12B-FE70-A4358E246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85591"/>
            <a:stretch/>
          </p:blipFill>
          <p:spPr>
            <a:xfrm>
              <a:off x="3140001" y="2346775"/>
              <a:ext cx="6337300" cy="79419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E91E553-667A-12F8-8AA0-0B89B85FC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7390" b="28843"/>
            <a:stretch/>
          </p:blipFill>
          <p:spPr>
            <a:xfrm>
              <a:off x="3140001" y="3140968"/>
              <a:ext cx="6337300" cy="2412268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45B3837D-9D7E-E436-8861-B7DFC4B9CB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187" b="533"/>
          <a:stretch/>
        </p:blipFill>
        <p:spPr>
          <a:xfrm>
            <a:off x="3140001" y="5475767"/>
            <a:ext cx="6337300" cy="78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504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4335D-EE27-F742-BDD5-88B6CE932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E037FD72-D43B-104E-2AF6-BC1EF3E3B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the marginal probability distribution relate to the standard inference protocol?</a:t>
                </a:r>
              </a:p>
              <a:p>
                <a:pPr lvl="1"/>
                <a:r>
                  <a:rPr kumimoji="1" lang="en-US" altLang="ko-KR" dirty="0"/>
                  <a:t>Revisiting model </a:t>
                </a:r>
                <a:r>
                  <a:rPr kumimoji="1" lang="en-US" altLang="ko-KR" dirty="0" err="1"/>
                  <a:t>ensembling</a:t>
                </a:r>
                <a:r>
                  <a:rPr kumimoji="1" lang="en-US" altLang="ko-KR" dirty="0"/>
                  <a:t> for TTA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Reversely, a single classifier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en-US" altLang="ko-KR" dirty="0"/>
                  <a:t> is present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kumimoji="1" lang="en-US" altLang="ko-KR" dirty="0"/>
                  <a:t> is a set of independent examples with the same underlying label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ko-KR" dirty="0"/>
              </a:p>
              <a:p>
                <a:pPr marL="0" indent="0">
                  <a:buNone/>
                </a:pPr>
                <a:endParaRPr kumimoji="1" lang="en-US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E037FD72-D43B-104E-2AF6-BC1EF3E3B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r="-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C2E28927-8AEE-A378-E62E-0B4F899E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2780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DD8AC-BB59-2884-CC5A-A15F8286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2B4A370-8333-1B44-160C-ECA508E3A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the marginal probability distribution relate to the standard inference protocol?</a:t>
                </a:r>
              </a:p>
              <a:p>
                <a:pPr lvl="1"/>
                <a:r>
                  <a:rPr kumimoji="1" lang="en-US" altLang="ko-KR" dirty="0"/>
                  <a:t>Calibrated classifier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en-US" altLang="ko-KR" dirty="0"/>
                  <a:t> requiring that the confidence of a classifier matches its accuracy</a:t>
                </a:r>
              </a:p>
              <a:p>
                <a:pPr lvl="1"/>
                <a:r>
                  <a:rPr kumimoji="1" lang="en-US" altLang="ko-KR" dirty="0"/>
                  <a:t>Confidence: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Accuracy: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en-US" altLang="ko-KR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en-US" altLang="ko-KR" dirty="0"/>
                  <a:t>means the number of examples correctly labeled as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If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en-US" altLang="ko-KR" dirty="0"/>
                  <a:t> exhibits good calibration,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↑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⇒ ↑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If k(y) &gt;= N/2 +1,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acc>
                          <m:accPr>
                            <m:chr m:val="̅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/2+1</m:t>
                              </m:r>
                            </m:e>
                          </m:d>
                        </m:sub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ko-KR" dirty="0"/>
              </a:p>
              <a:p>
                <a:pPr marL="0" indent="0">
                  <a:buNone/>
                </a:pPr>
                <a:endParaRPr kumimoji="1" lang="en-US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2B4A370-8333-1B44-160C-ECA508E3A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r="-442" b="-36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F9E7CE7B-E4D5-4DAD-DA7D-3AD306BF2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9130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E6890-4B06-9325-BD81-6507D081A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A4E4FED-A241-7663-3E38-2F862986CD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the marginal probability distribution relate to the standard inference protocol?</a:t>
                </a:r>
              </a:p>
              <a:p>
                <a:pPr marL="457200" lvl="1" indent="0">
                  <a:buNone/>
                </a:pPr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/2+1</m:t>
                              </m:r>
                            </m:e>
                          </m:d>
                        </m:sub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ko-KR" dirty="0"/>
              </a:p>
              <a:p>
                <a:pPr lvl="1"/>
                <a:endParaRPr kumimoji="1" lang="en-US" altLang="ko-KR" sz="20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kumimoji="1" lang="en-US" altLang="ko-KR" dirty="0">
                    <a:solidFill>
                      <a:srgbClr val="FF0000"/>
                    </a:solidFill>
                  </a:rPr>
                  <a:t> is a realistic lower bound </a:t>
                </a:r>
                <a:r>
                  <a:rPr kumimoji="1" lang="en-US" altLang="ko-KR" dirty="0"/>
                  <a:t>for the base model error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kumimoji="1" lang="en-US" altLang="ko-KR" dirty="0"/>
                  <a:t> (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en-US" altLang="ko-KR" dirty="0"/>
                  <a:t>) over a set of independent data points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A4E4FED-A241-7663-3E38-2F862986CD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t="-1592" r="-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A0EF70E7-82E4-0D5D-A0E9-075D2742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0934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4E7DE-4486-98BE-7E5E-AA13B352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702C5EC-065C-E71B-5792-1F7BFC0864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How does the marginal probability distribution relate to the standard inference protocol?</a:t>
                </a:r>
              </a:p>
              <a:p>
                <a:pPr marL="457200" lvl="1" indent="0">
                  <a:buNone/>
                </a:pPr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kumimoji="1" lang="en-US" altLang="ko-KR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kumimoji="1"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/2+1</m:t>
                              </m:r>
                            </m:e>
                          </m:d>
                        </m:sub>
                        <m:sup>
                          <m: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p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kumimoji="1" lang="en-US" altLang="ko-KR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ko-KR" i="1" dirty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ko-KR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ko-KR" dirty="0"/>
              </a:p>
              <a:p>
                <a:pPr lvl="1"/>
                <a:endParaRPr kumimoji="1" lang="en-US" altLang="ko-KR" sz="20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kumimoji="1" lang="en-US" altLang="ko-KR" dirty="0">
                    <a:solidFill>
                      <a:srgbClr val="FF0000"/>
                    </a:solidFill>
                  </a:rPr>
                  <a:t> is a realistic lower bound </a:t>
                </a:r>
                <a:r>
                  <a:rPr kumimoji="1" lang="en-US" altLang="ko-KR" dirty="0"/>
                  <a:t>for the base model error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kumimoji="1" lang="en-US" altLang="ko-KR" dirty="0"/>
                  <a:t> (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en-US" altLang="ko-KR" dirty="0"/>
                  <a:t>) over a set of independent data points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702C5EC-065C-E71B-5792-1F7BFC0864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t="-1592" r="-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763BEE8A-D1BC-FD57-E52D-0D5141BD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Backgrounds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C84DA9-109B-5D80-2878-420D0D5FE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278" y="342900"/>
            <a:ext cx="53086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071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07368306-25EF-E0B6-7F04-6082A8675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From 2 question of MEM,</a:t>
                </a:r>
              </a:p>
              <a:p>
                <a:endParaRPr kumimoji="1" lang="en-US" altLang="ko-KR" dirty="0"/>
              </a:p>
              <a:p>
                <a:pPr lvl="1"/>
                <a:r>
                  <a:rPr kumimoji="1" lang="en-US" altLang="ko-KR" b="0" dirty="0"/>
                  <a:t>From 1</a:t>
                </a:r>
                <a:r>
                  <a:rPr kumimoji="1" lang="en-US" altLang="ko-KR" b="0" baseline="30000" dirty="0"/>
                  <a:t>st</a:t>
                </a:r>
                <a:r>
                  <a:rPr kumimoji="1" lang="en-US" altLang="ko-KR" b="0" dirty="0"/>
                  <a:t> question: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argmax</m:t>
                    </m:r>
                    <m: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</m:e>
                    </m:d>
                    <m:r>
                      <a:rPr kumimoji="1" lang="en-US" altLang="ko-KR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dirty="0">
                        <a:latin typeface="Cambria Math" panose="02040503050406030204" pitchFamily="18" charset="0"/>
                      </a:rPr>
                      <m:t>argmax</m:t>
                    </m:r>
                    <m:r>
                      <a:rPr kumimoji="1" lang="en-US" altLang="ko-KR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  <m:sup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kumimoji="1" lang="en-US" altLang="ko-KR" b="0" dirty="0"/>
              </a:p>
              <a:p>
                <a:pPr lvl="1"/>
                <a:r>
                  <a:rPr kumimoji="1" lang="en-US" altLang="ko-KR" dirty="0"/>
                  <a:t>From 2</a:t>
                </a:r>
                <a:r>
                  <a:rPr kumimoji="1" lang="en-US" altLang="ko-KR" baseline="30000" dirty="0"/>
                  <a:t>nd</a:t>
                </a:r>
                <a:r>
                  <a:rPr kumimoji="1" lang="en-US" altLang="ko-KR" dirty="0"/>
                  <a:t> question: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acc>
                                  <m:accPr>
                                    <m:chr m:val="̂"/>
                                    <m:ctrlP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(⋅|</m:t>
                                </m:r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𝑐𝑡𝑥</m:t>
                                    </m:r>
                                  </m:sub>
                                </m:sSub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acc>
                                  <m:accPr>
                                    <m:chr m:val="̂"/>
                                    <m:ctrlP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(⋅|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𝑐𝑡𝑥</m:t>
                                    </m:r>
                                  </m:sub>
                                </m:sSub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𝑒𝑞𝑢𝑖𝑣𝑎𝑙𝑒𝑛𝑡𝑙𝑦</m:t>
                            </m:r>
                          </m:e>
                          <m:e>
                            <m:sSub>
                              <m:sSub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acc>
                                  <m:accPr>
                                    <m:chr m:val="̂"/>
                                    <m:ctrlP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(⋅|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𝑐𝑡𝑥</m:t>
                                    </m:r>
                                  </m:sub>
                                  <m:sup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acc>
                                  <m:accPr>
                                    <m:chr m:val="̂"/>
                                    <m:ctrlP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(⋅|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kumimoji="1" lang="en-US" altLang="ko-KR" i="1" dirty="0">
                                        <a:latin typeface="Cambria Math" panose="02040503050406030204" pitchFamily="18" charset="0"/>
                                      </a:rPr>
                                      <m:t>𝑐𝑡𝑥</m:t>
                                    </m:r>
                                  </m:sub>
                                  <m:sup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r>
                  <a:rPr kumimoji="1" lang="en-US" altLang="ko-KR" dirty="0"/>
                  <a:t>Chaining observations together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(⋅|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𝑐𝑡𝑥</m:t>
                                </m:r>
                              </m:sub>
                              <m:sup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(⋅|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kumimoji="1" lang="en-US" altLang="ko-KR" dirty="0"/>
              </a:p>
              <a:p>
                <a:endParaRPr kumimoji="1" lang="en-US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07368306-25EF-E0B6-7F04-6082A8675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4" t="-17241" b="-429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D6D28770-CC6D-715E-BA6D-A3A0DE8B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447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91069-59F9-95AF-145E-601D5042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84C2091-322F-C82D-10A9-81A4418336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Chaining observations together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(⋅|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  <m:sup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d>
                          <m:d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en-US" altLang="ko-KR" i="1" dirty="0">
                                    <a:latin typeface="Cambria Math" panose="02040503050406030204" pitchFamily="18" charset="0"/>
                                  </a:rPr>
                                  <m:t>𝑐𝑡𝑥</m:t>
                                </m:r>
                              </m:sub>
                              <m:sup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(⋅|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</a:rPr>
                              <m:t>𝑐𝑡𝑥</m:t>
                            </m:r>
                          </m:sub>
                        </m:sSub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en-US" altLang="ko-KR" dirty="0"/>
                  <a:t>i.e.,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the error of MEM ≥ </a:t>
                </a:r>
                <a:r>
                  <a:rPr kumimoji="1" lang="en-US" altLang="ko-KR" dirty="0"/>
                  <a:t>error of (p after MEM =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accent2"/>
                    </a:solidFill>
                  </a:rPr>
                  <a:t>error of p without MEM</a:t>
                </a:r>
                <a:r>
                  <a:rPr kumimoji="1" lang="en-US" altLang="ko-KR" dirty="0"/>
                  <a:t>)</a:t>
                </a:r>
              </a:p>
              <a:p>
                <a:r>
                  <a:rPr kumimoji="1" lang="en-US" altLang="ko-KR" dirty="0"/>
                  <a:t>TTA framework is hiding a surprisingly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strong and optimization-free baseline</a:t>
                </a:r>
                <a:r>
                  <a:rPr kumimoji="1" lang="en-US" altLang="ko-KR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en-US" altLang="ko-KR" dirty="0"/>
                  <a:t>So, highlight the detrimental impact of data augmentations on this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kumimoji="1" lang="en-US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84C2091-322F-C82D-10A9-81A441833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631B9FD4-45AC-B19F-24AC-A14E87619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3029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98C3-8EF7-7265-E663-A9C16E8B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AA3970BE-C1FB-B971-FDB6-AED87579C9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0315088" cy="4772814"/>
              </a:xfrm>
            </p:spPr>
            <p:txBody>
              <a:bodyPr/>
              <a:lstStyle/>
              <a:p>
                <a:r>
                  <a:rPr kumimoji="1" lang="en-US" altLang="ko-KR" dirty="0"/>
                  <a:t>Augmentations undermine the reliability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kumimoji="1" lang="en-US" altLang="ko-KR" b="0" dirty="0"/>
              </a:p>
              <a:p>
                <a:pPr lvl="1"/>
                <a:r>
                  <a:rPr kumimoji="1" lang="en-US" altLang="ko-KR" dirty="0"/>
                  <a:t>Augmentations are essential in TTA to obtain multiple views of the test instance</a:t>
                </a:r>
              </a:p>
              <a:p>
                <a:pPr lvl="1"/>
                <a:r>
                  <a:rPr kumimoji="1" lang="en-US" altLang="ko-KR" dirty="0"/>
                  <a:t>Noisy views may constitute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Out-of-Distribution (OOD) </a:t>
                </a:r>
                <a:r>
                  <a:rPr kumimoji="1" lang="en-US" altLang="ko-KR" dirty="0"/>
                  <a:t>data</a:t>
                </a:r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Previous method: using filter between OOD and in-distribution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𝑓𝑖𝑙𝑡</m:t>
                        </m:r>
                      </m:sub>
                    </m:sSub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𝑐𝑡𝑥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`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𝑒𝑛𝑡𝑟𝑜𝑝𝑦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𝑏𝑜𝑡𝑡𝑜𝑚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−10%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𝑝𝑒𝑟𝑐𝑒𝑛𝑡𝑖𝑙𝑒</m:t>
                    </m:r>
                  </m:oMath>
                </a14:m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This filter cannot help when the reliability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dirty="0"/>
                  <a:t>is undermined by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overconfidence</a:t>
                </a:r>
                <a:r>
                  <a:rPr kumimoji="1" lang="en-US" altLang="ko-KR" dirty="0"/>
                  <a:t>.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AA3970BE-C1FB-B971-FDB6-AED87579C9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0315088" cy="4772814"/>
              </a:xfrm>
              <a:blipFill>
                <a:blip r:embed="rId3"/>
                <a:stretch>
                  <a:fillRect l="-8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F77D7DB2-5DC6-6881-DBC5-7515E9431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0021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45B7-29DB-319D-16F8-8C66DACD0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8C42525-B0DE-5B0A-80F4-C012A4D62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900CE9E-E42A-874B-7B72-A057DCDAB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97ADE2-D013-12ED-7A99-3782F608C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08" y="1320893"/>
            <a:ext cx="4537026" cy="44674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909FA03-4DEB-15D7-1FBF-663EB476F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41" y="1304764"/>
            <a:ext cx="6752059" cy="448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34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7BA9A-C645-46CC-48B3-A5F7D15D5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4325E7F-2731-3025-FC56-DD452E549C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0315088" cy="4772814"/>
              </a:xfrm>
            </p:spPr>
            <p:txBody>
              <a:bodyPr/>
              <a:lstStyle/>
              <a:p>
                <a:r>
                  <a:rPr kumimoji="1" lang="en-US" altLang="ko-KR" dirty="0"/>
                  <a:t>Augmentations undermine the reliability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kumimoji="1" lang="en-US" altLang="ko-KR" b="0" dirty="0"/>
              </a:p>
              <a:p>
                <a:pPr lvl="1"/>
                <a:r>
                  <a:rPr kumimoji="1" lang="en-US" altLang="ko-KR" dirty="0"/>
                  <a:t>Augmentations are essential in TTA to obtain multiple views of the test instance</a:t>
                </a:r>
              </a:p>
              <a:p>
                <a:pPr lvl="1"/>
                <a:r>
                  <a:rPr kumimoji="1" lang="en-US" altLang="ko-KR" dirty="0"/>
                  <a:t>Noisy views may constitute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Out-of-Distribution (OOD) </a:t>
                </a:r>
                <a:r>
                  <a:rPr kumimoji="1" lang="en-US" altLang="ko-KR" dirty="0"/>
                  <a:t>data</a:t>
                </a:r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Previous method: using filter between OOD and in-distribution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𝑓𝑖𝑙𝑡</m:t>
                        </m:r>
                      </m:sub>
                    </m:sSub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ko-KR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kumimoji="1"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𝑐𝑡𝑥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`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𝑒𝑛𝑡𝑟𝑜𝑝𝑦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𝑏𝑜𝑡𝑡𝑜𝑚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−10%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𝑝𝑒𝑟𝑐𝑒𝑛𝑡𝑖𝑙𝑒</m:t>
                    </m:r>
                  </m:oMath>
                </a14:m>
                <a:endParaRPr kumimoji="1" lang="en-US" altLang="ko-KR" dirty="0"/>
              </a:p>
              <a:p>
                <a:pPr lvl="1"/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This filter cannot help when the reliability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dirty="0"/>
                  <a:t>is undermined by </a:t>
                </a:r>
                <a:r>
                  <a:rPr kumimoji="1" lang="en-US" altLang="ko-KR" dirty="0">
                    <a:solidFill>
                      <a:srgbClr val="FF0000"/>
                    </a:solidFill>
                  </a:rPr>
                  <a:t>overconfidence</a:t>
                </a:r>
                <a:r>
                  <a:rPr kumimoji="1" lang="en-US" altLang="ko-KR" dirty="0"/>
                  <a:t>.</a:t>
                </a:r>
              </a:p>
              <a:p>
                <a:pPr lvl="1"/>
                <a:endParaRPr kumimoji="1" lang="en-US" altLang="ko-KR" dirty="0"/>
              </a:p>
              <a:p>
                <a:r>
                  <a:rPr kumimoji="1" lang="en-US" altLang="ko-KR" dirty="0"/>
                  <a:t>Propose </a:t>
                </a:r>
                <a:r>
                  <a:rPr kumimoji="1" lang="en-US" altLang="ko-KR" b="1" dirty="0"/>
                  <a:t>ZERO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4325E7F-2731-3025-FC56-DD452E549C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0315088" cy="4772814"/>
              </a:xfrm>
              <a:blipFill>
                <a:blip r:embed="rId3"/>
                <a:stretch>
                  <a:fillRect l="-8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F15610A7-15A4-D3F2-4D09-711C0CD86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6584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3FAA5-96B2-44FA-95A1-3D4D4F9F5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3C618CB-C2A5-7D24-208D-403FDDC161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en-US" altLang="ko-KR" b="0" dirty="0"/>
                  <a:t>Procedure</a:t>
                </a:r>
              </a:p>
              <a:p>
                <a:pPr lvl="1"/>
                <a:r>
                  <a:rPr kumimoji="1" lang="en-US" altLang="ko-KR" dirty="0"/>
                  <a:t>Augment</a:t>
                </a:r>
              </a:p>
              <a:p>
                <a:pPr lvl="1"/>
                <a:r>
                  <a:rPr kumimoji="1" lang="en-US" altLang="ko-KR" dirty="0"/>
                  <a:t>Predict</a:t>
                </a:r>
              </a:p>
              <a:p>
                <a:pPr lvl="1"/>
                <a:r>
                  <a:rPr kumimoji="1" lang="en-US" altLang="ko-KR" dirty="0"/>
                  <a:t>Retain the most confident prediction</a:t>
                </a:r>
              </a:p>
              <a:p>
                <a:pPr lvl="1"/>
                <a:r>
                  <a:rPr kumimoji="1" lang="en-US" altLang="ko-KR" b="0" dirty="0">
                    <a:solidFill>
                      <a:srgbClr val="FF0000"/>
                    </a:solidFill>
                  </a:rPr>
                  <a:t>Set the </a:t>
                </a:r>
                <a:r>
                  <a:rPr kumimoji="1" lang="en-US" altLang="ko-KR" b="0" dirty="0" err="1">
                    <a:solidFill>
                      <a:srgbClr val="FF0000"/>
                    </a:solidFill>
                  </a:rPr>
                  <a:t>Softmax</a:t>
                </a:r>
                <a:r>
                  <a:rPr kumimoji="1" lang="en-US" altLang="ko-KR" b="0" dirty="0">
                    <a:solidFill>
                      <a:srgbClr val="FF0000"/>
                    </a:solidFill>
                  </a:rPr>
                  <a:t> temperature to zero</a:t>
                </a:r>
              </a:p>
              <a:p>
                <a:pPr lvl="1"/>
                <a:r>
                  <a:rPr kumimoji="1" lang="en-US" altLang="ko-KR" b="0" dirty="0"/>
                  <a:t>Marginalize</a:t>
                </a:r>
              </a:p>
              <a:p>
                <a:pPr lvl="1"/>
                <a:endParaRPr kumimoji="1" lang="en-US" altLang="ko-KR" b="0" dirty="0"/>
              </a:p>
              <a:p>
                <a:r>
                  <a:rPr kumimoji="1" lang="en-US" altLang="ko-KR" dirty="0"/>
                  <a:t>Formula</a:t>
                </a:r>
                <a:endParaRPr kumimoji="1" lang="en-US" altLang="ko-K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𝑍𝐸𝑅𝑂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𝑐𝑡𝑥</m:t>
                              </m:r>
                            </m:sub>
                          </m:s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ko-KR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kumimoji="1" lang="en-US" altLang="ko-KR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∈[1,…</m:t>
                                  </m:r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lim>
                              </m:limLow>
                            </m:fNam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𝕀</m:t>
                                  </m:r>
                                </m:e>
                              </m:nary>
                              <m:d>
                                <m:d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𝑓𝑖𝑙𝑡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ko-KR" b="0" i="0" smtClean="0">
                                          <a:latin typeface="Cambria Math" panose="02040503050406030204" pitchFamily="18" charset="0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p>
                                        <m:sSupPr>
                                          <m:ctrlPr>
                                            <a:rPr kumimoji="1"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𝑐𝑡𝑥</m:t>
                                      </m:r>
                                    </m:sub>
                                  </m:s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kumimoji="1" lang="en-US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3C618CB-C2A5-7D24-208D-403FDDC161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 t="-531" b="-33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BB4B64E0-D303-A068-E256-279CF25A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4941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9056-84FC-B23A-A23B-A8B2ECA0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5962AE6-5CF5-76CC-E04C-D5C835282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Simplicity</a:t>
            </a:r>
          </a:p>
          <a:p>
            <a:pPr lvl="1"/>
            <a:r>
              <a:rPr lang="en" altLang="ko-KR" dirty="0"/>
              <a:t>Requires a single batched forward pass</a:t>
            </a:r>
          </a:p>
          <a:p>
            <a:pPr lvl="1">
              <a:buFont typeface="Wingdings" pitchFamily="2" charset="2"/>
              <a:buChar char="Ø"/>
            </a:pPr>
            <a:r>
              <a:rPr lang="en" altLang="ko-KR" dirty="0"/>
              <a:t>Computationally lightweight</a:t>
            </a:r>
          </a:p>
          <a:p>
            <a:pPr lvl="1">
              <a:buFont typeface="Wingdings" pitchFamily="2" charset="2"/>
              <a:buChar char="Ø"/>
            </a:pPr>
            <a:endParaRPr lang="en" altLang="ko-KR" dirty="0"/>
          </a:p>
          <a:p>
            <a:pPr lvl="1"/>
            <a:r>
              <a:rPr lang="en" altLang="ko-KR" dirty="0"/>
              <a:t>Efficient implement</a:t>
            </a:r>
          </a:p>
          <a:p>
            <a:pPr lvl="1"/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2E7D1A5-2DA5-89BD-89DA-20F20C7E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AA89FF-CE33-01D9-8091-8F8790E90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58" y="1717410"/>
            <a:ext cx="5740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987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7894-6424-4255-C454-C9C6F067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DA9BAC0-01DA-C5C6-E6C4-A87CE6308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6278FB-A3CE-BF51-16D5-326E92DE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696F1D-028D-0404-9416-D6762532F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504" y="1477704"/>
            <a:ext cx="6351182" cy="32642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E060A5-1A9E-0833-3405-9C894F45F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9895" y="4925570"/>
            <a:ext cx="6350400" cy="124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23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27A0-9734-E8F4-E24C-A032EC52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811E89-E9D9-1866-65E0-C43D4F8AE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301325A-C1C6-C610-1BFF-A95F5272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CC18CB-6E6F-032B-0367-4F78EC030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0206" y="1453017"/>
            <a:ext cx="7711588" cy="447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109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5B150-1BB4-B711-7CEF-201D5C3C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9B002E0-8E69-1601-0FDF-8A166D793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E231221-FEA2-E19A-2E58-82D0C74C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39264A-D4B3-C3D5-2A77-58091CC30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0954" y="1304764"/>
            <a:ext cx="6490092" cy="376727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41B0E71-DD71-CC68-80AF-C8ACA7E91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363" y="5070707"/>
            <a:ext cx="6541274" cy="12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426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AC84F-15C8-A68E-4DBC-4D477A60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639AD05-6613-284B-3CE6-869C132A1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ko-KR" dirty="0"/>
              <a:t>Preliminary observations</a:t>
            </a:r>
          </a:p>
          <a:p>
            <a:pPr lvl="1"/>
            <a:r>
              <a:rPr kumimoji="1" lang="en-US" altLang="ko-KR" dirty="0"/>
              <a:t>If VLMs or benchmarks change significantly in the future, potentially leading to poor adaptation</a:t>
            </a:r>
          </a:p>
          <a:p>
            <a:pPr lvl="1"/>
            <a:r>
              <a:rPr kumimoji="1" lang="en-US" altLang="ko-KR" dirty="0"/>
              <a:t>Such as augmentation-induced overconfidence</a:t>
            </a:r>
          </a:p>
          <a:p>
            <a:r>
              <a:rPr kumimoji="1" lang="en-US" altLang="ko-KR" dirty="0"/>
              <a:t>Theoretical assumptions</a:t>
            </a:r>
          </a:p>
          <a:p>
            <a:pPr lvl="1"/>
            <a:r>
              <a:rPr kumimoji="1" lang="en-US" altLang="ko-KR" dirty="0"/>
              <a:t>In this work, we supported our assumptions with empirical verification </a:t>
            </a:r>
          </a:p>
          <a:p>
            <a:pPr lvl="1"/>
            <a:r>
              <a:rPr kumimoji="1" lang="en-US" altLang="ko-KR" dirty="0"/>
              <a:t>But, as per the first limitation, these may not extend to the space of all models and datasets</a:t>
            </a:r>
          </a:p>
          <a:p>
            <a:r>
              <a:rPr kumimoji="1" lang="en-US" altLang="ko-KR" dirty="0"/>
              <a:t>Independence among views</a:t>
            </a:r>
          </a:p>
          <a:p>
            <a:pPr lvl="1"/>
            <a:r>
              <a:rPr kumimoji="1" lang="en-US" altLang="ko-KR" dirty="0"/>
              <a:t>They are still partially related through the source image from which they stem</a:t>
            </a:r>
          </a:p>
          <a:p>
            <a:r>
              <a:rPr kumimoji="1" lang="en-US" altLang="ko-KR" dirty="0"/>
              <a:t>Linear complexity with respect to augmented views</a:t>
            </a:r>
          </a:p>
          <a:p>
            <a:pPr lvl="1"/>
            <a:r>
              <a:rPr kumimoji="1" lang="en-US" altLang="ko-KR" dirty="0"/>
              <a:t>ZERO’s computational requirements in the visual branch scale linearly with the number of views, since all of them need to be independently forwarded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2D82A3-7F8D-54D2-3306-894DFA9A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Limitations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1650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2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12738</TotalTime>
  <Words>3332</Words>
  <Application>Microsoft Macintosh PowerPoint</Application>
  <PresentationFormat>와이드스크린</PresentationFormat>
  <Paragraphs>411</Paragraphs>
  <Slides>38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38</vt:i4>
      </vt:variant>
    </vt:vector>
  </HeadingPairs>
  <TitlesOfParts>
    <vt:vector size="49" baseType="lpstr">
      <vt:lpstr>맑은 고딕</vt:lpstr>
      <vt:lpstr>Yoon 윤고딕 115_TT</vt:lpstr>
      <vt:lpstr>Arial</vt:lpstr>
      <vt:lpstr>Cambria Math</vt:lpstr>
      <vt:lpstr>Candara</vt:lpstr>
      <vt:lpstr>Corbel</vt:lpstr>
      <vt:lpstr>Times New Roman</vt:lpstr>
      <vt:lpstr>Wingdings</vt:lpstr>
      <vt:lpstr>Wingdings 3</vt:lpstr>
      <vt:lpstr>Office 테마</vt:lpstr>
      <vt:lpstr>1_Office 테마</vt:lpstr>
      <vt:lpstr>Frustratingly Easy Test-Time Adaptation of  Vision-Language Models</vt:lpstr>
      <vt:lpstr>Table of Contents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Backgrounds</vt:lpstr>
      <vt:lpstr>Methods</vt:lpstr>
      <vt:lpstr>Methods</vt:lpstr>
      <vt:lpstr>Methods</vt:lpstr>
      <vt:lpstr>Methods</vt:lpstr>
      <vt:lpstr>Methods</vt:lpstr>
      <vt:lpstr>Methods</vt:lpstr>
      <vt:lpstr>Methods</vt:lpstr>
      <vt:lpstr>Experiments</vt:lpstr>
      <vt:lpstr>Experiments</vt:lpstr>
      <vt:lpstr>Experiments</vt:lpstr>
      <vt:lpstr>Limitations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3005</cp:revision>
  <dcterms:created xsi:type="dcterms:W3CDTF">2013-05-08T06:38:33Z</dcterms:created>
  <dcterms:modified xsi:type="dcterms:W3CDTF">2025-03-19T05:55:15Z</dcterms:modified>
</cp:coreProperties>
</file>