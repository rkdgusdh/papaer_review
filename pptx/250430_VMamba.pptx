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5" r:id="rId2"/>
  </p:sldMasterIdLst>
  <p:notesMasterIdLst>
    <p:notesMasterId r:id="rId26"/>
  </p:notesMasterIdLst>
  <p:handoutMasterIdLst>
    <p:handoutMasterId r:id="rId27"/>
  </p:handoutMasterIdLst>
  <p:sldIdLst>
    <p:sldId id="257" r:id="rId3"/>
    <p:sldId id="411" r:id="rId4"/>
    <p:sldId id="412" r:id="rId5"/>
    <p:sldId id="413" r:id="rId6"/>
    <p:sldId id="414" r:id="rId7"/>
    <p:sldId id="415" r:id="rId8"/>
    <p:sldId id="416" r:id="rId9"/>
    <p:sldId id="420" r:id="rId10"/>
    <p:sldId id="417" r:id="rId11"/>
    <p:sldId id="418" r:id="rId12"/>
    <p:sldId id="421" r:id="rId13"/>
    <p:sldId id="422" r:id="rId14"/>
    <p:sldId id="423" r:id="rId15"/>
    <p:sldId id="424" r:id="rId16"/>
    <p:sldId id="425" r:id="rId17"/>
    <p:sldId id="426" r:id="rId18"/>
    <p:sldId id="432" r:id="rId19"/>
    <p:sldId id="427" r:id="rId20"/>
    <p:sldId id="428" r:id="rId21"/>
    <p:sldId id="429" r:id="rId22"/>
    <p:sldId id="430" r:id="rId23"/>
    <p:sldId id="431" r:id="rId24"/>
    <p:sldId id="260" r:id="rId25"/>
  </p:sldIdLst>
  <p:sldSz cx="12192000" cy="6858000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  <p:cmAuthor id="2" name="편하늘" initials="편" lastIdx="3" clrIdx="1">
    <p:extLst>
      <p:ext uri="{19B8F6BF-5375-455C-9EA6-DF929625EA0E}">
        <p15:presenceInfo xmlns:p15="http://schemas.microsoft.com/office/powerpoint/2012/main" userId="S::1102444016@soongsil.ac.kr::b9ebc181-39dc-45ef-8c38-868373cf86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4" autoAdjust="0"/>
    <p:restoredTop sz="84944" autoAdjust="0"/>
  </p:normalViewPr>
  <p:slideViewPr>
    <p:cSldViewPr snapToGrid="0">
      <p:cViewPr>
        <p:scale>
          <a:sx n="117" d="100"/>
          <a:sy n="117" d="100"/>
        </p:scale>
        <p:origin x="2496" y="4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954" y="53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2025. 4. 28.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2025. 4. 28.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88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NLP</a:t>
            </a:r>
            <a:r>
              <a:rPr kumimoji="1" lang="ko-KR" altLang="en-US" dirty="0"/>
              <a:t> 분야에서 </a:t>
            </a:r>
            <a:r>
              <a:rPr kumimoji="1" lang="en-US" altLang="ko-KR" dirty="0"/>
              <a:t>mamba</a:t>
            </a:r>
            <a:r>
              <a:rPr kumimoji="1" lang="ko-KR" altLang="en-US" dirty="0"/>
              <a:t>라는 새로운 </a:t>
            </a:r>
            <a:r>
              <a:rPr kumimoji="1" lang="en-US" altLang="ko-KR" dirty="0"/>
              <a:t>foundation</a:t>
            </a:r>
            <a:r>
              <a:rPr kumimoji="1" lang="ko-KR" altLang="en-US" dirty="0"/>
              <a:t> 모델이 등장한 이후로 다양한 분야에서 이 </a:t>
            </a:r>
            <a:r>
              <a:rPr kumimoji="1" lang="en-US" altLang="ko-KR" dirty="0"/>
              <a:t>mamba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써보고자 했는데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오늘 다룰 분야는 이 </a:t>
            </a:r>
            <a:r>
              <a:rPr kumimoji="1" lang="en-US" altLang="ko-KR" dirty="0"/>
              <a:t>mamba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vision</a:t>
            </a:r>
            <a:r>
              <a:rPr kumimoji="1" lang="ko-KR" altLang="en-US" dirty="0"/>
              <a:t> 분야에서 어떻게 활용하였는가 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638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6B2C-2D65-1154-5EBD-39844CAF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91DC9E-19CE-FD1B-6CB0-D0212E805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B371FB-4906-4594-3F49-F7D6AADC6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Mamba</a:t>
            </a:r>
            <a:r>
              <a:rPr kumimoji="1" lang="ko-KR" altLang="en-US" dirty="0"/>
              <a:t>는 대충 </a:t>
            </a:r>
            <a:r>
              <a:rPr kumimoji="1" lang="ko-KR" altLang="en-US" dirty="0" err="1"/>
              <a:t>이런식으로</a:t>
            </a:r>
            <a:r>
              <a:rPr kumimoji="1" lang="ko-KR" altLang="en-US" dirty="0"/>
              <a:t> 생겼는데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CC323-8206-4999-E405-581B8FED1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177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D829-3AFE-FA07-525A-F7B2FCB2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8895D6-0CE6-1B87-EC41-09D362FFA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97B43A-6B9E-BD48-A65D-3F5758429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맘바의</a:t>
            </a:r>
            <a:r>
              <a:rPr kumimoji="1" lang="ko-KR" altLang="en-US" dirty="0"/>
              <a:t> 특징은 원래 </a:t>
            </a:r>
            <a:r>
              <a:rPr kumimoji="1" lang="en-US" altLang="ko-KR" dirty="0"/>
              <a:t>Linear time invariant (LTI) </a:t>
            </a:r>
            <a:r>
              <a:rPr kumimoji="1" lang="ko-KR" altLang="en-US" dirty="0" err="1"/>
              <a:t>선형시불변성을</a:t>
            </a:r>
            <a:r>
              <a:rPr kumimoji="1" lang="ko-KR" altLang="en-US" dirty="0"/>
              <a:t> 가진 </a:t>
            </a:r>
            <a:r>
              <a:rPr kumimoji="1" lang="en-US" altLang="ko-KR" dirty="0"/>
              <a:t>SSM</a:t>
            </a:r>
            <a:r>
              <a:rPr kumimoji="1" lang="ko-KR" altLang="en-US" dirty="0"/>
              <a:t>을</a:t>
            </a:r>
            <a:endParaRPr kumimoji="1" lang="en-US" altLang="ko-KR" dirty="0"/>
          </a:p>
          <a:p>
            <a:r>
              <a:rPr kumimoji="1" lang="ko-KR" altLang="en-US" dirty="0"/>
              <a:t>좌측사진과 같이 </a:t>
            </a:r>
            <a:r>
              <a:rPr kumimoji="1" lang="en-US" altLang="ko-KR" dirty="0"/>
              <a:t>Linear time variant</a:t>
            </a:r>
            <a:r>
              <a:rPr kumimoji="1" lang="ko-KR" altLang="en-US" dirty="0"/>
              <a:t>하게 </a:t>
            </a:r>
            <a:r>
              <a:rPr kumimoji="1" lang="ko-KR" altLang="en-US" dirty="0" err="1"/>
              <a:t>바꿨다는것과</a:t>
            </a:r>
            <a:r>
              <a:rPr kumimoji="1" lang="ko-KR" altLang="en-US" dirty="0"/>
              <a:t> 우측사진인 </a:t>
            </a:r>
            <a:r>
              <a:rPr kumimoji="1" lang="en-US" altLang="ko-KR" dirty="0"/>
              <a:t>parallel scan</a:t>
            </a:r>
            <a:r>
              <a:rPr kumimoji="1" lang="ko-KR" altLang="en-US" dirty="0"/>
              <a:t>을 합친</a:t>
            </a:r>
            <a:endParaRPr kumimoji="1" lang="en-US" altLang="ko-KR" dirty="0"/>
          </a:p>
          <a:p>
            <a:r>
              <a:rPr kumimoji="1" lang="en-US" altLang="ko-KR" dirty="0" err="1"/>
              <a:t>Selelective</a:t>
            </a:r>
            <a:r>
              <a:rPr kumimoji="1" lang="en-US" altLang="ko-KR" dirty="0"/>
              <a:t> scan</a:t>
            </a:r>
            <a:r>
              <a:rPr kumimoji="1" lang="ko-KR" altLang="en-US" dirty="0"/>
              <a:t>을 사용한다는 것이고 위 시스템은 </a:t>
            </a:r>
            <a:r>
              <a:rPr kumimoji="1" lang="en-US" altLang="ko-KR" dirty="0"/>
              <a:t>1d</a:t>
            </a:r>
            <a:r>
              <a:rPr kumimoji="1" lang="ko-KR" altLang="en-US" dirty="0"/>
              <a:t> </a:t>
            </a:r>
            <a:r>
              <a:rPr kumimoji="1" lang="en-US" altLang="ko-KR" dirty="0"/>
              <a:t>sequential-dim</a:t>
            </a:r>
            <a:r>
              <a:rPr kumimoji="1" lang="ko-KR" altLang="en-US" dirty="0"/>
              <a:t>을 위해서 설계되었다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333A2-3D91-B9B6-CAEF-545D375E1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752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99D30-3536-EADE-B57E-05F973A5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97BFB5-3E79-C4CA-88A5-DD7B4E46A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495612-AE3A-5857-445D-AD2EA8EAF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이를 비전분야에 </a:t>
            </a:r>
            <a:r>
              <a:rPr kumimoji="1" lang="ko-KR" altLang="en-US" dirty="0" err="1"/>
              <a:t>적용할려고</a:t>
            </a:r>
            <a:r>
              <a:rPr kumimoji="1" lang="ko-KR" altLang="en-US" dirty="0"/>
              <a:t> 하니까</a:t>
            </a:r>
            <a:r>
              <a:rPr kumimoji="1" lang="en-US" altLang="ko-KR" dirty="0"/>
              <a:t>,</a:t>
            </a:r>
          </a:p>
          <a:p>
            <a:r>
              <a:rPr kumimoji="1" lang="en-US" altLang="ko-KR" dirty="0" err="1"/>
              <a:t>sequnce</a:t>
            </a:r>
            <a:r>
              <a:rPr kumimoji="1" lang="ko-KR" altLang="en-US" dirty="0"/>
              <a:t>가 존재하지 않는 </a:t>
            </a:r>
            <a:r>
              <a:rPr kumimoji="1" lang="en-US" altLang="ko-KR" dirty="0"/>
              <a:t>vision data</a:t>
            </a:r>
            <a:r>
              <a:rPr kumimoji="1" lang="ko-KR" altLang="en-US" dirty="0"/>
              <a:t>의 특성에 의해 </a:t>
            </a:r>
            <a:r>
              <a:rPr kumimoji="1" lang="en-US" altLang="ko-KR" dirty="0"/>
              <a:t>mamba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그대로 </a:t>
            </a:r>
            <a:r>
              <a:rPr kumimoji="1" lang="ko-KR" altLang="en-US" dirty="0" err="1"/>
              <a:t>사용하는건</a:t>
            </a:r>
            <a:r>
              <a:rPr kumimoji="1" lang="ko-KR" altLang="en-US" dirty="0"/>
              <a:t> 문제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FBB7EA-E6DA-B313-ABF1-82C070C5E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054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4634A-E0AA-D922-547A-E34F25987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9DB271-EF98-76AC-73A5-78C3F8006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33DAF1-1A87-8B1F-F55E-26A5A5D5A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따라서 </a:t>
            </a:r>
            <a:r>
              <a:rPr kumimoji="1" lang="en-US" altLang="ko-KR" dirty="0" err="1"/>
              <a:t>Vmamba</a:t>
            </a:r>
            <a:r>
              <a:rPr kumimoji="1" lang="ko-KR" altLang="en-US" dirty="0"/>
              <a:t>에서는 </a:t>
            </a:r>
            <a:r>
              <a:rPr kumimoji="1" lang="en-US" altLang="ko-KR" dirty="0"/>
              <a:t>2d-selective-scan</a:t>
            </a:r>
            <a:r>
              <a:rPr kumimoji="1" lang="ko-KR" altLang="en-US" dirty="0"/>
              <a:t>이라는 방법을 제안 하였다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 err="1"/>
              <a:t>ViT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transformer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vision</a:t>
            </a:r>
            <a:r>
              <a:rPr kumimoji="1" lang="ko-KR" altLang="en-US" dirty="0"/>
              <a:t>에서 사용하기 위해 처음 </a:t>
            </a:r>
            <a:r>
              <a:rPr kumimoji="1" lang="en-US" altLang="ko-KR" dirty="0" err="1"/>
              <a:t>patchify</a:t>
            </a:r>
            <a:r>
              <a:rPr kumimoji="1" lang="ko-KR" altLang="en-US" dirty="0"/>
              <a:t>해서 </a:t>
            </a:r>
            <a:r>
              <a:rPr kumimoji="1" lang="en-US" altLang="ko-KR" dirty="0"/>
              <a:t>1d flatten </a:t>
            </a:r>
            <a:r>
              <a:rPr kumimoji="1" lang="ko-KR" altLang="en-US" dirty="0" err="1"/>
              <a:t>했던것처럼</a:t>
            </a:r>
            <a:endParaRPr kumimoji="1" lang="en-US" altLang="ko-KR" dirty="0"/>
          </a:p>
          <a:p>
            <a:r>
              <a:rPr kumimoji="1" lang="en-US" altLang="ko-KR" dirty="0"/>
              <a:t>2dss</a:t>
            </a:r>
            <a:r>
              <a:rPr kumimoji="1" lang="ko-KR" altLang="en-US" dirty="0"/>
              <a:t>도 </a:t>
            </a:r>
            <a:r>
              <a:rPr kumimoji="1" lang="en-US" altLang="ko-KR" dirty="0" err="1"/>
              <a:t>patchify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하고 </a:t>
            </a:r>
            <a:r>
              <a:rPr kumimoji="1" lang="en-US" altLang="ko-KR" dirty="0"/>
              <a:t>1d flatten</a:t>
            </a:r>
            <a:r>
              <a:rPr kumimoji="1" lang="ko-KR" altLang="en-US" dirty="0"/>
              <a:t>을 하는데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여기서 </a:t>
            </a:r>
            <a:r>
              <a:rPr kumimoji="1" lang="en-US" altLang="ko-KR" dirty="0"/>
              <a:t>traversal </a:t>
            </a:r>
            <a:r>
              <a:rPr kumimoji="1" lang="ko-KR" altLang="en-US" dirty="0"/>
              <a:t>방향이 추가된다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DE9E2-21D4-D1EE-CBD6-88EDE0D26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294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E3BC-0B4D-5FFB-8371-C2961F064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A32833-50A3-F8B8-B6EC-D87BD39CF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AA163-3D0D-5063-7D2C-648C946F8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방향은 다음과 같이 총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가지가 존재한다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먼저 </a:t>
            </a:r>
            <a:r>
              <a:rPr kumimoji="1" lang="en-US" altLang="ko-KR" dirty="0" err="1"/>
              <a:t>patchify</a:t>
            </a:r>
            <a:r>
              <a:rPr kumimoji="1" lang="ko-KR" altLang="en-US" dirty="0"/>
              <a:t>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패치를 하나의 </a:t>
            </a:r>
            <a:r>
              <a:rPr kumimoji="1" lang="en-US" altLang="ko-KR" dirty="0"/>
              <a:t>sequence</a:t>
            </a:r>
            <a:r>
              <a:rPr kumimoji="1" lang="ko-KR" altLang="en-US" dirty="0"/>
              <a:t>로 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이를 방향 순서로 </a:t>
            </a:r>
            <a:r>
              <a:rPr kumimoji="1" lang="ko-KR" altLang="en-US" dirty="0" err="1"/>
              <a:t>나열한뒤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각 패치는 또 방향으로 </a:t>
            </a:r>
            <a:r>
              <a:rPr kumimoji="1" lang="en-US" altLang="ko-KR" dirty="0"/>
              <a:t>1d flatten</a:t>
            </a:r>
            <a:r>
              <a:rPr kumimoji="1" lang="ko-KR" altLang="en-US" dirty="0"/>
              <a:t>해서 들어가게 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그리고는 나중에 원래 이미지로 </a:t>
            </a:r>
            <a:r>
              <a:rPr kumimoji="1" lang="en-US" altLang="ko-KR" dirty="0" err="1"/>
              <a:t>reshpe</a:t>
            </a:r>
            <a:r>
              <a:rPr kumimoji="1" lang="en-US" altLang="ko-KR" dirty="0"/>
              <a:t> </a:t>
            </a:r>
            <a:r>
              <a:rPr kumimoji="1" lang="ko-KR" altLang="en-US" dirty="0"/>
              <a:t>하고</a:t>
            </a:r>
            <a:r>
              <a:rPr kumimoji="1" lang="en-US" altLang="ko-KR" dirty="0"/>
              <a:t>, element-wise sum</a:t>
            </a:r>
            <a:r>
              <a:rPr kumimoji="1" lang="ko-KR" altLang="en-US" dirty="0"/>
              <a:t>을 해서 하나의 </a:t>
            </a:r>
            <a:r>
              <a:rPr kumimoji="1" lang="en-US" altLang="ko-KR" dirty="0"/>
              <a:t>2d map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다시 구성한다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왜 </a:t>
            </a:r>
            <a:r>
              <a:rPr kumimoji="1" lang="en-US" altLang="ko-KR" dirty="0" err="1"/>
              <a:t>patchify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하는가</a:t>
            </a:r>
            <a:r>
              <a:rPr kumimoji="1" lang="en-US" altLang="ko-KR" dirty="0"/>
              <a:t>?</a:t>
            </a:r>
          </a:p>
          <a:p>
            <a:r>
              <a:rPr kumimoji="1" lang="en-US" altLang="ko-KR" dirty="0"/>
              <a:t>1. </a:t>
            </a:r>
            <a:r>
              <a:rPr kumimoji="1" lang="ko-KR" altLang="en-US" dirty="0"/>
              <a:t>시퀀스 길이를 줄이기 위해</a:t>
            </a:r>
            <a:endParaRPr kumimoji="1" lang="en-US" altLang="ko-KR" dirty="0"/>
          </a:p>
          <a:p>
            <a:r>
              <a:rPr kumimoji="1" lang="en-US" altLang="ko-KR" dirty="0"/>
              <a:t>2.</a:t>
            </a:r>
            <a:r>
              <a:rPr kumimoji="1" lang="ko-KR" altLang="en-US" dirty="0"/>
              <a:t> 로컬만 보기위해서 </a:t>
            </a:r>
            <a:r>
              <a:rPr kumimoji="1" lang="en-US" altLang="ko-KR" dirty="0"/>
              <a:t>(CNN</a:t>
            </a:r>
            <a:r>
              <a:rPr kumimoji="1" lang="ko-KR" altLang="en-US" dirty="0"/>
              <a:t>에서 커널로 로컬을 보듯이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얘는 </a:t>
            </a:r>
            <a:r>
              <a:rPr kumimoji="1" lang="en-US" altLang="ko-KR" dirty="0"/>
              <a:t>patch</a:t>
            </a:r>
            <a:r>
              <a:rPr kumimoji="1" lang="ko-KR" altLang="en-US" dirty="0"/>
              <a:t>로 나눠서 본다고 보면 됨</a:t>
            </a:r>
            <a:r>
              <a:rPr kumimoji="1"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3029B-F85B-C770-8F02-60E288333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267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90405-5F6D-02A4-0B34-BC07A8133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776D5A-22B6-7C52-DAE8-EA9D0EA6D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D3F1F4-C200-4F8B-F16D-E8ADD8C81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논문에서 제안한 </a:t>
            </a:r>
            <a:r>
              <a:rPr lang="en-US" altLang="ko-KR" dirty="0" err="1"/>
              <a:t>Vmamba</a:t>
            </a:r>
            <a:r>
              <a:rPr lang="en-US" altLang="ko-KR" dirty="0"/>
              <a:t> </a:t>
            </a:r>
            <a:r>
              <a:rPr lang="ko-KR" altLang="en-US" dirty="0"/>
              <a:t>구조의 일러스트입니다</a:t>
            </a:r>
            <a:r>
              <a:rPr lang="en-US" altLang="ko-KR" dirty="0"/>
              <a:t>. </a:t>
            </a:r>
            <a:r>
              <a:rPr lang="ko-KR" altLang="en-US" dirty="0"/>
              <a:t>총 </a:t>
            </a:r>
            <a:r>
              <a:rPr lang="en-US" altLang="ko-KR" dirty="0"/>
              <a:t>stem module(patch partition)</a:t>
            </a:r>
            <a:r>
              <a:rPr lang="ko-KR" altLang="en-US" dirty="0"/>
              <a:t>과 </a:t>
            </a:r>
            <a:r>
              <a:rPr lang="en-US" altLang="ko-KR" dirty="0"/>
              <a:t>4 stage</a:t>
            </a:r>
            <a:r>
              <a:rPr lang="ko-KR" altLang="en-US" dirty="0" err="1"/>
              <a:t>를</a:t>
            </a:r>
            <a:r>
              <a:rPr lang="ko-KR" altLang="en-US" dirty="0"/>
              <a:t> 거치게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일러스트에서는 </a:t>
            </a:r>
            <a:r>
              <a:rPr lang="en-US" altLang="ko-KR" dirty="0" err="1"/>
              <a:t>downsampling</a:t>
            </a:r>
            <a:r>
              <a:rPr lang="ko-KR" altLang="en-US" dirty="0"/>
              <a:t>이 </a:t>
            </a:r>
            <a:r>
              <a:rPr lang="en-US" altLang="ko-KR" dirty="0"/>
              <a:t>stage </a:t>
            </a:r>
            <a:r>
              <a:rPr lang="ko-KR" altLang="en-US" dirty="0"/>
              <a:t>초기에 위치하지만 사실상 </a:t>
            </a:r>
            <a:r>
              <a:rPr lang="en-US" altLang="ko-KR" dirty="0"/>
              <a:t>stage 1,2,3 stage </a:t>
            </a:r>
            <a:r>
              <a:rPr lang="ko-KR" altLang="en-US" dirty="0"/>
              <a:t>가장 마지막에 </a:t>
            </a:r>
            <a:r>
              <a:rPr lang="ko-KR" altLang="en-US" dirty="0" err="1"/>
              <a:t>행해지는것으로</a:t>
            </a:r>
            <a:r>
              <a:rPr lang="ko-KR" altLang="en-US" dirty="0"/>
              <a:t> </a:t>
            </a:r>
            <a:r>
              <a:rPr lang="ko-KR" altLang="en-US" dirty="0" err="1"/>
              <a:t>보는게</a:t>
            </a:r>
            <a:r>
              <a:rPr lang="ko-KR" altLang="en-US" dirty="0"/>
              <a:t> 맞습니다</a:t>
            </a:r>
            <a:r>
              <a:rPr lang="en-US" altLang="ko-KR" dirty="0"/>
              <a:t>.(</a:t>
            </a:r>
            <a:r>
              <a:rPr lang="ko-KR" altLang="en-US" dirty="0"/>
              <a:t>코드상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 err="1"/>
              <a:t>Vmamba</a:t>
            </a:r>
            <a:r>
              <a:rPr lang="ko-KR" altLang="en-US" dirty="0"/>
              <a:t>는 </a:t>
            </a:r>
            <a:r>
              <a:rPr lang="en-US" altLang="ko-KR" dirty="0"/>
              <a:t>Visual-state-space block</a:t>
            </a:r>
            <a:r>
              <a:rPr lang="ko-KR" altLang="en-US" dirty="0"/>
              <a:t>의 </a:t>
            </a:r>
            <a:r>
              <a:rPr lang="en-US" altLang="ko-KR" dirty="0"/>
              <a:t>stack</a:t>
            </a:r>
            <a:r>
              <a:rPr lang="ko-KR" altLang="en-US" dirty="0"/>
              <a:t>이라고 보시면 됩니다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Vss</a:t>
            </a:r>
            <a:r>
              <a:rPr lang="en-US" altLang="ko-KR" dirty="0"/>
              <a:t> block</a:t>
            </a:r>
            <a:r>
              <a:rPr lang="ko-KR" altLang="en-US" dirty="0"/>
              <a:t>은 우측과 같이 구성되는데</a:t>
            </a:r>
            <a:r>
              <a:rPr lang="en-US" altLang="ko-KR" dirty="0"/>
              <a:t>, vanilla</a:t>
            </a:r>
            <a:r>
              <a:rPr lang="ko-KR" altLang="en-US" dirty="0"/>
              <a:t>는 </a:t>
            </a:r>
            <a:r>
              <a:rPr lang="ko-KR" altLang="en-US" dirty="0" err="1"/>
              <a:t>맨처음</a:t>
            </a:r>
            <a:r>
              <a:rPr lang="ko-KR" altLang="en-US" dirty="0"/>
              <a:t> 제안한 내용이고</a:t>
            </a:r>
            <a:r>
              <a:rPr lang="en-US" altLang="ko-KR" dirty="0"/>
              <a:t>, </a:t>
            </a:r>
            <a:r>
              <a:rPr lang="ko-KR" altLang="en-US" dirty="0"/>
              <a:t>이를 성능을 올리면서 </a:t>
            </a:r>
            <a:r>
              <a:rPr lang="ko-KR" altLang="en-US" dirty="0" err="1"/>
              <a:t>계량한게</a:t>
            </a:r>
            <a:r>
              <a:rPr lang="ko-KR" altLang="en-US" dirty="0"/>
              <a:t> 그냥 </a:t>
            </a:r>
            <a:r>
              <a:rPr lang="en-US" altLang="ko-KR" dirty="0" err="1"/>
              <a:t>vss</a:t>
            </a:r>
            <a:r>
              <a:rPr lang="en-US" altLang="ko-KR" dirty="0"/>
              <a:t> block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차이는 </a:t>
            </a:r>
            <a:r>
              <a:rPr lang="en-US" altLang="ko-KR" dirty="0" err="1"/>
              <a:t>skipconnection</a:t>
            </a:r>
            <a:r>
              <a:rPr lang="en-US" altLang="ko-KR" dirty="0"/>
              <a:t> </a:t>
            </a:r>
            <a:r>
              <a:rPr lang="ko-KR" altLang="en-US" dirty="0"/>
              <a:t>내용</a:t>
            </a:r>
            <a:r>
              <a:rPr lang="en-US" altLang="ko-KR" dirty="0"/>
              <a:t>, multiplicative branch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제한건데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이게 원래 </a:t>
            </a:r>
            <a:r>
              <a:rPr lang="ko-KR" altLang="en-US" dirty="0" err="1"/>
              <a:t>맘바의</a:t>
            </a:r>
            <a:r>
              <a:rPr lang="ko-KR" altLang="en-US" dirty="0"/>
              <a:t> </a:t>
            </a:r>
            <a:r>
              <a:rPr lang="en-US" altLang="ko-KR" dirty="0"/>
              <a:t>gating</a:t>
            </a:r>
            <a:r>
              <a:rPr lang="ko-KR" altLang="en-US" dirty="0"/>
              <a:t>을 가져온 내용인데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gating</a:t>
            </a:r>
            <a:r>
              <a:rPr lang="ko-KR" altLang="en-US" dirty="0"/>
              <a:t>을 </a:t>
            </a:r>
            <a:r>
              <a:rPr lang="en-US" altLang="ko-KR" dirty="0"/>
              <a:t>SS2D</a:t>
            </a:r>
            <a:r>
              <a:rPr lang="ko-KR" altLang="en-US" dirty="0"/>
              <a:t>의 </a:t>
            </a:r>
            <a:r>
              <a:rPr lang="en-US" altLang="ko-KR" dirty="0"/>
              <a:t>4path </a:t>
            </a:r>
            <a:r>
              <a:rPr lang="ko-KR" altLang="en-US" dirty="0" err="1"/>
              <a:t>합친거가</a:t>
            </a:r>
            <a:r>
              <a:rPr lang="ko-KR" altLang="en-US" dirty="0"/>
              <a:t> 역할을 해준다 생각하고 제거했습니다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ko-KR" altLang="en-US" dirty="0" err="1"/>
              <a:t>계산량을</a:t>
            </a:r>
            <a:r>
              <a:rPr lang="ko-KR" altLang="en-US" dirty="0"/>
              <a:t> </a:t>
            </a:r>
            <a:r>
              <a:rPr lang="ko-KR" altLang="en-US" dirty="0" err="1"/>
              <a:t>줄인결과를</a:t>
            </a:r>
            <a:r>
              <a:rPr lang="ko-KR" altLang="en-US" dirty="0"/>
              <a:t> 낳았습니다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B148AE-9692-EF02-5D5E-83C66E4BB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190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02260-CE17-ECD1-959A-9B042A39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04A1CB-775C-28EC-03C7-EF4B578C4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0C237E-B54E-F85E-B74C-8350E7AD3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실제 </a:t>
            </a:r>
            <a:r>
              <a:rPr kumimoji="1" lang="ko-KR" altLang="en-US" dirty="0" err="1"/>
              <a:t>아키텍쳐를</a:t>
            </a:r>
            <a:r>
              <a:rPr kumimoji="1" lang="ko-KR" altLang="en-US" dirty="0"/>
              <a:t> 보시면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이건 이제 논문 저자들이 </a:t>
            </a:r>
            <a:r>
              <a:rPr kumimoji="1" lang="ko-KR" altLang="en-US" dirty="0" err="1"/>
              <a:t>맨처음</a:t>
            </a:r>
            <a:r>
              <a:rPr kumimoji="1" lang="ko-KR" altLang="en-US" dirty="0"/>
              <a:t> 만든 </a:t>
            </a:r>
            <a:r>
              <a:rPr kumimoji="1" lang="en-US" altLang="ko-KR" dirty="0"/>
              <a:t>vanilla architecture</a:t>
            </a:r>
            <a:r>
              <a:rPr kumimoji="1" lang="ko-KR" altLang="en-US" dirty="0"/>
              <a:t>인데 이걸로는 성능이 좀 딸리고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B5B91B-392D-DA9A-1E22-B46EE84ED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364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FD61F-321C-584F-D302-B7746F3CB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6741A-B447-111F-15D8-6B59E6823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E5A859-4E14-82B1-854A-C145AA590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이게 이제 실험 해보면서 나온 괜찮은 성능의 구조들인데요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논문에 </a:t>
            </a:r>
            <a:r>
              <a:rPr kumimoji="1" lang="ko-KR" altLang="en-US" dirty="0" err="1"/>
              <a:t>안써졌지만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코드를 보면 모든 </a:t>
            </a:r>
            <a:r>
              <a:rPr kumimoji="1" lang="en-US" altLang="ko-KR" dirty="0"/>
              <a:t>conv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zero padding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 </a:t>
            </a:r>
            <a:r>
              <a:rPr kumimoji="1" lang="ko-KR" altLang="en-US" dirty="0" err="1"/>
              <a:t>되있습니다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근데 저희가 </a:t>
            </a:r>
            <a:r>
              <a:rPr kumimoji="1" lang="en-US" altLang="ko-KR" dirty="0"/>
              <a:t>feature map </a:t>
            </a:r>
            <a:r>
              <a:rPr kumimoji="1" lang="ko-KR" altLang="en-US" dirty="0"/>
              <a:t>공식을 써보면 </a:t>
            </a:r>
            <a:r>
              <a:rPr kumimoji="1" lang="ko-KR" altLang="en-US" dirty="0" err="1"/>
              <a:t>맨처음</a:t>
            </a:r>
            <a:r>
              <a:rPr kumimoji="1" lang="ko-KR" altLang="en-US" dirty="0"/>
              <a:t> 인풋이 </a:t>
            </a:r>
            <a:r>
              <a:rPr kumimoji="1" lang="en-US" altLang="ko-KR" dirty="0"/>
              <a:t>224x224</a:t>
            </a:r>
            <a:r>
              <a:rPr kumimoji="1" lang="ko-KR" altLang="en-US" dirty="0"/>
              <a:t>인데 얘를</a:t>
            </a:r>
            <a:endParaRPr kumimoji="1" lang="en-US" altLang="ko-KR" dirty="0"/>
          </a:p>
          <a:p>
            <a:r>
              <a:rPr kumimoji="1" lang="en-US" altLang="ko-KR" dirty="0"/>
              <a:t>224-3+2=223</a:t>
            </a:r>
            <a:r>
              <a:rPr kumimoji="1" lang="ko-KR" altLang="en-US" dirty="0"/>
              <a:t>이라 홀수라 </a:t>
            </a:r>
            <a:r>
              <a:rPr kumimoji="1" lang="en-US" altLang="ko-KR" dirty="0"/>
              <a:t>stride 2</a:t>
            </a:r>
            <a:r>
              <a:rPr kumimoji="1" lang="ko-KR" altLang="en-US" dirty="0"/>
              <a:t>로는 나눌 수 없어서 에러가 난다고 배우셨을 겁니다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근데 </a:t>
            </a:r>
            <a:r>
              <a:rPr kumimoji="1" lang="en-US" altLang="ko-KR" dirty="0" err="1"/>
              <a:t>pytorch</a:t>
            </a:r>
            <a:r>
              <a:rPr kumimoji="1" lang="ko-KR" altLang="en-US" dirty="0"/>
              <a:t>는 그냥 버림 처리한답니다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그래서 </a:t>
            </a:r>
            <a:r>
              <a:rPr kumimoji="1" lang="en-US" altLang="ko-KR" dirty="0"/>
              <a:t>111</a:t>
            </a:r>
            <a:r>
              <a:rPr kumimoji="1" lang="ko-KR" altLang="en-US" dirty="0"/>
              <a:t>이 되고</a:t>
            </a:r>
            <a:r>
              <a:rPr kumimoji="1" lang="en-US" altLang="ko-KR" dirty="0"/>
              <a:t>, +1 </a:t>
            </a:r>
            <a:r>
              <a:rPr kumimoji="1" lang="ko-KR" altLang="en-US" dirty="0"/>
              <a:t>해서 최종적으로 </a:t>
            </a:r>
            <a:r>
              <a:rPr kumimoji="1" lang="en-US" altLang="ko-KR" dirty="0"/>
              <a:t>112</a:t>
            </a:r>
            <a:r>
              <a:rPr kumimoji="1" lang="ko-KR" altLang="en-US" dirty="0"/>
              <a:t>가 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논문에는 </a:t>
            </a:r>
            <a:r>
              <a:rPr kumimoji="1" lang="en-US" altLang="ko-KR" dirty="0"/>
              <a:t>stem output 112</a:t>
            </a:r>
            <a:r>
              <a:rPr kumimoji="1" lang="ko-KR" altLang="en-US" dirty="0"/>
              <a:t>라 </a:t>
            </a:r>
            <a:r>
              <a:rPr kumimoji="1" lang="ko-KR" altLang="en-US" dirty="0" err="1"/>
              <a:t>되있는데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보시다시피</a:t>
            </a:r>
            <a:r>
              <a:rPr kumimoji="1" lang="ko-KR" altLang="en-US" dirty="0"/>
              <a:t> </a:t>
            </a:r>
            <a:r>
              <a:rPr kumimoji="1" lang="en-US" altLang="ko-KR" dirty="0"/>
              <a:t>conv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개라 </a:t>
            </a:r>
            <a:r>
              <a:rPr kumimoji="1" lang="en-US" altLang="ko-KR" dirty="0"/>
              <a:t>56</a:t>
            </a:r>
            <a:r>
              <a:rPr kumimoji="1" lang="ko-KR" altLang="en-US" dirty="0"/>
              <a:t>이 맞습니다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또한 </a:t>
            </a:r>
            <a:r>
              <a:rPr kumimoji="1" lang="en-US" altLang="ko-KR" dirty="0" err="1"/>
              <a:t>Dwconv</a:t>
            </a:r>
            <a:r>
              <a:rPr kumimoji="1" lang="ko-KR" altLang="en-US" dirty="0"/>
              <a:t>는 그냥 </a:t>
            </a:r>
            <a:r>
              <a:rPr kumimoji="1" lang="en-US" altLang="ko-KR" dirty="0"/>
              <a:t>conv</a:t>
            </a:r>
            <a:r>
              <a:rPr kumimoji="1" lang="ko-KR" altLang="en-US" dirty="0"/>
              <a:t>와 달리 채널당 하나의 </a:t>
            </a:r>
            <a:r>
              <a:rPr kumimoji="1" lang="en-US" altLang="ko-KR" dirty="0"/>
              <a:t>kernel</a:t>
            </a:r>
            <a:r>
              <a:rPr kumimoji="1" lang="ko-KR" altLang="en-US" dirty="0"/>
              <a:t>을 사용합니다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이게 무슨 </a:t>
            </a:r>
            <a:r>
              <a:rPr kumimoji="1" lang="ko-KR" altLang="en-US" dirty="0" err="1"/>
              <a:t>말이냐면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원래 </a:t>
            </a:r>
            <a:r>
              <a:rPr kumimoji="1" lang="en-US" altLang="ko-KR" dirty="0"/>
              <a:t>conv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input </a:t>
            </a:r>
            <a:r>
              <a:rPr kumimoji="1" lang="ko-KR" altLang="en-US" dirty="0"/>
              <a:t>만큼의 </a:t>
            </a:r>
            <a:r>
              <a:rPr kumimoji="1" lang="en-US" altLang="ko-KR" dirty="0"/>
              <a:t>kernel</a:t>
            </a:r>
            <a:r>
              <a:rPr kumimoji="1" lang="ko-KR" altLang="en-US" dirty="0"/>
              <a:t>로 연산을 하고 모든 채널을 하나의 채널로 합치고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다시 </a:t>
            </a:r>
            <a:r>
              <a:rPr kumimoji="1" lang="en-US" altLang="ko-KR" dirty="0"/>
              <a:t>out </a:t>
            </a:r>
            <a:r>
              <a:rPr kumimoji="1" lang="ko-KR" altLang="en-US" dirty="0"/>
              <a:t>채널로 만드는데</a:t>
            </a:r>
            <a:endParaRPr kumimoji="1" lang="en-US" altLang="ko-KR" dirty="0"/>
          </a:p>
          <a:p>
            <a:r>
              <a:rPr kumimoji="1" lang="en-US" altLang="ko-KR" dirty="0" err="1"/>
              <a:t>Dwconv</a:t>
            </a:r>
            <a:r>
              <a:rPr kumimoji="1" lang="ko-KR" altLang="en-US" dirty="0"/>
              <a:t>는 각 채널별로 </a:t>
            </a:r>
            <a:r>
              <a:rPr kumimoji="1" lang="en-US" altLang="ko-KR" dirty="0"/>
              <a:t>conv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하면 끝입니다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채널별로 영향을 주고 받지 않죠</a:t>
            </a:r>
            <a:r>
              <a:rPr kumimoji="1" lang="en-US" altLang="ko-KR" dirty="0"/>
              <a:t>. Group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input</a:t>
            </a:r>
            <a:r>
              <a:rPr kumimoji="1" lang="ko-KR" altLang="en-US" dirty="0"/>
              <a:t>과 같은 </a:t>
            </a:r>
            <a:r>
              <a:rPr kumimoji="1" lang="en-US" altLang="ko-KR" dirty="0"/>
              <a:t>group conv</a:t>
            </a:r>
            <a:r>
              <a:rPr kumimoji="1" lang="ko-KR" altLang="en-US" dirty="0"/>
              <a:t>라고도 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얘를 함으로써 기본 </a:t>
            </a:r>
            <a:r>
              <a:rPr kumimoji="1" lang="en-US" altLang="ko-KR" dirty="0"/>
              <a:t>conv</a:t>
            </a:r>
            <a:r>
              <a:rPr kumimoji="1" lang="ko-KR" altLang="en-US" dirty="0"/>
              <a:t>는 채널간 정보공유 역할을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Dwconv</a:t>
            </a:r>
            <a:r>
              <a:rPr kumimoji="1" lang="ko-KR" altLang="en-US" dirty="0"/>
              <a:t>는 채널별 독립적으로 공간 필터를 적용해서 순수 공간 패턴을 잡고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연산량을</a:t>
            </a:r>
            <a:r>
              <a:rPr kumimoji="1" lang="ko-KR" altLang="en-US" dirty="0"/>
              <a:t> 줄여줍니다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3</a:t>
            </a:r>
            <a:r>
              <a:rPr kumimoji="1" lang="ko-KR" altLang="en-US" dirty="0"/>
              <a:t>번째 </a:t>
            </a:r>
            <a:r>
              <a:rPr kumimoji="1" lang="en-US" altLang="ko-KR" dirty="0"/>
              <a:t>stage</a:t>
            </a:r>
            <a:r>
              <a:rPr kumimoji="1" lang="ko-KR" altLang="en-US" dirty="0"/>
              <a:t>가 층이 </a:t>
            </a:r>
            <a:r>
              <a:rPr kumimoji="1" lang="ko-KR" altLang="en-US" dirty="0" err="1"/>
              <a:t>깊은것은</a:t>
            </a:r>
            <a:r>
              <a:rPr kumimoji="1" lang="ko-KR" altLang="en-US" dirty="0"/>
              <a:t> 먼저 </a:t>
            </a:r>
            <a:r>
              <a:rPr kumimoji="1" lang="en-US" altLang="ko-KR" dirty="0" err="1"/>
              <a:t>swin</a:t>
            </a:r>
            <a:r>
              <a:rPr kumimoji="1" lang="ko-KR" altLang="en-US" dirty="0"/>
              <a:t>이나 </a:t>
            </a:r>
            <a:r>
              <a:rPr kumimoji="1" lang="en-US" altLang="ko-KR" dirty="0" err="1"/>
              <a:t>convnext</a:t>
            </a:r>
            <a:r>
              <a:rPr kumimoji="1" lang="ko-KR" altLang="en-US" dirty="0"/>
              <a:t>와 같은 최신 백본도 이런 방식이기 때문이고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스테이지가 계산 대비 표현력이 가장 높기 때문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F5BF3B-B3AF-65FF-B89A-58960AEE2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667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6A434-9F1F-4BB2-44DA-C7D1A8085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98256F-EB30-7ABC-324B-CC20E5AE5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3CBEE1-8C5A-0C31-1750-9075C79D7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이제 </a:t>
            </a:r>
            <a:r>
              <a:rPr kumimoji="1" lang="en-US" altLang="ko-KR" dirty="0" err="1"/>
              <a:t>patchify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 </a:t>
            </a:r>
            <a:r>
              <a:rPr kumimoji="1" lang="ko-KR" altLang="en-US" dirty="0" err="1"/>
              <a:t>설명할텐데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먼저 </a:t>
            </a:r>
            <a:r>
              <a:rPr kumimoji="1" lang="en-US" altLang="ko-KR" dirty="0" err="1"/>
              <a:t>Vmamba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patchfiy</a:t>
            </a:r>
            <a:r>
              <a:rPr kumimoji="1" lang="ko-KR" altLang="en-US" dirty="0"/>
              <a:t>는 </a:t>
            </a:r>
            <a:r>
              <a:rPr kumimoji="1" lang="en-US" altLang="ko-KR" dirty="0" err="1"/>
              <a:t>ViT</a:t>
            </a:r>
            <a:r>
              <a:rPr kumimoji="1" lang="ko-KR" altLang="en-US" dirty="0"/>
              <a:t>와 같이 패치로 진짜 </a:t>
            </a:r>
            <a:r>
              <a:rPr kumimoji="1" lang="ko-KR" altLang="en-US" dirty="0" err="1"/>
              <a:t>쪼개는게</a:t>
            </a:r>
            <a:r>
              <a:rPr kumimoji="1" lang="ko-KR" altLang="en-US" dirty="0"/>
              <a:t> 아닙니다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이미지의 </a:t>
            </a:r>
            <a:r>
              <a:rPr kumimoji="1" lang="en-US" altLang="ko-KR" dirty="0" err="1"/>
              <a:t>patch_size</a:t>
            </a:r>
            <a:r>
              <a:rPr kumimoji="1" lang="en-US" altLang="ko-KR" dirty="0"/>
              <a:t>*</a:t>
            </a:r>
            <a:r>
              <a:rPr kumimoji="1" lang="en-US" altLang="ko-KR" dirty="0" err="1"/>
              <a:t>patch_size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하나의 토큰으로 </a:t>
            </a:r>
            <a:r>
              <a:rPr kumimoji="1" lang="ko-KR" altLang="en-US" dirty="0" err="1"/>
              <a:t>보는것을</a:t>
            </a:r>
            <a:r>
              <a:rPr kumimoji="1" lang="ko-KR" altLang="en-US" dirty="0"/>
              <a:t> 의미합니다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따라서 본 논문에서 패치사이즈를 </a:t>
            </a:r>
            <a:r>
              <a:rPr kumimoji="1" lang="en-US" altLang="ko-KR" dirty="0"/>
              <a:t>4</a:t>
            </a:r>
            <a:r>
              <a:rPr kumimoji="1" lang="ko-KR" altLang="en-US" dirty="0"/>
              <a:t>로 제안하고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맨 처음 </a:t>
            </a:r>
            <a:r>
              <a:rPr kumimoji="1" lang="en-US" altLang="ko-KR" dirty="0"/>
              <a:t>vanilla </a:t>
            </a:r>
            <a:r>
              <a:rPr kumimoji="1" lang="en-US" altLang="ko-KR" dirty="0" err="1"/>
              <a:t>Vmamba</a:t>
            </a:r>
            <a:r>
              <a:rPr kumimoji="1" lang="ko-KR" altLang="en-US" dirty="0"/>
              <a:t>에서는 </a:t>
            </a:r>
            <a:r>
              <a:rPr kumimoji="1" lang="en-US" altLang="ko-KR" dirty="0"/>
              <a:t>conv 4x4, stride4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적용함으로써 </a:t>
            </a:r>
            <a:r>
              <a:rPr kumimoji="1" lang="en-US" altLang="ko-KR" dirty="0" err="1"/>
              <a:t>patchify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함을 볼 수 있습니다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84026-1ECC-D987-3BF7-29BA0CA02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820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3AB0-1635-1669-D243-E0C09AD09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2AABEC-3642-5639-27B3-894990DC7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F91ECA-DC35-B73E-1CC7-7091DB194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그러나 나중에는 실험을 해보면서 </a:t>
            </a:r>
            <a:r>
              <a:rPr kumimoji="1" lang="en-US" altLang="ko-KR" dirty="0"/>
              <a:t>3x3 conv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stride </a:t>
            </a:r>
            <a:r>
              <a:rPr kumimoji="1" lang="ko-KR" altLang="en-US" dirty="0"/>
              <a:t>는 </a:t>
            </a:r>
            <a:r>
              <a:rPr kumimoji="1" lang="en-US" altLang="ko-KR" dirty="0" err="1"/>
              <a:t>patch_size</a:t>
            </a:r>
            <a:r>
              <a:rPr kumimoji="1" lang="en-US" altLang="ko-KR" dirty="0"/>
              <a:t>//2, padding 1</a:t>
            </a:r>
            <a:r>
              <a:rPr kumimoji="1" lang="ko-KR" altLang="en-US" dirty="0"/>
              <a:t>로 하기로 결정 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왜 </a:t>
            </a:r>
            <a:r>
              <a:rPr kumimoji="1" lang="en-US" altLang="ko-KR" dirty="0"/>
              <a:t>conv 4x4 stride 4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3x3 conv stride 2 padding 1</a:t>
            </a:r>
            <a:r>
              <a:rPr kumimoji="1" lang="ko-KR" altLang="en-US" dirty="0"/>
              <a:t>이 같은 </a:t>
            </a:r>
            <a:r>
              <a:rPr kumimoji="1" lang="en-US" altLang="ko-KR" dirty="0" err="1"/>
              <a:t>patchify</a:t>
            </a:r>
            <a:r>
              <a:rPr kumimoji="1" lang="ko-KR" altLang="en-US" dirty="0" err="1"/>
              <a:t>냐면</a:t>
            </a:r>
            <a:endParaRPr kumimoji="1" lang="en-US" altLang="ko-KR" dirty="0"/>
          </a:p>
          <a:p>
            <a:r>
              <a:rPr kumimoji="1" lang="ko-KR" altLang="en-US" dirty="0"/>
              <a:t>우선 </a:t>
            </a:r>
            <a:r>
              <a:rPr kumimoji="1" lang="en-US" altLang="ko-KR" dirty="0"/>
              <a:t>output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224-&gt;56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같습니다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전자가 </a:t>
            </a:r>
            <a:r>
              <a:rPr kumimoji="1" lang="en-US" altLang="ko-KR" dirty="0"/>
              <a:t>4x4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하나의 토큰으로 보는 것</a:t>
            </a:r>
            <a:r>
              <a:rPr kumimoji="1" lang="en-US" altLang="ko-KR" dirty="0"/>
              <a:t>, </a:t>
            </a:r>
            <a:r>
              <a:rPr kumimoji="1" lang="ko-KR" altLang="en-US" dirty="0"/>
              <a:t>우리가 의도한 </a:t>
            </a:r>
            <a:r>
              <a:rPr kumimoji="1" lang="en-US" altLang="ko-KR" dirty="0" err="1"/>
              <a:t>patchify</a:t>
            </a:r>
            <a:r>
              <a:rPr kumimoji="1" lang="ko-KR" altLang="en-US" dirty="0"/>
              <a:t>와 직관적으로 더 가깝지만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일단 </a:t>
            </a:r>
            <a:r>
              <a:rPr kumimoji="1" lang="en-US" altLang="ko-KR" dirty="0"/>
              <a:t>output, </a:t>
            </a:r>
            <a:r>
              <a:rPr kumimoji="1" lang="ko-KR" altLang="en-US" dirty="0"/>
              <a:t>즉 토큰 수가 같으니 의미적으로 같은 </a:t>
            </a:r>
            <a:r>
              <a:rPr kumimoji="1" lang="en-US" altLang="ko-KR" dirty="0" err="1"/>
              <a:t>patchify</a:t>
            </a:r>
            <a:r>
              <a:rPr kumimoji="1" lang="ko-KR" altLang="en-US" dirty="0"/>
              <a:t>로 </a:t>
            </a:r>
            <a:r>
              <a:rPr kumimoji="1" lang="ko-KR" altLang="en-US" dirty="0" err="1"/>
              <a:t>보는것입니다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근데 후자가 </a:t>
            </a:r>
            <a:r>
              <a:rPr kumimoji="1" lang="en-US" altLang="ko-KR" dirty="0"/>
              <a:t>receptive field </a:t>
            </a:r>
            <a:r>
              <a:rPr kumimoji="1" lang="ko-KR" altLang="en-US" dirty="0"/>
              <a:t>공식을 대입하면 </a:t>
            </a:r>
            <a:r>
              <a:rPr kumimoji="1" lang="en-US" altLang="ko-KR" dirty="0"/>
              <a:t>7x7</a:t>
            </a:r>
            <a:r>
              <a:rPr kumimoji="1" lang="ko-KR" altLang="en-US" dirty="0"/>
              <a:t>로 더 넓은 지역을 </a:t>
            </a:r>
            <a:r>
              <a:rPr kumimoji="1" lang="ko-KR" altLang="en-US" dirty="0" err="1"/>
              <a:t>보는것을</a:t>
            </a:r>
            <a:r>
              <a:rPr kumimoji="1" lang="ko-KR" altLang="en-US" dirty="0"/>
              <a:t> 알 수 있습니다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따라서 후자가 더 좋은 성능을 내고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이런 </a:t>
            </a:r>
            <a:r>
              <a:rPr kumimoji="1" lang="en-US" altLang="ko-KR" dirty="0"/>
              <a:t>conv</a:t>
            </a:r>
            <a:r>
              <a:rPr kumimoji="1" lang="ko-KR" altLang="en-US" dirty="0"/>
              <a:t>로 </a:t>
            </a:r>
            <a:r>
              <a:rPr kumimoji="1" lang="en-US" altLang="ko-KR" dirty="0" err="1"/>
              <a:t>patchify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했다고 이해하시면 됩니다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마지막으로 </a:t>
            </a:r>
            <a:r>
              <a:rPr kumimoji="1" lang="en-US" altLang="ko-KR" dirty="0"/>
              <a:t>channel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 생각해보겠습니다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우리는 분명 </a:t>
            </a:r>
            <a:r>
              <a:rPr kumimoji="1" lang="en-US" altLang="ko-KR" dirty="0"/>
              <a:t>2d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1d</a:t>
            </a:r>
            <a:r>
              <a:rPr kumimoji="1" lang="ko-KR" altLang="en-US" dirty="0"/>
              <a:t>로 한다고 했는데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cnn</a:t>
            </a:r>
            <a:r>
              <a:rPr kumimoji="1" lang="ko-KR" altLang="en-US" dirty="0"/>
              <a:t>을 다시 잘 생각해보시면</a:t>
            </a:r>
            <a:r>
              <a:rPr kumimoji="1" lang="en-US" altLang="ko-KR" dirty="0"/>
              <a:t> input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3d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W*h*c</a:t>
            </a:r>
            <a:r>
              <a:rPr kumimoji="1" lang="ko-KR" altLang="en-US" dirty="0"/>
              <a:t>로 그런데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왜 </a:t>
            </a:r>
            <a:r>
              <a:rPr kumimoji="1" lang="en-US" altLang="ko-KR" dirty="0"/>
              <a:t>2d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1d</a:t>
            </a:r>
            <a:r>
              <a:rPr kumimoji="1" lang="ko-KR" altLang="en-US" dirty="0"/>
              <a:t>로 한다고 표현할까요</a:t>
            </a:r>
            <a:r>
              <a:rPr kumimoji="1" lang="en-US" altLang="ko-KR" dirty="0"/>
              <a:t>?</a:t>
            </a: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B5F368-A004-49C5-20F4-666F8A472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071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5456E-063C-0385-5536-DAEDB6B8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D80763-02ED-47E3-ED90-39396ACC0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3B8EF3-B918-3A3C-94F2-BA0EFD837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이건 </a:t>
            </a:r>
            <a:r>
              <a:rPr kumimoji="1" lang="ko-KR" altLang="en-US" dirty="0" err="1"/>
              <a:t>맘바</a:t>
            </a:r>
            <a:r>
              <a:rPr kumimoji="1" lang="ko-KR" altLang="en-US" dirty="0"/>
              <a:t> 원래의 형태를 </a:t>
            </a:r>
            <a:r>
              <a:rPr kumimoji="1" lang="ko-KR" altLang="en-US" dirty="0" err="1"/>
              <a:t>알아야하는데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 err="1"/>
              <a:t>맘바는</a:t>
            </a:r>
            <a:r>
              <a:rPr kumimoji="1" lang="ko-KR" altLang="en-US" dirty="0"/>
              <a:t> 당연히 </a:t>
            </a:r>
            <a:r>
              <a:rPr kumimoji="1" lang="en-US" altLang="ko-KR" dirty="0"/>
              <a:t>literally 1d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input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하는게</a:t>
            </a:r>
            <a:r>
              <a:rPr kumimoji="1" lang="ko-KR" altLang="en-US" dirty="0"/>
              <a:t> 아닌 </a:t>
            </a:r>
            <a:r>
              <a:rPr kumimoji="1" lang="en-US" altLang="ko-KR" dirty="0"/>
              <a:t>Batch*length*D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input</a:t>
            </a:r>
            <a:r>
              <a:rPr kumimoji="1" lang="ko-KR" altLang="en-US" dirty="0"/>
              <a:t>을 받습니다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배치는 빼고 생각해보면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입력이 </a:t>
            </a:r>
            <a:r>
              <a:rPr kumimoji="1" lang="en-US" altLang="ko-KR" dirty="0"/>
              <a:t>1d</a:t>
            </a:r>
            <a:r>
              <a:rPr kumimoji="1" lang="ko-KR" altLang="en-US" dirty="0"/>
              <a:t>는 맞지만</a:t>
            </a:r>
            <a:r>
              <a:rPr kumimoji="1" lang="en-US" altLang="ko-KR" dirty="0"/>
              <a:t>, L*D</a:t>
            </a:r>
            <a:r>
              <a:rPr kumimoji="1" lang="ko-KR" altLang="en-US" dirty="0"/>
              <a:t>로 실제로는 </a:t>
            </a:r>
            <a:r>
              <a:rPr kumimoji="1" lang="en-US" altLang="ko-KR" dirty="0"/>
              <a:t>2d</a:t>
            </a:r>
            <a:r>
              <a:rPr kumimoji="1" lang="ko-KR" altLang="en-US" dirty="0"/>
              <a:t>로 처리합니다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저 </a:t>
            </a:r>
            <a:r>
              <a:rPr kumimoji="1" lang="en-US" altLang="ko-KR" dirty="0"/>
              <a:t>D</a:t>
            </a:r>
            <a:r>
              <a:rPr kumimoji="1" lang="ko-KR" altLang="en-US" dirty="0"/>
              <a:t>는 대충 </a:t>
            </a:r>
            <a:r>
              <a:rPr kumimoji="1" lang="ko-KR" altLang="en-US" dirty="0" err="1"/>
              <a:t>워드임베딩</a:t>
            </a:r>
            <a:r>
              <a:rPr kumimoji="1" lang="ko-KR" altLang="en-US" dirty="0"/>
              <a:t> </a:t>
            </a:r>
            <a:r>
              <a:rPr kumimoji="1" lang="en-US" altLang="ko-KR" dirty="0"/>
              <a:t>size</a:t>
            </a:r>
            <a:r>
              <a:rPr kumimoji="1" lang="ko-KR" altLang="en-US" dirty="0"/>
              <a:t>로 생각하시면 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 </a:t>
            </a:r>
            <a:r>
              <a:rPr kumimoji="1" lang="en-US" altLang="ko-KR" dirty="0"/>
              <a:t>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channel</a:t>
            </a:r>
            <a:r>
              <a:rPr kumimoji="1" lang="ko-KR" altLang="en-US" dirty="0"/>
              <a:t>로 사용하게 되는 겁니다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B42DB8-C550-063B-C784-69765F093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932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A8D6-A2B0-F503-0C54-14A688EF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C91EA9-247D-B09D-6B64-19241CCCE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8876E2-35A1-E39C-43A9-E6845929E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93F90-89AD-30D6-2E14-73E63DBA3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977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BAF2-AAAC-35DC-323B-C20C72452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0C901C-583F-D3B3-016F-2C256F8F5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21EC6D-5442-7701-1854-23E151FF9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Image classification: ImageNet-1K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2F8DD-10B7-1BB4-30D0-B4E331760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814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63173-23C9-EC2B-BCEA-664D4C577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3D7094-EF50-5BF1-3C61-6F4BD1A16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B27139-8E1F-48DF-CDF0-00C009059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object detection and instance segmentation on MSCOCO</a:t>
            </a:r>
            <a:br>
              <a:rPr kumimoji="1" lang="en-US" altLang="ko-KR" dirty="0"/>
            </a:br>
            <a:r>
              <a:rPr kumimoji="1" lang="en-US" altLang="ko-KR" dirty="0"/>
              <a:t>semantic segmentation on ADE20K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A9492B-1384-D6CE-C5AA-AD14957B5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683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E6A4-0908-CCB4-7FEC-9D3FE1FF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6AF72C-F1E0-D436-0993-85F63F149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36F61-D2B8-3045-8832-38E41C82C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/>
              <a:t>finetuning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E499A5-9009-D37A-B987-91CAD36CF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257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B713D-7818-C9B0-6D5E-B5116F5B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61469A-FEAA-3F9C-2779-D8701134E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0CCEDD-7C67-0B4B-E27C-E05424DF3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943067-3A78-F616-DC63-320045627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201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D4B1-C630-CE02-ADEC-86541F92B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5ED663-AC4B-404C-C990-3F5759A62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859A53-AC38-A47E-AFA3-36012543E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464EB-48CB-19EC-DE40-3758F9CB7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324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6BF74-307C-D50F-4F71-4D00BC7B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273A7C-4323-0F1F-66A5-3EACD5D82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0B577-19C5-9A5F-9701-E4C3A2779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Gated Linear Attention (GLA) </a:t>
            </a:r>
            <a:r>
              <a:rPr kumimoji="1" lang="ko-KR" altLang="en-US" dirty="0"/>
              <a:t>과 수식이 유사하다고 주장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F25F3-6E38-B3CE-F310-AD87895A0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535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5F205-ECE2-D8A1-0110-05C23032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9BE4F0-11AE-B489-021A-5C2E426A9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FD32C5-37CA-9193-118E-55E3B4DEB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Gated Linear Attention (GLA) </a:t>
            </a:r>
            <a:r>
              <a:rPr kumimoji="1" lang="ko-KR" altLang="en-US" dirty="0"/>
              <a:t>과 수식이 유사하다고 주장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06155-B1B6-05A3-6973-8EFEB6DCF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9175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3C48-173A-3C2D-1CBA-05931411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F34789-705B-51BF-78D8-36EB9D17F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AE08A5-5757-3CA0-4561-8EF292F02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Gated Linear Attention (GLA) </a:t>
            </a:r>
            <a:r>
              <a:rPr kumimoji="1" lang="ko-KR" altLang="en-US" dirty="0"/>
              <a:t>과 수식이 유사하다고 주장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D0DB49-753C-AE04-FEB3-8A73619F4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059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9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931282" cy="792088"/>
            <a:chOff x="827584" y="5517232"/>
            <a:chExt cx="2948461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92277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515914" cy="724861"/>
            <a:chOff x="827584" y="5805264"/>
            <a:chExt cx="2178982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40368" cy="287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37151" cy="652853"/>
            <a:chOff x="827584" y="5805264"/>
            <a:chExt cx="2365121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26507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49522-1E40-0049-A66A-5CFF68A0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25" y="1904304"/>
            <a:ext cx="10847683" cy="1296144"/>
          </a:xfrm>
        </p:spPr>
        <p:txBody>
          <a:bodyPr>
            <a:normAutofit/>
          </a:bodyPr>
          <a:lstStyle/>
          <a:p>
            <a:r>
              <a:rPr lang="en-US" b="1" dirty="0" err="1">
                <a:cs typeface="Times New Roman" panose="02020603050405020304" pitchFamily="18" charset="0"/>
              </a:rPr>
              <a:t>VMamba</a:t>
            </a:r>
            <a:r>
              <a:rPr lang="en-US" b="1" dirty="0">
                <a:cs typeface="Times New Roman" panose="02020603050405020304" pitchFamily="18" charset="0"/>
              </a:rPr>
              <a:t>: Visual State Space Model</a:t>
            </a:r>
            <a:endParaRPr lang="en-KR" b="1" dirty="0">
              <a:cs typeface="Times New Roman" panose="02020603050405020304" pitchFamily="18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3B9364B0-10F8-B7A0-4642-F25293BD8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819" y="3573016"/>
            <a:ext cx="5400363" cy="541736"/>
          </a:xfrm>
        </p:spPr>
        <p:txBody>
          <a:bodyPr/>
          <a:lstStyle/>
          <a:p>
            <a:r>
              <a:rPr lang="en-US" altLang="ko-KR" dirty="0" err="1"/>
              <a:t>Hyunoh</a:t>
            </a:r>
            <a:r>
              <a:rPr lang="en-US" altLang="ko-KR" dirty="0"/>
              <a:t> Kang</a:t>
            </a:r>
            <a:endParaRPr lang="ko-KR" alt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1D96A54-999D-9330-32FF-E828B9716FCE}"/>
              </a:ext>
            </a:extLst>
          </p:cNvPr>
          <p:cNvSpPr txBox="1">
            <a:spLocks/>
          </p:cNvSpPr>
          <p:nvPr/>
        </p:nvSpPr>
        <p:spPr>
          <a:xfrm>
            <a:off x="720925" y="3081489"/>
            <a:ext cx="1084768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000" kern="12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en-US" sz="2000" dirty="0" err="1">
                <a:cs typeface="Times New Roman" panose="02020603050405020304" pitchFamily="18" charset="0"/>
              </a:rPr>
              <a:t>NeurIPS</a:t>
            </a:r>
            <a:r>
              <a:rPr lang="en-US" sz="2000" dirty="0">
                <a:cs typeface="Times New Roman" panose="02020603050405020304" pitchFamily="18" charset="0"/>
              </a:rPr>
              <a:t> 2024 / 1465 citations (~4/28)</a:t>
            </a:r>
            <a:endParaRPr lang="en-KR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8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3D9A593-FB0A-6691-35B2-30C991A8C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2BB53AF-37B3-BDFD-6582-BD675C54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1026" name="Picture 2" descr="Decoding Mamba: The Next Big Leap in AI Sequence Modeling | by azhar |  azhar labs | Medium">
            <a:extLst>
              <a:ext uri="{FF2B5EF4-FFF2-40B4-BE49-F238E27FC236}">
                <a16:creationId xmlns:a16="http://schemas.microsoft.com/office/drawing/2014/main" id="{68185778-E6FB-CFB6-6A2F-35391999A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979" y="1472412"/>
            <a:ext cx="8181630" cy="460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14D10B-0190-BECF-B50C-43DF9EB8686E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Decoding Mamba: The Next Big Leap in AI Sequence Modeling | by </a:t>
            </a:r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azhar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 | </a:t>
            </a:r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azhar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 labs | Medium</a:t>
            </a:r>
          </a:p>
        </p:txBody>
      </p:sp>
    </p:spTree>
    <p:extLst>
      <p:ext uri="{BB962C8B-B14F-4D97-AF65-F5344CB8AC3E}">
        <p14:creationId xmlns:p14="http://schemas.microsoft.com/office/powerpoint/2010/main" val="387937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D064D-0F9F-3D5E-6837-40343069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004D0B0-5AF6-1A67-5CD6-7F94BC1F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254B62C-E9D2-FE21-E1A5-B0CC35D51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ADD0F3-C99B-D2D0-379D-2C3B47D7F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05979" y="1473912"/>
            <a:ext cx="8181630" cy="460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7AD50F-F91B-4B82-ADEE-8CFC9095B346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 Visual Guide to Mamba and State Space Models</a:t>
            </a:r>
          </a:p>
        </p:txBody>
      </p:sp>
    </p:spTree>
    <p:extLst>
      <p:ext uri="{BB962C8B-B14F-4D97-AF65-F5344CB8AC3E}">
        <p14:creationId xmlns:p14="http://schemas.microsoft.com/office/powerpoint/2010/main" val="118042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2137-47B8-7465-3EFB-367D8D9E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7917971-33FE-002D-B012-4896D635D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00F113-3BBF-8345-0A9A-2BC9CDA63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F5E6C1E-FC3D-4D69-79ED-36BDD4B10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42189" y="2050812"/>
            <a:ext cx="5275798" cy="354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EEE044F-B1FC-6DDE-F77B-65A26B59F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4656" y="1304896"/>
            <a:ext cx="5040000" cy="189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8C3A06A-58C6-8CFB-13FA-B56C3EC39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56" y="3950016"/>
            <a:ext cx="5040000" cy="212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9B80EA-BF5C-5BFC-EE77-8A2CBDC8A263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 Visual Guide to Mamba and State Space Models</a:t>
            </a:r>
          </a:p>
        </p:txBody>
      </p:sp>
      <p:sp>
        <p:nvSpPr>
          <p:cNvPr id="5" name="아래쪽 화살표[D] 4">
            <a:extLst>
              <a:ext uri="{FF2B5EF4-FFF2-40B4-BE49-F238E27FC236}">
                <a16:creationId xmlns:a16="http://schemas.microsoft.com/office/drawing/2014/main" id="{8A5538BB-D127-354B-98FF-95C530851C4F}"/>
              </a:ext>
            </a:extLst>
          </p:cNvPr>
          <p:cNvSpPr/>
          <p:nvPr/>
        </p:nvSpPr>
        <p:spPr>
          <a:xfrm>
            <a:off x="3135086" y="3203951"/>
            <a:ext cx="332014" cy="61693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820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0F2A-43C2-9E34-6E52-9B0B4A47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41674F5-7675-1EDF-5E11-BCBD91F6E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CE019DD-EA6D-7203-33A0-AAB0CBB9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B13C7-4B80-97E5-1E97-4BB8D537B485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 Visual Guide to Mamba and State Space Models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76B15DE-E1AF-CD3C-B53D-AAAED11F9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0172" y="2340561"/>
            <a:ext cx="5399542" cy="21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333F0715-6257-3322-2940-F24AF9800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12151" y="1628444"/>
            <a:ext cx="5399812" cy="360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962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3BB6-482B-1CCF-0A82-41352193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C1D0BCE-8339-EA67-FFE1-5C104F354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E15F3DB-6604-E330-CBDB-9196769CE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2D-Selective-Scan(2DSS)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40B35-EE36-C96F-3536-848F232063A3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A80C34-0730-A9F8-0CB7-A7BABAB76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09" y="2144486"/>
            <a:ext cx="11410982" cy="287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2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B76B-C227-535F-E033-3A29B816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842508C-A20E-A089-21B4-CA96158D0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9571E96-5588-9E35-ADF7-A7831E56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2D-Selective-Scan(2DSS)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15074B-AB26-7A4E-82C9-8527FAB0C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509" y="2357614"/>
            <a:ext cx="11410982" cy="2447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09FB56-9C4D-BD09-025D-B14FCBC6BBF1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</p:spTree>
    <p:extLst>
      <p:ext uri="{BB962C8B-B14F-4D97-AF65-F5344CB8AC3E}">
        <p14:creationId xmlns:p14="http://schemas.microsoft.com/office/powerpoint/2010/main" val="321407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CD10-2877-704F-A294-BD393580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E450875-F0CA-E38B-696D-C2B2A2758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34A5311-7273-A059-5D7D-5BE706B8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67D6C-866E-48B6-548E-979A53D07815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312ACD-5739-D08A-BFC6-6B6CDE195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1314"/>
            <a:ext cx="6688820" cy="24996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6CDBF5-F7EB-798F-73FE-0C042BEEB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820" y="1966394"/>
            <a:ext cx="5347164" cy="2925212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61914204-84FE-A8B5-646A-2A974D179D69}"/>
              </a:ext>
            </a:extLst>
          </p:cNvPr>
          <p:cNvCxnSpPr/>
          <p:nvPr/>
        </p:nvCxnSpPr>
        <p:spPr>
          <a:xfrm>
            <a:off x="6688820" y="1304764"/>
            <a:ext cx="0" cy="477281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74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15395-61D0-3353-8568-12D0D0A32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3480DCB-5AE9-44C3-3484-82A5F79AD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13F1A57-289A-5455-CCF4-6A004109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C3A0A-9EB4-11D2-F306-F51C5DC53D42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 Visual Guide to Mamba and State Space Models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9A1289-9B68-387E-E5EE-55182493D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755" y="0"/>
            <a:ext cx="6560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3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F616-857A-48BB-4D02-5784166BA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8B2D5D-4396-3763-F568-62E280DC7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527F5F-FBA0-669D-F9DD-D896E54C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B288FB-519F-B6C3-DC7E-F23FD1185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086" y="408187"/>
            <a:ext cx="7772400" cy="6041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FA260A-2BAB-F25B-4A4C-6ABD38767746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</p:spTree>
    <p:extLst>
      <p:ext uri="{BB962C8B-B14F-4D97-AF65-F5344CB8AC3E}">
        <p14:creationId xmlns:p14="http://schemas.microsoft.com/office/powerpoint/2010/main" val="716748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EA25F-0866-3871-63CA-6C8F73FE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D041D89-B072-5E32-2909-BA9B84B24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278855A-FA42-B7E1-50BC-199A2A3C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2E896-2206-D722-AAFA-5701ED2EF4E3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 Visual Guide to Mamba and State Space Models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6BB5A8-42FE-1B0C-E027-D35FD0274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755" y="0"/>
            <a:ext cx="6560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51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8ED2-5E73-E62A-35C5-51F4A876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C3142A2-F220-D87A-AFD2-9D5FCA5F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32AF3AB-2599-211E-B15A-8D6E996C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9A3674-942A-12FB-99F0-AB0341FE7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086" y="408187"/>
            <a:ext cx="7772400" cy="6041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FD91FA-F794-515C-5B82-B261B3DCAA52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</p:spTree>
    <p:extLst>
      <p:ext uri="{BB962C8B-B14F-4D97-AF65-F5344CB8AC3E}">
        <p14:creationId xmlns:p14="http://schemas.microsoft.com/office/powerpoint/2010/main" val="1892179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518E-F9C8-57AE-BFFE-2ADB52649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00A3A9B-A2B8-A239-914F-D8B5DE88E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DF747B6-DD7B-0802-F6FE-660F5791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F7B1E-D25A-08FA-30AE-C7C91A175A79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Mamba: Linear-Time Sequence Modeling with Selective State Spaces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96C2AD-2231-24FB-D7CB-7766E5859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554" y="1723303"/>
            <a:ext cx="7158892" cy="423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4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1976-A4C4-AA4B-9871-177C414CE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FC60CF8-D005-F91C-A900-F624AB6FD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668B40B-0E20-A2D4-4B8D-82FAA36B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F976F-D813-18E0-9D43-F8B074F39422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2FA6019-4E2F-5C58-7F71-9F603A5A9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521" y="122511"/>
            <a:ext cx="4718957" cy="661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36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A0C3-F4B9-0360-65D0-87D82AE1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3E9F7BF-7152-EA47-6F30-3B94F51E2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82A1549-E0D6-C2A8-17BC-593FBDBD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8B145-B84B-8E76-40E9-EB2FB6F5115F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E2AFFF-9513-63EF-C19B-79302D518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03" y="1390936"/>
            <a:ext cx="11285994" cy="460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50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2885-9F72-D2E8-F100-157577F0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793F8EE-0717-9232-9BFD-557F4A7F8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1602E37-1046-B286-BAE2-2B3E0A3E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64496-171E-F9EB-DB72-448B304D4BAF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050603-2EED-C38B-85BD-A2D2055BB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920" y="1304765"/>
            <a:ext cx="8160160" cy="477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98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2234-C64A-62EE-C551-62EA7FF3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C145098-4D85-DD06-18E0-64DEA197F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D6E103E-2A95-25E8-39DC-A46A266C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7208F-0A03-79E8-2EF9-FF210A387B6D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9F6FE7B-7A3E-DD99-98D8-F74152D3E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70" y="2873828"/>
            <a:ext cx="11462060" cy="111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32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1073-6D1E-0378-1D82-4A2439C27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8C45783-70B1-2316-069E-C43EB6B58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432057C-C639-C8DC-E8D6-25213B37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D11B6-9124-4C12-7622-734A2FD936A1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599B4C-C571-F992-8490-85FB50162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05" y="2209800"/>
            <a:ext cx="1129399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31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D637-90FA-C261-90E2-94B872781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0BE0A44-C103-00C6-BE25-3D3735290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Relationship between SS2D and Self-attention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5BD40C6-AEB4-5A29-D421-8FC2F637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A</a:t>
            </a:r>
            <a:r>
              <a:rPr lang="en" altLang="ko-KR" b="1" dirty="0"/>
              <a:t>dd Unnecessary Details</a:t>
            </a:r>
            <a:endParaRPr lang="en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E3DE4-B4A0-B3DA-2932-C3BB97A1F07B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DC61D6-0838-95C2-BA8C-C7033B763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14641"/>
            <a:ext cx="5834743" cy="22736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92748EF-C41F-2F93-D7C3-B2BA5DB39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1" y="4311958"/>
            <a:ext cx="3536950" cy="698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3446FC2-6017-F4A4-1C2B-4B0EC52EC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4928788"/>
            <a:ext cx="3886200" cy="9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5B2A3EC-AFCA-5738-4853-F37C2469B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6121899"/>
            <a:ext cx="3886200" cy="48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55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47639-2000-5318-0A64-3594A163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5AE84FD-2BB1-9E79-13B1-2045E84EE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Relationship between SS2D and Self-attention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13D9E1-45FA-FF2C-3E39-D860655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A</a:t>
            </a:r>
            <a:r>
              <a:rPr lang="en" altLang="ko-KR" b="1" dirty="0"/>
              <a:t>dd Unnecessary Details</a:t>
            </a:r>
            <a:endParaRPr lang="en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DFF3F-7F85-6E59-2410-312F0C7CD62E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C34C98-B627-931B-A73F-DA3FF7D27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25975"/>
            <a:ext cx="7772400" cy="100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68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ABD52-7697-DA74-98C5-90D979B87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FD1B758-C46C-A15D-FBE9-A8AC34801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Visualization of Attention and Activation Maps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F7936EA-2B62-2BCA-FF74-8479C4C0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A</a:t>
            </a:r>
            <a:r>
              <a:rPr lang="en" altLang="ko-KR" b="1" dirty="0"/>
              <a:t>dd Unnecessary Details</a:t>
            </a:r>
            <a:endParaRPr lang="en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35349-2B5E-49C2-6648-864A53B8AD3D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9AD3A2-F5F0-6FAA-1365-A2966C274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12" y="2394857"/>
            <a:ext cx="10410776" cy="339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79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37F8-F277-483B-544F-4451F0B3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2CAA89-57A6-BCB0-9A5B-C4D6E49E4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Visualization of Attention and Activation Maps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124424-35E3-48E8-7711-5220E747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A</a:t>
            </a:r>
            <a:r>
              <a:rPr lang="en" altLang="ko-KR" b="1" dirty="0"/>
              <a:t>dd Unnecessary Details</a:t>
            </a:r>
            <a:endParaRPr lang="en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DCB46-2415-3286-43DD-B05C4359F8BF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VMamba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: Visual State Space Model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8C98E1-96EA-B976-2F24-75C5AE2D9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6743" y="1959373"/>
            <a:ext cx="6618514" cy="461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473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13265</TotalTime>
  <Words>1100</Words>
  <Application>Microsoft Macintosh PowerPoint</Application>
  <PresentationFormat>와이드스크린</PresentationFormat>
  <Paragraphs>141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33" baseType="lpstr">
      <vt:lpstr>맑은 고딕</vt:lpstr>
      <vt:lpstr>Yoon 윤고딕 115_TT</vt:lpstr>
      <vt:lpstr>Arial</vt:lpstr>
      <vt:lpstr>Candara</vt:lpstr>
      <vt:lpstr>Corbel</vt:lpstr>
      <vt:lpstr>Times New Roman</vt:lpstr>
      <vt:lpstr>Wingdings</vt:lpstr>
      <vt:lpstr>Wingdings 3</vt:lpstr>
      <vt:lpstr>Office 테마</vt:lpstr>
      <vt:lpstr>1_Office 테마</vt:lpstr>
      <vt:lpstr>VMamba: Visual State Space Model</vt:lpstr>
      <vt:lpstr>Introduction</vt:lpstr>
      <vt:lpstr>Introduction</vt:lpstr>
      <vt:lpstr>Introduction</vt:lpstr>
      <vt:lpstr>Introduction</vt:lpstr>
      <vt:lpstr>2D-Selective-Scan(2DSS)</vt:lpstr>
      <vt:lpstr>2D-Selective-Scan(2DSS)</vt:lpstr>
      <vt:lpstr>Architecture</vt:lpstr>
      <vt:lpstr>Architecture</vt:lpstr>
      <vt:lpstr>Architecture</vt:lpstr>
      <vt:lpstr>Architecture</vt:lpstr>
      <vt:lpstr>Architecture</vt:lpstr>
      <vt:lpstr>Architecture</vt:lpstr>
      <vt:lpstr>Experiments</vt:lpstr>
      <vt:lpstr>Experiments</vt:lpstr>
      <vt:lpstr>Experiments</vt:lpstr>
      <vt:lpstr>Experiments</vt:lpstr>
      <vt:lpstr>Experiments</vt:lpstr>
      <vt:lpstr>Add Unnecessary Details</vt:lpstr>
      <vt:lpstr>Add Unnecessary Details</vt:lpstr>
      <vt:lpstr>Add Unnecessary Details</vt:lpstr>
      <vt:lpstr>Add Unnecessary Details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3011</cp:revision>
  <dcterms:created xsi:type="dcterms:W3CDTF">2013-05-08T06:38:33Z</dcterms:created>
  <dcterms:modified xsi:type="dcterms:W3CDTF">2025-04-28T10:17:38Z</dcterms:modified>
</cp:coreProperties>
</file>