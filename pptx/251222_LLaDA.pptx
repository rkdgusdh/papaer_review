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1"/>
    <p:sldMasterId id="2147483665" r:id="rId2"/>
  </p:sldMasterIdLst>
  <p:notesMasterIdLst>
    <p:notesMasterId r:id="rId51"/>
  </p:notesMasterIdLst>
  <p:handoutMasterIdLst>
    <p:handoutMasterId r:id="rId52"/>
  </p:handoutMasterIdLst>
  <p:sldIdLst>
    <p:sldId id="257" r:id="rId3"/>
    <p:sldId id="262" r:id="rId4"/>
    <p:sldId id="263" r:id="rId5"/>
    <p:sldId id="270" r:id="rId6"/>
    <p:sldId id="264" r:id="rId7"/>
    <p:sldId id="265" r:id="rId8"/>
    <p:sldId id="266" r:id="rId9"/>
    <p:sldId id="267" r:id="rId10"/>
    <p:sldId id="287" r:id="rId11"/>
    <p:sldId id="268" r:id="rId12"/>
    <p:sldId id="269" r:id="rId13"/>
    <p:sldId id="271" r:id="rId14"/>
    <p:sldId id="272" r:id="rId15"/>
    <p:sldId id="273" r:id="rId16"/>
    <p:sldId id="282" r:id="rId17"/>
    <p:sldId id="274" r:id="rId18"/>
    <p:sldId id="277" r:id="rId19"/>
    <p:sldId id="276" r:id="rId20"/>
    <p:sldId id="275" r:id="rId21"/>
    <p:sldId id="283" r:id="rId22"/>
    <p:sldId id="281" r:id="rId23"/>
    <p:sldId id="278" r:id="rId24"/>
    <p:sldId id="279" r:id="rId25"/>
    <p:sldId id="284" r:id="rId26"/>
    <p:sldId id="285" r:id="rId27"/>
    <p:sldId id="286" r:id="rId28"/>
    <p:sldId id="288" r:id="rId29"/>
    <p:sldId id="290" r:id="rId30"/>
    <p:sldId id="289" r:id="rId31"/>
    <p:sldId id="291" r:id="rId32"/>
    <p:sldId id="293" r:id="rId33"/>
    <p:sldId id="292" r:id="rId34"/>
    <p:sldId id="294" r:id="rId35"/>
    <p:sldId id="295" r:id="rId36"/>
    <p:sldId id="301" r:id="rId37"/>
    <p:sldId id="302" r:id="rId38"/>
    <p:sldId id="303" r:id="rId39"/>
    <p:sldId id="304" r:id="rId40"/>
    <p:sldId id="305" r:id="rId41"/>
    <p:sldId id="297" r:id="rId42"/>
    <p:sldId id="296" r:id="rId43"/>
    <p:sldId id="298" r:id="rId44"/>
    <p:sldId id="299" r:id="rId45"/>
    <p:sldId id="306" r:id="rId46"/>
    <p:sldId id="307" r:id="rId47"/>
    <p:sldId id="308" r:id="rId48"/>
    <p:sldId id="309" r:id="rId49"/>
    <p:sldId id="260" r:id="rId50"/>
  </p:sldIdLst>
  <p:sldSz cx="12192000" cy="6858000"/>
  <p:notesSz cx="9928225" cy="6797675"/>
  <p:embeddedFontLst>
    <p:embeddedFont>
      <p:font typeface="맑은 고딕" panose="020B0503020000020004" pitchFamily="34" charset="-127"/>
      <p:regular r:id="rId53"/>
      <p:bold r:id="rId54"/>
    </p:embeddedFont>
    <p:embeddedFont>
      <p:font typeface="Cambria Math" panose="02040503050406030204" pitchFamily="18" charset="0"/>
      <p:regular r:id="rId55"/>
    </p:embeddedFont>
    <p:embeddedFont>
      <p:font typeface="Candara" panose="020E0502030303020204" pitchFamily="34" charset="0"/>
      <p:regular r:id="rId56"/>
      <p:bold r:id="rId57"/>
      <p:italic r:id="rId58"/>
      <p:boldItalic r:id="rId59"/>
    </p:embeddedFont>
    <p:embeddedFont>
      <p:font typeface="Corbel" panose="020B0503020204020204" pitchFamily="34" charset="0"/>
      <p:regular r:id="rId60"/>
      <p:bold r:id="rId61"/>
      <p:italic r:id="rId62"/>
      <p:boldItalic r:id="rId63"/>
    </p:embeddedFont>
    <p:embeddedFont>
      <p:font typeface="Pretendard Medium" panose="02000603000000020004" pitchFamily="2" charset="-127"/>
      <p:regular r:id="rId64"/>
    </p:embeddedFont>
    <p:embeddedFont>
      <p:font typeface="Wingdings 3" pitchFamily="2" charset="2"/>
      <p:regular r:id="rId6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  <p:cmAuthor id="2" name="편하늘" initials="편" lastIdx="3" clrIdx="1">
    <p:extLst>
      <p:ext uri="{19B8F6BF-5375-455C-9EA6-DF929625EA0E}">
        <p15:presenceInfo xmlns:p15="http://schemas.microsoft.com/office/powerpoint/2012/main" userId="S::1102444016@soongsil.ac.kr::b9ebc181-39dc-45ef-8c38-868373cf86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70" autoAdjust="0"/>
    <p:restoredTop sz="85034" autoAdjust="0"/>
  </p:normalViewPr>
  <p:slideViewPr>
    <p:cSldViewPr snapToGrid="0">
      <p:cViewPr varScale="1">
        <p:scale>
          <a:sx n="103" d="100"/>
          <a:sy n="103" d="100"/>
        </p:scale>
        <p:origin x="42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54" y="5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1.fntdata"/><Relationship Id="rId68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font" Target="fonts/font9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7.fntdata"/><Relationship Id="rId67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5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2025. 12. 22.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2025. 12. 22.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8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300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ACA3C-55C4-A928-361B-BA1E85953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0B1F7D-5F20-1EB5-33C1-6AD5B9626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89A68-E661-9FDD-902D-70E379C13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20683C-03FE-7E21-7775-8D288427E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398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332B-B488-D3F3-09C8-195A56BB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F8CAE2-8088-26BB-77A8-1CAACAFAE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69042C-F74D-DE4B-E262-6C8662772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1CC22-5443-B08C-99A3-FC3956075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24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27606-5534-A858-E5F4-04FD0C07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C3BE8B-010B-8806-0D18-3A8429501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3CD137-C9B8-BC05-860C-D2004EFC9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3B96C7-4A61-8DFB-FFBC-38F0D1842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706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5C52D-D7A3-CDCC-69BF-A9098E40C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5410F3-9439-27CD-0664-277AC621D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F8F9BF-C7F1-6664-5F01-3EBEBACA6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5C9650-A310-7B45-2E21-F98F17259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407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61F79-530B-1A2A-035E-5DC048A2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808181-0A4A-8FC4-E7A9-A26E39414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88FBB4-B65C-066C-0FB4-080E2F3FA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DD2DFF-B82F-8D67-B34B-BE40A0E5F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591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E057-BC46-8BDF-CE54-6F32AB707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C161AC-4CE6-6491-1F04-670B4A3B2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6720CC-F26A-BCE9-4861-A43A488E7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5BBA73-CE66-8AE9-E98B-B20962D03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749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BD0E0-E104-4056-5229-CC6272D1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69DAF0-4D5C-C124-F7A2-49EFA2E90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277E02-F1B8-185A-41D2-870E13FEA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4E5E7-C583-1C0F-3178-13B84AB6B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704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84443-AACB-259E-7476-865FBCFB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723686-8A60-09F0-40D5-7D28941BC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75AF79-90B1-F733-C0A0-F0895E8B9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65C1FB-D74D-DCEF-9877-A30D53ED0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91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4EBF-3DF4-DE6A-67EA-32C0BEF2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50CDB5-409C-7E91-4213-58E0B07F9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AD72D8-BBE6-7A99-B4DD-E405501C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2D1BBC-3B7B-5B79-0915-0876258DF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516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66D8-B03E-992B-3211-416C7D79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03012F-EB32-C266-3D9B-83564FCF7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E32078-700B-768B-92C6-E14B5AFF7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313844-39D1-53F6-41DB-7E487138A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226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C7D9-7289-5040-F842-B824A636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B5C121-6BEB-E895-E56B-FFEC69E5B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30544C-5BAD-2AD6-775A-BC86A59A5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1408EA-0F54-72A2-F81B-0D4693BD5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5185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08B8B-FB5F-2F81-77B4-70FFF7CF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6100C5-1418-98F7-DA1C-B1D4BD46F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28E206-5E85-9712-D413-9DCDFC1FC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4B80E-1C99-41AE-9967-F9C21C7665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6881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C1B22-C92A-9B6A-DE15-23C7FEDC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283615-7CE8-F33B-EB86-ED6CD6932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8AD75-5175-14D2-51AC-F6EF62779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B1248B-5107-1F6A-31DE-27029CFDF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494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643A4-3A65-56DC-E3EB-85B40071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C4BF8C-3F5D-61BA-7520-6B17F218E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C11111-38DE-94D9-1AA4-94756ABD1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EFCB84-81D8-CAD9-9EB9-F3EC08E2B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807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734EF-D1FA-AB5E-D31B-34ADBFC8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E033F4-F663-2D88-96E6-40B64C513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106A1A-95E8-9F75-1584-9709FE092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8CD673-2186-BA7D-499C-F42881C57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7847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22CD-9DC2-5C5C-117F-A828B858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C2F37B-C3DA-F935-DDDD-9F37BF983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5E30B-ADAA-A0F9-B489-F13A2129C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CF7299-B0B7-F974-2497-7C1CF1E15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4572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B60E-0C0C-7BF7-9DF7-98FF0085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1D83E0-6F1A-B180-6A65-8A08EB083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5DB959-60BB-16C3-5B10-EEF08E689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B98BD8-53C9-0B8C-23CD-E838420F0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625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9CA80-FC0B-E3C2-92C3-E32652F56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8FF571-EA16-D6CC-BCEB-8F9BFA5F0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E43D5A-A6FD-7C74-6CDC-678F9654F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0FD4DD-8BE3-D168-A716-CA19B20C3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377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DAB8-8863-515A-B4C0-32F0D4CF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22D21-92C1-890E-7519-A4873BB7D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7B5C4C-AFEE-E140-EBAE-E736F259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25C04D-CD47-4AC9-3B52-6DDE673A8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4254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43D2-5A80-B57C-552A-5B245A011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BAB7BD-D45B-3D6B-39C7-EE3BBDF51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F88A1F-E148-FDDD-1210-CFFAB0F44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452F4-96C5-1B17-FB9E-57095569A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2679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4E0B-3FE4-928D-7CC4-140111DF5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878DC3-26E5-AC4B-A159-E6E0B6B6A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F7741A-DFDA-7E15-34F4-EBB44E870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BC319F-6096-B0B6-9A03-69BB37023C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0733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219B-C768-E66C-9F37-C4F27280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CF8BA4-06F3-5D89-6450-AA3B79942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34CF54-1080-6A51-05F6-A748D6F7C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1584C0-5C3C-576A-80B1-A45593039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3084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EE386-8083-C3BC-1F04-E03A1500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655136-B769-73F8-3738-C9F855E38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F8C04F-FD49-5F3F-1F21-21874BDBA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176C1E-4B0B-79F3-D433-249DB757C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256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29087-78D5-466E-0F29-28C4B5B40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CE5411-CFAD-0393-3FAA-BDA2EE468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5304F4-032A-488E-BA0A-4A4EADF19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FEEA4-323A-BFDF-756E-5599A5933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94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9D9B5-0F1F-9334-5214-1FFFAA7B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78A4D3-6683-F8E7-31DD-2B031A9C4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199B02-2FC2-8464-EC32-5FDC0DB44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399EF4-8777-7F48-F862-4291B2D7C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4485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D1EB-4E1C-672A-EBFC-5A03D103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AE3CE0-5F0F-D3A9-107E-E0ACFF4CE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D65030-A181-2C04-092B-FD0C7395A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D0D422-E47B-78C5-6232-97930CFEE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9426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66585-4F6A-52C9-B55A-BA8D667E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CBB8B1-7A66-5A88-DDAA-B8EE13E09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ACE174-0F3B-8864-CCA4-F6CE2738D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2964B6-723C-EA63-37D5-583BD6C14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8154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3DE31-946C-FB67-C936-17907A4A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03A980-2946-0585-C497-3438A0F0A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878661-8014-3FF5-BE32-44B2BE93C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04F743-FE7C-7D47-A68D-ECA4F1C24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635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1B23E-407B-9E5F-92FC-9AB8A4CE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3DF8F4-B44B-0765-BDA3-A4FD00484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D4FA49-D447-F6BA-592A-530749099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69A06C-2A75-6E59-442F-34D727E12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6826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0991-7A9E-E0FB-C4AC-B0ADA0B9D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8649D2-2DDC-111F-C655-70BC971B8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EBA8A4-6D9D-F667-0EA9-EA0869CC2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2F702B-5B2D-3B2F-019D-718C256F8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8034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C957-F0FC-CF15-3601-E36DA4D2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6BA22B-8135-C09C-40ED-8A4EA9514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907B56-21A8-C615-76C8-E19DD213C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E16F3-ED97-4B79-C30E-8774480EB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2760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2F72-E70D-CCC4-554A-37A36FE3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49FF0F-426D-100F-B623-5DE7900A1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7AF6AA-4EDC-D4B4-C6AA-03F4DCE55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0655C-035A-159F-3126-59444F565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7005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36F9-2AA8-EFAD-DDD0-E9449DEC0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367129-D858-F118-2241-C6A002A4C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81B14E-C53C-C983-D8EC-310220511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28C384-E526-63CA-2B7C-010C50670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1147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1DA6-28E3-CCF8-BAC3-42C89B502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CD57F2-6EF3-918D-6F4D-A9361966B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F6DDD7-C4C0-BD84-9A39-C064B0213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25347F-92CA-63FA-4F84-DB6334A5B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3602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10CD-3ADD-0182-5649-C5CF4063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676F0E-781B-D013-9B69-121D1888B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72A505-8A71-D543-AD83-779A3C230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3D760E-C874-8A8C-B435-26589466C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0170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FDD33-262F-4F14-0B57-EB975196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32E034-3BD5-BE98-40B0-07713B4DA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814CC9-A418-BC7C-1116-391BE9E2E4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79CD64-DB51-D1ED-7205-035D391DF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8929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14022-3F07-4038-E759-70B3DAFE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6027F5-A258-391C-CA5B-F2049F1FA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AC1F38-5669-F0EC-5E25-C3DBD2733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E70F85-D414-63C5-F85D-058AA0C1B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3886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D37E-3757-F124-1CBF-7938031C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C025E-E074-469B-FDA3-B888DAA43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93010E-C0E1-1BC7-D82E-1FFA7F119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7DBAC7-7913-92BE-0D2F-024541935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4380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9BF02-90BF-34BA-3E47-970CBDA89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6F5FC3-97C7-5439-3F35-2DA2F4CA5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059E2A-BD18-9A8E-B8B8-CC980FB1E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2F1C7-23E3-133F-3A2F-85B1B2877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3090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C8A7-7867-D100-3FB5-AE75C7B2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6E73369-D48A-F458-CE2F-666DEED5D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B9E934-3093-0A75-4C9F-5084418F8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B1C07F-ACBB-9EA6-8B03-9FD3ECF33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5113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BB48-A356-B7B7-EA39-41DEF8FBB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11B974-D971-2D83-E4ED-CC5CF4788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9952EA-E047-9370-2086-7BCBF3C88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A5F10D-AF97-8006-B10E-87D3AE252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1125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AC79-1977-D2CD-2BB9-7CBC062F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A43829-A667-AE37-84FB-C1E30C8F8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E9F987-38CB-C1F3-0CD1-97EB6553F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FAFF4F-D7FA-EE96-1A91-78F89C4C3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6202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1989-3C27-E506-020E-1BB4590E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CD7297-B693-B1B3-6297-BF320FE6A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1A471C-AFFF-9669-EF95-82D3EAAE4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7415F-C02B-A8E2-6FEB-8E058F2B3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371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16FA-72EE-7A66-33F6-11F7284C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45EABA-0370-E9E2-5F9C-93A2B4262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4F5761-2B68-3A52-3117-733B9320D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72F3A-4AD1-F981-E5B1-2C90540D32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1472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5F110-8A33-ED5A-45EF-833FEF60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CEA846-390C-40CF-E57E-0C3F7E9DC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67B3CD-14FF-2423-0C93-F7DA5518D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1EBC48-EF9F-7F06-56CF-1F5B0E964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188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9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931282" cy="792088"/>
            <a:chOff x="827584" y="5517232"/>
            <a:chExt cx="2948461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92277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515914" cy="724861"/>
            <a:chOff x="827584" y="5805264"/>
            <a:chExt cx="2178982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40368" cy="287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37151" cy="652853"/>
            <a:chOff x="827584" y="5805264"/>
            <a:chExt cx="2365121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26507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b="0" i="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b="0" i="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b="0" i="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Pretendard Medium" panose="02000603000000020004" pitchFamily="2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49522-1E40-0049-A66A-5CFF68A0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158" y="1904304"/>
            <a:ext cx="10847683" cy="1296144"/>
          </a:xfrm>
        </p:spPr>
        <p:txBody>
          <a:bodyPr>
            <a:norm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Large Language Diffusion Models</a:t>
            </a:r>
            <a:endParaRPr lang="en-KR" b="1" dirty="0">
              <a:cs typeface="Times New Roman" panose="02020603050405020304" pitchFamily="18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3B9364B0-10F8-B7A0-4642-F25293BD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8" y="3573016"/>
            <a:ext cx="5400363" cy="541736"/>
          </a:xfrm>
        </p:spPr>
        <p:txBody>
          <a:bodyPr/>
          <a:lstStyle/>
          <a:p>
            <a:r>
              <a:rPr lang="en-US" altLang="ko-KR" dirty="0" err="1"/>
              <a:t>Hyunoh</a:t>
            </a:r>
            <a:r>
              <a:rPr lang="en-US" altLang="ko-KR" dirty="0"/>
              <a:t> Kang</a:t>
            </a:r>
            <a:endParaRPr lang="ko-KR" alt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1D96A54-999D-9330-32FF-E828B9716FCE}"/>
              </a:ext>
            </a:extLst>
          </p:cNvPr>
          <p:cNvSpPr txBox="1">
            <a:spLocks/>
          </p:cNvSpPr>
          <p:nvPr/>
        </p:nvSpPr>
        <p:spPr>
          <a:xfrm>
            <a:off x="672158" y="3081489"/>
            <a:ext cx="108476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000" kern="12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en-US" sz="2000" dirty="0" err="1">
                <a:cs typeface="Times New Roman" panose="02020603050405020304" pitchFamily="18" charset="0"/>
              </a:rPr>
              <a:t>NeurIPS</a:t>
            </a:r>
            <a:r>
              <a:rPr lang="en-US" sz="2000" dirty="0">
                <a:cs typeface="Times New Roman" panose="02020603050405020304" pitchFamily="18" charset="0"/>
              </a:rPr>
              <a:t> 2025 oral / citation: 96 (~25.12.22)</a:t>
            </a:r>
          </a:p>
        </p:txBody>
      </p:sp>
    </p:spTree>
    <p:extLst>
      <p:ext uri="{BB962C8B-B14F-4D97-AF65-F5344CB8AC3E}">
        <p14:creationId xmlns:p14="http://schemas.microsoft.com/office/powerpoint/2010/main" val="27148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79D0-B651-FE17-95CB-BBBD7BBD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F32CE3-A9F2-8661-81C7-596ECAB51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/>
              <a:t>Introduction</a:t>
            </a:r>
          </a:p>
          <a:p>
            <a:r>
              <a:rPr kumimoji="1" lang="en" altLang="ko-KR" dirty="0"/>
              <a:t>Approach</a:t>
            </a:r>
          </a:p>
          <a:p>
            <a:pPr lvl="1"/>
            <a:r>
              <a:rPr kumimoji="1" lang="en" altLang="ko-KR" dirty="0"/>
              <a:t>Probabilistic Formulation</a:t>
            </a:r>
          </a:p>
          <a:p>
            <a:pPr lvl="1"/>
            <a:r>
              <a:rPr kumimoji="1" lang="en" altLang="ko-KR" dirty="0"/>
              <a:t>Pre-training</a:t>
            </a:r>
          </a:p>
          <a:p>
            <a:pPr lvl="1"/>
            <a:r>
              <a:rPr kumimoji="1" lang="en" altLang="ko-KR" dirty="0"/>
              <a:t>Supervised Fine-Tuning</a:t>
            </a:r>
          </a:p>
          <a:p>
            <a:pPr lvl="1"/>
            <a:r>
              <a:rPr kumimoji="1" lang="en" altLang="ko-KR" dirty="0"/>
              <a:t>Inference</a:t>
            </a:r>
          </a:p>
          <a:p>
            <a:r>
              <a:rPr kumimoji="1" lang="en" altLang="ko-KR" dirty="0"/>
              <a:t>Experiments</a:t>
            </a:r>
          </a:p>
          <a:p>
            <a:pPr lvl="1"/>
            <a:r>
              <a:rPr kumimoji="1" lang="en" altLang="ko-KR" dirty="0"/>
              <a:t>Scalability of </a:t>
            </a:r>
            <a:r>
              <a:rPr kumimoji="1" lang="en" altLang="ko-KR" dirty="0" err="1"/>
              <a:t>LLaDA</a:t>
            </a:r>
            <a:r>
              <a:rPr kumimoji="1" lang="en" altLang="ko-KR" dirty="0"/>
              <a:t> on Language Tasks</a:t>
            </a:r>
          </a:p>
          <a:p>
            <a:pPr lvl="1"/>
            <a:r>
              <a:rPr kumimoji="1" lang="en" altLang="ko-KR" dirty="0"/>
              <a:t>Benchmark Results</a:t>
            </a:r>
          </a:p>
          <a:p>
            <a:pPr lvl="1"/>
            <a:r>
              <a:rPr kumimoji="1" lang="en" altLang="ko-KR" dirty="0"/>
              <a:t>Reversal Reasoning and Analyses</a:t>
            </a:r>
          </a:p>
          <a:p>
            <a:pPr lvl="1"/>
            <a:r>
              <a:rPr kumimoji="1" lang="en" altLang="ko-KR" dirty="0"/>
              <a:t>Case Studies</a:t>
            </a:r>
          </a:p>
          <a:p>
            <a:r>
              <a:rPr kumimoji="1" lang="en" altLang="ko-KR" dirty="0"/>
              <a:t>Conclusion and Discussion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126D7B4-66B2-A500-0877-007696E54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40815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C68EE-FE87-1173-0793-E86BAC1E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6B91147-9F3E-6F5F-2041-245C676BD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/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Approach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6E15A7B-FBB4-47BB-659C-63EEDAFC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45492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0F6E-275C-4AFE-2D2A-5CFE8C63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E766AC7-CE19-0C68-D498-1D13A1925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Generative modeling principles</a:t>
            </a:r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r>
              <a:rPr kumimoji="1" lang="en" altLang="ko-KR" dirty="0"/>
              <a:t>Autoregressive formulation</a:t>
            </a:r>
          </a:p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1493C6-3317-6889-E93D-CC084EE5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Is Autoregression Necessary for LLM Capabilities?</a:t>
            </a:r>
            <a:endParaRPr kumimoji="1" lang="en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751BA1-2EB2-5FA6-3472-A79C4CC52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132115"/>
            <a:ext cx="7772400" cy="660972"/>
          </a:xfrm>
          <a:prstGeom prst="rect">
            <a:avLst/>
          </a:prstGeom>
        </p:spPr>
      </p:pic>
      <p:pic>
        <p:nvPicPr>
          <p:cNvPr id="7" name="그림 6" descr="폰트, 텍스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1F2718-3890-9376-6C53-72726F5AE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4064914"/>
            <a:ext cx="6096000" cy="114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1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7DC6-435E-EA1B-38FC-1899386C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57E9981-97D6-38AD-6959-337BB64F3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LLMs are generative models; common practice is autoregressive factorization (left-to-right).</a:t>
            </a:r>
          </a:p>
          <a:p>
            <a:r>
              <a:rPr kumimoji="1" lang="en" altLang="ko-KR" dirty="0"/>
              <a:t>Core question: do scalability, in-context learning, instruction-following require autoregression?</a:t>
            </a:r>
          </a:p>
          <a:p>
            <a:r>
              <a:rPr kumimoji="1" lang="en" altLang="ko-KR" dirty="0"/>
              <a:t>Hypothesis: it is generative modeling principles (likelihood-based learning) that matter, not the AR factorization itself.</a:t>
            </a:r>
          </a:p>
          <a:p>
            <a:r>
              <a:rPr kumimoji="1" lang="en" altLang="ko-KR" dirty="0"/>
              <a:t>Autoregression induces limitations (e.g., reversal reasoning failures).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8C3C780-CD8A-9410-5B40-E27351D4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Is Autoregression Necessary for LLM Capabilities?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1040078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DD9FD-A7A3-D48D-A176-AE75C0506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A39B5AD-CAA2-1484-150A-B34FD19A8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 err="1"/>
              <a:t>LLaDA</a:t>
            </a:r>
            <a:r>
              <a:rPr kumimoji="1" lang="en" altLang="ko-KR" dirty="0"/>
              <a:t> scales to 8B from scratch and is competitive with strong AR LLMs on diverse benchmarks.</a:t>
            </a:r>
          </a:p>
          <a:p>
            <a:r>
              <a:rPr kumimoji="1" lang="en" altLang="ko-KR" dirty="0"/>
              <a:t>Shows strong in-context learning; after SFT, strong instruction-following in case studies.</a:t>
            </a:r>
          </a:p>
          <a:p>
            <a:r>
              <a:rPr kumimoji="1" lang="en" altLang="ko-KR" dirty="0"/>
              <a:t>Addresses the “reversal curse” with more balanced forward vs reversal performance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A0D69E-BCE6-6B59-948D-6203E7D23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Headline Results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409987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999E0-7A8A-44AF-2403-6C887412D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DB916A9-7A8C-985A-FBB7-CD098001D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8145C7-2346-C9DD-C73F-B37112FF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Headline Results</a:t>
            </a:r>
            <a:endParaRPr kumimoji="1" lang="en" altLang="ko-KR" dirty="0"/>
          </a:p>
        </p:txBody>
      </p:sp>
      <p:pic>
        <p:nvPicPr>
          <p:cNvPr id="5" name="그림 4" descr="도표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B49076-21AA-4E3E-DB76-E87C44A83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764" y="1304764"/>
            <a:ext cx="9581290" cy="471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9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D807B-6F7E-DDF4-FAE2-D0EC0C8C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6F37A0-9187-8932-405D-B16D9EEEC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lnSpcReduction="10000"/>
          </a:bodyPr>
          <a:lstStyle/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endParaRPr kumimoji="1" lang="en" altLang="ko-KR" dirty="0"/>
          </a:p>
          <a:p>
            <a:r>
              <a:rPr kumimoji="1" lang="en" altLang="ko-KR" dirty="0" err="1"/>
              <a:t>LLaDA</a:t>
            </a:r>
            <a:r>
              <a:rPr kumimoji="1" lang="en" altLang="ko-KR" dirty="0"/>
              <a:t> = masked diffusion model for language (discrete diffusion via masking).</a:t>
            </a:r>
          </a:p>
          <a:p>
            <a:r>
              <a:rPr kumimoji="1" lang="en" altLang="ko-KR" dirty="0"/>
              <a:t>Emphasis: bidirectional dependencies (no causal mask), likelihood-based objective.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D732129-608D-7DF1-EA47-D2F2F73C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Overview of </a:t>
            </a:r>
            <a:r>
              <a:rPr kumimoji="1" lang="en-US" altLang="ko-KR" dirty="0" err="1"/>
              <a:t>LLaDA</a:t>
            </a:r>
            <a:endParaRPr kumimoji="1" lang="en" altLang="ko-KR" dirty="0"/>
          </a:p>
        </p:txBody>
      </p:sp>
      <p:pic>
        <p:nvPicPr>
          <p:cNvPr id="6" name="그림 5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DCB0A2-4A9A-280E-BAEE-F71E4DEB0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61" y="1016732"/>
            <a:ext cx="10057878" cy="400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27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197C-EBEA-C86D-2064-5380D12B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046D42-3C17-52E2-18D0-09695A81E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70" y="1304925"/>
            <a:ext cx="11452860" cy="4772025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7AA3443-DDBA-1EDF-EC7C-A548E91B4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Overview of </a:t>
            </a:r>
            <a:r>
              <a:rPr kumimoji="1" lang="en-US" altLang="ko-KR" dirty="0" err="1"/>
              <a:t>LLaDA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53473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F4C2F-F832-4363-088C-1C1A9203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8B6B19-9D6A-CF1A-24F9-602FEF912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/>
              <a:t>Approach</a:t>
            </a:r>
          </a:p>
          <a:p>
            <a:pPr lvl="1"/>
            <a:r>
              <a:rPr kumimoji="1" lang="en" altLang="ko-KR" dirty="0"/>
              <a:t>Probabilistic Formulation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370A32E-4A22-1811-B353-AA9D81CB3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82873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CFE7-42DD-0724-FDE6-2D69C76C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D40D45EF-FD90-60DA-0BEE-75B1EF4240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ko-KR" dirty="0"/>
                  <a:t>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" altLang="ko-KR" dirty="0"/>
                  <a:t> (token sequence, length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kumimoji="1" lang="en" altLang="ko-KR" dirty="0"/>
                  <a:t>).</a:t>
                </a:r>
              </a:p>
              <a:p>
                <a:r>
                  <a:rPr kumimoji="1" lang="en" altLang="ko-KR" dirty="0"/>
                  <a:t>Forward process: independently mask each token with probability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" altLang="ko-KR" dirty="0"/>
                  <a:t> to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" altLang="ko-KR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en" altLang="ko-KR" dirty="0"/>
                  <a:t>, where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kumimoji="1" lang="en" altLang="ko-KR" i="1" dirty="0">
                        <a:latin typeface="Cambria Math" panose="02040503050406030204" pitchFamily="18" charset="0"/>
                      </a:rPr>
                      <m:t>𝒰</m:t>
                    </m:r>
                    <m:d>
                      <m:dPr>
                        <m:begChr m:val="["/>
                        <m:endChr m:val="]"/>
                        <m:ctrlPr>
                          <a:rPr kumimoji="1" lang="en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" altLang="ko-KR" i="1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kumimoji="1" lang="en" altLang="ko-KR" dirty="0"/>
                  <a:t>.</a:t>
                </a:r>
              </a:p>
              <a:p>
                <a:r>
                  <a:rPr kumimoji="1" lang="en" altLang="ko-KR" dirty="0"/>
                  <a:t>Reverse process: a mask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  <m:e>
                        <m:sSub>
                          <m:sSubPr>
                            <m:ctrlPr>
                              <a:rPr kumimoji="1" lang="en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R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" altLang="ko-KR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" altLang="ko-KR" dirty="0"/>
                  <a:t> predicts </a:t>
                </a:r>
                <a:r>
                  <a:rPr kumimoji="1" lang="en" altLang="ko-KR" b="1" dirty="0"/>
                  <a:t>all masked tokens simultaneously</a:t>
                </a:r>
                <a:r>
                  <a:rPr kumimoji="1" lang="en" altLang="ko-KR" dirty="0"/>
                  <a:t>.</a:t>
                </a:r>
              </a:p>
              <a:p>
                <a:r>
                  <a:rPr kumimoji="1" lang="en" altLang="ko-KR" dirty="0"/>
                  <a:t>Contrast with BERT: fixed mask ratio vs </a:t>
                </a:r>
                <a:r>
                  <a:rPr kumimoji="1" lang="en" altLang="ko-KR" dirty="0" err="1"/>
                  <a:t>LLaDA’s</a:t>
                </a:r>
                <a:r>
                  <a:rPr kumimoji="1" lang="en" altLang="ko-KR" dirty="0"/>
                  <a:t> continuously randomized masking ratio.</a:t>
                </a:r>
                <a:endParaRPr kumimoji="1" lang="ko-KR" altLang="en-US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D40D45EF-FD90-60DA-0BEE-75B1EF4240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 r="-15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5B42255D-B566-855B-2674-B23DB9CE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Generative Modeling Setup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1122944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62007-68A1-22BF-8102-B8C9C826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44646DC-933D-D5AF-B96F-F2ACE5A076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en" altLang="ko-KR" dirty="0"/>
                  <a:t>Objective: cross-entropy computed </a:t>
                </a:r>
                <a:r>
                  <a:rPr kumimoji="1" lang="en" altLang="ko-KR" b="1" dirty="0"/>
                  <a:t>only on masked tokens</a:t>
                </a:r>
                <a:r>
                  <a:rPr kumimoji="1" lang="en" altLang="ko-KR" dirty="0"/>
                  <a:t>, with a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kumimoji="1" lang="en" altLang="ko-KR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" altLang="ko-KR" dirty="0"/>
                  <a:t> weighting.</a:t>
                </a:r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r>
                  <a:rPr kumimoji="1" lang="en" altLang="ko-KR" dirty="0"/>
                  <a:t>The loss upper-bounds the negative log-likelihood of the induced model distribution.</a:t>
                </a:r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r>
                  <a:rPr kumimoji="1" lang="en" altLang="ko-KR" dirty="0"/>
                  <a:t>Practical implication: principled generative modeling at scale (vs heuristic masked modeling).</a:t>
                </a:r>
                <a:endParaRPr kumimoji="1" lang="ko-KR" altLang="en-US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44646DC-933D-D5AF-B96F-F2ACE5A076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 t="-531" b="-7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AFC8D0F4-E4F3-3877-F87F-103E3916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Training Objective</a:t>
            </a:r>
            <a:endParaRPr kumimoji="1" lang="en" altLang="ko-KR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5CC0E2-8D86-99CE-D632-F1DA1A7FC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22933"/>
            <a:ext cx="7772400" cy="12427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863D89B-4CEA-9CB1-B361-008D930B63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921210"/>
            <a:ext cx="7772400" cy="93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43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12EBD-003D-62F0-30AC-594A50A7D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5EB625-1F93-BB16-F35C-023AF76E3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/>
              <a:t>Approach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dirty="0"/>
              <a:t>Pre-training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608E9B6-C3A2-3C14-9B81-F00957132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90436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F06B-3499-21D7-EDB5-EECBC94F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D2C7C8C-48FC-7B4B-8BBF-2E21EA9406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6559784" cy="4772814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ko-KR" dirty="0"/>
                  <a:t>Transformer mask predictor (no causal mask; sees full context).</a:t>
                </a:r>
              </a:p>
              <a:p>
                <a:r>
                  <a:rPr kumimoji="1" lang="en" altLang="ko-KR" dirty="0" err="1"/>
                  <a:t>LLaDA</a:t>
                </a:r>
                <a:r>
                  <a:rPr kumimoji="1" lang="en" altLang="ko-KR" dirty="0"/>
                  <a:t> is incompatible with KV caching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en" altLang="ko-KR" dirty="0"/>
                  <a:t> design differences vs </a:t>
                </a:r>
                <a:r>
                  <a:rPr kumimoji="1" lang="en" altLang="ko-KR" dirty="0" err="1"/>
                  <a:t>LLaMA</a:t>
                </a:r>
                <a:r>
                  <a:rPr kumimoji="1" lang="en" altLang="ko-KR" dirty="0"/>
                  <a:t>-style AR models.</a:t>
                </a:r>
              </a:p>
              <a:p>
                <a:r>
                  <a:rPr kumimoji="1" lang="en" altLang="ko-KR" dirty="0"/>
                  <a:t>Two model sizes discussed: 1B and 8B.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D2C7C8C-48FC-7B4B-8BBF-2E21EA9406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6559784" cy="4772814"/>
              </a:xfrm>
              <a:blipFill>
                <a:blip r:embed="rId3"/>
                <a:stretch>
                  <a:fillRect l="-1354" r="-2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BA6F4022-2889-CEF8-4BA2-0E21007B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Pre-training: Architecture and Key Design Choices</a:t>
            </a:r>
            <a:endParaRPr kumimoji="1" lang="en" altLang="ko-KR" dirty="0"/>
          </a:p>
        </p:txBody>
      </p:sp>
      <p:pic>
        <p:nvPicPr>
          <p:cNvPr id="11" name="그림 10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AA26E3-963F-614E-F865-0B128FF6E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316" y="1304764"/>
            <a:ext cx="5276684" cy="369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80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EE52-1F40-4777-D6B5-698871FE0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영수증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0948A7-CEC4-3D57-4E47-74B8119AA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869342"/>
            <a:ext cx="11471275" cy="3643191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5ABB9FCC-AB3B-5AA9-03F8-BCBF8266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Pre-training: </a:t>
            </a:r>
            <a:r>
              <a:rPr kumimoji="1" lang="en-US" altLang="ko-KR" dirty="0" err="1"/>
              <a:t>Algoritm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81919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DE48-0E67-6C5C-CE98-C1CE8B86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010F720C-4FF3-30AC-B0DC-BC75DAA627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en" altLang="ko-KR" dirty="0"/>
                  <a:t>Dataset: 2.3T tokens (general + code + math + multilingual), filtered for quality.</a:t>
                </a:r>
              </a:p>
              <a:p>
                <a:r>
                  <a:rPr kumimoji="1" lang="en" altLang="ko-KR" dirty="0"/>
                  <a:t>Sequence length: 4096; includes a small portion of variable-length training (random length) to improve robustness.</a:t>
                </a:r>
              </a:p>
              <a:p>
                <a:r>
                  <a:rPr kumimoji="1" lang="en" altLang="ko-KR" dirty="0"/>
                  <a:t>Compute: training cost reported in H800 GPU-hours.</a:t>
                </a:r>
              </a:p>
              <a:p>
                <a:r>
                  <a:rPr kumimoji="1" lang="en" altLang="ko-KR" dirty="0"/>
                  <a:t>Learning rate schedule: Warmup-Stable-Decay</a:t>
                </a:r>
              </a:p>
              <a:p>
                <a:pPr lvl="1"/>
                <a:r>
                  <a:rPr kumimoji="1" lang="en-US" altLang="ko-KR" dirty="0"/>
                  <a:t>1.2T tokens: </a:t>
                </a:r>
                <a:r>
                  <a:rPr kumimoji="1" lang="en" altLang="ko-KR" dirty="0"/>
                  <a:t>linearly increased the learning rate from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" altLang="ko-KR" dirty="0"/>
                  <a:t> to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4 × </m:t>
                    </m:r>
                    <m:sSup>
                      <m:sSupPr>
                        <m:ctrlP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-4</m:t>
                        </m:r>
                      </m:sup>
                    </m:sSup>
                  </m:oMath>
                </a14:m>
                <a:r>
                  <a:rPr kumimoji="1" lang="en" altLang="ko-KR" dirty="0"/>
                  <a:t> over the first 2000 iterations</a:t>
                </a:r>
              </a:p>
              <a:p>
                <a:pPr lvl="1"/>
                <a:r>
                  <a:rPr kumimoji="1" lang="en" altLang="ko-KR" dirty="0"/>
                  <a:t>0.8T tokens: decayed the learning rate to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" altLang="ko-KR" i="1" dirty="0">
                        <a:latin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kumimoji="1" lang="en" altLang="ko-KR" dirty="0"/>
                  <a:t> and held it constant to ensure stable training</a:t>
                </a:r>
              </a:p>
              <a:p>
                <a:pPr lvl="1"/>
                <a:r>
                  <a:rPr kumimoji="1" lang="en" altLang="ko-KR" dirty="0"/>
                  <a:t>0.3T tokens: linearly reduced the learning rate from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" altLang="ko-KR" i="1" dirty="0">
                        <a:latin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kumimoji="1" lang="en-US" altLang="ko-K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" altLang="ko-KR" dirty="0"/>
                  <a:t>to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en" altLang="ko-KR" i="1" dirty="0">
                        <a:latin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kumimoji="1" lang="en" altLang="ko-KR" dirty="0"/>
              </a:p>
              <a:p>
                <a:r>
                  <a:rPr kumimoji="1" lang="en" altLang="ko-KR" dirty="0"/>
                  <a:t>Optimizer: </a:t>
                </a:r>
                <a:r>
                  <a:rPr kumimoji="1" lang="en" altLang="ko-KR" dirty="0" err="1"/>
                  <a:t>AdamW</a:t>
                </a:r>
                <a:r>
                  <a:rPr kumimoji="1" lang="en" altLang="ko-KR" dirty="0"/>
                  <a:t> (weight decay of 0.1)</a:t>
                </a:r>
              </a:p>
              <a:p>
                <a:r>
                  <a:rPr kumimoji="1" lang="en" altLang="ko-KR" dirty="0"/>
                  <a:t>Batch Size: 1280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010F720C-4FF3-30AC-B0DC-BC75DAA62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 t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CACF93E9-D555-9E31-2548-41951C6C0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Pre-training Data and Compute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545271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5E72D-4786-14BA-24BA-2167CA6CF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B53F7C4-1923-E736-DF3D-56A4A219A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Highlight how </a:t>
            </a:r>
            <a:r>
              <a:rPr kumimoji="1" lang="en" altLang="ko-KR" dirty="0" err="1"/>
              <a:t>LLaDA</a:t>
            </a:r>
            <a:r>
              <a:rPr kumimoji="1" lang="en" altLang="ko-KR" dirty="0"/>
              <a:t> compares to the constructed AR baselines and to LLaMA3 8B.</a:t>
            </a:r>
          </a:p>
          <a:p>
            <a:r>
              <a:rPr kumimoji="1" lang="en" altLang="ko-KR" dirty="0"/>
              <a:t>Call out: layers/width/heads, vocab size differences, KV-head differences, parameter counts.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5ECA66-DA27-FEA6-B7EF-BBDF57E6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Model Architecture Comparison</a:t>
            </a:r>
            <a:endParaRPr kumimoji="1" lang="en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B647FCC-B71C-E4D8-B307-A7AEB89E39BC}"/>
              </a:ext>
            </a:extLst>
          </p:cNvPr>
          <p:cNvGrpSpPr/>
          <p:nvPr/>
        </p:nvGrpSpPr>
        <p:grpSpPr>
          <a:xfrm>
            <a:off x="1165571" y="2767914"/>
            <a:ext cx="9860858" cy="3632556"/>
            <a:chOff x="1725827" y="2974302"/>
            <a:chExt cx="8740346" cy="3219780"/>
          </a:xfrm>
        </p:grpSpPr>
        <p:pic>
          <p:nvPicPr>
            <p:cNvPr id="6" name="그림 5" descr="텍스트, 영수증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7A03429-166D-A05D-D018-04618C9F4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5827" y="2974302"/>
              <a:ext cx="8740346" cy="321978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8970929-2185-CCBE-D7FE-2788B81EDDEF}"/>
                </a:ext>
              </a:extLst>
            </p:cNvPr>
            <p:cNvSpPr/>
            <p:nvPr/>
          </p:nvSpPr>
          <p:spPr>
            <a:xfrm>
              <a:off x="5659395" y="3558746"/>
              <a:ext cx="976183" cy="2635336"/>
            </a:xfrm>
            <a:prstGeom prst="rect">
              <a:avLst/>
            </a:prstGeom>
            <a:solidFill>
              <a:srgbClr val="FFFF00">
                <a:alpha val="3965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F8143C6-810C-535E-3273-0E8F01692518}"/>
                </a:ext>
              </a:extLst>
            </p:cNvPr>
            <p:cNvSpPr/>
            <p:nvPr/>
          </p:nvSpPr>
          <p:spPr>
            <a:xfrm>
              <a:off x="8353168" y="3558746"/>
              <a:ext cx="976183" cy="2635336"/>
            </a:xfrm>
            <a:prstGeom prst="rect">
              <a:avLst/>
            </a:prstGeom>
            <a:solidFill>
              <a:srgbClr val="FFFF00">
                <a:alpha val="39655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4339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66EB-9F9D-41A7-49C8-A82C59E00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2B96479-8BE2-D31E-FCF9-4881DB1B0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/>
              <a:t>Approach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dirty="0"/>
              <a:t>Supervised Fine-Tuning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D3CB924-24F6-FF89-01F6-A2B3477C2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017951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F8AC-5854-87AA-5132-A78BB6C6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F3E174E-E0D0-F75C-1779-8B3DB3593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7433400" cy="4772814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en" altLang="ko-KR" dirty="0"/>
                  <a:t>Model the conditional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sepChr m:val="∣"/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kumimoji="1" lang="en" altLang="ko-KR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" altLang="ko-KR" dirty="0"/>
                  <a:t> (prompt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" altLang="ko-KR" dirty="0"/>
                  <a:t>, response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" altLang="ko-KR" dirty="0"/>
                  <a:t>).</a:t>
                </a:r>
              </a:p>
              <a:p>
                <a:r>
                  <a:rPr kumimoji="1" lang="en" altLang="ko-KR" dirty="0"/>
                  <a:t>Masking: keep prompt unmasked; only response tokens can be masked at ratio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" altLang="ko-KR" dirty="0"/>
                  <a:t>.</a:t>
                </a:r>
              </a:p>
              <a:p>
                <a:r>
                  <a:rPr kumimoji="1" lang="en" altLang="ko-KR" dirty="0"/>
                  <a:t>Loss computed only on masked response tokens.</a:t>
                </a:r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endParaRPr kumimoji="1" lang="en" altLang="ko-KR" dirty="0"/>
              </a:p>
              <a:p>
                <a:r>
                  <a:rPr kumimoji="1" lang="en" altLang="ko-KR" dirty="0"/>
                  <a:t>Note: SFT data handling (EOS padding + multi-turn partitioning) affects sampling behavior later.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F3E174E-E0D0-F75C-1779-8B3DB3593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7433400" cy="4772814"/>
              </a:xfrm>
              <a:blipFill>
                <a:blip r:embed="rId3"/>
                <a:stretch>
                  <a:fillRect l="-1195" t="-531" r="-1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9C503B66-78C8-AF5E-B1CB-3D86D1E28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Supervised Fine-Tuning (SFT) for Instruction Following</a:t>
            </a:r>
            <a:endParaRPr kumimoji="1" lang="en" altLang="ko-KR" dirty="0"/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BB0EE-B09E-5D26-8CA3-E6302193E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546" y="1440686"/>
            <a:ext cx="4065454" cy="3205453"/>
          </a:xfrm>
          <a:prstGeom prst="rect">
            <a:avLst/>
          </a:prstGeom>
        </p:spPr>
      </p:pic>
      <p:pic>
        <p:nvPicPr>
          <p:cNvPr id="7" name="그림 6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84ADDB-A40D-3CB1-36CC-ADD00073C4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06" y="3619366"/>
            <a:ext cx="6417504" cy="12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20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F73CD-C44A-70CF-8ED9-1F3C94FB9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FFFE4A4-5F5C-9AAB-2822-FDDBF33D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Supervised Fine-Tuning (SFT): Algorithm</a:t>
            </a:r>
            <a:endParaRPr kumimoji="1" lang="en" altLang="ko-KR" dirty="0"/>
          </a:p>
        </p:txBody>
      </p:sp>
      <p:pic>
        <p:nvPicPr>
          <p:cNvPr id="9" name="내용 개체 틀 8" descr="텍스트, 영수증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3EB9A8-5F1B-53E6-0989-8205D580C6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849803"/>
            <a:ext cx="11471275" cy="3682268"/>
          </a:xfrm>
        </p:spPr>
      </p:pic>
    </p:spTree>
    <p:extLst>
      <p:ext uri="{BB962C8B-B14F-4D97-AF65-F5344CB8AC3E}">
        <p14:creationId xmlns:p14="http://schemas.microsoft.com/office/powerpoint/2010/main" val="1034515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C36B-4917-50DC-46A2-7D5B11EF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9ADB723-D1F3-172D-2ABE-B9013AFA29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en" altLang="ko-KR" dirty="0" err="1"/>
                  <a:t>LLaDA</a:t>
                </a:r>
                <a:r>
                  <a:rPr kumimoji="1" lang="en" altLang="ko-KR" dirty="0"/>
                  <a:t> 8B model undergoes SFT on a dataset comprising 4.5 million pairs.</a:t>
                </a:r>
              </a:p>
              <a:p>
                <a:r>
                  <a:rPr kumimoji="1" lang="en" altLang="ko-KR" dirty="0"/>
                  <a:t>Append |EOS| tokens to the end of short pairs.</a:t>
                </a:r>
              </a:p>
              <a:p>
                <a:r>
                  <a:rPr kumimoji="1" lang="en" altLang="ko-KR" dirty="0"/>
                  <a:t>Treat |EOS| as a normal token during training and remove it during sampling, enabling </a:t>
                </a:r>
                <a:r>
                  <a:rPr kumimoji="1" lang="en" altLang="ko-KR" dirty="0" err="1"/>
                  <a:t>LLaDA</a:t>
                </a:r>
                <a:r>
                  <a:rPr kumimoji="1" lang="en" altLang="ko-KR" dirty="0"/>
                  <a:t> to control the response length automatically.</a:t>
                </a:r>
              </a:p>
              <a:p>
                <a:endParaRPr kumimoji="1" lang="en" altLang="ko-KR" dirty="0"/>
              </a:p>
              <a:p>
                <a:r>
                  <a:rPr kumimoji="1" lang="en" altLang="ko-KR" dirty="0"/>
                  <a:t>Epochs: 3</a:t>
                </a:r>
              </a:p>
              <a:p>
                <a:r>
                  <a:rPr kumimoji="1" lang="en" altLang="ko-KR" dirty="0"/>
                  <a:t>Learning Rate</a:t>
                </a:r>
              </a:p>
              <a:p>
                <a:pPr lvl="1"/>
                <a:r>
                  <a:rPr kumimoji="1" lang="en" altLang="ko-KR" dirty="0"/>
                  <a:t>50 iterations + more: linearly increased from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" altLang="ko-KR" dirty="0"/>
                  <a:t> to </a:t>
                </a:r>
                <a14:m>
                  <m:oMath xmlns:m="http://schemas.openxmlformats.org/officeDocument/2006/math">
                    <m: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2.5 </m:t>
                    </m:r>
                    <m:r>
                      <a:rPr kumimoji="1" lang="en" altLang="ko-KR" i="1" dirty="0">
                        <a:latin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kumimoji="1" lang="en" altLang="ko-KR" dirty="0"/>
                  <a:t>and kept constant.</a:t>
                </a:r>
              </a:p>
              <a:p>
                <a:pPr lvl="1"/>
                <a:r>
                  <a:rPr kumimoji="1" lang="en" altLang="ko-KR" dirty="0"/>
                  <a:t>final 10% of iterations: linearly reduced to </a:t>
                </a:r>
                <a14:m>
                  <m:oMath xmlns:m="http://schemas.openxmlformats.org/officeDocument/2006/math">
                    <m:r>
                      <a:rPr kumimoji="1" lang="en-US" altLang="ko-KR" dirty="0">
                        <a:latin typeface="Cambria Math" panose="02040503050406030204" pitchFamily="18" charset="0"/>
                      </a:rPr>
                      <m:t>2.5 </m:t>
                    </m:r>
                    <m:r>
                      <a:rPr kumimoji="1" lang="en" altLang="ko-KR" i="1" dirty="0">
                        <a:latin typeface="Cambria Math" panose="02040503050406030204" pitchFamily="18" charset="0"/>
                      </a:rPr>
                      <m:t>× </m:t>
                    </m:r>
                    <m:sSup>
                      <m:sSupPr>
                        <m:ctrlPr>
                          <a:rPr kumimoji="1"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kumimoji="1" lang="en" altLang="ko-KR" dirty="0"/>
                  <a:t>.</a:t>
                </a:r>
              </a:p>
              <a:p>
                <a:r>
                  <a:rPr kumimoji="1" lang="en" altLang="ko-KR" dirty="0"/>
                  <a:t>Batch Size: 256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9ADB723-D1F3-172D-2ABE-B9013AFA2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 t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F24697A5-B46F-7C77-BA64-BBB4D906D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Supervised Fine-Tuning (SFT) for Instruction Following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25218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2D68F-A8FC-4862-50AD-5CD0C41A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E52DBD-B2C9-7D6A-171E-A55E49D31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/>
              <a:t>Approach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dirty="0"/>
              <a:t>Inference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C9B0C5C-BD30-2649-3DB4-72A88F5B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604806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838F-0D1A-8B00-1477-61C36A85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D6AE7C74-9B09-3B1E-C3F4-C184495CFE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7534850" cy="4772814"/>
              </a:xfrm>
            </p:spPr>
            <p:txBody>
              <a:bodyPr>
                <a:normAutofit/>
              </a:bodyPr>
              <a:lstStyle/>
              <a:p>
                <a:r>
                  <a:rPr kumimoji="1" lang="en" altLang="ko-KR" dirty="0"/>
                  <a:t>Start from fully masked sequence (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en" altLang="ko-KR" dirty="0"/>
                  <a:t>) and iteratively reduce mask ratio to </a:t>
                </a:r>
                <a14:m>
                  <m:oMath xmlns:m="http://schemas.openxmlformats.org/officeDocument/2006/math"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" altLang="ko-KR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" altLang="ko-KR" dirty="0"/>
                  <a:t>.</a:t>
                </a:r>
              </a:p>
              <a:p>
                <a:r>
                  <a:rPr kumimoji="1" lang="en" altLang="ko-KR" dirty="0"/>
                  <a:t>Each step: predict masked tokens in parallel; optionally </a:t>
                </a:r>
                <a:r>
                  <a:rPr kumimoji="1" lang="en" altLang="ko-KR" dirty="0" err="1"/>
                  <a:t>remask</a:t>
                </a:r>
                <a:r>
                  <a:rPr kumimoji="1" lang="en" altLang="ko-KR" dirty="0"/>
                  <a:t> some tokens for refinement.</a:t>
                </a:r>
              </a:p>
              <a:p>
                <a:r>
                  <a:rPr kumimoji="1" lang="en" altLang="ko-KR" dirty="0" err="1"/>
                  <a:t>Remasking</a:t>
                </a:r>
                <a:r>
                  <a:rPr kumimoji="1" lang="en" altLang="ko-KR" dirty="0"/>
                  <a:t> strategies discussed : random vs low-confidence.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D6AE7C74-9B09-3B1E-C3F4-C184495CF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7534850" cy="4772814"/>
              </a:xfrm>
              <a:blipFill>
                <a:blip r:embed="rId3"/>
                <a:stretch>
                  <a:fillRect l="-1178" r="-1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1CFDA39D-9513-FDE1-9467-B502E2178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Inference: Diffusion-Style Sampling with </a:t>
            </a:r>
            <a:r>
              <a:rPr kumimoji="1" lang="en-US" altLang="ko-KR" dirty="0" err="1"/>
              <a:t>Remasking</a:t>
            </a:r>
            <a:endParaRPr kumimoji="1" lang="en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37C414-F930-3761-54C9-D71141E91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384" y="1421026"/>
            <a:ext cx="4505616" cy="3918891"/>
          </a:xfrm>
          <a:prstGeom prst="rect">
            <a:avLst/>
          </a:prstGeom>
        </p:spPr>
      </p:pic>
      <p:pic>
        <p:nvPicPr>
          <p:cNvPr id="7" name="그림 6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27CA3-5BDE-88AD-A412-E3BC27D576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136" y="5507635"/>
            <a:ext cx="3634134" cy="8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50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35B7-33D4-4F95-63CE-16F18D35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67FBD6-551D-3501-10EA-D62B3F1B8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Inference: Algorithm</a:t>
            </a:r>
            <a:endParaRPr kumimoji="1" lang="en" altLang="ko-KR" dirty="0"/>
          </a:p>
        </p:txBody>
      </p:sp>
      <p:pic>
        <p:nvPicPr>
          <p:cNvPr id="9" name="내용 개체 틀 8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6CAEDF-D7EA-C284-4256-14B2F6CB48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865481"/>
            <a:ext cx="11471275" cy="3650913"/>
          </a:xfrm>
        </p:spPr>
      </p:pic>
    </p:spTree>
    <p:extLst>
      <p:ext uri="{BB962C8B-B14F-4D97-AF65-F5344CB8AC3E}">
        <p14:creationId xmlns:p14="http://schemas.microsoft.com/office/powerpoint/2010/main" val="2294858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24ADF-33FE-F6DD-5D6E-B28F2181D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19C1F1C-5A9F-B7DD-84EB-6D5E7FAD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Inference: Algorithm</a:t>
            </a:r>
            <a:endParaRPr kumimoji="1" lang="en" altLang="ko-KR" dirty="0"/>
          </a:p>
        </p:txBody>
      </p:sp>
      <p:pic>
        <p:nvPicPr>
          <p:cNvPr id="6" name="내용 개체 틀 5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BCC56F-AC33-5340-7B8A-D6A5BE7AF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45" y="1304925"/>
            <a:ext cx="9978711" cy="4772025"/>
          </a:xfrm>
        </p:spPr>
      </p:pic>
    </p:spTree>
    <p:extLst>
      <p:ext uri="{BB962C8B-B14F-4D97-AF65-F5344CB8AC3E}">
        <p14:creationId xmlns:p14="http://schemas.microsoft.com/office/powerpoint/2010/main" val="581517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93DBB-8435-649E-C7DC-2B8578FA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0A1417D-6B49-EE07-0CDD-3795FBB0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Inference: Algorithm</a:t>
            </a:r>
            <a:endParaRPr kumimoji="1" lang="en" altLang="ko-KR" dirty="0"/>
          </a:p>
        </p:txBody>
      </p:sp>
      <p:pic>
        <p:nvPicPr>
          <p:cNvPr id="7" name="내용 개체 틀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D12D0D-9212-439E-163D-C7EDF1C86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852" y="1304925"/>
            <a:ext cx="7272297" cy="4772025"/>
          </a:xfrm>
        </p:spPr>
      </p:pic>
    </p:spTree>
    <p:extLst>
      <p:ext uri="{BB962C8B-B14F-4D97-AF65-F5344CB8AC3E}">
        <p14:creationId xmlns:p14="http://schemas.microsoft.com/office/powerpoint/2010/main" val="96572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23C52-4331-484F-8A28-B6438E8B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7CB63CF-EBA5-9F22-7CF2-70E647502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Approach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/>
              <a:t>Experiments</a:t>
            </a:r>
          </a:p>
          <a:p>
            <a:pPr lvl="1"/>
            <a:r>
              <a:rPr kumimoji="1" lang="en" altLang="ko-KR" dirty="0"/>
              <a:t>Scalability of </a:t>
            </a:r>
            <a:r>
              <a:rPr kumimoji="1" lang="en" altLang="ko-KR" dirty="0" err="1"/>
              <a:t>LLaDA</a:t>
            </a:r>
            <a:r>
              <a:rPr kumimoji="1" lang="en" altLang="ko-KR" dirty="0"/>
              <a:t> on Language Tasks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084DF7-EA37-D4B8-5479-8D4E82C8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334398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57858-3E61-1C4A-851C-D96F1BB5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3174C77-EFDB-8AE6-7843-A73EC753D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Scalability Results Across Compute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FE1FF-3FB8-C270-992B-484BA33CA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" altLang="ko-KR" dirty="0"/>
          </a:p>
        </p:txBody>
      </p:sp>
      <p:pic>
        <p:nvPicPr>
          <p:cNvPr id="6" name="그림 5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B7CB17-1719-B14F-0CB2-E7694D601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15" y="1304764"/>
            <a:ext cx="9877170" cy="543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74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364C8-0213-0307-DF07-DCDA10F6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ABEA9B9-56B6-1AFC-22D3-4EF900F9A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Scalability Results Across Compute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E37550-40DC-6E05-2650-970336672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Compare </a:t>
            </a:r>
            <a:r>
              <a:rPr lang="en" altLang="ko-KR" dirty="0" err="1"/>
              <a:t>LLaDA</a:t>
            </a:r>
            <a:r>
              <a:rPr lang="en" altLang="ko-KR" dirty="0"/>
              <a:t> vs AR baselines trained on the same data, across increasing pre-training FLOPs.</a:t>
            </a:r>
          </a:p>
          <a:p>
            <a:r>
              <a:rPr lang="en" altLang="ko-KR" dirty="0"/>
              <a:t>Show that </a:t>
            </a:r>
            <a:r>
              <a:rPr lang="en" altLang="ko-KR" dirty="0" err="1"/>
              <a:t>LLaDA</a:t>
            </a:r>
            <a:r>
              <a:rPr lang="en" altLang="ko-KR" dirty="0"/>
              <a:t> scales strongly and matches ARMs on multiple tasks.</a:t>
            </a:r>
          </a:p>
        </p:txBody>
      </p:sp>
    </p:spTree>
    <p:extLst>
      <p:ext uri="{BB962C8B-B14F-4D97-AF65-F5344CB8AC3E}">
        <p14:creationId xmlns:p14="http://schemas.microsoft.com/office/powerpoint/2010/main" val="3763026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0DE94-E231-3DA5-E48D-AD3A662A6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E1481D3-4F55-D2B5-22C3-56B90F73A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Approach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/>
              <a:t>Experiments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sz="2100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dirty="0"/>
              <a:t>Benchmark Results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3A7A1F-D679-46BD-13A5-CF5572CF6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2220938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846A-EA86-20EA-E3D8-BA20A1E3A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8EA9E97-7A8B-0751-998F-C93C976E8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Pre-trained Benchmark Results (In-Context Learning)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5CF033-A532-6C28-F35F-71EC1BA88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402336-FB7A-04F6-7E5A-2E610ADA7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962" y="1139961"/>
            <a:ext cx="8246076" cy="573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581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5ACD-721E-B610-987C-F1F904EE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5D15771-DA60-51AD-51E4-2ABE0A77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Pre-trained Benchmark Results (In-Context Learning)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6698BA-CE64-930D-2B6D-940F3E88A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Broad comparison to similarly sized LLMs on general, math, code, Chinese tasks.</a:t>
            </a:r>
          </a:p>
          <a:p>
            <a:r>
              <a:rPr lang="en" altLang="ko-KR" dirty="0"/>
              <a:t>Key message: </a:t>
            </a:r>
            <a:r>
              <a:rPr lang="en" altLang="ko-KR" dirty="0" err="1"/>
              <a:t>LLaDA</a:t>
            </a:r>
            <a:r>
              <a:rPr lang="en" altLang="ko-KR" dirty="0"/>
              <a:t> 8B Base is competitive with strong AR baselines; advantages in some domains.</a:t>
            </a:r>
          </a:p>
        </p:txBody>
      </p:sp>
    </p:spTree>
    <p:extLst>
      <p:ext uri="{BB962C8B-B14F-4D97-AF65-F5344CB8AC3E}">
        <p14:creationId xmlns:p14="http://schemas.microsoft.com/office/powerpoint/2010/main" val="2502986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2FC3-AC44-51CF-29B4-A57FC83C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4772390-918A-07B7-0BFF-0F7CE8EC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Post-trained (SFT) Benchmark Results</a:t>
            </a:r>
            <a:endParaRPr kumimoji="1" lang="en" altLang="ko-KR" dirty="0"/>
          </a:p>
        </p:txBody>
      </p:sp>
      <p:pic>
        <p:nvPicPr>
          <p:cNvPr id="5" name="내용 개체 틀 4" descr="텍스트, 폰트, 번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3A0145-1107-33C3-C0BA-81F3AFA69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693" y="1211912"/>
            <a:ext cx="9206614" cy="5646088"/>
          </a:xfrm>
        </p:spPr>
      </p:pic>
    </p:spTree>
    <p:extLst>
      <p:ext uri="{BB962C8B-B14F-4D97-AF65-F5344CB8AC3E}">
        <p14:creationId xmlns:p14="http://schemas.microsoft.com/office/powerpoint/2010/main" val="2386705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515F-C60B-3264-BD12-C7CBFA70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3A56AF3-E3F6-99E5-C2A5-DED3B4F1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Post-trained (SFT) Benchmark Results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43EC01-9017-3DDC-FDFE-5D0FE7427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After SFT, </a:t>
            </a:r>
            <a:r>
              <a:rPr lang="en" altLang="ko-KR" dirty="0" err="1"/>
              <a:t>LLaDA</a:t>
            </a:r>
            <a:r>
              <a:rPr lang="en" altLang="ko-KR" dirty="0"/>
              <a:t> improves instruction-following and task performance under conditional generation.</a:t>
            </a:r>
          </a:p>
          <a:p>
            <a:r>
              <a:rPr lang="en" altLang="ko-KR" dirty="0"/>
              <a:t>Compare against instruct-tuned AR models under reported evaluation protocols.</a:t>
            </a:r>
          </a:p>
        </p:txBody>
      </p:sp>
    </p:spTree>
    <p:extLst>
      <p:ext uri="{BB962C8B-B14F-4D97-AF65-F5344CB8AC3E}">
        <p14:creationId xmlns:p14="http://schemas.microsoft.com/office/powerpoint/2010/main" val="3451533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6DAD-1AEA-0018-7165-96FD9992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05BED69-CDC3-9332-4681-3AD2C8D1C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Details and Ablation on Sampling Strategies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4E219C-9765-BF01-B56A-078B055DA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Flexible Sampling Strategies</a:t>
            </a:r>
          </a:p>
        </p:txBody>
      </p:sp>
      <p:pic>
        <p:nvPicPr>
          <p:cNvPr id="5" name="그림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7632E8-D579-DD53-275C-4DD3EB88D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53" y="2272774"/>
            <a:ext cx="10986694" cy="328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451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CDF6-4EDB-2E1A-A18A-04509B59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FEE4D3C-3C15-17A5-BC36-AC651A8E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Details and Ablation on Sampling Strategies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18EA1D-928E-98FC-92FD-61B053F24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Results</a:t>
            </a: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26AABA-2353-B7BA-B6DE-1AE00A726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845" y="1818398"/>
            <a:ext cx="9502310" cy="425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93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A10F-AB8F-3550-334C-3F2FBA67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3889AC3-CC22-5D7E-DE1A-CF917D0D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Details and Ablation on Sampling Strategies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99590-DC07-5BEC-5ED3-865E9D5CF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Results</a:t>
            </a:r>
          </a:p>
        </p:txBody>
      </p:sp>
      <p:pic>
        <p:nvPicPr>
          <p:cNvPr id="5" name="그림 4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071E92-6BAF-DE14-446D-FA6029F10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33" y="1897713"/>
            <a:ext cx="9889200" cy="2660595"/>
          </a:xfrm>
          <a:prstGeom prst="rect">
            <a:avLst/>
          </a:prstGeom>
        </p:spPr>
      </p:pic>
      <p:pic>
        <p:nvPicPr>
          <p:cNvPr id="7" name="그림 6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EECAB-7613-DEEC-6D5A-79DA06490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633" y="4723565"/>
            <a:ext cx="9889200" cy="194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387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584A-0301-95DF-2696-A74D9894A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F2C52B1-8371-6FAA-022B-2318716D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lang="en" altLang="ko-KR" dirty="0"/>
              <a:t>Analysis of Sampling Efficiency</a:t>
            </a:r>
            <a:endParaRPr kumimoji="1" lang="en" altLang="ko-KR" dirty="0"/>
          </a:p>
        </p:txBody>
      </p:sp>
      <p:pic>
        <p:nvPicPr>
          <p:cNvPr id="6" name="내용 개체 틀 5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5D6047-BBA7-25B6-7BB1-E3430496F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562" y="1016732"/>
            <a:ext cx="7556876" cy="5596662"/>
          </a:xfrm>
        </p:spPr>
      </p:pic>
    </p:spTree>
    <p:extLst>
      <p:ext uri="{BB962C8B-B14F-4D97-AF65-F5344CB8AC3E}">
        <p14:creationId xmlns:p14="http://schemas.microsoft.com/office/powerpoint/2010/main" val="25886467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D38C3-EC73-EEDF-AEAF-59213655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42698D4-30E9-E5FC-4984-AB6F070B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lang="en" altLang="ko-KR" dirty="0"/>
              <a:t>Ablation on CFG</a:t>
            </a:r>
            <a:endParaRPr kumimoji="1" lang="en" altLang="ko-KR"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FA45DC47-D2F3-48DA-A45F-641C9E711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To ensure a fair comparison with ARMs, we do not apply CFG to </a:t>
            </a:r>
            <a:r>
              <a:rPr lang="en" altLang="ko-KR" dirty="0" err="1"/>
              <a:t>LLaDA</a:t>
            </a:r>
            <a:r>
              <a:rPr lang="en" altLang="ko-KR" dirty="0"/>
              <a:t> in the main text. </a:t>
            </a:r>
          </a:p>
          <a:p>
            <a:r>
              <a:rPr lang="en" altLang="ko-KR" dirty="0"/>
              <a:t>However, </a:t>
            </a:r>
            <a:r>
              <a:rPr lang="en" altLang="ko-KR" dirty="0" err="1"/>
              <a:t>LLaDA</a:t>
            </a:r>
            <a:r>
              <a:rPr lang="en" altLang="ko-KR" dirty="0"/>
              <a:t> is fully compatible with CFG and consistently exhibits improved performance when it is applied.</a:t>
            </a:r>
            <a:endParaRPr lang="ko-KR" altLang="en-US" dirty="0"/>
          </a:p>
        </p:txBody>
      </p:sp>
      <p:pic>
        <p:nvPicPr>
          <p:cNvPr id="15" name="그림 14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079B19-9F22-19C5-FAAC-FA3CB0A8E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66" y="3429000"/>
            <a:ext cx="10780668" cy="203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059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7CC83-4D6A-1173-DF67-269BB7796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9E4B2DA-F7CC-84E6-27CB-B1ACD6F59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Approach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/>
              <a:t>Experiments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sz="2100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dirty="0"/>
              <a:t>Reversal Reasoning and Analyses</a:t>
            </a:r>
          </a:p>
          <a:p>
            <a:pPr lvl="1"/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495DC0D-CA47-49DC-5137-C39826D7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1189012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1690-450C-A544-9E48-D369681A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3D022B8-2AB2-B64F-A626-F70EEA490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Reversal Reasoning</a:t>
            </a:r>
            <a:endParaRPr kumimoji="1" lang="en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5AFA17-FC71-B131-D3D5-5CD2B9511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Motivation and Setup</a:t>
            </a:r>
            <a:endParaRPr lang="en" altLang="ko-KR" dirty="0"/>
          </a:p>
          <a:p>
            <a:pPr lvl="1"/>
            <a:r>
              <a:rPr lang="en" altLang="ko-KR" dirty="0"/>
              <a:t>Evaluate “reversal curse”: forward next-line vs reversal previous-line generation.</a:t>
            </a:r>
          </a:p>
          <a:p>
            <a:pPr lvl="1"/>
            <a:r>
              <a:rPr lang="en" altLang="ko-KR" dirty="0"/>
              <a:t>Dataset: Chinese poem sentence pairs; zero-shot generation without additional tuning.</a:t>
            </a:r>
          </a:p>
          <a:p>
            <a:pPr lvl="1"/>
            <a:r>
              <a:rPr lang="en" altLang="ko-KR" dirty="0"/>
              <a:t>Key claim: </a:t>
            </a:r>
            <a:r>
              <a:rPr lang="en" altLang="ko-KR" dirty="0" err="1"/>
              <a:t>LLaDA</a:t>
            </a:r>
            <a:r>
              <a:rPr lang="en" altLang="ko-KR" dirty="0"/>
              <a:t> treats tokens more uniformly (less left-to-right inductive bias).</a:t>
            </a:r>
          </a:p>
          <a:p>
            <a:pPr lvl="2"/>
            <a:endParaRPr lang="en" altLang="ko-KR" dirty="0"/>
          </a:p>
          <a:p>
            <a:r>
              <a:rPr lang="en-US" altLang="ko-KR" dirty="0"/>
              <a:t>Main Results</a:t>
            </a:r>
          </a:p>
          <a:p>
            <a:pPr lvl="1"/>
            <a:r>
              <a:rPr lang="en" altLang="ko-KR" dirty="0"/>
              <a:t>Show forward vs reversal performance; </a:t>
            </a:r>
            <a:r>
              <a:rPr lang="en" altLang="ko-KR" dirty="0" err="1"/>
              <a:t>LLaDA</a:t>
            </a:r>
            <a:r>
              <a:rPr lang="en" altLang="ko-KR" dirty="0"/>
              <a:t> narrows the gap and improves reversal accuracy.</a:t>
            </a:r>
          </a:p>
          <a:p>
            <a:pPr lvl="1"/>
            <a:r>
              <a:rPr lang="en" altLang="ko-KR" dirty="0"/>
              <a:t>Talking point: strong AR models excel forward but drop sharply on reversal; </a:t>
            </a:r>
            <a:r>
              <a:rPr lang="en" altLang="ko-KR" dirty="0" err="1"/>
              <a:t>LLaDA</a:t>
            </a:r>
            <a:r>
              <a:rPr lang="en" altLang="ko-KR" dirty="0"/>
              <a:t> is more balanced.</a:t>
            </a:r>
          </a:p>
          <a:p>
            <a:pPr lvl="1"/>
            <a:endParaRPr lang="en-US" altLang="ko-KR" dirty="0"/>
          </a:p>
          <a:p>
            <a:pPr lvl="1"/>
            <a:endParaRPr lang="en" altLang="ko-KR" dirty="0"/>
          </a:p>
        </p:txBody>
      </p:sp>
      <p:pic>
        <p:nvPicPr>
          <p:cNvPr id="2" name="그림 1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A21B14-ADAC-7559-4FFC-ED9B4F8D5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537" y="4979772"/>
            <a:ext cx="3836112" cy="178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0464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29CA-06AC-2F89-8049-4149E72C8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87700D-CFF0-3891-5ED7-3F36E7E0D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Approach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/>
              <a:t>Experiments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sz="2100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dirty="0"/>
              <a:t>Case Studies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Conclusion and Discussion</a:t>
            </a:r>
            <a:endParaRPr kumimoji="1"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289985C-3024-2A0C-730B-8330300C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4072278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D02-A364-9DDB-243D-CE1F236C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A27C28E-9781-41A5-FC17-C9F6297C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Instruction Following Case Studies (Qualitative)</a:t>
            </a:r>
            <a:endParaRPr kumimoji="1" lang="en" altLang="ko-KR" dirty="0"/>
          </a:p>
        </p:txBody>
      </p:sp>
      <p:pic>
        <p:nvPicPr>
          <p:cNvPr id="6" name="내용 개체 틀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704406-55C8-F9BA-DEE6-89C4EA9CB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083" y="1107726"/>
            <a:ext cx="6713836" cy="5750274"/>
          </a:xfrm>
        </p:spPr>
      </p:pic>
    </p:spTree>
    <p:extLst>
      <p:ext uri="{BB962C8B-B14F-4D97-AF65-F5344CB8AC3E}">
        <p14:creationId xmlns:p14="http://schemas.microsoft.com/office/powerpoint/2010/main" val="368708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A6223-5AA4-749E-4D28-53D9BE036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4364C22-33CF-ADCB-2588-361BF45C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Instruction Following Case Studies (Qualitative)</a:t>
            </a:r>
            <a:endParaRPr kumimoji="1" lang="en" altLang="ko-KR" dirty="0"/>
          </a:p>
        </p:txBody>
      </p:sp>
      <p:pic>
        <p:nvPicPr>
          <p:cNvPr id="7" name="내용 개체 틀 6" descr="텍스트, 폰트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6551F4-31E1-B15D-1768-2717EA4E84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615608"/>
            <a:ext cx="11471275" cy="4150659"/>
          </a:xfrm>
        </p:spPr>
      </p:pic>
    </p:spTree>
    <p:extLst>
      <p:ext uri="{BB962C8B-B14F-4D97-AF65-F5344CB8AC3E}">
        <p14:creationId xmlns:p14="http://schemas.microsoft.com/office/powerpoint/2010/main" val="2675364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465C-C98F-8618-017D-B3AA308E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8CEE2C4-1CF7-95D8-272F-ED41B4C0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Instruction Following Case Studies (Qualitative)</a:t>
            </a:r>
            <a:endParaRPr kumimoji="1" lang="en" altLang="ko-KR" dirty="0"/>
          </a:p>
        </p:txBody>
      </p:sp>
      <p:pic>
        <p:nvPicPr>
          <p:cNvPr id="6" name="내용 개체 틀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196F06-5CBA-5A96-A167-A826D4344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245" y="1304925"/>
            <a:ext cx="8271510" cy="4772025"/>
          </a:xfrm>
        </p:spPr>
      </p:pic>
    </p:spTree>
    <p:extLst>
      <p:ext uri="{BB962C8B-B14F-4D97-AF65-F5344CB8AC3E}">
        <p14:creationId xmlns:p14="http://schemas.microsoft.com/office/powerpoint/2010/main" val="5564022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C673-4E89-E294-2F33-65DC74F32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19B7CC2-4D90-4567-695E-D9ACBB15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Approach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Probabilistic Formulation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Pre-training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Supervised Fine-Tuning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Inference</a:t>
            </a:r>
          </a:p>
          <a:p>
            <a:r>
              <a:rPr kumimoji="1" lang="en" altLang="ko-KR" dirty="0">
                <a:solidFill>
                  <a:schemeClr val="bg1">
                    <a:lumMod val="85000"/>
                  </a:schemeClr>
                </a:solidFill>
              </a:rPr>
              <a:t>Experiments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Scalability of </a:t>
            </a:r>
            <a:r>
              <a:rPr kumimoji="1" lang="en" altLang="ko-KR" sz="2100" dirty="0" err="1">
                <a:solidFill>
                  <a:schemeClr val="bg1">
                    <a:lumMod val="85000"/>
                  </a:schemeClr>
                </a:solidFill>
              </a:rPr>
              <a:t>LLaDA</a:t>
            </a:r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 on Language Tasks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Benchmark Results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Reversal Reasoning and Analyses</a:t>
            </a:r>
          </a:p>
          <a:p>
            <a:pPr lvl="1"/>
            <a:r>
              <a:rPr kumimoji="1" lang="en" altLang="ko-KR" sz="2100" dirty="0">
                <a:solidFill>
                  <a:schemeClr val="bg1">
                    <a:lumMod val="85000"/>
                  </a:schemeClr>
                </a:solidFill>
              </a:rPr>
              <a:t>Case Studies</a:t>
            </a:r>
          </a:p>
          <a:p>
            <a:r>
              <a:rPr kumimoji="1" lang="en" altLang="ko-KR" dirty="0"/>
              <a:t>Conclusion and Discussion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2FF8FD3-755D-24E8-91A0-4AE762F68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kumimoji="1" lang="en-US" altLang="ko-KR" dirty="0"/>
              <a:t>Table of Contents</a:t>
            </a:r>
            <a:endParaRPr kumimoji="1" lang="en" altLang="ko-KR" dirty="0"/>
          </a:p>
        </p:txBody>
      </p:sp>
    </p:spTree>
    <p:extLst>
      <p:ext uri="{BB962C8B-B14F-4D97-AF65-F5344CB8AC3E}">
        <p14:creationId xmlns:p14="http://schemas.microsoft.com/office/powerpoint/2010/main" val="38296537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D58BB-FEAD-B083-AEC5-462D0970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87D8B62-F85A-9427-DAC5-E7AF57D86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Conclusion and Discussion</a:t>
            </a:r>
            <a:endParaRPr kumimoji="1"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AD34E1-828D-0AC3-E556-877A4A5A7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Core takeaway: diffusion language models can exhibit LLM-like capabilities at scale.</a:t>
            </a:r>
          </a:p>
          <a:p>
            <a:r>
              <a:rPr lang="en" altLang="ko-KR" dirty="0"/>
              <a:t>Highlights: competitive benchmark performance, instruction-following after SFT, reversal robustness.</a:t>
            </a:r>
          </a:p>
          <a:p>
            <a:r>
              <a:rPr lang="en" altLang="ko-KR" dirty="0"/>
              <a:t>Broader impacts: similar societal concerns as LLMs (misuse, bias, environmental cost).</a:t>
            </a:r>
          </a:p>
          <a:p>
            <a:endParaRPr lang="en" altLang="ko-KR" dirty="0"/>
          </a:p>
          <a:p>
            <a:r>
              <a:rPr lang="en" altLang="ko-KR" dirty="0"/>
              <a:t>Limitation</a:t>
            </a:r>
          </a:p>
          <a:p>
            <a:pPr lvl="1"/>
            <a:r>
              <a:rPr lang="en" altLang="ko-KR" dirty="0"/>
              <a:t>The generation length is a user-specified hyperparameter.</a:t>
            </a:r>
          </a:p>
          <a:p>
            <a:pPr lvl="1"/>
            <a:r>
              <a:rPr lang="en" altLang="ko-KR" dirty="0"/>
              <a:t>No specialized attention mechanisms or position embeddings were designed for </a:t>
            </a:r>
            <a:r>
              <a:rPr lang="en" altLang="ko-KR" dirty="0" err="1"/>
              <a:t>LLaDA</a:t>
            </a:r>
            <a:r>
              <a:rPr lang="en" altLang="ko-KR" dirty="0"/>
              <a:t>, nor were any system-level architectural optimizations such as KV cache applied.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1404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14790</TotalTime>
  <Words>1436</Words>
  <Application>Microsoft Macintosh PowerPoint</Application>
  <PresentationFormat>와이드스크린</PresentationFormat>
  <Paragraphs>323</Paragraphs>
  <Slides>48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48</vt:i4>
      </vt:variant>
    </vt:vector>
  </HeadingPairs>
  <TitlesOfParts>
    <vt:vector size="59" baseType="lpstr">
      <vt:lpstr>Arial</vt:lpstr>
      <vt:lpstr>Cambria Math</vt:lpstr>
      <vt:lpstr>Wingdings 3</vt:lpstr>
      <vt:lpstr>Times New Roman</vt:lpstr>
      <vt:lpstr>Candara</vt:lpstr>
      <vt:lpstr>Wingdings</vt:lpstr>
      <vt:lpstr>맑은 고딕</vt:lpstr>
      <vt:lpstr>Pretendard Medium</vt:lpstr>
      <vt:lpstr>Corbel</vt:lpstr>
      <vt:lpstr>Office 테마</vt:lpstr>
      <vt:lpstr>1_Office 테마</vt:lpstr>
      <vt:lpstr>Large Language Diffusion Models</vt:lpstr>
      <vt:lpstr>Table of Contents</vt:lpstr>
      <vt:lpstr>Table of Contents</vt:lpstr>
      <vt:lpstr>Is Autoregression Necessary for LLM Capabilities?</vt:lpstr>
      <vt:lpstr>Is Autoregression Necessary for LLM Capabilities?</vt:lpstr>
      <vt:lpstr>Headline Results</vt:lpstr>
      <vt:lpstr>Headline Results</vt:lpstr>
      <vt:lpstr>Overview of LLaDA</vt:lpstr>
      <vt:lpstr>Overview of LLaDA</vt:lpstr>
      <vt:lpstr>Table of Contents</vt:lpstr>
      <vt:lpstr>Generative Modeling Setup</vt:lpstr>
      <vt:lpstr>Training Objective</vt:lpstr>
      <vt:lpstr>Table of Contents</vt:lpstr>
      <vt:lpstr>Pre-training: Architecture and Key Design Choices</vt:lpstr>
      <vt:lpstr>Pre-training: Algoritm</vt:lpstr>
      <vt:lpstr>Pre-training Data and Compute</vt:lpstr>
      <vt:lpstr>Model Architecture Comparison</vt:lpstr>
      <vt:lpstr>Table of Contents</vt:lpstr>
      <vt:lpstr>Supervised Fine-Tuning (SFT) for Instruction Following</vt:lpstr>
      <vt:lpstr>Supervised Fine-Tuning (SFT): Algorithm</vt:lpstr>
      <vt:lpstr>Supervised Fine-Tuning (SFT) for Instruction Following</vt:lpstr>
      <vt:lpstr>Table of Contents</vt:lpstr>
      <vt:lpstr>Inference: Diffusion-Style Sampling with Remasking</vt:lpstr>
      <vt:lpstr>Inference: Algorithm</vt:lpstr>
      <vt:lpstr>Inference: Algorithm</vt:lpstr>
      <vt:lpstr>Inference: Algorithm</vt:lpstr>
      <vt:lpstr>Table of Contents</vt:lpstr>
      <vt:lpstr>Scalability Results Across Compute</vt:lpstr>
      <vt:lpstr>Scalability Results Across Compute</vt:lpstr>
      <vt:lpstr>Table of Contents</vt:lpstr>
      <vt:lpstr>Pre-trained Benchmark Results (In-Context Learning)</vt:lpstr>
      <vt:lpstr>Pre-trained Benchmark Results (In-Context Learning)</vt:lpstr>
      <vt:lpstr>Post-trained (SFT) Benchmark Results</vt:lpstr>
      <vt:lpstr>Post-trained (SFT) Benchmark Results</vt:lpstr>
      <vt:lpstr>Details and Ablation on Sampling Strategies</vt:lpstr>
      <vt:lpstr>Details and Ablation on Sampling Strategies</vt:lpstr>
      <vt:lpstr>Details and Ablation on Sampling Strategies</vt:lpstr>
      <vt:lpstr>Analysis of Sampling Efficiency</vt:lpstr>
      <vt:lpstr>Ablation on CFG</vt:lpstr>
      <vt:lpstr>Table of Contents</vt:lpstr>
      <vt:lpstr>Reversal Reasoning</vt:lpstr>
      <vt:lpstr>Table of Contents</vt:lpstr>
      <vt:lpstr>Instruction Following Case Studies (Qualitative)</vt:lpstr>
      <vt:lpstr>Instruction Following Case Studies (Qualitative)</vt:lpstr>
      <vt:lpstr>Instruction Following Case Studies (Qualitative)</vt:lpstr>
      <vt:lpstr>Table of Contents</vt:lpstr>
      <vt:lpstr>Conclusion and Discussion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3109</cp:revision>
  <dcterms:created xsi:type="dcterms:W3CDTF">2013-05-08T06:38:33Z</dcterms:created>
  <dcterms:modified xsi:type="dcterms:W3CDTF">2025-12-22T07:14:56Z</dcterms:modified>
</cp:coreProperties>
</file>