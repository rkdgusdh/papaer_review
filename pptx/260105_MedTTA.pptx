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  <p:sldMasterId id="2147483665" r:id="rId2"/>
  </p:sldMasterIdLst>
  <p:notesMasterIdLst>
    <p:notesMasterId r:id="rId39"/>
  </p:notesMasterIdLst>
  <p:handoutMasterIdLst>
    <p:handoutMasterId r:id="rId40"/>
  </p:handoutMasterIdLst>
  <p:sldIdLst>
    <p:sldId id="257" r:id="rId3"/>
    <p:sldId id="262" r:id="rId4"/>
    <p:sldId id="271" r:id="rId5"/>
    <p:sldId id="270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1" r:id="rId15"/>
    <p:sldId id="280" r:id="rId16"/>
    <p:sldId id="282" r:id="rId17"/>
    <p:sldId id="285" r:id="rId18"/>
    <p:sldId id="283" r:id="rId19"/>
    <p:sldId id="284" r:id="rId20"/>
    <p:sldId id="288" r:id="rId21"/>
    <p:sldId id="286" r:id="rId22"/>
    <p:sldId id="287" r:id="rId23"/>
    <p:sldId id="289" r:id="rId24"/>
    <p:sldId id="290" r:id="rId25"/>
    <p:sldId id="291" r:id="rId26"/>
    <p:sldId id="300" r:id="rId27"/>
    <p:sldId id="292" r:id="rId28"/>
    <p:sldId id="293" r:id="rId29"/>
    <p:sldId id="301" r:id="rId30"/>
    <p:sldId id="302" r:id="rId31"/>
    <p:sldId id="294" r:id="rId32"/>
    <p:sldId id="295" r:id="rId33"/>
    <p:sldId id="296" r:id="rId34"/>
    <p:sldId id="297" r:id="rId35"/>
    <p:sldId id="299" r:id="rId36"/>
    <p:sldId id="298" r:id="rId37"/>
    <p:sldId id="260" r:id="rId38"/>
  </p:sldIdLst>
  <p:sldSz cx="12192000" cy="6858000"/>
  <p:notesSz cx="9928225" cy="6797675"/>
  <p:embeddedFontLst>
    <p:embeddedFont>
      <p:font typeface="맑은 고딕" panose="020B0503020000020004" pitchFamily="34" charset="-127"/>
      <p:regular r:id="rId41"/>
      <p:bold r:id="rId42"/>
    </p:embeddedFont>
    <p:embeddedFont>
      <p:font typeface="Cambria Math" panose="02040503050406030204" pitchFamily="18" charset="0"/>
      <p:regular r:id="rId43"/>
    </p:embeddedFont>
    <p:embeddedFont>
      <p:font typeface="Candara" panose="020E0502030303020204" pitchFamily="34" charset="0"/>
      <p:regular r:id="rId44"/>
      <p:bold r:id="rId45"/>
      <p:italic r:id="rId46"/>
      <p:boldItalic r:id="rId47"/>
    </p:embeddedFont>
    <p:embeddedFont>
      <p:font typeface="Corbel" panose="020B0503020204020204" pitchFamily="34" charset="0"/>
      <p:regular r:id="rId48"/>
      <p:bold r:id="rId49"/>
      <p:italic r:id="rId50"/>
      <p:boldItalic r:id="rId51"/>
    </p:embeddedFont>
    <p:embeddedFont>
      <p:font typeface="Pretendard Medium" panose="02000603000000020004" pitchFamily="2" charset="-127"/>
      <p:regular r:id="rId52"/>
    </p:embeddedFont>
    <p:embeddedFont>
      <p:font typeface="Wingdings 3" pitchFamily="2" charset="2"/>
      <p:regular r:id="rId5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88" autoAdjust="0"/>
    <p:restoredTop sz="85007" autoAdjust="0"/>
  </p:normalViewPr>
  <p:slideViewPr>
    <p:cSldViewPr snapToGrid="0">
      <p:cViewPr varScale="1">
        <p:scale>
          <a:sx n="106" d="100"/>
          <a:sy n="106" d="100"/>
        </p:scale>
        <p:origin x="20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11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9.fntdata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2026. 1. 5.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2026. 1. 5.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300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D3A05-BB3B-5B83-5E40-EB9440B4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5E70A8-DEFF-F9FA-412C-3FA9F5022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416390-5C3D-8A3E-8BB4-DA806CB32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354A10-067F-7CBC-1DE2-4D896387B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40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332B-B488-D3F3-09C8-195A56BB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F8CAE2-8088-26BB-77A8-1CAACAFAE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69042C-F74D-DE4B-E262-6C8662772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1CC22-5443-B08C-99A3-FC3956075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24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6C8F-CD00-FB49-FA43-0EF5962D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120215-C470-D605-5E6D-0AC317B8A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44FF12-4B7D-7ADD-E09C-0077CB7B2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9113B8-5028-B410-FFDA-238669295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35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E74C-2679-D4E4-1F38-217B6D64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1E7A2E-ED2C-DB01-58A1-D35146969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E8E343-E9B9-7718-AD2F-A405FBE28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BD1868-28C7-BFBA-D8E5-A51CEA5B8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394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241B-FAA8-1456-AD55-B04B8ADB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DEBFD3-7663-E1C6-4A0C-0A16A5DCB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D962AB-0E50-03AE-D4FE-C3FF223E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A35A-44D3-953E-83E5-41F2FDAAD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464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2EDDE-7214-F1CB-ED4E-07D8B933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1FDAB5-84B5-FD2F-62C6-A16D60606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591D5C-0F5C-2B3B-1486-9556D0BBD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33A291-CA14-6D48-7A29-B10D7CFBD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610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4341-36A0-36FE-2C8A-282906BB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B72C1D-CF9A-1D19-00A1-231F50598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8ED850-DAF2-17F0-D4F3-D54520CA7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C904EF-5E1B-06EF-6722-A6888E29B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9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8E0A-B348-CC36-BBE6-A600CF72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9FC946-1005-0145-2708-E4F6CFC8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E1B543-D0A2-2E93-A58F-7CBE26FB5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2625A-17AF-DEE8-7178-2BB3ADB87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264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8BA2B-4A22-6CCE-ACAD-514B558E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8D6589-F1DA-FAF3-2812-3D1AA1C0B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08F765-6FD1-9E81-BB59-1B34CFDC0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913F98-03A4-0285-8531-DE2E95BA4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964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F24B-3717-BCDC-C0C8-23E7C43C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1B1C1A-4B99-F3DA-FAA4-B44C3DB9B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59F145-8274-302E-3468-314D2648B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EEA84B-5D0F-DC18-3770-861FFD184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440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D8C28-7C36-2A6F-BD9A-D838E093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96D4BE-0F2A-85D9-DB8D-6849E5F08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82782C-E2B1-1EEE-09E3-B9B08FD86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C759AA-8659-97F8-01C2-A101CB8D0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934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ED71-D72F-28BE-BCFD-BD35812C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A0DE00-9DE8-207A-2020-2C7EC1900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2888B3-F9CE-7AEC-B004-63A7592E1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881E9E-2CDB-CD54-5255-96B9131F7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30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8FB40-AE97-8ED7-C6B3-AA8C582B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C4536E-8D0B-E22E-F57F-566D55E16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56BBBD-CF46-FDF1-ADF2-E8696AB31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B405B-E38B-D6EA-D8EB-F9E14E4F5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449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F3AB-3495-4595-51BF-0CBC49D2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3FA305-A136-B81D-F33B-5D3FD5954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BEFB52-D6ED-C3A8-502F-AAAF4852C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E056CA-B499-84A3-01E5-0B7B0B7C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85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9D3F-EBA5-B794-3398-2B3565F96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38972E-034B-B6B3-EAD6-287D57BA3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6621FA-F156-FF82-F59B-870A198C1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A41B5-8DCB-9987-7956-CBEAFC7E6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136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F9C0C-CD32-D829-E2F9-6A3DA54D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27F895-E95C-9E3C-2E0C-902233845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127810-6CE8-5BD7-AF2A-05993A5FF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3F845-5BAB-FFFF-AC62-D2D2FC9D9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8701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0A0D6-C0B9-6C0D-C293-72BCA3B8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C675F-AB3F-7A1E-9470-460E2712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5B50FF-43C7-24FF-CF28-DC59A9D9C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B55E74-873B-DB57-ACE9-7460DF198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851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1474-802E-667D-8B40-403E3C4E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E58EF2-EA08-BC7B-4D73-48AFEA6B8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4DF73F-B17D-4B5E-D5B8-23DC29E3D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2D25A-8FD5-4A04-7FC1-2995DB6A6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411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88C8-F762-6F31-A13B-B17592E8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D1F97-6EF6-ACDA-7A63-39B34ED18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1A3251-046D-C049-DA14-38D20096C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AFCBE-8C0F-5A75-0A34-FBF152049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8091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5797-999A-C335-80B8-D5F60F7D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E6BEFE-E647-A389-64EA-D46638E0E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1341A-D4F9-4007-9173-669902342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7DF769-8894-6FE8-B203-A64B3D744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573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422C-7ACA-16DF-32E1-618EA75B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8CD165-9C0D-3426-DEFD-A49D86DE3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48DCA1-9439-7E70-C548-A8F791A3A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F3F16C-61B7-1D9E-A62D-244E440C4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574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B333-3158-E6ED-6FDB-63E429BC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23DA8-D68A-B504-E965-963725D6C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5E03C-5E7A-148E-5839-0E6C59A71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90214B-2266-D97B-D782-7084E0350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692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80AA-153B-02D3-8731-0C91C9D3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C44681-65F8-1F38-7FBC-B24B79C17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103AAA-D566-D156-ECD0-ED4EED542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EDBDF-365C-7394-8731-128709C51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0922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9924-F681-12AE-CC8D-7B12D975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E743B9-76B4-0126-84D0-E765DD6BD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87A6C1-CAC9-8F29-E3BE-7B0B5684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142758-CBF8-0E23-A267-25CE76EAF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49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5708-8C43-CB09-52AA-A6681397A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AC67FB-1606-DEA8-4FE5-EF1A2F584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A51BA6-B274-ABF9-15E4-298AC45F5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5DC575-F116-82BE-9794-BA0B92A06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6300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77F0-1BED-F02D-1037-42F32233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DDDD7-CA3D-1BDD-5F2F-E20E0C7A4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AD9B0-C8E0-FAA6-FB43-98906F4AC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4422B8-5C0D-DA8C-22CE-E0A839347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0028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743C-00A3-6709-C954-987B9A64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B4BE66-38EE-13EF-3B4A-1B4B0A4D7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434841-9031-D98D-8DE4-2BB7F9C02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722983-22A3-8073-533B-4397C4C3D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6410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95766-26C4-97C9-02E9-BFE16551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7A5D32-D2C9-2FA3-16B7-CDB930C3F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EC925A-3A38-F6C7-B543-109645B4B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93183-DBFB-D050-4706-B560B1E40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4259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7EEC-0362-E218-CE91-79279A01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94CB26-A2FB-5E46-383B-505030B41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EF13B6-1583-7E5C-109C-EA84041B3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30010-1BAA-D686-E140-C6AB7C6D1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6244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DDCD-E9F0-6BC9-8F54-6F4D3659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2926AC-5980-8178-79F9-915CE8052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3C646F-0558-C621-FF67-9E1D8AE1D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92910E-B221-75AF-392E-AEC6746E4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4447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E1446-A12E-AFCF-03C4-2FFEE676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0DF51E-CB07-370E-1302-273D6705A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784770-7EC5-7B0C-5A2B-841AF45C8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6C91E-588C-FB19-D1F7-96F72F927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9920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4029-A82A-E517-D92A-C6C184CE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D579A6-DE10-42F0-F28D-74EF84AF1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E9ACA4-D033-BB17-17BD-E9A947E30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91C0D-F6D6-5ED3-5133-359C36EC7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5514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B77F-0E93-3B0B-F155-CD5F9D39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066862-C647-22E4-4D5C-60F6955A7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CDB93B-E61D-CA75-6C7A-A404465D4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F245A6-E8FD-ABF5-4141-4779D18AC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6866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b="0" i="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b="0" i="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58" y="1904304"/>
            <a:ext cx="10847683" cy="12961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Test-time Adaptation for Foundation Medical Segmentation Model without Parametric Updates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8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672158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 dirty="0">
                <a:cs typeface="Times New Roman" panose="02020603050405020304" pitchFamily="18" charset="0"/>
              </a:rPr>
              <a:t>ICCV 2025 / citation: 2 (~26.01.05)</a:t>
            </a: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79D0-B651-FE17-95CB-BBBD7BBD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F32CE3-A9F2-8661-81C7-596ECAB5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/>
              <a:t>Abstract</a:t>
            </a:r>
          </a:p>
          <a:p>
            <a:r>
              <a:rPr kumimoji="1" lang="en" altLang="ko-KR" dirty="0"/>
              <a:t>Introduction</a:t>
            </a:r>
          </a:p>
          <a:p>
            <a:r>
              <a:rPr kumimoji="1" lang="en" altLang="ko-KR" dirty="0"/>
              <a:t>Related Work</a:t>
            </a:r>
          </a:p>
          <a:p>
            <a:pPr lvl="1"/>
            <a:r>
              <a:rPr kumimoji="1" lang="en" altLang="ko-KR" dirty="0"/>
              <a:t>Medical Image Segmentation with TTA</a:t>
            </a:r>
          </a:p>
          <a:p>
            <a:pPr lvl="1"/>
            <a:r>
              <a:rPr kumimoji="1" lang="en" altLang="ko-KR" dirty="0"/>
              <a:t>Latent Refinement for TTA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dirty="0"/>
              <a:t>Preliminary and Theoretical Analysis</a:t>
            </a:r>
          </a:p>
          <a:p>
            <a:pPr lvl="1"/>
            <a:r>
              <a:rPr kumimoji="1" lang="en" altLang="ko-KR" dirty="0"/>
              <a:t>Latent Refinement in </a:t>
            </a:r>
            <a:r>
              <a:rPr kumimoji="1" lang="en" altLang="ko-KR" dirty="0" err="1"/>
              <a:t>MedSAM</a:t>
            </a:r>
            <a:r>
              <a:rPr kumimoji="1" lang="en" altLang="ko-KR" dirty="0"/>
              <a:t> framework</a:t>
            </a:r>
          </a:p>
          <a:p>
            <a:pPr lvl="1"/>
            <a:r>
              <a:rPr kumimoji="1" lang="en" altLang="ko-KR" dirty="0"/>
              <a:t>Distribution-Approximated Latent CRF</a:t>
            </a:r>
          </a:p>
          <a:p>
            <a:pPr lvl="1"/>
            <a:r>
              <a:rPr kumimoji="1" lang="en" altLang="ko-KR" dirty="0"/>
              <a:t>Overall Objective at Test-time Adaptation</a:t>
            </a:r>
          </a:p>
          <a:p>
            <a:r>
              <a:rPr kumimoji="1" lang="en" altLang="ko-KR" dirty="0"/>
              <a:t>Experiment</a:t>
            </a:r>
          </a:p>
          <a:p>
            <a:r>
              <a:rPr kumimoji="1" lang="en" altLang="ko-KR" dirty="0"/>
              <a:t>Conclusion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126D7B4-66B2-A500-0877-007696E5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40815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F9D9-CA87-1E91-18F8-F21D77A7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3106031-0D66-2D2B-AE3B-8413707A7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/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3AD3EA-32E8-4228-5631-EC6DA154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96905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0F6E-275C-4AFE-2D2A-5CFE8C63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E766AC7-CE19-0C68-D498-1D13A1925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Propose TTA method for a foundation medical segmentation model (e.g., </a:t>
                </a:r>
                <a:r>
                  <a:rPr kumimoji="1" lang="en-US" altLang="ko-KR" dirty="0" err="1"/>
                  <a:t>MedSAM</a:t>
                </a:r>
                <a:r>
                  <a:rPr kumimoji="1" lang="en-US" altLang="ko-KR" dirty="0"/>
                  <a:t>) </a:t>
                </a:r>
                <a:r>
                  <a:rPr kumimoji="1" lang="en-US" altLang="ko-KR" b="1" dirty="0"/>
                  <a:t>without parametric updates</a:t>
                </a:r>
              </a:p>
              <a:p>
                <a:r>
                  <a:rPr kumimoji="1" lang="en" altLang="ko-KR" b="1" dirty="0"/>
                  <a:t>Only the image embedding</a:t>
                </a:r>
                <a:r>
                  <a:rPr kumimoji="1" lang="en" altLang="ko-KR" dirty="0"/>
                  <a:t>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en" altLang="ko-KR" dirty="0"/>
                  <a:t> is refined at test time</a:t>
                </a:r>
              </a:p>
              <a:p>
                <a:r>
                  <a:rPr kumimoji="1" lang="en" altLang="ko-KR" dirty="0"/>
                  <a:t>Achieve about 3% Dice score improvements while reducing computational complexity by </a:t>
                </a:r>
                <a:r>
                  <a:rPr kumimoji="1" lang="en" altLang="ko-KR" b="1" dirty="0"/>
                  <a:t>over 7 times</a:t>
                </a:r>
                <a:endParaRPr kumimoji="1" lang="ko-KR" altLang="en-US" b="1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E766AC7-CE19-0C68-D498-1D13A1925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 r="-11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4A1493C6-3317-6889-E93D-CC084EE5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Abstract</a:t>
            </a:r>
            <a:endParaRPr kumimoji="1" lang="en" altLang="ko-KR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D98B77-7280-2945-5522-DADE1BAE6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60" y="3429000"/>
            <a:ext cx="8592064" cy="31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1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D9BE7-39CD-CEE9-9E28-4041E87B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69CCC91-CAD2-4B26-7F13-D8D9E9DD4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/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2F452C6-42B4-504C-0148-B7FBEDBA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37983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E89F-B88D-D3AF-8076-77BDE3183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FAFBCF-8B8A-6811-9348-0948D1C90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Foundation segmentation models for medical images have attracted massive attention</a:t>
            </a:r>
          </a:p>
          <a:p>
            <a:pPr lvl="1"/>
            <a:r>
              <a:rPr kumimoji="1" lang="en" altLang="ko-KR" dirty="0"/>
              <a:t>Because medical image segmentation is essential for downstream clinical and analysis tasks</a:t>
            </a:r>
          </a:p>
          <a:p>
            <a:endParaRPr kumimoji="1" lang="en" altLang="ko-KR" dirty="0"/>
          </a:p>
          <a:p>
            <a:r>
              <a:rPr kumimoji="1" lang="en" altLang="ko-KR" dirty="0" err="1"/>
              <a:t>MedSAM</a:t>
            </a:r>
            <a:r>
              <a:rPr kumimoji="1" lang="en" altLang="ko-KR" dirty="0"/>
              <a:t> is the most popular foundation segmentation model and as a strong zero-shot </a:t>
            </a:r>
            <a:r>
              <a:rPr kumimoji="1" lang="en" altLang="ko-KR" dirty="0" err="1"/>
              <a:t>segmenter</a:t>
            </a:r>
            <a:endParaRPr kumimoji="1" lang="en" altLang="ko-KR" dirty="0"/>
          </a:p>
          <a:p>
            <a:pPr lvl="1"/>
            <a:r>
              <a:rPr kumimoji="1" lang="en" altLang="ko-KR" dirty="0"/>
              <a:t>Strength: usually produce a high-quality </a:t>
            </a:r>
            <a:r>
              <a:rPr kumimoji="1" lang="en" altLang="ko-KR" dirty="0" err="1"/>
              <a:t>RoI</a:t>
            </a:r>
            <a:r>
              <a:rPr kumimoji="1" lang="en" altLang="ko-KR" dirty="0"/>
              <a:t> mask without task-specific training</a:t>
            </a:r>
          </a:p>
          <a:p>
            <a:pPr lvl="1"/>
            <a:r>
              <a:rPr kumimoji="1" lang="en" altLang="ko-KR" dirty="0"/>
              <a:t>Weakness</a:t>
            </a:r>
          </a:p>
          <a:p>
            <a:pPr lvl="2"/>
            <a:r>
              <a:rPr kumimoji="1" lang="en" altLang="ko-KR" b="1" dirty="0">
                <a:solidFill>
                  <a:srgbClr val="FF0000"/>
                </a:solidFill>
              </a:rPr>
              <a:t>Extreme modality imbalance</a:t>
            </a:r>
            <a:r>
              <a:rPr kumimoji="1" lang="en" altLang="ko-KR" dirty="0"/>
              <a:t> and less-represented modalities</a:t>
            </a:r>
          </a:p>
          <a:p>
            <a:pPr lvl="2"/>
            <a:r>
              <a:rPr kumimoji="1" lang="en" altLang="ko-KR" dirty="0"/>
              <a:t>Intricate structures and appearance: hard lesions/targets</a:t>
            </a:r>
          </a:p>
          <a:p>
            <a:pPr lvl="2"/>
            <a:r>
              <a:rPr kumimoji="1" lang="en" altLang="ko-KR" b="1" dirty="0">
                <a:solidFill>
                  <a:srgbClr val="FF0000"/>
                </a:solidFill>
              </a:rPr>
              <a:t>Bounding box prompt-induced perturbations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740A668-BF6B-FF70-95CB-4E978C89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Why TTA is needed in Medical Segmentation</a:t>
            </a:r>
          </a:p>
        </p:txBody>
      </p:sp>
    </p:spTree>
    <p:extLst>
      <p:ext uri="{BB962C8B-B14F-4D97-AF65-F5344CB8AC3E}">
        <p14:creationId xmlns:p14="http://schemas.microsoft.com/office/powerpoint/2010/main" val="125464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D5918-16BD-E9D2-46DF-1238A999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AC6BFB-A629-EC32-AEBF-FB084105C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Why not simply fine-tune?</a:t>
            </a:r>
          </a:p>
          <a:p>
            <a:pPr lvl="1"/>
            <a:r>
              <a:rPr kumimoji="1" lang="en" altLang="ko-KR" dirty="0"/>
              <a:t>overwhelming </a:t>
            </a:r>
            <a:r>
              <a:rPr kumimoji="1" lang="en" altLang="ko-KR" b="1" dirty="0">
                <a:solidFill>
                  <a:srgbClr val="010000"/>
                </a:solidFill>
              </a:rPr>
              <a:t>computational consumption </a:t>
            </a:r>
            <a:r>
              <a:rPr kumimoji="1" lang="en" altLang="ko-KR" dirty="0"/>
              <a:t>of fine-tuning</a:t>
            </a:r>
          </a:p>
          <a:p>
            <a:pPr lvl="1"/>
            <a:r>
              <a:rPr kumimoji="1" lang="en" altLang="ko-KR" b="1" dirty="0">
                <a:solidFill>
                  <a:srgbClr val="010000"/>
                </a:solidFill>
              </a:rPr>
              <a:t>inherent data scarcity and privacy concerns</a:t>
            </a:r>
            <a:r>
              <a:rPr kumimoji="1" lang="en" altLang="ko-KR" b="1" dirty="0">
                <a:solidFill>
                  <a:srgbClr val="FF0000"/>
                </a:solidFill>
              </a:rPr>
              <a:t> </a:t>
            </a:r>
            <a:r>
              <a:rPr kumimoji="1" lang="en" altLang="ko-KR" dirty="0"/>
              <a:t>for annotated medical images</a:t>
            </a:r>
          </a:p>
          <a:p>
            <a:pPr lvl="1"/>
            <a:endParaRPr kumimoji="1" lang="en" altLang="ko-KR" dirty="0"/>
          </a:p>
          <a:p>
            <a:r>
              <a:rPr kumimoji="1" lang="en" altLang="ko-KR" dirty="0"/>
              <a:t>Moreover, even a well-calibrated and fine-tuned model can still </a:t>
            </a:r>
            <a:r>
              <a:rPr kumimoji="1" lang="en" altLang="ko-KR" b="1" dirty="0">
                <a:solidFill>
                  <a:srgbClr val="FF0000"/>
                </a:solidFill>
              </a:rPr>
              <a:t>face test-time perturbations</a:t>
            </a:r>
            <a:r>
              <a:rPr kumimoji="1" lang="en" altLang="ko-KR" dirty="0"/>
              <a:t> (e.g., prompt shifts)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F3D7047-3A35-3676-999C-68B884829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Why TTA is needed in Medical Segmentation</a:t>
            </a:r>
          </a:p>
        </p:txBody>
      </p:sp>
    </p:spTree>
    <p:extLst>
      <p:ext uri="{BB962C8B-B14F-4D97-AF65-F5344CB8AC3E}">
        <p14:creationId xmlns:p14="http://schemas.microsoft.com/office/powerpoint/2010/main" val="1961881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9DDB-6B6B-B544-5FB2-1EB27F8E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9954D4E-BF8E-E8E4-29E2-C940AEF3B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TTA is feasible, but existing TTA </a:t>
            </a:r>
            <a:r>
              <a:rPr kumimoji="1" lang="en" altLang="ko-KR" b="1" dirty="0">
                <a:solidFill>
                  <a:srgbClr val="FF0000"/>
                </a:solidFill>
              </a:rPr>
              <a:t>does not scale </a:t>
            </a:r>
            <a:r>
              <a:rPr kumimoji="1" lang="en" altLang="ko-KR" dirty="0"/>
              <a:t>well to foundation models</a:t>
            </a:r>
          </a:p>
          <a:p>
            <a:pPr lvl="1"/>
            <a:r>
              <a:rPr kumimoji="1" lang="en" altLang="ko-KR" dirty="0"/>
              <a:t>BN-centric objectives vs LN-based foundation models: limited update signals</a:t>
            </a:r>
          </a:p>
          <a:p>
            <a:pPr lvl="1"/>
            <a:r>
              <a:rPr kumimoji="1" lang="en" altLang="ko-KR" dirty="0"/>
              <a:t>Whole-model updates and </a:t>
            </a:r>
            <a:r>
              <a:rPr kumimoji="1" lang="en" altLang="ko-KR" b="1" dirty="0"/>
              <a:t>catastrophic forgetting</a:t>
            </a:r>
          </a:p>
          <a:p>
            <a:pPr lvl="1"/>
            <a:r>
              <a:rPr kumimoji="1" lang="en" altLang="ko-KR" b="1" dirty="0"/>
              <a:t>Computational complexity is ignored</a:t>
            </a:r>
            <a:r>
              <a:rPr kumimoji="1" lang="en" altLang="ko-KR" dirty="0"/>
              <a:t>, but it is critical here</a:t>
            </a:r>
          </a:p>
          <a:p>
            <a:pPr lvl="1"/>
            <a:endParaRPr kumimoji="1" lang="en" altLang="ko-KR" dirty="0"/>
          </a:p>
          <a:p>
            <a:pPr>
              <a:buFont typeface="Wingdings" pitchFamily="2" charset="2"/>
              <a:buChar char="Ø"/>
            </a:pPr>
            <a:r>
              <a:rPr kumimoji="1" lang="en" altLang="ko-KR" dirty="0"/>
              <a:t>Propose </a:t>
            </a:r>
            <a:r>
              <a:rPr kumimoji="1" lang="en" altLang="ko-KR" b="1" dirty="0">
                <a:solidFill>
                  <a:srgbClr val="0070C0"/>
                </a:solidFill>
              </a:rPr>
              <a:t>updates latent representations </a:t>
            </a:r>
            <a:r>
              <a:rPr kumimoji="1" lang="en" altLang="ko-KR" dirty="0"/>
              <a:t>rather than any model parameters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78CC6F7-ABB5-7E8F-7C7B-8F3A2D44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Why TTA is needed in Medical Segmentation</a:t>
            </a:r>
          </a:p>
        </p:txBody>
      </p:sp>
    </p:spTree>
    <p:extLst>
      <p:ext uri="{BB962C8B-B14F-4D97-AF65-F5344CB8AC3E}">
        <p14:creationId xmlns:p14="http://schemas.microsoft.com/office/powerpoint/2010/main" val="981259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DCDB0-5C8F-8649-FC12-621E0D33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CF2E5E1-50EB-6B20-313D-CB57458A9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Contribution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" altLang="ko-KR" dirty="0"/>
              <a:t>Theory: show that direct latent refinement can approach the same goal as parametric updates under the </a:t>
            </a:r>
            <a:r>
              <a:rPr kumimoji="1" lang="en" altLang="ko-KR" dirty="0" err="1"/>
              <a:t>MedSAM</a:t>
            </a:r>
            <a:r>
              <a:rPr kumimoji="1" lang="en" altLang="ko-KR" dirty="0"/>
              <a:t> architecture, enabling high computational efficiency and segmentation performance without catastrophic forgetting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" altLang="ko-KR" dirty="0"/>
              <a:t>Method: propose a distribution-approximated latent CRF loss based on a Maximum Mean Discrepancy (MMD)-aware co-occurrence measure to introduce useful cues from the input space and obtain sufficient statistics of image embedding over the input image.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" altLang="ko-KR" dirty="0"/>
              <a:t>Experiments: validate on three multi-center datasets with strong appearance variations and simulated prompt shifts, reporting around 3% Dice improvements and about 7×reduction in computational complexity versus existing methods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3213F1-2322-DC87-1F43-C0AD418B6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Why TTA is needed in Medical Segmentation</a:t>
            </a:r>
          </a:p>
        </p:txBody>
      </p:sp>
    </p:spTree>
    <p:extLst>
      <p:ext uri="{BB962C8B-B14F-4D97-AF65-F5344CB8AC3E}">
        <p14:creationId xmlns:p14="http://schemas.microsoft.com/office/powerpoint/2010/main" val="118070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4255-7492-1903-3FDE-82652770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3FFC685-5575-7CB4-4AC5-D3655A65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rgbClr val="010000"/>
                </a:solidFill>
              </a:rPr>
              <a:t>Related Work</a:t>
            </a:r>
          </a:p>
          <a:p>
            <a:pPr lvl="1"/>
            <a:r>
              <a:rPr kumimoji="1" lang="en" altLang="ko-KR" dirty="0">
                <a:solidFill>
                  <a:srgbClr val="010000"/>
                </a:solidFill>
              </a:rPr>
              <a:t>Medical Image Segmentation with TTA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1B97BA6-4D15-2691-A018-70A5329B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167858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A7E92-2F0C-5705-8D43-D0A77500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FC435F0-0A32-BF87-7DA9-4F5D429C2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</a:t>
            </a:r>
            <a:r>
              <a:rPr kumimoji="1" lang="en" altLang="ko-KR" dirty="0"/>
              <a:t>he setting: distribution shifts during inference and the multi-center issue</a:t>
            </a:r>
          </a:p>
          <a:p>
            <a:endParaRPr kumimoji="1" lang="en" altLang="ko-KR" dirty="0"/>
          </a:p>
          <a:p>
            <a:r>
              <a:rPr kumimoji="1" lang="en" altLang="ko-KR" dirty="0"/>
              <a:t>Optimization</a:t>
            </a:r>
          </a:p>
          <a:p>
            <a:pPr lvl="1"/>
            <a:r>
              <a:rPr kumimoji="1" lang="en" altLang="ko-KR" dirty="0"/>
              <a:t>BN-layer optimization (BN-centric fine-tuning)</a:t>
            </a:r>
          </a:p>
          <a:p>
            <a:pPr marL="1314450" lvl="2" indent="-457200">
              <a:buFont typeface="+mj-lt"/>
              <a:buAutoNum type="arabicPeriod"/>
            </a:pPr>
            <a:r>
              <a:rPr kumimoji="1" lang="en" altLang="ko-KR" dirty="0"/>
              <a:t>Updating the affine-transformation parameters of BN</a:t>
            </a:r>
          </a:p>
          <a:p>
            <a:pPr marL="1314450" lvl="2" indent="-457200">
              <a:buFont typeface="+mj-lt"/>
              <a:buAutoNum type="arabicPeriod"/>
            </a:pPr>
            <a:r>
              <a:rPr kumimoji="1" lang="en" altLang="ko-KR" dirty="0"/>
              <a:t>Leveraging source-trained BN statistics (often via sophisticated alignment)</a:t>
            </a:r>
          </a:p>
          <a:p>
            <a:pPr lvl="1"/>
            <a:r>
              <a:rPr kumimoji="1" lang="en" altLang="ko-KR" dirty="0"/>
              <a:t>fine-tuning the overall model (whole-model parametric updates)</a:t>
            </a:r>
            <a:endParaRPr kumimoji="1" lang="ko-KR" altLang="en-US" dirty="0"/>
          </a:p>
          <a:p>
            <a:endParaRPr kumimoji="1" lang="en" altLang="ko-KR" dirty="0"/>
          </a:p>
          <a:p>
            <a:endParaRPr kumimoji="1"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C40C89-1694-045B-C354-4E1553B9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Medical Image Segmentation with TTA</a:t>
            </a:r>
          </a:p>
        </p:txBody>
      </p:sp>
    </p:spTree>
    <p:extLst>
      <p:ext uri="{BB962C8B-B14F-4D97-AF65-F5344CB8AC3E}">
        <p14:creationId xmlns:p14="http://schemas.microsoft.com/office/powerpoint/2010/main" val="382446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B7CA-4975-696E-38C7-993188A9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AE1446B-26C8-4DBE-9BAB-5A8E7537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Why parametric-update TTA does not scale to foundation segmentation models</a:t>
            </a:r>
            <a:endParaRPr kumimoji="1" lang="en" altLang="ko-KR" dirty="0"/>
          </a:p>
          <a:p>
            <a:pPr lvl="1"/>
            <a:r>
              <a:rPr kumimoji="1" lang="en" altLang="ko-KR" dirty="0"/>
              <a:t>Limited update signals under LN backbones</a:t>
            </a:r>
          </a:p>
          <a:p>
            <a:pPr lvl="1"/>
            <a:r>
              <a:rPr kumimoji="1" lang="en" altLang="ko-KR" dirty="0"/>
              <a:t>Catastrophic forgetting for large pre-trained models</a:t>
            </a:r>
          </a:p>
          <a:p>
            <a:pPr lvl="1"/>
            <a:r>
              <a:rPr kumimoji="1" lang="en" altLang="ko-KR" dirty="0"/>
              <a:t>Computational complexity is ignored during adaptation</a:t>
            </a:r>
          </a:p>
          <a:p>
            <a:pPr lvl="1"/>
            <a:endParaRPr kumimoji="1" lang="en" altLang="ko-KR" dirty="0"/>
          </a:p>
          <a:p>
            <a:r>
              <a:rPr kumimoji="1" lang="en" altLang="ko-KR" dirty="0"/>
              <a:t>+ Limited works specific to the TTA of foundation medical segmentation models</a:t>
            </a:r>
          </a:p>
          <a:p>
            <a:endParaRPr kumimoji="1"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1C9CDB-EA7B-9AAB-4B97-7DEF0AED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Medical Image Segmentation with TTA</a:t>
            </a:r>
          </a:p>
        </p:txBody>
      </p:sp>
    </p:spTree>
    <p:extLst>
      <p:ext uri="{BB962C8B-B14F-4D97-AF65-F5344CB8AC3E}">
        <p14:creationId xmlns:p14="http://schemas.microsoft.com/office/powerpoint/2010/main" val="247751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8415A-A258-F4A1-96C7-55DC7051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574BA6A-20AF-C470-183A-AA69D6494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rgbClr val="010000"/>
                </a:solidFill>
              </a:rPr>
              <a:t>Related 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dirty="0">
                <a:solidFill>
                  <a:srgbClr val="010000"/>
                </a:solidFill>
              </a:rPr>
              <a:t>Latent Refinement for TTA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4121F65-090F-3F7A-080C-A51295BBD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1713223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248C-AF0A-82B5-12C5-5B30BD11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CBE2652-B529-CBAB-3A52-0352FDDDE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Where latent refinement is commonly used: neural image compression</a:t>
            </a:r>
          </a:p>
          <a:p>
            <a:pPr lvl="1"/>
            <a:r>
              <a:rPr kumimoji="1" lang="en" altLang="ko-KR" dirty="0"/>
              <a:t>Reduce the bit consumption of the latent representation at compression time</a:t>
            </a:r>
          </a:p>
          <a:p>
            <a:endParaRPr kumimoji="1" lang="en" altLang="ko-KR" dirty="0"/>
          </a:p>
          <a:p>
            <a:r>
              <a:rPr kumimoji="1" lang="en" altLang="ko-KR" dirty="0"/>
              <a:t> Why latent refinement is </a:t>
            </a:r>
            <a:r>
              <a:rPr kumimoji="1" lang="en" altLang="ko-KR" b="1" dirty="0"/>
              <a:t>more straightforward</a:t>
            </a:r>
            <a:r>
              <a:rPr kumimoji="1" lang="en" altLang="ko-KR" dirty="0"/>
              <a:t> in compression</a:t>
            </a:r>
          </a:p>
          <a:p>
            <a:pPr lvl="1"/>
            <a:r>
              <a:rPr kumimoji="1" lang="en" altLang="ko-KR" dirty="0"/>
              <a:t>An encoder–decoder architecture is trained to reconstruct the original raw image</a:t>
            </a:r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The objective remains well-defined at test/compression time</a:t>
            </a:r>
          </a:p>
          <a:p>
            <a:pPr lvl="1">
              <a:buFont typeface="Wingdings" pitchFamily="2" charset="2"/>
              <a:buChar char="Ø"/>
            </a:pPr>
            <a:endParaRPr kumimoji="1" lang="en" altLang="ko-KR" dirty="0"/>
          </a:p>
          <a:p>
            <a:r>
              <a:rPr kumimoji="1" lang="en" altLang="ko-KR" dirty="0"/>
              <a:t>Why it remained “unexplored” for medical image segmentation TTA</a:t>
            </a:r>
          </a:p>
          <a:p>
            <a:pPr lvl="1"/>
            <a:r>
              <a:rPr kumimoji="1" lang="en" altLang="ko-KR" dirty="0"/>
              <a:t>There is </a:t>
            </a:r>
            <a:r>
              <a:rPr kumimoji="1" lang="en" altLang="ko-KR" b="1" dirty="0">
                <a:solidFill>
                  <a:srgbClr val="FF0000"/>
                </a:solidFill>
              </a:rPr>
              <a:t>no direct-supervised signal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8E8897F-C6A7-A7EF-372D-BFCAF281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Latent Refinement for TTA</a:t>
            </a:r>
          </a:p>
        </p:txBody>
      </p:sp>
    </p:spTree>
    <p:extLst>
      <p:ext uri="{BB962C8B-B14F-4D97-AF65-F5344CB8AC3E}">
        <p14:creationId xmlns:p14="http://schemas.microsoft.com/office/powerpoint/2010/main" val="416237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83DF-AD80-F2AE-C56F-5ED0EAE2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E9C8A4B-C98A-071B-0F48-38DB6582B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dirty="0"/>
              <a:t>Preliminary and Theoretical Analysis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D1A8F0-9D84-CF7B-E775-BF2350B0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245493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B3D6-F24D-62AB-0AE6-F67B6FFB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929BFE6-5C39-AFC2-D7F7-5BCC125AA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0363" y="1782925"/>
            <a:ext cx="11471275" cy="3816025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CE8325F-DB81-11A2-DFB3-AF994282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The framework of the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287642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6E4F-D83E-D291-A932-1338FF02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3A5971E-19BC-3030-AB66-57743FC75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Definition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" altLang="ko-KR" dirty="0"/>
                  <a:t>: input medical image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en" altLang="ko-KR" dirty="0"/>
                  <a:t>: image embedding / latent representation produced by the encoder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kumimoji="1" lang="en" altLang="ko-KR" dirty="0"/>
                  <a:t>: segmentation mask prediction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kumimoji="1" lang="en" altLang="ko-KR" dirty="0"/>
                  <a:t>: encoder with parameters </a:t>
                </a:r>
                <a14:m/>
              </a:p>
              <a:p>
                <a:pPr lvl="1"/>
                <a:r>
                  <a:rPr kumimoji="1" lang="en" altLang="ko-KR" dirty="0"/>
                  <a:t>: decoder with parameters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kumimoji="1" lang="en-US" altLang="ko-KR" i="1" dirty="0">
                  <a:latin typeface="Cambria Math" panose="02040503050406030204" pitchFamily="18" charset="0"/>
                </a:endParaRPr>
              </a:p>
              <a:p>
                <a:pPr lvl="1"/>
                <a:endParaRPr kumimoji="1" lang="en-US" altLang="ko-KR" i="1" dirty="0"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:r>
                  <a:rPr kumimoji="1" lang="en-US" altLang="ko-KR" dirty="0">
                    <a:solidFill>
                      <a:prstClr val="black"/>
                    </a:solidFill>
                  </a:rPr>
                  <a:t>Key idea: </a:t>
                </a:r>
                <a14:m/>
              </a:p>
              <a:p>
                <a:pPr lvl="1">
                  <a:defRPr/>
                </a:pPr>
                <a:endParaRPr kumimoji="1" lang="en-US" altLang="ko-KR" b="0" i="1" u="none" strike="noStrike" kern="1200" cap="none" spc="-2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함초롬돋움" panose="02030504000101010101" pitchFamily="18" charset="-127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ko-KR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3A5971E-19BC-3030-AB66-57743FC75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797D4284-09AA-70BC-CC55-365E2A9B56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60000" y="368732"/>
                <a:ext cx="11154700" cy="648000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ko-KR" dirty="0"/>
                  <a:t>Why can we adapt by refining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en" altLang="ko-KR" dirty="0"/>
                  <a:t> only?</a:t>
                </a:r>
              </a:p>
            </p:txBody>
          </p:sp>
        </mc:Choice>
        <mc:Fallback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797D4284-09AA-70BC-CC55-365E2A9B56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60000" y="368732"/>
                <a:ext cx="11154700" cy="648000"/>
              </a:xfrm>
              <a:blipFill>
                <a:blip r:embed="rId4"/>
                <a:stretch>
                  <a:fillRect l="-1706" t="-11321" b="-339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36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F2D6-F670-B2A1-ADBA-65C078B4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12211D9-CC90-FB1F-F547-90357C307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dirty="0"/>
              <a:t>Latent Refinement in </a:t>
            </a:r>
            <a:r>
              <a:rPr kumimoji="1" lang="en" altLang="ko-KR" dirty="0" err="1"/>
              <a:t>MedSAM</a:t>
            </a:r>
            <a:r>
              <a:rPr kumimoji="1" lang="en" altLang="ko-KR" dirty="0"/>
              <a:t> framework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7B75215-2F83-6664-4465-83D847C8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162908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F3431-6F9A-1D8D-F5E8-F6EAFA04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73B1D756-E00E-C4B3-F073-A4AF3764A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Eq. (1): formulate TTA as optimizing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while freezing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g </a:t>
                </a:r>
                <a14:m>
                  <m:oMath xmlns:m="http://schemas.openxmlformats.org/officeDocument/2006/math"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Eq. (2): gradient-based latent update (generic form</a:t>
                </a:r>
              </a:p>
              <a:p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73B1D756-E00E-C4B3-F073-A4AF3764A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61467F6F-FF46-5CC4-0A34-375030CC0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Latent refinement instead of parametric update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35C07C-385C-73B5-5A18-F5252D7E26CF}"/>
                  </a:ext>
                </a:extLst>
              </p:cNvPr>
              <p:cNvSpPr txBox="1"/>
              <p:nvPr/>
            </p:nvSpPr>
            <p:spPr>
              <a:xfrm>
                <a:off x="1900881" y="2014152"/>
                <a:ext cx="8390238" cy="573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sup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</m:e>
                            <m:sup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p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ko-KR" sz="24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𝐙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ko-KR" sz="2400" i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sepChr m:val="∣"/>
                                          <m:ctrlP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𝐘</m:t>
                                          </m:r>
                                        </m:e>
                                        <m:e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𝐙</m:t>
                                          </m:r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kumimoji="1" lang="en-US" altLang="ko-KR" sz="240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kumimoji="1" lang="en-US" altLang="ko-K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ko-KR" sz="2400" i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sepChr m:val="∣"/>
                                          <m:ctrlP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𝐙</m:t>
                                          </m:r>
                                        </m:e>
                                        <m:e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𝐗</m:t>
                                          </m:r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kumimoji="1"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35C07C-385C-73B5-5A18-F5252D7E2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881" y="2014152"/>
                <a:ext cx="8390238" cy="573555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A584CA-D9C9-B1AB-5AA8-4AF56A5C755E}"/>
                  </a:ext>
                </a:extLst>
              </p:cNvPr>
              <p:cNvSpPr txBox="1"/>
              <p:nvPr/>
            </p:nvSpPr>
            <p:spPr>
              <a:xfrm>
                <a:off x="1393224" y="3521676"/>
                <a:ext cx="9405551" cy="85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p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𝐦</m:t>
                          </m:r>
                        </m:sup>
                      </m:sSup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p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𝐦</m:t>
                          </m:r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" altLang="ko-KR" sz="24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sepChr m:val="∣"/>
                                      <m:ctrlPr>
                                        <a:rPr kumimoji="1" lang="en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𝐘</m:t>
                                          </m:r>
                                        </m:e>
                                        <m:sup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𝐙</m:t>
                                          </m:r>
                                        </m:e>
                                        <m:sup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" altLang="ko-KR" sz="24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sepChr m:val="∣"/>
                                      <m:ctrlPr>
                                        <a:rPr kumimoji="1" lang="en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𝐙</m:t>
                                          </m:r>
                                        </m:e>
                                        <m:sup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kumimoji="1" lang="en" altLang="ko-KR" sz="2400" i="1"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</m:e>
                            <m:sup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A584CA-D9C9-B1AB-5AA8-4AF56A5C7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224" y="3521676"/>
                <a:ext cx="9405551" cy="854401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426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3616-436C-42DE-C997-51A55ADD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9FBECFE-5BE8-BD9B-01D8-70658E8DE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dirty="0"/>
              <a:t>Distribution-Approximated Latent CRF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13F13A-C48C-4326-068B-7A97EF24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560351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D3DD-2E8F-7256-51DD-0A6900C7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E791493-1F4C-FF6D-8355-655BBCBC6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Eq. (3): each latent token corresponds to an input receptive field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Eq. (5): Maximum Mean Discrepancy (MMD) measures distribution discrepancy between two receptive fields.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681174-1461-5ED6-8EC4-4FFC963A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 Key loss 1: DAL-CR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621DC8-0FB7-E9DE-8709-8AFEB307C282}"/>
                  </a:ext>
                </a:extLst>
              </p:cNvPr>
              <p:cNvSpPr txBox="1"/>
              <p:nvPr/>
            </p:nvSpPr>
            <p:spPr>
              <a:xfrm>
                <a:off x="1900881" y="2014152"/>
                <a:ext cx="8390238" cy="494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kumimoji="1" lang="en" altLang="ko-KR" sz="2400" i="1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  <m:sup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𝐥</m:t>
                          </m:r>
                        </m:sup>
                      </m:sSubSup>
                      <m:sSubSup>
                        <m:sSubSupPr>
                          <m:ctrl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𝐥</m:t>
                          </m:r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𝐋</m:t>
                          </m:r>
                        </m:sup>
                      </m:sSubSup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621DC8-0FB7-E9DE-8709-8AFEB307C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881" y="2014152"/>
                <a:ext cx="8390238" cy="494431"/>
              </a:xfrm>
              <a:prstGeom prst="rect">
                <a:avLst/>
              </a:prstGeom>
              <a:blipFill>
                <a:blip r:embed="rId3"/>
                <a:stretch>
                  <a:fillRect t="-2500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3DD64D-4306-392E-52F2-C1A6F5B2B49E}"/>
                  </a:ext>
                </a:extLst>
              </p:cNvPr>
              <p:cNvSpPr txBox="1"/>
              <p:nvPr/>
            </p:nvSpPr>
            <p:spPr>
              <a:xfrm>
                <a:off x="1393224" y="4021071"/>
                <a:ext cx="9405551" cy="1284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" altLang="ko-KR" sz="2400" i="0" smtClean="0">
                          <a:latin typeface="Cambria Math" panose="02040503050406030204" pitchFamily="18" charset="0"/>
                        </a:rPr>
                        <m:t>MMD</m:t>
                      </m:r>
                      <m:d>
                        <m:d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m:rPr>
                              <m:sty m:val="p"/>
                            </m:r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  <m:e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kumimoji="1" lang="en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  <m:sup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𝐥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  <m:e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kumimoji="1" lang="en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𝐣</m:t>
                                          </m:r>
                                        </m:sub>
                                        <m:sup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𝐥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b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  <m:sup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3DD64D-4306-392E-52F2-C1A6F5B2B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224" y="4021071"/>
                <a:ext cx="9405551" cy="1284582"/>
              </a:xfrm>
              <a:prstGeom prst="rect">
                <a:avLst/>
              </a:prstGeom>
              <a:blipFill>
                <a:blip r:embed="rId4"/>
                <a:stretch>
                  <a:fillRect t="-84314" b="-1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372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1890-0B1B-73B2-31A2-3C16618B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3A0CB41-C3E0-D37C-EAA9-117EC2AFB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Eq. (4): DAL-CRF loss (distribution-aware latent CRF).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E68B3FE-A711-413F-3A1E-CC4AF10E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 Key loss 1: DAL-CR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12C96F-2C42-BFB1-23F6-979AAE932648}"/>
                  </a:ext>
                </a:extLst>
              </p:cNvPr>
              <p:cNvSpPr txBox="1"/>
              <p:nvPr/>
            </p:nvSpPr>
            <p:spPr>
              <a:xfrm>
                <a:off x="1393225" y="2014152"/>
                <a:ext cx="9405550" cy="1057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" altLang="ko-KR" sz="2400" i="0" smtClean="0">
                              <a:latin typeface="Cambria Math" panose="02040503050406030204" pitchFamily="18" charset="0"/>
                            </a:rPr>
                            <m:t>DAL</m:t>
                          </m:r>
                          <m:r>
                            <m:rPr>
                              <m:nor/>
                            </m:rPr>
                            <a:rPr kumimoji="1" lang="en" altLang="ko-KR" sz="2400" i="0" smtClean="0"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m:rPr>
                              <m:nor/>
                            </m:rPr>
                            <a:rPr kumimoji="1" lang="en" altLang="ko-KR" sz="2400" i="0" smtClean="0">
                              <a:latin typeface="Cambria Math" panose="02040503050406030204" pitchFamily="18" charset="0"/>
                            </a:rPr>
                            <m:t>CRF</m:t>
                          </m:r>
                        </m:sub>
                      </m:sSub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𝒢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kumimoji="1" lang="en" altLang="ko-KR" sz="2400">
                                  <a:latin typeface="Cambria Math" panose="02040503050406030204" pitchFamily="18" charset="0"/>
                                </a:rPr>
                                <m:t>MMD</m:t>
                              </m:r>
                              <m:d>
                                <m:dPr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  <m: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  <m: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ko-KR" sz="2400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kumimoji="1" lang="en" altLang="ko-KR" sz="24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" altLang="ko-KR" sz="240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kumimoji="1" lang="en" altLang="ko-K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𝐳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  <m:r>
                                        <a:rPr kumimoji="1" lang="en" altLang="ko-KR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𝐳</m:t>
                                          </m:r>
                                        </m:e>
                                        <m:sub>
                                          <m:r>
                                            <a:rPr kumimoji="1" lang="en" altLang="ko-KR" sz="2400" i="1">
                                              <a:latin typeface="Cambria Math" panose="02040503050406030204" pitchFamily="18" charset="0"/>
                                            </a:rPr>
                                            <m:t>𝐣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𝐅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12C96F-2C42-BFB1-23F6-979AAE932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225" y="2014152"/>
                <a:ext cx="9405550" cy="1057084"/>
              </a:xfrm>
              <a:prstGeom prst="rect">
                <a:avLst/>
              </a:prstGeom>
              <a:blipFill>
                <a:blip r:embed="rId3"/>
                <a:stretch>
                  <a:fillRect t="-119048" b="-165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216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2F72-7420-4023-4A97-A79A1254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8B225B9-DBA9-29AA-E4CB-5B7C1FC80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dirty="0"/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AE874C-02F4-461E-9EB5-2DF19B2C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4159618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A745-EE19-C928-086E-89B56333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8EB70F-CC76-5813-F172-6D93EBFEB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Eq. (6): </a:t>
            </a:r>
            <a:r>
              <a:rPr kumimoji="1" lang="en" altLang="ko-KR" dirty="0"/>
              <a:t>Entropy </a:t>
            </a:r>
            <a:r>
              <a:rPr kumimoji="1" lang="en" altLang="ko-KR" dirty="0" err="1"/>
              <a:t>Minimizatio</a:t>
            </a:r>
            <a:r>
              <a:rPr kumimoji="1" lang="en-US" altLang="ko-KR" dirty="0"/>
              <a:t>n.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Eq. (7): Final update rule.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EC4C3B6-73F6-6412-B38C-8B0F7EA01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Key loss 2: Entropy </a:t>
            </a:r>
            <a:r>
              <a:rPr kumimoji="1" lang="en" altLang="ko-KR" dirty="0" err="1"/>
              <a:t>Minimizatio</a:t>
            </a:r>
            <a:r>
              <a:rPr kumimoji="1" lang="en-US" altLang="ko-KR" dirty="0"/>
              <a:t>n</a:t>
            </a:r>
            <a:endParaRPr kumimoji="1" lang="en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9DF298-CF18-E4C9-8122-C55A75A6C2AF}"/>
                  </a:ext>
                </a:extLst>
              </p:cNvPr>
              <p:cNvSpPr txBox="1"/>
              <p:nvPr/>
            </p:nvSpPr>
            <p:spPr>
              <a:xfrm>
                <a:off x="1393225" y="2014152"/>
                <a:ext cx="9405550" cy="1445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" altLang="ko-KR" sz="2400" i="0" smtClean="0">
                              <a:latin typeface="Cambria Math" panose="02040503050406030204" pitchFamily="18" charset="0"/>
                            </a:rPr>
                            <m:t>EM</m:t>
                          </m:r>
                        </m:sub>
                      </m:sSub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∣"/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d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∣"/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p>
                            </m:e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func>
                            <m:funcPr>
                              <m:ctrlPr>
                                <a:rPr kumimoji="1" lang="en" altLang="ko-KR" sz="240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" altLang="ko-KR" sz="240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sepChr m:val="∣"/>
                                  <m:ctrlP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" altLang="ko-K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" altLang="ko-KR" sz="240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en" altLang="ko-KR" sz="240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kumimoji="1" lang="en" altLang="ko-KR" sz="240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" altLang="ko-KR" sz="240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kumimoji="1" lang="en" altLang="ko-KR" sz="240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kumimoji="1" lang="en-US" altLang="ko-K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</m:e>
                        <m:e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lit/>
                        </m:rP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9DF298-CF18-E4C9-8122-C55A75A6C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225" y="2014152"/>
                <a:ext cx="9405550" cy="1445204"/>
              </a:xfrm>
              <a:prstGeom prst="rect">
                <a:avLst/>
              </a:prstGeom>
              <a:blipFill>
                <a:blip r:embed="rId3"/>
                <a:stretch>
                  <a:fillRect t="-88696" b="-9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325581-5AC5-C783-619E-5F809DFA88CD}"/>
                  </a:ext>
                </a:extLst>
              </p:cNvPr>
              <p:cNvSpPr txBox="1"/>
              <p:nvPr/>
            </p:nvSpPr>
            <p:spPr>
              <a:xfrm>
                <a:off x="1393225" y="4468595"/>
                <a:ext cx="9405550" cy="85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p>
                          <m:r>
                            <a:rPr kumimoji="1" lang="en" altLang="ko-KR" sz="2400" i="1">
                              <a:latin typeface="Cambria Math" panose="02040503050406030204" pitchFamily="18" charset="0"/>
                            </a:rPr>
                            <m:t>𝐦</m:t>
                          </m:r>
                        </m:sup>
                      </m:sSup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p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𝐦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kumimoji="1" lang="en" altLang="ko-KR" sz="2400" i="1" smtClean="0">
                          <a:latin typeface="Cambria Math" panose="02040503050406030204" pitchFamily="18" charset="0"/>
                        </a:rPr>
                        <m:t> ⋅</m:t>
                      </m:r>
                      <m:f>
                        <m:fPr>
                          <m:ctrlP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kumimoji="1" lang="en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kumimoji="1" lang="en" altLang="ko-KR" sz="2400">
                                      <a:latin typeface="Cambria Math" panose="02040503050406030204" pitchFamily="18" charset="0"/>
                                    </a:rPr>
                                    <m:t>DAL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" altLang="ko-KR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" altLang="ko-KR" sz="2400">
                                      <a:latin typeface="Cambria Math" panose="02040503050406030204" pitchFamily="18" charset="0"/>
                                    </a:rPr>
                                    <m:t>CRF</m:t>
                                  </m:r>
                                </m:sub>
                              </m:sSub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ko-KR" sz="2400" i="1">
                                      <a:latin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kumimoji="1" lang="en" altLang="ko-KR" sz="2400">
                                      <a:latin typeface="Cambria Math" panose="02040503050406030204" pitchFamily="18" charset="0"/>
                                    </a:rPr>
                                    <m:t>EM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kumimoji="1" lang="en" altLang="ko-KR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</m:e>
                            <m:sup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" altLang="ko-KR" sz="24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kumimoji="1" lang="en" altLang="ko-KR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325581-5AC5-C783-619E-5F809DFA8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225" y="4468595"/>
                <a:ext cx="9405550" cy="854401"/>
              </a:xfrm>
              <a:prstGeom prst="rect">
                <a:avLst/>
              </a:prstGeom>
              <a:blipFill>
                <a:blip r:embed="rId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3092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5631-1A9C-DAFD-9333-4A9A210A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E7FB5B6-4AD0-30E1-41BC-98B891742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0363" y="1782925"/>
            <a:ext cx="11471275" cy="3816025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B4D39A53-A504-88DE-FE58-B62AAE1E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The framework of the proposed method</a:t>
            </a:r>
          </a:p>
        </p:txBody>
      </p:sp>
    </p:spTree>
    <p:extLst>
      <p:ext uri="{BB962C8B-B14F-4D97-AF65-F5344CB8AC3E}">
        <p14:creationId xmlns:p14="http://schemas.microsoft.com/office/powerpoint/2010/main" val="1538385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F2C2-AC00-6F12-C781-48B06E8F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E57290C-A1F3-B100-0DEA-894E5C5E9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/>
              <a:t>Experiment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6CBDFA6-F23A-035B-851E-3651E20F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064070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F5C32-E412-1124-B3A0-79C83C6F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6959592-087E-6B52-A547-FDD5D59A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Prompt perturbations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559F3B3-CB00-2CB5-6532-31166B7D8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The paper evaluates robustness to imperfect bounding-box prompts by constructing:</a:t>
            </a:r>
          </a:p>
          <a:p>
            <a:pPr lvl="1"/>
            <a:r>
              <a:rPr lang="en" altLang="ko-KR" dirty="0"/>
              <a:t>Perfectness prompt (PP): the reference box (e.g., derived from ground-truth mask).</a:t>
            </a:r>
          </a:p>
          <a:p>
            <a:pPr lvl="1"/>
            <a:r>
              <a:rPr lang="en" altLang="ko-KR" dirty="0"/>
              <a:t>Looseness prompt (LP): enlarge the box.</a:t>
            </a:r>
          </a:p>
          <a:p>
            <a:pPr lvl="1"/>
            <a:r>
              <a:rPr lang="en" altLang="ko-KR" dirty="0"/>
              <a:t>Shrinkage prompt (SP): shrink the box</a:t>
            </a:r>
          </a:p>
          <a:p>
            <a:pPr lvl="1"/>
            <a:endParaRPr lang="en" altLang="ko-KR" dirty="0"/>
          </a:p>
          <a:p>
            <a:r>
              <a:rPr lang="en" altLang="ko-KR" dirty="0"/>
              <a:t>Why this matters.</a:t>
            </a:r>
          </a:p>
          <a:p>
            <a:pPr lvl="1"/>
            <a:r>
              <a:rPr lang="en" altLang="ko-KR" dirty="0"/>
              <a:t>In practice, prompt boxes can be loose or tight; performance can degrade</a:t>
            </a:r>
            <a:r>
              <a:rPr lang="ko-KR" altLang="en-US" dirty="0"/>
              <a:t> </a:t>
            </a:r>
            <a:r>
              <a:rPr lang="en" altLang="ko-KR" dirty="0"/>
              <a:t>under such perturbations.</a:t>
            </a:r>
          </a:p>
          <a:p>
            <a:pPr lvl="1"/>
            <a:r>
              <a:rPr lang="en" altLang="ko-KR" dirty="0"/>
              <a:t>The experiments quantify whether latent refinement can recover</a:t>
            </a:r>
            <a:r>
              <a:rPr lang="ko-KR" altLang="en-US" dirty="0"/>
              <a:t> </a:t>
            </a:r>
            <a:r>
              <a:rPr lang="en" altLang="ko-KR" dirty="0"/>
              <a:t>performance without updating model parameters.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8757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3EC2D-F987-03E3-2065-326615D2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459DA76-9BDB-5409-41C7-3F573C05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Evaluation Matrix 1: Dice Coefficient</a:t>
            </a:r>
            <a:endParaRPr kumimoji="1" lang="en" altLang="ko-KR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FEE324F-45CF-9453-F37D-1FAEF3F7F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 (Prediction), G (Ground-Truth)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As confusion matrix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" altLang="ko-KR" dirty="0"/>
              <a:t>Multi-class extension</a:t>
            </a:r>
          </a:p>
          <a:p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FD7103-7B6E-73D9-8BAA-EED3DB2268AA}"/>
                  </a:ext>
                </a:extLst>
              </p:cNvPr>
              <p:cNvSpPr txBox="1"/>
              <p:nvPr/>
            </p:nvSpPr>
            <p:spPr>
              <a:xfrm>
                <a:off x="4020552" y="1840832"/>
                <a:ext cx="4150896" cy="855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" altLang="ko-KR" sz="2400" i="0" dirty="0" smtClean="0">
                          <a:latin typeface="Cambria Math" panose="02040503050406030204" pitchFamily="18" charset="0"/>
                        </a:rPr>
                        <m:t>Dice</m:t>
                      </m:r>
                      <m:d>
                        <m:dPr>
                          <m:ctrlP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kumimoji="1" lang="en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den>
                      </m:f>
                      <m:r>
                        <a:rPr kumimoji="1" lang="en" altLang="ko-KR" sz="2400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FD7103-7B6E-73D9-8BAA-EED3DB226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552" y="1840832"/>
                <a:ext cx="4150896" cy="8559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717058-E575-5857-52FC-0A68A118FF3A}"/>
                  </a:ext>
                </a:extLst>
              </p:cNvPr>
              <p:cNvSpPr txBox="1"/>
              <p:nvPr/>
            </p:nvSpPr>
            <p:spPr>
              <a:xfrm>
                <a:off x="4020552" y="3850106"/>
                <a:ext cx="4150896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" altLang="ko-KR" sz="2400" i="0" dirty="0" smtClean="0">
                          <a:latin typeface="Cambria Math" panose="02040503050406030204" pitchFamily="18" charset="0"/>
                        </a:rPr>
                        <m:t>Dice</m:t>
                      </m:r>
                      <m:r>
                        <a:rPr kumimoji="1" lang="en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kumimoji="1" lang="en" altLang="ko-KR" sz="2400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717058-E575-5857-52FC-0A68A118F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552" y="3850106"/>
                <a:ext cx="4150896" cy="792396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30EF28-85EA-CBAD-F122-2E20F2A43BD9}"/>
                  </a:ext>
                </a:extLst>
              </p:cNvPr>
              <p:cNvSpPr txBox="1"/>
              <p:nvPr/>
            </p:nvSpPr>
            <p:spPr>
              <a:xfrm>
                <a:off x="2215817" y="5285182"/>
                <a:ext cx="7760366" cy="1132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" altLang="ko-KR" sz="2400" i="0" dirty="0" smtClean="0">
                              <a:latin typeface="Cambria Math" panose="02040503050406030204" pitchFamily="18" charset="0"/>
                            </a:rPr>
                            <m:t>Dice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" altLang="ko-KR" sz="2400" i="0" dirty="0" smtClean="0">
                              <a:latin typeface="Cambria Math" panose="02040503050406030204" pitchFamily="18" charset="0"/>
                            </a:rPr>
                            <m:t>macro</m:t>
                          </m:r>
                        </m:sub>
                      </m:sSub>
                      <m:r>
                        <a:rPr kumimoji="1" lang="en" altLang="ko-K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" altLang="ko-KR" sz="24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" altLang="ko-KR" sz="2400" i="0" dirty="0" smtClean="0">
                              <a:latin typeface="Cambria Math" panose="02040503050406030204" pitchFamily="18" charset="0"/>
                            </a:rPr>
                            <m:t>Dice</m:t>
                          </m:r>
                          <m:d>
                            <m:dPr>
                              <m:ctrlPr>
                                <a:rPr kumimoji="1" lang="en" altLang="ko-K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" altLang="ko-K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ko-KR" sz="2400" i="1" dirty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1" lang="en" altLang="ko-KR" sz="24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kumimoji="1" lang="en" altLang="ko-KR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ko-KR" sz="24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1" lang="en" altLang="ko-KR" sz="24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kumimoji="1" lang="en" altLang="ko-KR" sz="2400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30EF28-85EA-CBAD-F122-2E20F2A43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817" y="5285182"/>
                <a:ext cx="7760366" cy="1132939"/>
              </a:xfrm>
              <a:prstGeom prst="rect">
                <a:avLst/>
              </a:prstGeom>
              <a:blipFill>
                <a:blip r:embed="rId5"/>
                <a:stretch>
                  <a:fillRect t="-102222" b="-15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227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3DF0-B1BC-1554-23D2-B99BA332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6D2B3FD-1AFD-9DC3-EAEA-A38558E0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Evaluation Matrix 2: Average Surface Distance (ASD)</a:t>
            </a:r>
            <a:endParaRPr kumimoji="1" lang="en" altLang="ko-KR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37C5461-E35E-7A0E-C407-7D2BEF65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 (Prediction), G (Ground-Truth)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Reverse Direction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" altLang="ko-KR" dirty="0"/>
              <a:t>Symmetric ASD</a:t>
            </a:r>
          </a:p>
          <a:p>
            <a:endParaRPr lang="ko-KR" altLang="en-US" dirty="0"/>
          </a:p>
        </p:txBody>
      </p:sp>
      <p:pic>
        <p:nvPicPr>
          <p:cNvPr id="7" name="그림 6" descr="폰트, 텍스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58ED3A-8B56-D723-E009-28D1DC685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1758615"/>
            <a:ext cx="6134100" cy="1295400"/>
          </a:xfrm>
          <a:prstGeom prst="rect">
            <a:avLst/>
          </a:prstGeom>
        </p:spPr>
      </p:pic>
      <p:pic>
        <p:nvPicPr>
          <p:cNvPr id="10" name="그림 9" descr="폰트, 텍스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61284D-670A-3B48-D517-8CBCF38F55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342047"/>
            <a:ext cx="6096000" cy="11303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4627C2-B97F-A996-9D3E-1790940E71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822168"/>
            <a:ext cx="7772400" cy="89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86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AD79-4CA9-DDE9-7B80-013797158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610775A-B757-AE3D-6F1F-96E3647F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Table 2: Fundus OC Segmentation</a:t>
            </a:r>
            <a:endParaRPr kumimoji="1" lang="en" altLang="ko-KR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882E732-16FA-A60C-2BB5-59A98B5BF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4AF22838-1B7F-7B61-2355-00C1389AD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33" y="1233344"/>
            <a:ext cx="9729536" cy="562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47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6DB0-7C84-FB56-24DB-ED4EB522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2D3AE29-01D6-FCA9-1F96-5718B25A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Table 3: Fundus OD Segmentation</a:t>
            </a:r>
            <a:endParaRPr kumimoji="1" lang="en" altLang="ko-KR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C50D9FE1-C550-6C74-32F5-F3A9D1B29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FD31ED9E-277F-34C5-E71A-6D082EC5B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1233" y="1251216"/>
            <a:ext cx="9729536" cy="558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84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0532-23B5-0916-1A54-1AC31307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8E68064-EB49-BD38-021B-F28B1F703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Table 5/6: Ablation</a:t>
            </a:r>
            <a:endParaRPr kumimoji="1" lang="en" altLang="ko-KR" dirty="0"/>
          </a:p>
        </p:txBody>
      </p:sp>
      <p:pic>
        <p:nvPicPr>
          <p:cNvPr id="8" name="내용 개체 틀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A5B041-7EE1-418E-E020-5B5218D0F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883443"/>
            <a:ext cx="4272260" cy="3614990"/>
          </a:xfrm>
          <a:prstGeom prst="rect">
            <a:avLst/>
          </a:prstGeom>
        </p:spPr>
      </p:pic>
      <p:pic>
        <p:nvPicPr>
          <p:cNvPr id="15" name="내용 개체 틀 11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7AAF7C-01FB-8517-FAD3-0C8CCD245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620" y="2821908"/>
            <a:ext cx="6993380" cy="173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78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CE19-F81D-255F-DCA8-9519849D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3438A58-A6D5-2F08-BF84-6036ECED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Figure 2: Qualitative/Process Visualization</a:t>
            </a:r>
            <a:endParaRPr kumimoji="1" lang="en" altLang="ko-KR" dirty="0"/>
          </a:p>
        </p:txBody>
      </p:sp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DDF08B-AA3E-9461-9E19-9B78EF3DB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13" y="1129598"/>
            <a:ext cx="10558974" cy="535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84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FCD6-AB5F-1AC7-498C-498B5C26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39270B2-5E70-B9AA-D140-0A1D002EA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960112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Abstract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Related 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Medical Image Segmentation with TTA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for TTA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Preliminary and Theoretical Analysis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Latent Refinement in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MedSAM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framework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Distribution-Approximated Latent CRF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Overall Objective at Test-time Adaptation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</a:t>
            </a:r>
          </a:p>
          <a:p>
            <a:r>
              <a:rPr kumimoji="1" lang="en" altLang="ko-KR" dirty="0"/>
              <a:t>Conclusion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7BD4725-30D1-01FB-D1BA-F2F05BB4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4238526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3B3A-9E92-8A14-AF59-B391328A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0459B81-FFD9-2455-8A34-5586DD75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Conclusion</a:t>
            </a:r>
            <a:endParaRPr kumimoji="1" lang="en" altLang="ko-KR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A223DDE-4396-B9B0-79BB-F8008DF66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We propose a novel TTA framework for foundation medical segmentation without parametric updates. Our theoretical analysis shows that direct latent refinement is feasible within the </a:t>
            </a:r>
            <a:r>
              <a:rPr lang="en" altLang="ko-KR" dirty="0" err="1"/>
              <a:t>MedSAM</a:t>
            </a:r>
            <a:r>
              <a:rPr lang="en" altLang="ko-KR" dirty="0"/>
              <a:t> architecture. By maximizing factorized conditional probabilities by our DALCRF loss combined with entropy minimization, we achieve better performance for effectiveness and efficiency.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6469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17799</TotalTime>
  <Words>1438</Words>
  <Application>Microsoft Macintosh PowerPoint</Application>
  <PresentationFormat>와이드스크린</PresentationFormat>
  <Paragraphs>314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Wingdings</vt:lpstr>
      <vt:lpstr>맑은 고딕</vt:lpstr>
      <vt:lpstr>Corbel</vt:lpstr>
      <vt:lpstr>Arial</vt:lpstr>
      <vt:lpstr>Cambria Math</vt:lpstr>
      <vt:lpstr>Wingdings 3</vt:lpstr>
      <vt:lpstr>Pretendard Medium</vt:lpstr>
      <vt:lpstr>Times New Roman</vt:lpstr>
      <vt:lpstr>Candara</vt:lpstr>
      <vt:lpstr>Office 테마</vt:lpstr>
      <vt:lpstr>1_Office 테마</vt:lpstr>
      <vt:lpstr>Test-time Adaptation for Foundation Medical Segmentation Model without Parametric Updates</vt:lpstr>
      <vt:lpstr>Table of Contents</vt:lpstr>
      <vt:lpstr>Table of Contents</vt:lpstr>
      <vt:lpstr>Abstract</vt:lpstr>
      <vt:lpstr>Table of Contents</vt:lpstr>
      <vt:lpstr>Why TTA is needed in Medical Segmentation</vt:lpstr>
      <vt:lpstr>Why TTA is needed in Medical Segmentation</vt:lpstr>
      <vt:lpstr>Why TTA is needed in Medical Segmentation</vt:lpstr>
      <vt:lpstr>Why TTA is needed in Medical Segmentation</vt:lpstr>
      <vt:lpstr>Table of Contents</vt:lpstr>
      <vt:lpstr>Medical Image Segmentation with TTA</vt:lpstr>
      <vt:lpstr>Medical Image Segmentation with TTA</vt:lpstr>
      <vt:lpstr>Table of Contents</vt:lpstr>
      <vt:lpstr>Latent Refinement for TTA</vt:lpstr>
      <vt:lpstr>Table of Contents</vt:lpstr>
      <vt:lpstr>The framework of the proposed method</vt:lpstr>
      <vt:lpstr>Why can we adapt by refining Z only?</vt:lpstr>
      <vt:lpstr>Table of Contents</vt:lpstr>
      <vt:lpstr>Latent refinement instead of parametric update</vt:lpstr>
      <vt:lpstr>Table of Contents</vt:lpstr>
      <vt:lpstr> Key loss 1: DAL-CR</vt:lpstr>
      <vt:lpstr> Key loss 1: DAL-CR</vt:lpstr>
      <vt:lpstr>Table of Contents</vt:lpstr>
      <vt:lpstr>Key loss 2: Entropy Minimization</vt:lpstr>
      <vt:lpstr>The framework of the proposed method</vt:lpstr>
      <vt:lpstr>Table of Contents</vt:lpstr>
      <vt:lpstr>Prompt perturbations</vt:lpstr>
      <vt:lpstr>Evaluation Matrix 1: Dice Coefficient</vt:lpstr>
      <vt:lpstr>Evaluation Matrix 2: Average Surface Distance (ASD)</vt:lpstr>
      <vt:lpstr>Table 2: Fundus OC Segmentation</vt:lpstr>
      <vt:lpstr>Table 3: Fundus OD Segmentation</vt:lpstr>
      <vt:lpstr>Table 5/6: Ablation</vt:lpstr>
      <vt:lpstr>Figure 2: Qualitative/Process Visualization</vt:lpstr>
      <vt:lpstr>Table of Contents</vt:lpstr>
      <vt:lpstr>Conclusion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3153</cp:revision>
  <dcterms:created xsi:type="dcterms:W3CDTF">2013-05-08T06:38:33Z</dcterms:created>
  <dcterms:modified xsi:type="dcterms:W3CDTF">2026-01-07T06:00:28Z</dcterms:modified>
</cp:coreProperties>
</file>