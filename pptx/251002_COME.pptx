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28"/>
  </p:notesMasterIdLst>
  <p:handoutMasterIdLst>
    <p:handoutMasterId r:id="rId29"/>
  </p:handoutMasterIdLst>
  <p:sldIdLst>
    <p:sldId id="257" r:id="rId3"/>
    <p:sldId id="262" r:id="rId4"/>
    <p:sldId id="263" r:id="rId5"/>
    <p:sldId id="264" r:id="rId6"/>
    <p:sldId id="265" r:id="rId7"/>
    <p:sldId id="271" r:id="rId8"/>
    <p:sldId id="266" r:id="rId9"/>
    <p:sldId id="272" r:id="rId10"/>
    <p:sldId id="273" r:id="rId11"/>
    <p:sldId id="267" r:id="rId12"/>
    <p:sldId id="274" r:id="rId13"/>
    <p:sldId id="282" r:id="rId14"/>
    <p:sldId id="283" r:id="rId15"/>
    <p:sldId id="268" r:id="rId16"/>
    <p:sldId id="284" r:id="rId17"/>
    <p:sldId id="269" r:id="rId18"/>
    <p:sldId id="285" r:id="rId19"/>
    <p:sldId id="270" r:id="rId20"/>
    <p:sldId id="275" r:id="rId21"/>
    <p:sldId id="276" r:id="rId22"/>
    <p:sldId id="277" r:id="rId23"/>
    <p:sldId id="279" r:id="rId24"/>
    <p:sldId id="280" r:id="rId25"/>
    <p:sldId id="281" r:id="rId26"/>
    <p:sldId id="260" r:id="rId27"/>
  </p:sldIdLst>
  <p:sldSz cx="12192000" cy="6858000"/>
  <p:notesSz cx="9928225" cy="6797675"/>
  <p:embeddedFontLst>
    <p:embeddedFont>
      <p:font typeface="Pretendard Medium" panose="02000603000000020004" pitchFamily="2" charset="-127"/>
      <p:regular r:id="rId30"/>
    </p:embeddedFont>
    <p:embeddedFont>
      <p:font typeface="맑은 고딕" panose="020B0503020000020004" pitchFamily="34" charset="-127"/>
      <p:regular r:id="rId31"/>
      <p:bold r:id="rId32"/>
    </p:embeddedFont>
    <p:embeddedFont>
      <p:font typeface="Cambria Math" panose="02040503050406030204" pitchFamily="18" charset="0"/>
      <p:regular r:id="rId33"/>
    </p:embeddedFont>
    <p:embeddedFont>
      <p:font typeface="Candara" panose="020E0502030303020204" pitchFamily="34" charset="0"/>
      <p:regular r:id="rId34"/>
      <p:bold r:id="rId35"/>
      <p:italic r:id="rId36"/>
      <p:boldItalic r:id="rId37"/>
    </p:embeddedFont>
    <p:embeddedFont>
      <p:font typeface="Corbel" panose="020B0503020204020204" pitchFamily="34" charset="0"/>
      <p:regular r:id="rId38"/>
      <p:bold r:id="rId39"/>
      <p:italic r:id="rId40"/>
      <p:boldItalic r:id="rId41"/>
    </p:embeddedFont>
    <p:embeddedFont>
      <p:font typeface="Wingdings 3" pitchFamily="2" charset="2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24" autoAdjust="0"/>
    <p:restoredTop sz="85007" autoAdjust="0"/>
  </p:normalViewPr>
  <p:slideViewPr>
    <p:cSldViewPr snapToGrid="0">
      <p:cViewPr varScale="1">
        <p:scale>
          <a:sx n="102" d="100"/>
          <a:sy n="102" d="100"/>
        </p:scale>
        <p:origin x="59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2025. 10. 2.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2025. 10. 2.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300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66B0-0008-761A-8590-A972B3B32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C90AD7-B6D4-3F7C-DA95-030CF9C6B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96B1E6-5E98-19CC-77F6-5B19E83D8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4DFD6-2A97-D792-D154-B83B63517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33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2A89-9073-95EF-0BA0-82C20C19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2B26CA-87F3-FF80-CD02-9B1EA8C70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85D263-3EC3-3005-EA95-698D85C68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9F1B5-B3AC-9721-8006-E4F5B42ED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68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5759-046B-EFCF-DFDF-7CD4420A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54BF08-2CBC-C661-E551-B76281307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14FA9E-6CA8-450B-D62A-BA65BB686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A4796-A1FA-699A-2D6C-D70BDD2AF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647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A96A-2D48-D05B-3177-7A911B8A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841406-B707-762A-00B4-88DA4E635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E67EEE-165A-B755-D343-75DE2BA2D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33A206-7421-403B-81C3-7799AAFC1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3696-0A30-859E-B490-2F1EBBBB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A7A0DE-693E-86EF-EF37-37B992B4E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1E989-45D5-DD24-95CA-AB8E53D67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EAA212-6C8F-7CAB-F101-E74D66826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037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FE33-7FBB-F44C-64EA-88EDAAAF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32D5AA-9CB4-837A-1B72-3C2B94959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495756-B5C8-EB6B-657C-BA114EB94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9829A-06F3-02AA-128B-C1308A976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507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FCD84-142B-499E-2C8F-6C3D9AEF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84E100-506F-0FBF-E7A9-6738A7398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1E29BA-1E7E-0453-AE07-F762A2362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C44D8-DE46-8185-7632-E0F2A239F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228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9247-CF38-E167-A316-B953AB07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66D630-C1D8-E44C-5B81-466776AA4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A87A76-2832-6879-54CE-3EB10992F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5E684A-D282-910B-66EC-804D99984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20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C8A2-A3EB-91FE-F75E-798E88EA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74640-99C5-D358-30A7-4CDF31D99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EF61BE-7943-8152-E360-01763B3FD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326D5-43CA-EDBC-4320-D5C5B7DF2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89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64C8-1035-687A-C363-6D494C3F4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65A91-2811-9A94-B3AF-0DE5D734F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55F024-EA08-16DE-2828-1B60ECE6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알파는 정의에 의하면 </a:t>
            </a:r>
            <a:r>
              <a:rPr kumimoji="1" lang="en-US" altLang="ko-KR" dirty="0"/>
              <a:t>1</a:t>
            </a:r>
            <a:r>
              <a:rPr kumimoji="1" lang="ko-KR" altLang="en-US" dirty="0"/>
              <a:t>보단 </a:t>
            </a:r>
            <a:r>
              <a:rPr kumimoji="1" lang="ko-KR" altLang="en-US" dirty="0" err="1"/>
              <a:t>커야되고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e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양수여야함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 </a:t>
            </a:r>
            <a:r>
              <a:rPr kumimoji="1" lang="ko-KR" altLang="en-US" dirty="0" err="1"/>
              <a:t>로짓의</a:t>
            </a:r>
            <a:r>
              <a:rPr kumimoji="1" lang="ko-KR" altLang="en-US" dirty="0"/>
              <a:t> </a:t>
            </a:r>
            <a:r>
              <a:rPr kumimoji="1" lang="en-US" altLang="ko-KR" dirty="0"/>
              <a:t>exp -1</a:t>
            </a:r>
            <a:r>
              <a:rPr kumimoji="1" lang="ko-KR" altLang="en-US" dirty="0"/>
              <a:t>로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BCEB7-A6A7-F816-DB10-D61BAD0F2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640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D51B-4AC4-A63C-F7AA-E3D61845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80F69-0716-F525-F0B2-D6D0CA0DC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953D50EB-9A38-4B6C-17D4-2DB56671ADE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</a:t>
                </a:r>
                <a:r>
                  <a:rPr lang="ko-KR" altLang="en-US" dirty="0"/>
                  <a:t>가 커질수록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ko-KR" altLang="en-US" dirty="0"/>
                  <a:t>는 작아지고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증거 풍부</a:t>
                </a:r>
                <a:r>
                  <a:rPr lang="en-US" altLang="ko-KR" dirty="0"/>
                  <a:t>),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𝑆</m:t>
                    </m:r>
                  </m:oMath>
                </a14:m>
                <a:r>
                  <a:rPr lang="ko-KR" altLang="en-US" dirty="0"/>
                  <a:t>가 작으면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ko-KR" altLang="en-US" dirty="0"/>
                  <a:t>가 커짐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증거 부족</a:t>
                </a:r>
                <a:r>
                  <a:rPr lang="en-US" altLang="ko-KR" dirty="0"/>
                  <a:t>) → </a:t>
                </a:r>
                <a:r>
                  <a:rPr lang="ko-KR" altLang="en-US" b="1" dirty="0"/>
                  <a:t>의견의 직관</a:t>
                </a:r>
                <a:r>
                  <a:rPr lang="ko-KR" altLang="en-US" dirty="0"/>
                  <a:t>을 그대로 반영</a:t>
                </a:r>
                <a:r>
                  <a:rPr lang="en-US" altLang="ko-KR" dirty="0"/>
                  <a:t>.</a:t>
                </a:r>
              </a:p>
              <a:p>
                <a:r>
                  <a:rPr kumimoji="1" lang="en-US" altLang="ko-KR" dirty="0"/>
                  <a:t>B</a:t>
                </a:r>
                <a:r>
                  <a:rPr kumimoji="1" lang="ko-KR" altLang="en-US" dirty="0"/>
                  <a:t>는 신뢰 질량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변수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/>
                  <a:t>는 불확실성 질량 그래서 합치면 </a:t>
                </a:r>
                <a:r>
                  <a:rPr kumimoji="1" lang="en-US" altLang="ko-KR" dirty="0"/>
                  <a:t>1</a:t>
                </a:r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953D50EB-9A38-4B6C-17D4-2DB56671ADE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</a:t>
                </a:r>
                <a:r>
                  <a:rPr lang="ko-KR" altLang="en-US" dirty="0"/>
                  <a:t>가 커질수록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ko-KR" altLang="en-US" dirty="0"/>
                  <a:t>는 작아지고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증거 풍부</a:t>
                </a:r>
                <a:r>
                  <a:rPr lang="en-US" altLang="ko-KR" dirty="0"/>
                  <a:t>),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</a:t>
                </a:r>
                <a:r>
                  <a:rPr lang="ko-KR" altLang="en-US" dirty="0"/>
                  <a:t>가 작으면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ko-KR" altLang="en-US" dirty="0"/>
                  <a:t>가 커짐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증거 부족</a:t>
                </a:r>
                <a:r>
                  <a:rPr lang="en-US" altLang="ko-KR" dirty="0"/>
                  <a:t>) → </a:t>
                </a:r>
                <a:r>
                  <a:rPr lang="ko-KR" altLang="en-US" b="1" dirty="0"/>
                  <a:t>의견의 직관</a:t>
                </a:r>
                <a:r>
                  <a:rPr lang="ko-KR" altLang="en-US" dirty="0"/>
                  <a:t>을 그대로 반영</a:t>
                </a:r>
                <a:r>
                  <a:rPr lang="en-US" altLang="ko-KR" dirty="0"/>
                  <a:t>.</a:t>
                </a:r>
              </a:p>
              <a:p>
                <a:r>
                  <a:rPr kumimoji="1" lang="en-US" altLang="ko-KR" dirty="0"/>
                  <a:t>B</a:t>
                </a:r>
                <a:r>
                  <a:rPr kumimoji="1" lang="ko-KR" altLang="en-US" dirty="0"/>
                  <a:t>는 신뢰 질량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변수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/>
                  <a:t>는 불확실성 질량 그래서 합치면 </a:t>
                </a:r>
                <a:r>
                  <a:rPr kumimoji="1" lang="en-US" altLang="ko-KR" dirty="0"/>
                  <a:t>1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B9769-30BC-A252-2EB3-1A81A14B1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893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7D11-493B-9CE7-13A3-0F14CF2B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D6B0D5-5481-3580-E449-61465CE23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A8C54F-2233-80EB-EC11-A49995336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18E35-084C-7551-EA99-0FD848AE4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815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9EBD-4D57-CC8B-4756-DE4F0CBF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A743F-72B6-3160-B14E-EFBAD39AD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303C25-50F0-C0E4-B6F6-E523384E8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U</a:t>
            </a:r>
            <a:r>
              <a:rPr kumimoji="1" lang="ko-KR" altLang="en-US" dirty="0"/>
              <a:t>에서 </a:t>
            </a:r>
            <a:r>
              <a:rPr kumimoji="1" lang="en-US" altLang="ko-KR" dirty="0"/>
              <a:t>k</a:t>
            </a:r>
            <a:r>
              <a:rPr kumimoji="1" lang="ko-KR" altLang="en-US" dirty="0"/>
              <a:t>는 클래스수로 상수이기에</a:t>
            </a:r>
            <a:r>
              <a:rPr kumimoji="1" lang="en-US" altLang="ko-KR" dirty="0"/>
              <a:t>,</a:t>
            </a:r>
            <a:r>
              <a:rPr kumimoji="1" lang="ko-KR" altLang="en-US" dirty="0"/>
              <a:t> 증거</a:t>
            </a:r>
            <a:r>
              <a:rPr kumimoji="1" lang="en-US" altLang="ko-KR" dirty="0"/>
              <a:t>e</a:t>
            </a:r>
            <a:r>
              <a:rPr kumimoji="1" lang="ko-KR" altLang="en-US" dirty="0"/>
              <a:t>가 </a:t>
            </a:r>
            <a:r>
              <a:rPr kumimoji="1" lang="ko-KR" altLang="en-US" dirty="0" err="1"/>
              <a:t>적을시</a:t>
            </a:r>
            <a:r>
              <a:rPr kumimoji="1" lang="ko-KR" altLang="en-US" dirty="0"/>
              <a:t> 커진다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 하나의 </a:t>
            </a:r>
            <a:r>
              <a:rPr kumimoji="1" lang="en-US" altLang="ko-KR" dirty="0"/>
              <a:t>e</a:t>
            </a:r>
            <a:r>
              <a:rPr kumimoji="1" lang="ko-KR" altLang="en-US" dirty="0"/>
              <a:t>값만 늘고 나머지가 줄면 전체가 줄어서 </a:t>
            </a:r>
            <a:r>
              <a:rPr kumimoji="1" lang="en-US" altLang="ko-KR" dirty="0"/>
              <a:t>(exp(f)</a:t>
            </a:r>
            <a:r>
              <a:rPr kumimoji="1" lang="ko-KR" altLang="en-US" dirty="0" err="1"/>
              <a:t>니까</a:t>
            </a:r>
            <a:r>
              <a:rPr kumimoji="1" lang="en-US" altLang="ko-KR" dirty="0"/>
              <a:t>)</a:t>
            </a:r>
            <a:r>
              <a:rPr kumimoji="1" lang="ko-KR" altLang="en-US" dirty="0"/>
              <a:t> 불확실이 커짐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엔트로피는 그냥 </a:t>
            </a:r>
            <a:r>
              <a:rPr kumimoji="1" lang="en-US" altLang="ko-KR" dirty="0"/>
              <a:t>b</a:t>
            </a:r>
            <a:r>
              <a:rPr kumimoji="1" lang="ko-KR" altLang="en-US" dirty="0"/>
              <a:t> 하나만 커져도 되지만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얘는 이제 </a:t>
            </a:r>
            <a:r>
              <a:rPr kumimoji="1" lang="en-US" altLang="ko-KR" dirty="0"/>
              <a:t>u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같이 </a:t>
            </a:r>
            <a:r>
              <a:rPr kumimoji="1" lang="ko-KR" altLang="en-US" dirty="0" err="1"/>
              <a:t>신경써야됨</a:t>
            </a:r>
            <a:endParaRPr kumimoji="1" lang="en-US" altLang="ko-KR" dirty="0"/>
          </a:p>
          <a:p>
            <a:r>
              <a:rPr kumimoji="1" lang="ko-KR" altLang="en-US" dirty="0"/>
              <a:t>증거가 적으면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로짓이</a:t>
            </a:r>
            <a:r>
              <a:rPr kumimoji="1" lang="ko-KR" altLang="en-US" dirty="0"/>
              <a:t> 음수면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relu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0, exp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1 </a:t>
            </a:r>
            <a:r>
              <a:rPr kumimoji="1" lang="ko-KR" altLang="en-US" dirty="0" err="1"/>
              <a:t>되서</a:t>
            </a:r>
            <a:r>
              <a:rPr kumimoji="1" lang="ko-KR" altLang="en-US" dirty="0"/>
              <a:t> 증거 </a:t>
            </a:r>
            <a:r>
              <a:rPr kumimoji="1" lang="en-US" altLang="ko-KR" dirty="0"/>
              <a:t>b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이됨</a:t>
            </a:r>
            <a:r>
              <a:rPr kumimoji="1" lang="en-US" altLang="ko-KR" dirty="0"/>
              <a:t>.</a:t>
            </a:r>
            <a:r>
              <a:rPr kumimoji="1" lang="ko-KR" altLang="en-US" dirty="0"/>
              <a:t> 모른다 상태</a:t>
            </a:r>
            <a:r>
              <a:rPr kumimoji="1" lang="en-US" altLang="ko-KR" dirty="0"/>
              <a:t>]</a:t>
            </a:r>
          </a:p>
          <a:p>
            <a:r>
              <a:rPr lang="ko-KR" altLang="en-US" b="1" dirty="0"/>
              <a:t>증거가 적은</a:t>
            </a:r>
            <a:r>
              <a:rPr lang="en-US" altLang="ko-KR" b="1" dirty="0"/>
              <a:t>(</a:t>
            </a:r>
            <a:r>
              <a:rPr lang="ko-KR" altLang="en-US" b="1" dirty="0"/>
              <a:t>어려운</a:t>
            </a:r>
            <a:r>
              <a:rPr lang="en-US" altLang="ko-KR" b="1" dirty="0"/>
              <a:t>/</a:t>
            </a:r>
            <a:r>
              <a:rPr lang="en" altLang="ko-KR" b="1" dirty="0"/>
              <a:t>OOD) </a:t>
            </a:r>
            <a:r>
              <a:rPr lang="ko-KR" altLang="en-US" b="1" dirty="0"/>
              <a:t>샘플에서 보수적으로 ‘모르겠다</a:t>
            </a:r>
            <a:r>
              <a:rPr lang="en-US" altLang="ko-KR" b="1" dirty="0"/>
              <a:t>(</a:t>
            </a:r>
            <a:r>
              <a:rPr lang="en" altLang="ko-KR" b="1" dirty="0"/>
              <a:t>u)’</a:t>
            </a:r>
            <a:r>
              <a:rPr lang="ko-KR" altLang="en-US" b="1" dirty="0" err="1"/>
              <a:t>에</a:t>
            </a:r>
            <a:r>
              <a:rPr lang="ko-KR" altLang="en-US" b="1" dirty="0"/>
              <a:t> 질량을 둬도 손실이 작기 때문에</a:t>
            </a:r>
            <a:r>
              <a:rPr lang="ko-KR" altLang="en-US" dirty="0"/>
              <a:t> 무리한 적응을 피합니다</a:t>
            </a:r>
            <a:endParaRPr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5C260-20D0-B3B4-732F-835E795A7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5255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A9AB8-CF0B-29AC-F574-0ED7F922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10DB32-7BC9-F2F7-BFAD-BC159745F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5B6EB4-33FC-5028-FD98-541F59221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972661-E246-C20A-444C-664E41B1A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256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9995-42AC-8101-86EF-9DDAB12C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A81D2-5B59-8A6F-9944-F428F131D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AD2673B-E1B4-B787-1163-565AF197DF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불확실성 모델링은 끝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근데 그냥 막하면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/>
                  <a:t>가 급감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</a:t>
                </a:r>
                <a:r>
                  <a:rPr kumimoji="1" lang="ko-KR" altLang="en-US" dirty="0" err="1"/>
                  <a:t>과신뢰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똑같은 문제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따라서 제안을 둠 다음과같이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But,</a:t>
                </a:r>
                <a:r>
                  <a:rPr kumimoji="1" lang="ko-KR" altLang="en-US" dirty="0"/>
                  <a:t> 사전 학습된 모델로 추정한 불확실성은 이상적이지 않을 수 있음</a:t>
                </a:r>
                <a:r>
                  <a:rPr kumimoji="1" lang="en-US" altLang="ko-KR" dirty="0"/>
                  <a:t>.</a:t>
                </a:r>
              </a:p>
              <a:p>
                <a:r>
                  <a:rPr kumimoji="1" lang="en-US" altLang="ko-KR" dirty="0"/>
                  <a:t>+</a:t>
                </a:r>
                <a:r>
                  <a:rPr kumimoji="1" lang="ko-KR" altLang="en-US" dirty="0"/>
                  <a:t> 이는 </a:t>
                </a:r>
                <a:r>
                  <a:rPr kumimoji="1" lang="en" altLang="ko-KR" dirty="0"/>
                  <a:t>TTA</a:t>
                </a:r>
                <a:r>
                  <a:rPr kumimoji="1" lang="ko-KR" altLang="en-US" dirty="0"/>
                  <a:t>의 효율성 요구 사항을 위반할 수 있습니다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따라서 다음 </a:t>
                </a:r>
                <a:r>
                  <a:rPr kumimoji="1" lang="en-US" altLang="ko-KR" dirty="0"/>
                  <a:t>lemma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소개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ko-KR" altLang="en-US" dirty="0"/>
                  <a:t>불확실성 질량은 </a:t>
                </a:r>
                <a:r>
                  <a:rPr kumimoji="1" lang="en-US" altLang="ko-KR" dirty="0"/>
                  <a:t>f(</a:t>
                </a:r>
                <a:r>
                  <a:rPr kumimoji="1" lang="ko-KR" altLang="en-US" dirty="0"/>
                  <a:t>전체 증거 </a:t>
                </a:r>
                <a:r>
                  <a:rPr kumimoji="1" lang="en-US" altLang="ko-KR" dirty="0"/>
                  <a:t>e)</a:t>
                </a:r>
                <a:r>
                  <a:rPr kumimoji="1" lang="ko-KR" altLang="en-US" dirty="0"/>
                  <a:t>의 놈에 의해 상한 하한 결정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건들지 말고 </a:t>
                </a:r>
                <a:r>
                  <a:rPr kumimoji="1" lang="en-US" altLang="ko-KR" dirty="0"/>
                  <a:t>f</a:t>
                </a:r>
                <a:r>
                  <a:rPr kumimoji="1" lang="ko-KR" altLang="en-US" dirty="0"/>
                  <a:t>의 놈을 건들자</a:t>
                </a:r>
                <a:endParaRPr kumimoji="1" lang="en-US" altLang="ko-KR" dirty="0"/>
              </a:p>
              <a:p>
                <a:r>
                  <a:rPr kumimoji="1" lang="ko-KR" altLang="en-US" dirty="0"/>
                  <a:t>방향은 바꾸고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크기는 그대로</a:t>
                </a:r>
                <a:endParaRPr kumimoji="1" lang="en-US" altLang="ko-KR" dirty="0"/>
              </a:p>
              <a:p>
                <a:r>
                  <a:rPr lang="ko-KR" altLang="en-US" dirty="0"/>
                  <a:t>직관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특히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𝑝</m:t>
                    </m:r>
                    <m:r>
                      <a:rPr lang="en-US" altLang="ko-K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=2</m:t>
                    </m:r>
                  </m:oMath>
                </a14:m>
                <a:r>
                  <a:rPr lang="ko-KR" altLang="en-US" dirty="0"/>
                  <a:t>일 때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altLang="ko-KR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𝑓</m:t>
                        </m:r>
                      </m:num>
                      <m:den>
                        <m:r>
                          <a:rPr lang="ar-AE" altLang="ko-KR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∥</m:t>
                        </m:r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𝑓</m:t>
                        </m:r>
                        <m:sSub>
                          <m:sSubPr>
                            <m:ctrlPr>
                              <a:rPr lang="ar-AE" altLang="ko-KR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altLang="ko-KR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∥</m:t>
                            </m:r>
                          </m:e>
                          <m:sub>
                            <m:r>
                              <a:rPr lang="ar-AE" altLang="ko-KR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dirty="0"/>
                  <a:t>은 </a:t>
                </a:r>
                <a:r>
                  <a:rPr lang="ko-KR" altLang="en-US" b="1" dirty="0"/>
                  <a:t>단위 구면</a:t>
                </a:r>
                <a:r>
                  <a:rPr lang="ko-KR" altLang="en-US" dirty="0"/>
                  <a:t> 위의 점</a:t>
                </a:r>
                <a:r>
                  <a:rPr lang="en-US" altLang="ko-KR" dirty="0"/>
                  <a:t>. </a:t>
                </a:r>
                <a:r>
                  <a:rPr lang="ko-KR" altLang="en-US" dirty="0" err="1"/>
                  <a:t>그라디언트가</a:t>
                </a:r>
                <a:r>
                  <a:rPr lang="ko-KR" altLang="en-US" dirty="0"/>
                  <a:t> </a:t>
                </a:r>
                <a:r>
                  <a:rPr lang="ko-KR" altLang="en-US" b="1" dirty="0"/>
                  <a:t>구면의 접공간</a:t>
                </a:r>
                <a:r>
                  <a:rPr lang="ko-KR" altLang="en-US" dirty="0"/>
                  <a:t>으로만 흐르므로 </a:t>
                </a:r>
                <a:r>
                  <a:rPr lang="ko-KR" altLang="en-US" b="1" dirty="0"/>
                  <a:t>방향은 바뀌되 반지름</a:t>
                </a:r>
                <a:r>
                  <a:rPr lang="en-US" altLang="ko-KR" b="1" dirty="0"/>
                  <a:t>(</a:t>
                </a:r>
                <a:r>
                  <a:rPr lang="ko-KR" altLang="en-US" b="1" dirty="0"/>
                  <a:t>노름</a:t>
                </a:r>
                <a:r>
                  <a:rPr lang="en-US" altLang="ko-KR" b="1" dirty="0"/>
                  <a:t>)</a:t>
                </a:r>
                <a:r>
                  <a:rPr lang="ko-KR" altLang="en-US" b="1" dirty="0"/>
                  <a:t>은 </a:t>
                </a:r>
                <a:r>
                  <a:rPr lang="en-US" altLang="ko-KR" b="1" dirty="0"/>
                  <a:t>1</a:t>
                </a:r>
                <a:r>
                  <a:rPr lang="ko-KR" altLang="en-US" b="1" dirty="0"/>
                  <a:t>차 근사에서 변하지 않음</a:t>
                </a:r>
                <a:r>
                  <a:rPr lang="en-US" altLang="ko-KR" dirty="0"/>
                  <a:t>.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" altLang="ko-KR" dirty="0"/>
                  <a:t>In our experiments, we choose p = 2 and </a:t>
                </a:r>
                <a:r>
                  <a:rPr kumimoji="1" lang="el-GR" altLang="ko-KR" dirty="0"/>
                  <a:t>τ = 1 </a:t>
                </a:r>
                <a:r>
                  <a:rPr kumimoji="1" lang="en" altLang="ko-KR" dirty="0"/>
                  <a:t>in accordance with Occam’s Razor</a:t>
                </a:r>
              </a:p>
              <a:p>
                <a:r>
                  <a:rPr lang="en-US" altLang="ko-KR" dirty="0"/>
                  <a:t>2-</a:t>
                </a:r>
                <a:r>
                  <a:rPr lang="ko-KR" altLang="en-US" dirty="0"/>
                  <a:t>노름이 해석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구면 기하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과 수치가 안정적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𝜏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크다 → 전체 스케일↑ →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𝑒</m:t>
                    </m:r>
                  </m:oMath>
                </a14:m>
                <a:r>
                  <a:rPr lang="ko-KR" altLang="en-US" dirty="0"/>
                  <a:t>커짐 →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ko-KR" altLang="en-US" dirty="0"/>
                  <a:t>↓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확신↑</a:t>
                </a:r>
                <a:r>
                  <a:rPr lang="en-US" altLang="ko-KR" dirty="0"/>
                  <a:t>). </a:t>
                </a:r>
                <a:r>
                  <a:rPr lang="ko-KR" altLang="en-US" dirty="0"/>
                  <a:t>너무 크면 다시 과신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너무 작으면 지나치게 보수적</a:t>
                </a:r>
                <a:r>
                  <a:rPr lang="en-US" altLang="ko-KR" dirty="0"/>
                  <a:t>. </a:t>
                </a:r>
                <a:r>
                  <a:rPr lang="ko-KR" altLang="en-US" b="1" dirty="0"/>
                  <a:t>캘리브레이션 </a:t>
                </a:r>
                <a:r>
                  <a:rPr lang="ko-KR" altLang="en-US" b="1" dirty="0" err="1"/>
                  <a:t>노브</a:t>
                </a:r>
                <a:r>
                  <a:rPr lang="ko-KR" altLang="en-US" dirty="0" err="1"/>
                  <a:t>로</a:t>
                </a:r>
                <a:r>
                  <a:rPr lang="ko-KR" altLang="en-US" dirty="0"/>
                  <a:t> 보면 된다</a:t>
                </a:r>
                <a:r>
                  <a:rPr lang="en-US" altLang="ko-KR" dirty="0"/>
                  <a:t>.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AD2673B-E1B4-B787-1163-565AF197DF2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불확실성 모델링은 끝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근데 그냥 막하면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/>
                  <a:t>가 급감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</a:t>
                </a:r>
                <a:r>
                  <a:rPr kumimoji="1" lang="ko-KR" altLang="en-US" dirty="0" err="1"/>
                  <a:t>과신뢰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똑같은 문제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따라서 제안을 둠 다음과같이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But,</a:t>
                </a:r>
                <a:r>
                  <a:rPr kumimoji="1" lang="ko-KR" altLang="en-US" dirty="0"/>
                  <a:t> 사전 학습된 모델로 추정한 불확실성은 이상적이지 않을 수 있음</a:t>
                </a:r>
                <a:r>
                  <a:rPr kumimoji="1" lang="en-US" altLang="ko-KR" dirty="0"/>
                  <a:t>.</a:t>
                </a:r>
              </a:p>
              <a:p>
                <a:r>
                  <a:rPr kumimoji="1" lang="en-US" altLang="ko-KR" dirty="0"/>
                  <a:t>+</a:t>
                </a:r>
                <a:r>
                  <a:rPr kumimoji="1" lang="ko-KR" altLang="en-US" dirty="0"/>
                  <a:t> 이는 </a:t>
                </a:r>
                <a:r>
                  <a:rPr kumimoji="1" lang="en" altLang="ko-KR" dirty="0"/>
                  <a:t>TTA</a:t>
                </a:r>
                <a:r>
                  <a:rPr kumimoji="1" lang="ko-KR" altLang="en-US" dirty="0"/>
                  <a:t>의 효율성 요구 사항을 위반할 수 있습니다</a:t>
                </a:r>
                <a:r>
                  <a:rPr kumimoji="1" lang="en-US" altLang="ko-KR" dirty="0"/>
                  <a:t>.</a:t>
                </a:r>
                <a:r>
                  <a:rPr kumimoji="1" lang="ko-KR" altLang="en-US" dirty="0"/>
                  <a:t> 따라서 다음 </a:t>
                </a:r>
                <a:r>
                  <a:rPr kumimoji="1" lang="en-US" altLang="ko-KR" dirty="0"/>
                  <a:t>lemma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소개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ko-KR" altLang="en-US" dirty="0"/>
                  <a:t>불확실성 질량은 </a:t>
                </a:r>
                <a:r>
                  <a:rPr kumimoji="1" lang="en-US" altLang="ko-KR" dirty="0"/>
                  <a:t>f(</a:t>
                </a:r>
                <a:r>
                  <a:rPr kumimoji="1" lang="ko-KR" altLang="en-US" dirty="0"/>
                  <a:t>전체 증거 </a:t>
                </a:r>
                <a:r>
                  <a:rPr kumimoji="1" lang="en-US" altLang="ko-KR" dirty="0"/>
                  <a:t>e)</a:t>
                </a:r>
                <a:r>
                  <a:rPr kumimoji="1" lang="ko-KR" altLang="en-US" dirty="0"/>
                  <a:t>의 놈에 의해 상한 하한 결정 </a:t>
                </a:r>
                <a:r>
                  <a:rPr kumimoji="1" lang="en-US" altLang="ko-KR" dirty="0"/>
                  <a:t>-&gt;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u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건들지 말고 </a:t>
                </a:r>
                <a:r>
                  <a:rPr kumimoji="1" lang="en-US" altLang="ko-KR" dirty="0"/>
                  <a:t>f</a:t>
                </a:r>
                <a:r>
                  <a:rPr kumimoji="1" lang="ko-KR" altLang="en-US" dirty="0"/>
                  <a:t>의 놈을 건들자</a:t>
                </a:r>
                <a:endParaRPr kumimoji="1" lang="en-US" altLang="ko-KR" dirty="0"/>
              </a:p>
              <a:p>
                <a:r>
                  <a:rPr kumimoji="1" lang="ko-KR" altLang="en-US" dirty="0"/>
                  <a:t>방향은 바꾸고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크기는 그대로</a:t>
                </a:r>
                <a:endParaRPr kumimoji="1" lang="en-US" altLang="ko-KR" dirty="0"/>
              </a:p>
              <a:p>
                <a:r>
                  <a:rPr lang="ko-KR" altLang="en-US" dirty="0"/>
                  <a:t>직관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특히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=2</a:t>
                </a:r>
                <a:r>
                  <a:rPr lang="ko-KR" altLang="en-US" dirty="0"/>
                  <a:t>일 때</a:t>
                </a:r>
                <a:r>
                  <a:rPr lang="en-US" altLang="ko-KR" dirty="0"/>
                  <a:t>): 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𝑓/(∥𝑓∥_2 )</a:t>
                </a:r>
                <a:r>
                  <a:rPr lang="ko-KR" altLang="en-US" dirty="0"/>
                  <a:t>은 </a:t>
                </a:r>
                <a:r>
                  <a:rPr lang="ko-KR" altLang="en-US" b="1" dirty="0"/>
                  <a:t>단위 구면</a:t>
                </a:r>
                <a:r>
                  <a:rPr lang="ko-KR" altLang="en-US" dirty="0"/>
                  <a:t> 위의 점</a:t>
                </a:r>
                <a:r>
                  <a:rPr lang="en-US" altLang="ko-KR" dirty="0"/>
                  <a:t>. </a:t>
                </a:r>
                <a:r>
                  <a:rPr lang="ko-KR" altLang="en-US" dirty="0" err="1"/>
                  <a:t>그라디언트가</a:t>
                </a:r>
                <a:r>
                  <a:rPr lang="ko-KR" altLang="en-US" dirty="0"/>
                  <a:t> </a:t>
                </a:r>
                <a:r>
                  <a:rPr lang="ko-KR" altLang="en-US" b="1" dirty="0"/>
                  <a:t>구면의 접공간</a:t>
                </a:r>
                <a:r>
                  <a:rPr lang="ko-KR" altLang="en-US" dirty="0"/>
                  <a:t>으로만 흐르므로 </a:t>
                </a:r>
                <a:r>
                  <a:rPr lang="ko-KR" altLang="en-US" b="1" dirty="0"/>
                  <a:t>방향은 바뀌되 반지름</a:t>
                </a:r>
                <a:r>
                  <a:rPr lang="en-US" altLang="ko-KR" b="1" dirty="0"/>
                  <a:t>(</a:t>
                </a:r>
                <a:r>
                  <a:rPr lang="ko-KR" altLang="en-US" b="1" dirty="0"/>
                  <a:t>노름</a:t>
                </a:r>
                <a:r>
                  <a:rPr lang="en-US" altLang="ko-KR" b="1" dirty="0"/>
                  <a:t>)</a:t>
                </a:r>
                <a:r>
                  <a:rPr lang="ko-KR" altLang="en-US" b="1" dirty="0"/>
                  <a:t>은 </a:t>
                </a:r>
                <a:r>
                  <a:rPr lang="en-US" altLang="ko-KR" b="1" dirty="0"/>
                  <a:t>1</a:t>
                </a:r>
                <a:r>
                  <a:rPr lang="ko-KR" altLang="en-US" b="1" dirty="0"/>
                  <a:t>차 근사에서 변하지 않음</a:t>
                </a:r>
                <a:r>
                  <a:rPr lang="en-US" altLang="ko-KR" dirty="0"/>
                  <a:t>.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" altLang="ko-KR" dirty="0"/>
                  <a:t>In our experiments, we choose p = 2 and </a:t>
                </a:r>
                <a:r>
                  <a:rPr kumimoji="1" lang="el-GR" altLang="ko-KR" dirty="0"/>
                  <a:t>τ = 1 </a:t>
                </a:r>
                <a:r>
                  <a:rPr kumimoji="1" lang="en" altLang="ko-KR" dirty="0"/>
                  <a:t>in accordance with Occam’s Razor</a:t>
                </a:r>
              </a:p>
              <a:p>
                <a:r>
                  <a:rPr lang="en-US" altLang="ko-KR" dirty="0"/>
                  <a:t>2-</a:t>
                </a:r>
                <a:r>
                  <a:rPr lang="ko-KR" altLang="en-US" dirty="0"/>
                  <a:t>노름이 해석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구면 기하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과 수치가 안정적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𝜏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크다 → 전체 스케일↑ →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ko-KR" altLang="en-US" dirty="0"/>
                  <a:t>커짐 →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ko-KR" altLang="en-US" dirty="0"/>
                  <a:t>↓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확신↑</a:t>
                </a:r>
                <a:r>
                  <a:rPr lang="en-US" altLang="ko-KR" dirty="0"/>
                  <a:t>). </a:t>
                </a:r>
                <a:r>
                  <a:rPr lang="ko-KR" altLang="en-US" dirty="0"/>
                  <a:t>너무 크면 다시 과신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너무 작으면 지나치게 보수적</a:t>
                </a:r>
                <a:r>
                  <a:rPr lang="en-US" altLang="ko-KR" dirty="0"/>
                  <a:t>. </a:t>
                </a:r>
                <a:r>
                  <a:rPr lang="ko-KR" altLang="en-US" b="1" dirty="0"/>
                  <a:t>캘리브레이션 </a:t>
                </a:r>
                <a:r>
                  <a:rPr lang="ko-KR" altLang="en-US" b="1" dirty="0" err="1"/>
                  <a:t>노브</a:t>
                </a:r>
                <a:r>
                  <a:rPr lang="ko-KR" altLang="en-US" dirty="0" err="1"/>
                  <a:t>로</a:t>
                </a:r>
                <a:r>
                  <a:rPr lang="ko-KR" altLang="en-US" dirty="0"/>
                  <a:t> 보면 된다</a:t>
                </a:r>
                <a:r>
                  <a:rPr lang="en-US" altLang="ko-KR" dirty="0"/>
                  <a:t>.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7483D8-733A-16B0-D54B-43243346F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5691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0FDA-208C-87E3-1C48-4F968BA7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C78505-E752-445F-A7A1-5F279129B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1CE59-4ABC-4D20-75BA-0F1B775EC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E255F-C477-48F6-6C80-65DECB1151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307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3C351-13E4-0370-71CA-E0D84456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62E89A-3BAB-8924-0A0C-E01AD75AD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821605-70FF-E106-16D3-B702442CF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DF48E-760C-7106-A8F2-A159BA5CB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67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B796-7933-ACA7-B1FA-4A50D019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652251-5138-AE61-F93F-C945CD25F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2814B3-5C2E-B82F-6C05-BF6A23FB3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FFF88-30A5-93E8-2BEF-4E0C349C6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346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5E12-B7FF-1E18-E372-E1B78BE7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EB5DBC-D58D-592B-77F1-9E6938432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BA62FC-5A5C-C72C-25F0-A515E83C2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2BCE0-7A3D-EBF0-BC3A-9FF8FF5C6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957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FF53-8FFE-1021-138D-9172762E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38400-56D8-C401-DFCB-BBEFD6456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969F86-1E6F-EAD5-F141-A9EB67697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54014D-2F51-9C55-B3C8-1A4B9BE17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61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8F5E1-5853-7ECE-E52E-D23F96D0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C44613-C4B0-25B3-0127-88ECA4F5C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129387-0CE1-1A87-7CED-CBD6F236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EA6CD-1833-4DD6-C9B2-4B552D5E5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822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8D49-E0EE-8074-7340-273B5424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365A43-F2AE-E122-5207-626359583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A777FF-AE38-AFC9-9896-05536501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E4077-201A-FF36-0476-3CE97895F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8376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b="0" i="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b="0" i="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58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COME: TEST-TIME ADAPTION BY CONSERVATIVELY MINIMIZING ENTROPY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8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672158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>
                <a:cs typeface="Times New Roman" panose="02020603050405020304" pitchFamily="18" charset="0"/>
              </a:rPr>
              <a:t>ICLR 2025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9D0-B651-FE17-95CB-BBBD7BBD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F32CE3-A9F2-8661-81C7-596ECAB5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/>
              <a:t>RELATED WORK</a:t>
            </a:r>
          </a:p>
          <a:p>
            <a:r>
              <a:rPr kumimoji="1" lang="en" altLang="ko-KR" dirty="0"/>
              <a:t>MOTIVATION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/>
              <a:t>MODELING UNCERTAINTY BY THE SUBJECTIVE LOGIC</a:t>
            </a:r>
          </a:p>
          <a:p>
            <a:pPr lvl="1"/>
            <a:r>
              <a:rPr kumimoji="1" lang="en" altLang="ko-KR" dirty="0"/>
              <a:t>MODEL ADAPTION BY SHARPENING THE OPINION</a:t>
            </a:r>
          </a:p>
          <a:p>
            <a:pPr lvl="1"/>
            <a:r>
              <a:rPr kumimoji="1" lang="en" altLang="ko-KR" dirty="0"/>
              <a:t>REGULARIZING UNCERTAINTY IN AN UNSUPERVISED MANNER</a:t>
            </a:r>
          </a:p>
          <a:p>
            <a:r>
              <a:rPr kumimoji="1" lang="en" altLang="ko-KR" dirty="0"/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26D7B4-66B2-A500-0877-007696E5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40815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A84D-6A33-EDB3-77F9-924BA667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CF7E1A7-21E5-5DC9-33B3-545E7535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33A03D4-6ABE-AB8B-26DE-F98196ED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401003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6791-078F-F54C-5ED3-10A2B916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EE5D4E3-DF11-AB51-E084-40626DC67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Entropy Minimization can be highly unstable and frequently lead to model collapse when the models encounter unreliable samples in the wild</a:t>
            </a:r>
          </a:p>
          <a:p>
            <a:pPr lvl="1"/>
            <a:r>
              <a:rPr kumimoji="1" lang="en-US" altLang="ko-KR" dirty="0"/>
              <a:t>Samples selection</a:t>
            </a:r>
          </a:p>
          <a:p>
            <a:pPr lvl="1"/>
            <a:r>
              <a:rPr kumimoji="1" lang="en" altLang="ko-KR" dirty="0"/>
              <a:t>Constrained optimization</a:t>
            </a:r>
          </a:p>
          <a:p>
            <a:pPr lvl="1"/>
            <a:r>
              <a:rPr kumimoji="1" lang="en" altLang="ko-KR" dirty="0"/>
              <a:t>Model recovery</a:t>
            </a:r>
          </a:p>
          <a:p>
            <a:pPr lvl="1"/>
            <a:endParaRPr kumimoji="1" lang="en" altLang="ko-KR" dirty="0"/>
          </a:p>
          <a:p>
            <a:pPr>
              <a:buFont typeface="Wingdings" pitchFamily="2" charset="2"/>
              <a:buChar char="Ø"/>
            </a:pPr>
            <a:r>
              <a:rPr kumimoji="1" lang="en" altLang="ko-KR" dirty="0"/>
              <a:t>Propose Conservatively Minimizing Entropy (COME)</a:t>
            </a:r>
          </a:p>
          <a:p>
            <a:pPr lvl="1"/>
            <a:r>
              <a:rPr kumimoji="1" lang="en" altLang="ko-KR" dirty="0"/>
              <a:t>Uses Subjective Logic</a:t>
            </a:r>
          </a:p>
          <a:p>
            <a:pPr lvl="1"/>
            <a:r>
              <a:rPr lang="en" altLang="ko-KR" dirty="0"/>
              <a:t>Decides whether to trust</a:t>
            </a:r>
            <a:r>
              <a:rPr lang="ko-KR" altLang="en-US" dirty="0"/>
              <a:t> </a:t>
            </a:r>
            <a:r>
              <a:rPr lang="en-US" altLang="ko-KR" dirty="0"/>
              <a:t>or not</a:t>
            </a:r>
            <a:r>
              <a:rPr kumimoji="1" lang="en" altLang="ko-KR" dirty="0"/>
              <a:t> by a data-adaptive upper bound on the model confidence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165FAC-E687-7229-91F5-3743DAC5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Overconfidence makes model collapse</a:t>
            </a:r>
          </a:p>
        </p:txBody>
      </p:sp>
    </p:spTree>
    <p:extLst>
      <p:ext uri="{BB962C8B-B14F-4D97-AF65-F5344CB8AC3E}">
        <p14:creationId xmlns:p14="http://schemas.microsoft.com/office/powerpoint/2010/main" val="215724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C1-E88E-4F26-D9FC-A31688720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51FA4A2-CD4D-E1C6-5C2A-6010B0E97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/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57CA54-6C62-E2F6-450C-37F05E0DB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76754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C52F-4B46-85AB-B2F4-FF507FBB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82F9D4-3C01-DE12-0305-06A52A5DC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lnSpcReduction="10000"/>
          </a:bodyPr>
          <a:lstStyle/>
          <a:p>
            <a:r>
              <a:rPr lang="en" altLang="ko-KR" dirty="0"/>
              <a:t>Quantitatively characterize the probability that the model prediction is correct</a:t>
            </a:r>
          </a:p>
          <a:p>
            <a:endParaRPr lang="en" altLang="ko-KR" dirty="0"/>
          </a:p>
          <a:p>
            <a:r>
              <a:rPr lang="en" altLang="ko-KR" dirty="0"/>
              <a:t>To obtain the uncertainty</a:t>
            </a:r>
          </a:p>
          <a:p>
            <a:pPr lvl="1"/>
            <a:r>
              <a:rPr lang="en" altLang="ko-KR" dirty="0"/>
              <a:t>Bayesian neural networks (BNNs)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replace the deterministic weight parameters of model with distribution</a:t>
            </a:r>
          </a:p>
          <a:p>
            <a:pPr lvl="1"/>
            <a:r>
              <a:rPr lang="en-US" altLang="ko-KR" dirty="0"/>
              <a:t>E</a:t>
            </a:r>
            <a:r>
              <a:rPr lang="en" altLang="ko-KR" dirty="0" err="1"/>
              <a:t>nsemble</a:t>
            </a:r>
            <a:r>
              <a:rPr lang="en" altLang="ko-KR" dirty="0"/>
              <a:t>-based methods: train multiple models and ensemble them</a:t>
            </a:r>
          </a:p>
          <a:p>
            <a:pPr lvl="1"/>
            <a:r>
              <a:rPr lang="en" altLang="ko-KR" dirty="0"/>
              <a:t>Subjective Logic (SL)</a:t>
            </a:r>
          </a:p>
          <a:p>
            <a:pPr lvl="1"/>
            <a:endParaRPr lang="en" altLang="ko-KR" dirty="0"/>
          </a:p>
          <a:p>
            <a:r>
              <a:rPr lang="en" altLang="ko-KR" dirty="0"/>
              <a:t>COME uses SL</a:t>
            </a:r>
          </a:p>
          <a:p>
            <a:pPr lvl="1"/>
            <a:r>
              <a:rPr lang="en" altLang="ko-KR" dirty="0"/>
              <a:t>Models the uncertainty in a single forward pass without modifying the training strategy or model architecture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E35F066-2EAE-1B6C-7863-D6600C42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Uncertainty quantification</a:t>
            </a:r>
          </a:p>
        </p:txBody>
      </p:sp>
    </p:spTree>
    <p:extLst>
      <p:ext uri="{BB962C8B-B14F-4D97-AF65-F5344CB8AC3E}">
        <p14:creationId xmlns:p14="http://schemas.microsoft.com/office/powerpoint/2010/main" val="146989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29483-A009-4B67-78F6-2CCEE6F4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197EF4-3312-B8F0-1D44-424548330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/>
              <a:t>MOTIVATION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2A52CE4-7C44-625F-8864-7B0AF4F5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25729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0B41-2514-A06F-E1A1-6135CFC4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23A570C-D747-587C-0E79-08A98555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54AEBA3-3E6A-B205-D3F7-63E679C6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The overconfident issue of EM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A4B28F-703F-E473-A6F9-0E2FAABA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37502"/>
            <a:ext cx="7772400" cy="490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5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448D-3708-C478-868F-AEB1A572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628267-724B-7BE4-D1BC-00E5BABD3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A57E8CF-294A-6B2F-CC68-1C384F66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The overconfident issue of EM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69F8A7-7622-7AF6-234C-674E09F0F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9800" y="1996995"/>
            <a:ext cx="7772400" cy="338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8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1876-63C4-6CD4-865E-2D2EC6E8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39CF9A-2686-FDB7-5B25-AC99478D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/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EB10C13-4504-72CC-07E9-B62CA9C8A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132819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F0AC7-140A-9E14-769F-C9550CD3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99C80C5-2C7B-027C-B171-F5FB89FF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lang="en-US" altLang="ko-KR" dirty="0"/>
              <a:t>S</a:t>
            </a:r>
            <a:r>
              <a:rPr lang="en" altLang="ko-KR" dirty="0" err="1"/>
              <a:t>oftmax</a:t>
            </a:r>
            <a:r>
              <a:rPr lang="en" altLang="ko-KR" dirty="0"/>
              <a:t> probability often leads to overconfident predictions, even when the predictions are wrong or the inputs are abnormal outliers</a:t>
            </a:r>
          </a:p>
          <a:p>
            <a:endParaRPr lang="en" altLang="ko-KR" dirty="0"/>
          </a:p>
          <a:p>
            <a:pPr>
              <a:buFont typeface="Wingdings" pitchFamily="2" charset="2"/>
              <a:buChar char="Ø"/>
            </a:pPr>
            <a:r>
              <a:rPr lang="en" altLang="ko-KR" dirty="0"/>
              <a:t>Propose to obtain the uncertainty through subjective logic</a:t>
            </a:r>
          </a:p>
          <a:p>
            <a:pPr>
              <a:buFont typeface="Wingdings" pitchFamily="2" charset="2"/>
              <a:buChar char="Ø"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6AE0D83-D513-F6E5-8F4F-A9352828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Subjective Logic</a:t>
            </a:r>
          </a:p>
        </p:txBody>
      </p:sp>
    </p:spTree>
    <p:extLst>
      <p:ext uri="{BB962C8B-B14F-4D97-AF65-F5344CB8AC3E}">
        <p14:creationId xmlns:p14="http://schemas.microsoft.com/office/powerpoint/2010/main" val="274349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DCF00-558D-BB55-A6DB-9203C7F3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5D437B3-C713-344E-B458-20CAA85E3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lang="en" altLang="ko-KR" dirty="0" err="1"/>
              <a:t>Softmax</a:t>
            </a:r>
            <a:r>
              <a:rPr lang="en" altLang="ko-KR" dirty="0"/>
              <a:t> function that directly normalizes the logits f (x) to model the class distribution p(</a:t>
            </a:r>
            <a:r>
              <a:rPr lang="en" altLang="ko-KR" dirty="0" err="1"/>
              <a:t>y|x</a:t>
            </a:r>
            <a:r>
              <a:rPr lang="en" altLang="ko-KR" dirty="0"/>
              <a:t>)</a:t>
            </a:r>
          </a:p>
          <a:p>
            <a:endParaRPr lang="en" altLang="ko-KR" dirty="0"/>
          </a:p>
          <a:p>
            <a:r>
              <a:rPr lang="en" altLang="ko-KR" dirty="0"/>
              <a:t>SL considers the model output as evidence (denoted as e) to model a Dirichlet distribution which represents the density of all possible probability assignment </a:t>
            </a:r>
            <a:r>
              <a:rPr lang="el-GR" altLang="ko-KR" dirty="0"/>
              <a:t>μ = [</a:t>
            </a:r>
            <a:r>
              <a:rPr lang="en" altLang="ko-KR" dirty="0"/>
              <a:t>p(y = 1|x), p(y = 2|x), . . . , p(y = </a:t>
            </a:r>
            <a:r>
              <a:rPr lang="en" altLang="ko-KR" dirty="0" err="1"/>
              <a:t>K|x</a:t>
            </a:r>
            <a:r>
              <a:rPr lang="en" altLang="ko-KR" dirty="0"/>
              <a:t>)]</a:t>
            </a:r>
          </a:p>
          <a:p>
            <a:endParaRPr lang="en" altLang="ko-KR" dirty="0"/>
          </a:p>
          <a:p>
            <a:r>
              <a:rPr lang="en" altLang="ko-KR" dirty="0"/>
              <a:t>Dirichlet distribution</a:t>
            </a:r>
          </a:p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58230B-4E61-F17E-865A-7B3CBBCE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Subjective Logic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5EBAC8-DC76-0912-E041-39E774152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198254"/>
            <a:ext cx="7772400" cy="11673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DFF7A1-8E7E-D25F-404F-D9A6CE9CF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93" r="39088" b="-4546"/>
          <a:stretch>
            <a:fillRect/>
          </a:stretch>
        </p:blipFill>
        <p:spPr>
          <a:xfrm>
            <a:off x="8273915" y="6046298"/>
            <a:ext cx="3240785" cy="35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1BC1-1386-7F8C-C95A-0EAE0AC8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1404932-6F44-9C6C-610F-2797D8E57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Strength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dirty="0"/>
                  <a:t> of Dirichlet distribution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Belief mass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endParaRPr lang="en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1404932-6F44-9C6C-610F-2797D8E57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19CCD7B-4E6F-3C70-03CB-D81FAA73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Subjective Logic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D4E8D8-834E-9EED-72B1-366F30189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260" y="1871250"/>
            <a:ext cx="5845480" cy="7105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C200E0A-7714-29EA-4C29-EF862C854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3429000"/>
            <a:ext cx="7772400" cy="10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24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EE45-B8B4-B8E9-272B-7285AEE8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F31031-131D-8DB8-CF8B-E56ABD6F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/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D7BFF3-0C03-2528-3E3C-BAD765FC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477896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B66E7-AF29-4E58-A119-8B1A4BBD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F34FF0E-5CCA-88CE-729B-7AA1C4DAE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65D8716-58CC-7A51-34A0-7F0F821A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minimize the entropy of opinion</a:t>
            </a:r>
          </a:p>
        </p:txBody>
      </p:sp>
      <p:pic>
        <p:nvPicPr>
          <p:cNvPr id="7" name="그림 6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E597C4-2636-CA39-7601-212CB89CD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66"/>
          <a:stretch>
            <a:fillRect/>
          </a:stretch>
        </p:blipFill>
        <p:spPr>
          <a:xfrm>
            <a:off x="976509" y="1594547"/>
            <a:ext cx="3678998" cy="1295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8F5242-EF86-72BD-4DDA-5771F40C7D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687"/>
          <a:stretch>
            <a:fillRect/>
          </a:stretch>
        </p:blipFill>
        <p:spPr>
          <a:xfrm>
            <a:off x="4655507" y="1880949"/>
            <a:ext cx="6311900" cy="72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A03B0-25A5-4438-C83A-F200F731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7DA653B-3185-50E2-2439-3F5F32EAD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/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/>
              <a:t>REGULARIZING UNCERTAINTY IN AN UNSUPERVISED MANNER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B798D5-B106-7F69-42B3-BAA3F2C8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853910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E449-E2C6-84ED-C00A-C7774CB8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0E642B-0BD6-7D67-56C8-59AD7F5A8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lang="en-US" altLang="ko-KR" dirty="0"/>
              <a:t>First Proposal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Final Proposal</a:t>
            </a: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AA510D-C77F-3E46-85E6-EE020F15A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minimize the entropy of opinion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B2FFA3-447A-33D9-FC50-E475C5C5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700" y="1837136"/>
            <a:ext cx="7340600" cy="609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79B3181-F954-B609-0D6D-F3E848044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43" y="2979108"/>
            <a:ext cx="11209114" cy="1784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36BF24-DEEA-DCFB-830F-53598867E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324216"/>
            <a:ext cx="7772400" cy="76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76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918D-CB21-DDC3-5E54-79BF4210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0728CD8-3A98-5023-F93E-5095DC8D2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RELATED WORK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METHODOLOGY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MODELING UNCERTAINTY BY THE SUBJECTIVE LOGIC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MODEL ADAPTION BY SHARPENING THE OPINION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65000"/>
                  </a:schemeClr>
                </a:solidFill>
              </a:rPr>
              <a:t>REGULARIZING UNCERTAINTY IN AN UNSUPERVISED MANNER</a:t>
            </a:r>
          </a:p>
          <a:p>
            <a:r>
              <a:rPr kumimoji="1" lang="en" altLang="ko-KR" dirty="0"/>
              <a:t>EXPERIMENTS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460B9A-9B88-3A01-95C8-4A0620AA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4110911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CF04-4D8A-10F0-B33C-0D3B7886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7E2C77-BDD3-6BE7-63F4-10636A76D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1F58DDC-DBAC-E86E-BA04-CF876D1D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EB9373-069A-FF59-7F54-DAF89C63B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05943"/>
            <a:ext cx="7772400" cy="554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47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59DDD-1262-99B1-0E73-B8E78464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D9462F-3BB1-7E33-B730-C0EBD22E2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2655887"/>
            <a:ext cx="11468100" cy="2070100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0AAD2046-1591-15C2-8A9C-A170F2C3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1277485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31A6-6B40-58AF-5CAB-E221E853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23838FA-06A0-ADFB-BB05-34D38DFD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A107D-1A36-293B-641B-9AEF9F29F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2538A6-C9EE-FD3B-222F-11B247177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016732"/>
            <a:ext cx="7772400" cy="554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16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EFF9-9541-20CF-8012-E6931687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DEBABB8-AD63-BF2A-AE04-FABCCCD7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67BCF8-FFAA-5757-06DE-F2B96D1DC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D9E568F-B8DD-F425-D766-48732858D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36431"/>
            <a:ext cx="7772400" cy="418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04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38F4-3F44-018D-6D2C-075BB2E0D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D84C877-4F8F-FAB9-8DA2-12704E67C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9614EE-D776-C6E9-6F39-DACE206E7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7D81E-015D-533F-46F1-57FADDF2F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78" y="2010426"/>
            <a:ext cx="11273644" cy="283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90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BF8E3-8A92-F5DF-ECAD-B6D7B8C3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39BEB6B-CC04-6A15-8963-B6360B03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" altLang="ko-KR" dirty="0"/>
              <a:t>EXPERIMENTAL RESULTS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2EEDB-D5EF-DC79-6765-86C5B0874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3D304C-4951-F5BA-7B09-B0063E82C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721" y="1148683"/>
            <a:ext cx="9252558" cy="508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00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14426</TotalTime>
  <Words>849</Words>
  <Application>Microsoft Macintosh PowerPoint</Application>
  <PresentationFormat>와이드스크린</PresentationFormat>
  <Paragraphs>171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Times New Roman</vt:lpstr>
      <vt:lpstr>Pretendard Medium</vt:lpstr>
      <vt:lpstr>Cambria Math</vt:lpstr>
      <vt:lpstr>Wingdings 3</vt:lpstr>
      <vt:lpstr>Wingdings</vt:lpstr>
      <vt:lpstr>Candara</vt:lpstr>
      <vt:lpstr>Corbel</vt:lpstr>
      <vt:lpstr>맑은 고딕</vt:lpstr>
      <vt:lpstr>Arial</vt:lpstr>
      <vt:lpstr>Office 테마</vt:lpstr>
      <vt:lpstr>1_Office 테마</vt:lpstr>
      <vt:lpstr>COME: TEST-TIME ADAPTION BY CONSERVATIVELY MINIMIZING ENTROPY</vt:lpstr>
      <vt:lpstr>Table of Contents</vt:lpstr>
      <vt:lpstr>Table of Contents</vt:lpstr>
      <vt:lpstr>Overconfidence makes model collapse</vt:lpstr>
      <vt:lpstr>Table of Contents</vt:lpstr>
      <vt:lpstr>Uncertainty quantification</vt:lpstr>
      <vt:lpstr>Table of Contents</vt:lpstr>
      <vt:lpstr>The overconfident issue of EM</vt:lpstr>
      <vt:lpstr>The overconfident issue of EM</vt:lpstr>
      <vt:lpstr>Table of Contents</vt:lpstr>
      <vt:lpstr>Subjective Logic</vt:lpstr>
      <vt:lpstr>Subjective Logic</vt:lpstr>
      <vt:lpstr>Subjective Logic</vt:lpstr>
      <vt:lpstr>Table of Contents</vt:lpstr>
      <vt:lpstr>minimize the entropy of opinion</vt:lpstr>
      <vt:lpstr>Table of Contents</vt:lpstr>
      <vt:lpstr>minimize the entropy of opinion</vt:lpstr>
      <vt:lpstr>Table of Contents</vt:lpstr>
      <vt:lpstr>EXPERIMENTAL RESULTS</vt:lpstr>
      <vt:lpstr>EXPERIMENTAL RESULTS</vt:lpstr>
      <vt:lpstr>EXPERIMENTAL RESULTS</vt:lpstr>
      <vt:lpstr>EXPERIMENTAL RESULTS</vt:lpstr>
      <vt:lpstr>EXPERIMENTAL RESULTS</vt:lpstr>
      <vt:lpstr>EXPERIMENTAL RESULTS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3089</cp:revision>
  <dcterms:created xsi:type="dcterms:W3CDTF">2013-05-08T06:38:33Z</dcterms:created>
  <dcterms:modified xsi:type="dcterms:W3CDTF">2025-10-02T08:59:15Z</dcterms:modified>
</cp:coreProperties>
</file>