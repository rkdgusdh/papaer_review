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4" r:id="rId1"/>
    <p:sldMasterId id="2147483665" r:id="rId2"/>
  </p:sldMasterIdLst>
  <p:notesMasterIdLst>
    <p:notesMasterId r:id="rId47"/>
  </p:notesMasterIdLst>
  <p:handoutMasterIdLst>
    <p:handoutMasterId r:id="rId48"/>
  </p:handoutMasterIdLst>
  <p:sldIdLst>
    <p:sldId id="256" r:id="rId3"/>
    <p:sldId id="257" r:id="rId4"/>
    <p:sldId id="292" r:id="rId5"/>
    <p:sldId id="290" r:id="rId6"/>
    <p:sldId id="262" r:id="rId7"/>
    <p:sldId id="287" r:id="rId8"/>
    <p:sldId id="289" r:id="rId9"/>
    <p:sldId id="293" r:id="rId10"/>
    <p:sldId id="294" r:id="rId11"/>
    <p:sldId id="286" r:id="rId12"/>
    <p:sldId id="295" r:id="rId13"/>
    <p:sldId id="296" r:id="rId14"/>
    <p:sldId id="297" r:id="rId15"/>
    <p:sldId id="298" r:id="rId16"/>
    <p:sldId id="300" r:id="rId17"/>
    <p:sldId id="301" r:id="rId18"/>
    <p:sldId id="302" r:id="rId19"/>
    <p:sldId id="303" r:id="rId20"/>
    <p:sldId id="305" r:id="rId21"/>
    <p:sldId id="306" r:id="rId22"/>
    <p:sldId id="307" r:id="rId23"/>
    <p:sldId id="308" r:id="rId24"/>
    <p:sldId id="319" r:id="rId25"/>
    <p:sldId id="309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20" r:id="rId35"/>
    <p:sldId id="318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329" r:id="rId45"/>
    <p:sldId id="330" r:id="rId46"/>
  </p:sldIdLst>
  <p:sldSz cx="12192000" cy="6858000"/>
  <p:notesSz cx="9928225" cy="6797675"/>
  <p:embeddedFontLst>
    <p:embeddedFont>
      <p:font typeface="맑은 고딕" panose="020B0503020000020004" pitchFamily="34" charset="-127"/>
      <p:regular r:id="rId49"/>
      <p:bold r:id="rId50"/>
    </p:embeddedFont>
    <p:embeddedFont>
      <p:font typeface="Cambria Math" panose="02040503050406030204" pitchFamily="18" charset="0"/>
      <p:regular r:id="rId51"/>
    </p:embeddedFont>
    <p:embeddedFont>
      <p:font typeface="Candara" panose="020E0502030303020204" pitchFamily="34" charset="0"/>
      <p:regular r:id="rId52"/>
      <p:bold r:id="rId53"/>
      <p:italic r:id="rId54"/>
      <p:boldItalic r:id="rId55"/>
    </p:embeddedFont>
    <p:embeddedFont>
      <p:font typeface="Corbel" panose="020B0503020204020204" pitchFamily="34" charset="0"/>
      <p:regular r:id="rId56"/>
      <p:bold r:id="rId57"/>
      <p:italic r:id="rId58"/>
      <p:boldItalic r:id="rId59"/>
    </p:embeddedFont>
    <p:embeddedFont>
      <p:font typeface="Wingdings 3" pitchFamily="2" charset="2"/>
      <p:regular r:id="rId6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orient="horz" pos="2929" userDrawn="1">
          <p15:clr>
            <a:srgbClr val="A4A3A4"/>
          </p15:clr>
        </p15:guide>
        <p15:guide id="3" pos="38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on lee" initials="s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500"/>
    <a:srgbClr val="0E429D"/>
    <a:srgbClr val="FF3B30"/>
    <a:srgbClr val="FFDE7E"/>
    <a:srgbClr val="DED7E6"/>
    <a:srgbClr val="E6B9B6"/>
    <a:srgbClr val="FCD8BB"/>
    <a:srgbClr val="028571"/>
    <a:srgbClr val="F3F0E9"/>
    <a:srgbClr val="D8B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93" autoAdjust="0"/>
    <p:restoredTop sz="92838"/>
  </p:normalViewPr>
  <p:slideViewPr>
    <p:cSldViewPr snapToGrid="0">
      <p:cViewPr>
        <p:scale>
          <a:sx n="118" d="100"/>
          <a:sy n="118" d="100"/>
        </p:scale>
        <p:origin x="488" y="184"/>
      </p:cViewPr>
      <p:guideLst>
        <p:guide orient="horz" pos="2158"/>
        <p:guide orient="horz" pos="2929"/>
        <p:guide pos="38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59" d="100"/>
          <a:sy n="159" d="100"/>
        </p:scale>
        <p:origin x="2728" y="192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5" Type="http://schemas.openxmlformats.org/officeDocument/2006/relationships/slide" Target="slides/slide3.xml"/><Relationship Id="rId61" Type="http://schemas.openxmlformats.org/officeDocument/2006/relationships/commentAuthors" Target="commentAuthor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handoutMaster" Target="handoutMasters/handoutMaster1.xml"/><Relationship Id="rId56" Type="http://schemas.openxmlformats.org/officeDocument/2006/relationships/font" Target="fonts/font8.fntdata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3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1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6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81CB499-57DE-4459-8164-C24C1927EE22}" type="datetime1">
              <a:rPr lang="ko-KR" altLang="en-US"/>
              <a:pPr lvl="0">
                <a:defRPr lang="ko-KR" altLang="en-US"/>
              </a:pPr>
              <a:t>2025. 1. 5.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8708606D-7016-48C6-AD55-6C46873277CB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26B28A4-0406-4D64-A121-EFDA8C66E1AC}" type="datetime1">
              <a:rPr lang="ko-KR" altLang="en-US"/>
              <a:pPr lvl="0">
                <a:defRPr lang="ko-KR" altLang="en-US"/>
              </a:pPr>
              <a:t>2025. 1. 5.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698750" y="487363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7"/>
            <a:ext cx="7942580" cy="3058953"/>
          </a:xfrm>
          <a:prstGeom prst="rect">
            <a:avLst/>
          </a:prstGeom>
        </p:spPr>
        <p:txBody>
          <a:bodyPr vert="horz" lIns="92117" tIns="46058" rIns="92117" bIns="46058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7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562CCEFF-A2AE-45F8-B6D1-C9F23FC7D7B9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796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889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294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878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668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521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26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663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670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122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829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242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" dirty="0"/>
              <a:t>Frame-</a:t>
            </a:r>
            <a:r>
              <a:rPr lang="en-US" sz="100" dirty="0" err="1"/>
              <a:t>wise의</a:t>
            </a:r>
            <a:r>
              <a:rPr lang="en-US" sz="100" dirty="0"/>
              <a:t> </a:t>
            </a:r>
            <a:r>
              <a:rPr lang="en-US" sz="100" dirty="0" err="1"/>
              <a:t>의미가</a:t>
            </a:r>
            <a:r>
              <a:rPr lang="en-US" sz="100" dirty="0"/>
              <a:t> </a:t>
            </a:r>
            <a:r>
              <a:rPr lang="en-US" sz="100" dirty="0" err="1"/>
              <a:t>뭘</a:t>
            </a:r>
            <a:r>
              <a:rPr lang="en-US" sz="100" dirty="0"/>
              <a:t> </a:t>
            </a:r>
            <a:r>
              <a:rPr lang="en-US" sz="100" dirty="0" err="1"/>
              <a:t>의미하는지는</a:t>
            </a:r>
            <a:r>
              <a:rPr lang="en-US" sz="100" dirty="0"/>
              <a:t> </a:t>
            </a:r>
            <a:r>
              <a:rPr lang="en-US" sz="100" dirty="0" err="1"/>
              <a:t>코드까봐야</a:t>
            </a:r>
            <a:r>
              <a:rPr lang="en-US" sz="100" dirty="0"/>
              <a:t> </a:t>
            </a:r>
            <a:r>
              <a:rPr lang="en-US" sz="100" dirty="0" err="1"/>
              <a:t>알거</a:t>
            </a:r>
            <a:r>
              <a:rPr lang="en-US" sz="100" dirty="0"/>
              <a:t> </a:t>
            </a:r>
            <a:r>
              <a:rPr lang="en-US" sz="100" dirty="0" err="1"/>
              <a:t>같은데</a:t>
            </a:r>
            <a:endParaRPr lang="en-US" altLang="ko-KR" sz="100" dirty="0"/>
          </a:p>
          <a:p>
            <a:endParaRPr lang="en-US" altLang="ko-KR" sz="100" dirty="0"/>
          </a:p>
          <a:p>
            <a:r>
              <a:rPr lang="en-US" altLang="ko-KR" sz="100" dirty="0"/>
              <a:t>(1) w/o IAQ-CL: Randomly selects a facial frame from a video</a:t>
            </a:r>
            <a:br>
              <a:rPr lang="en-US" altLang="ko-KR" sz="100" dirty="0"/>
            </a:br>
            <a:r>
              <a:rPr lang="en-US" altLang="ko-KR" sz="100" dirty="0"/>
              <a:t>ablation study</a:t>
            </a:r>
            <a:r>
              <a:rPr lang="ko-KR" altLang="en-US" sz="100" dirty="0"/>
              <a:t>에서 이렇게 </a:t>
            </a:r>
            <a:r>
              <a:rPr lang="ko-KR" altLang="en-US" sz="100" dirty="0" err="1"/>
              <a:t>표현한거</a:t>
            </a:r>
            <a:r>
              <a:rPr lang="ko-KR" altLang="en-US" sz="100" dirty="0"/>
              <a:t> 보면 </a:t>
            </a:r>
            <a:r>
              <a:rPr lang="ko-KR" altLang="en-US" sz="100" dirty="0" err="1"/>
              <a:t>학습할때</a:t>
            </a:r>
            <a:r>
              <a:rPr lang="ko-KR" altLang="en-US" sz="100" dirty="0"/>
              <a:t> 한 </a:t>
            </a:r>
            <a:r>
              <a:rPr lang="en-US" altLang="ko-KR" sz="100" dirty="0"/>
              <a:t>utter</a:t>
            </a:r>
            <a:r>
              <a:rPr lang="ko-KR" altLang="en-US" sz="100" dirty="0"/>
              <a:t>당 모든 이미지 들어가서 평균 </a:t>
            </a:r>
            <a:r>
              <a:rPr lang="ko-KR" altLang="en-US" sz="100" dirty="0" err="1"/>
              <a:t>내는거</a:t>
            </a:r>
            <a:r>
              <a:rPr lang="ko-KR" altLang="en-US" sz="100" dirty="0"/>
              <a:t> 같음</a:t>
            </a:r>
            <a:endParaRPr lang="en-US" sz="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8312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Redundant: </a:t>
            </a:r>
            <a:r>
              <a:rPr lang="en-US" dirty="0" err="1"/>
              <a:t>중복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13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Retrieves</a:t>
            </a:r>
            <a:r>
              <a:rPr lang="en-US" altLang="ko-KR" dirty="0"/>
              <a:t>: </a:t>
            </a:r>
            <a:r>
              <a:rPr lang="ko-KR" altLang="en-US" dirty="0"/>
              <a:t>검색하다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95CDD-1407-B7D1-F74F-64144FABA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6D1AF-8452-DDE2-899B-81C90507F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78C239-1C35-2019-F987-5E0E56B0D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FFN: feed forward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C0ED6-9D8B-D8BC-E3BC-2A46C03C0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566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707A6-ABC6-06E9-CE88-85AD0A81E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79896-A9A7-4179-F1D4-03D0A0712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0E8F12-A08F-5E5F-B33C-261CDC6A5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F9483-3595-25ED-D89B-A321758BB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8514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57C9B-9D21-5A72-C83B-ABD12D909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6DF7FF-40F0-5890-AAF3-147C9E0CB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82670-BA20-2C46-1CB3-375E949DE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E531F-02AA-5B9B-1528-B03B7F445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472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71E0D-B5B6-B5BF-A5A5-C26CCEAF2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833687-9D9C-1F96-63F9-1A179A8D8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E442C3-9CF9-8EED-4601-636727692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6A866-A0C9-1947-4550-B155AE165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4520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17D67-6119-F44D-D76D-9C9CC10C9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0CFF6-730D-9B7E-58EB-87874EA29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A72AB-AB2B-00F5-789F-84701021D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</a:t>
            </a:r>
            <a:r>
              <a:rPr lang="ko-KR" altLang="en-US" dirty="0"/>
              <a:t>은 </a:t>
            </a:r>
            <a:r>
              <a:rPr lang="en-US" altLang="ko-KR" dirty="0"/>
              <a:t>cos sim</a:t>
            </a:r>
            <a:r>
              <a:rPr lang="ko-KR" altLang="en-US" dirty="0"/>
              <a:t>일듯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y_i,j</a:t>
            </a:r>
            <a:r>
              <a:rPr lang="en-US" altLang="ko-KR" dirty="0"/>
              <a:t>=1</a:t>
            </a:r>
            <a:r>
              <a:rPr lang="ko-KR" altLang="en-US" dirty="0"/>
              <a:t>이 </a:t>
            </a:r>
            <a:r>
              <a:rPr lang="en-US" altLang="ko-KR" dirty="0"/>
              <a:t>pos,</a:t>
            </a:r>
            <a:r>
              <a:rPr lang="ko-KR" altLang="en-US" dirty="0"/>
              <a:t> </a:t>
            </a:r>
            <a:r>
              <a:rPr lang="en-US" altLang="ko-KR" dirty="0"/>
              <a:t>=0</a:t>
            </a:r>
            <a:r>
              <a:rPr lang="ko-KR" altLang="en-US" dirty="0"/>
              <a:t>이 </a:t>
            </a:r>
            <a:r>
              <a:rPr lang="en-US" altLang="ko-KR" dirty="0"/>
              <a:t>neg</a:t>
            </a:r>
            <a:r>
              <a:rPr lang="ko-KR" altLang="en-US" dirty="0"/>
              <a:t>인</a:t>
            </a:r>
            <a:r>
              <a:rPr lang="en-US" altLang="ko-KR" dirty="0"/>
              <a:t> contrastive learning</a:t>
            </a:r>
            <a:r>
              <a:rPr lang="ko-KR" altLang="en-US" dirty="0"/>
              <a:t> 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D069A-0CDD-C348-3134-8391FBFF1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2689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782A0-F1A0-55D3-20AF-5AC999D80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830BC-2FE9-B750-805C-306E40468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DB42B-8C7C-D240-E09B-CFBC0BE9E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DA78D-7CFC-7FF5-11F4-80EA44142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92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BD26C-613C-2598-F3A5-5AC556DA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59567-4EEA-353B-AFF2-CA560D399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C9566-E649-C90F-9E44-52A16653D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</a:pPr>
            <a:r>
              <a:rPr lang="ko-KR" altLang="en-US" dirty="0"/>
              <a:t>아마 저 </a:t>
            </a:r>
            <a:r>
              <a:rPr lang="en-US" altLang="ko-KR" dirty="0" err="1"/>
              <a:t>p_ni</a:t>
            </a:r>
            <a:r>
              <a:rPr lang="ko-KR" altLang="en-US" dirty="0"/>
              <a:t>는 이전 식에 </a:t>
            </a:r>
            <a:r>
              <a:rPr lang="en-US" altLang="ko-KR" dirty="0"/>
              <a:t>exp()~~</a:t>
            </a:r>
            <a:r>
              <a:rPr lang="ko-KR" altLang="en-US" dirty="0"/>
              <a:t>랑 </a:t>
            </a:r>
            <a:r>
              <a:rPr lang="ko-KR" altLang="en-US" dirty="0" err="1"/>
              <a:t>같은듯</a:t>
            </a:r>
            <a:br>
              <a:rPr lang="en-US" altLang="ko-KR" dirty="0"/>
            </a:br>
            <a:r>
              <a:rPr lang="en-US" altLang="ko-KR" dirty="0"/>
              <a:t>CE</a:t>
            </a:r>
            <a:r>
              <a:rPr lang="ko-KR" altLang="en-US" dirty="0"/>
              <a:t>사용해서 정답 클래스 집중</a:t>
            </a:r>
            <a:br>
              <a:rPr lang="en-US" altLang="ko-KR" dirty="0"/>
            </a:b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" altLang="ko-KR" dirty="0">
                <a:solidFill>
                  <a:srgbClr val="000000"/>
                </a:solidFill>
                <a:effectLst/>
                <a:latin typeface="Helvetica" pitchFamily="2" charset="0"/>
              </a:rPr>
              <a:t>L_{\text{id-f}}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는 **정답 클래스의 </a:t>
            </a:r>
            <a:r>
              <a:rPr lang="en" altLang="ko-KR" dirty="0" err="1">
                <a:solidFill>
                  <a:srgbClr val="0E0E0E"/>
                </a:solidFill>
                <a:effectLst/>
                <a:latin typeface=".AppleSystemUIFont"/>
              </a:rPr>
              <a:t>softmax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확률 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" altLang="ko-KR" dirty="0">
                <a:solidFill>
                  <a:srgbClr val="000000"/>
                </a:solidFill>
                <a:effectLst/>
                <a:latin typeface="Helvetica" pitchFamily="2" charset="0"/>
              </a:rPr>
              <a:t>p_{</a:t>
            </a:r>
            <a:r>
              <a:rPr lang="en" altLang="ko-KR" dirty="0" err="1">
                <a:solidFill>
                  <a:srgbClr val="000000"/>
                </a:solidFill>
                <a:effectLst/>
                <a:latin typeface="Helvetica" pitchFamily="2" charset="0"/>
              </a:rPr>
              <a:t>ni</a:t>
            </a:r>
            <a:r>
              <a:rPr lang="en" altLang="ko-KR" dirty="0">
                <a:solidFill>
                  <a:srgbClr val="000000"/>
                </a:solidFill>
                <a:effectLst/>
                <a:latin typeface="Helvetica" pitchFamily="2" charset="0"/>
              </a:rPr>
              <a:t>} 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**</a:t>
            </a:r>
            <a:r>
              <a:rPr lang="ko-KR" altLang="en-US" dirty="0" err="1">
                <a:solidFill>
                  <a:srgbClr val="0E0E0E"/>
                </a:solidFill>
                <a:effectLst/>
                <a:latin typeface=".AppleSystemUIFont"/>
              </a:rPr>
              <a:t>를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 최대화하기 위해 사용되는 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Cross-Entropy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기반 손실 함수입니다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>
              <a:spcBef>
                <a:spcPts val="900"/>
              </a:spcBef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목표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: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모델이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정확한 분류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를 하도록 학습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5E256-B729-C30A-6381-E8D8A1AA8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0224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B44D2-B682-CA78-D8D9-A8D6D5A25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A6641-2738-FC24-99E9-8B4375799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F5B93-FB46-24D2-E034-88B23CCB9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2B8AB-64C8-7F05-DEEF-CAD1E1E56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7843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A4353-AE3E-F754-77E9-5E9290EEB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5995D-8AF5-0CFB-81D9-9A51A08C7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CC0B9-8A08-7FDF-CA62-D86C87360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3B487-4277-4A4C-7D38-815260033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5670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0318E-DAA1-E525-0F08-EAA4FC301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18FDB-006A-FF69-0E36-48749B311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33A176-974F-B0B9-1C61-4E0DD6A72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CPC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예측 학습 </a:t>
            </a:r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(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Predictive Learning)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Contrastive Loss (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대조 손실</a:t>
            </a:r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)</a:t>
            </a:r>
            <a:endParaRPr lang="ko-KR" altLang="en-US" dirty="0">
              <a:solidFill>
                <a:srgbClr val="0E0E0E"/>
              </a:solidFill>
              <a:effectLst/>
              <a:latin typeface=".AppleSystemUIFon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Latent Representation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endParaRPr lang="en-US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음성 데이터의 경우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이전 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5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초의 신호로 다음 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1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초를 예측하는 과정을 반복하면서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음성 신호의 구조적 패턴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을 학습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1F0C8-2DB3-0E51-7683-25C080DA9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3816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8DF55-CDF3-CF2B-115B-C2212E6D8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99F7B-C6DD-622A-6785-210F4DAC8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5C3F1-C756-2622-88E9-969FEB98B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E436C-64F3-04A9-211C-07B2211D7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6939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59DED-9085-995B-AADC-C0FA15AA9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CAAB0-7788-F232-BFD9-EFAD643EC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14D87-D5FF-EB23-975E-854093BFF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B1E52-4667-84D5-EFB3-64406A31DD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5227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B200D-CD86-D82F-1787-09F048481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0FFBA-2212-A272-B2D9-26579006A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E602B-1681-67F3-5357-D099D9F29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Mutual: </a:t>
            </a:r>
            <a:r>
              <a:rPr lang="ko-KR" altLang="en-US" dirty="0"/>
              <a:t>상호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B12CE-7251-CB0F-5FA1-73C3E9A1C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5887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E7791-15B8-0CAF-29C3-878F290D0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C31DF-AC8D-DD48-286D-AB7B518D6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E82AF-7538-903C-7242-95FD0D748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C4114-8074-9F3A-78D5-CB40A4AAF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8193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1FFA-3EED-82AD-89F9-BF33FBAF8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4FE5F-80AF-FFF1-90F5-DCE931966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F7779-9DF0-0780-17BB-1B88C6AE9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동일한 스피커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(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Positive pair: </a:t>
            </a:r>
            <a:r>
              <a:rPr lang="en" altLang="ko-KR" dirty="0">
                <a:effectLst/>
                <a:latin typeface="Helvetica" pitchFamily="2" charset="0"/>
              </a:rPr>
              <a:t> </a:t>
            </a:r>
            <a:r>
              <a:rPr lang="en" altLang="ko-KR" dirty="0" err="1">
                <a:effectLst/>
                <a:latin typeface="Helvetica" pitchFamily="2" charset="0"/>
              </a:rPr>
              <a:t>i</a:t>
            </a:r>
            <a:r>
              <a:rPr lang="en" altLang="ko-KR" dirty="0">
                <a:effectLst/>
                <a:latin typeface="Helvetica" pitchFamily="2" charset="0"/>
              </a:rPr>
              <a:t> = j 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)</a:t>
            </a:r>
            <a:r>
              <a:rPr lang="ko-KR" altLang="en-US" dirty="0" err="1">
                <a:solidFill>
                  <a:srgbClr val="0E0E0E"/>
                </a:solidFill>
                <a:effectLst/>
                <a:latin typeface=".AppleSystemUIFont"/>
              </a:rPr>
              <a:t>에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 대해 </a:t>
            </a:r>
            <a:r>
              <a:rPr lang="ko-KR" altLang="en-US" dirty="0">
                <a:effectLst/>
                <a:latin typeface="Helvetica" pitchFamily="2" charset="0"/>
              </a:rPr>
              <a:t> </a:t>
            </a:r>
            <a:r>
              <a:rPr lang="en" altLang="ko-KR" dirty="0">
                <a:effectLst/>
                <a:latin typeface="Helvetica" pitchFamily="2" charset="0"/>
              </a:rPr>
              <a:t>q(F_{\text{con}, </a:t>
            </a:r>
            <a:r>
              <a:rPr lang="en" altLang="ko-KR" dirty="0" err="1">
                <a:effectLst/>
                <a:latin typeface="Helvetica" pitchFamily="2" charset="0"/>
              </a:rPr>
              <a:t>i</a:t>
            </a:r>
            <a:r>
              <a:rPr lang="en" altLang="ko-KR" dirty="0">
                <a:effectLst/>
                <a:latin typeface="Helvetica" pitchFamily="2" charset="0"/>
              </a:rPr>
              <a:t>} \mid F_{\text{</a:t>
            </a:r>
            <a:r>
              <a:rPr lang="en" altLang="ko-KR" dirty="0" err="1">
                <a:effectLst/>
                <a:latin typeface="Helvetica" pitchFamily="2" charset="0"/>
              </a:rPr>
              <a:t>spk</a:t>
            </a:r>
            <a:r>
              <a:rPr lang="en" altLang="ko-KR" dirty="0">
                <a:effectLst/>
                <a:latin typeface="Helvetica" pitchFamily="2" charset="0"/>
              </a:rPr>
              <a:t>}, </a:t>
            </a:r>
            <a:r>
              <a:rPr lang="en" altLang="ko-KR" dirty="0" err="1">
                <a:effectLst/>
                <a:latin typeface="Helvetica" pitchFamily="2" charset="0"/>
              </a:rPr>
              <a:t>i</a:t>
            </a:r>
            <a:r>
              <a:rPr lang="en" altLang="ko-KR" dirty="0">
                <a:effectLst/>
                <a:latin typeface="Helvetica" pitchFamily="2" charset="0"/>
              </a:rPr>
              <a:t>}) </a:t>
            </a:r>
            <a:r>
              <a:rPr lang="ko-KR" altLang="en-US" dirty="0" err="1">
                <a:solidFill>
                  <a:srgbClr val="0E0E0E"/>
                </a:solidFill>
                <a:effectLst/>
                <a:latin typeface=".AppleSystemUIFont"/>
              </a:rPr>
              <a:t>를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 최대화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  <a:endParaRPr lang="ko-KR" altLang="en-US" dirty="0">
              <a:effectLst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다른 스피커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(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Negative pair: </a:t>
            </a:r>
            <a:r>
              <a:rPr lang="en" altLang="ko-KR" dirty="0">
                <a:effectLst/>
                <a:latin typeface="Helvetica" pitchFamily="2" charset="0"/>
              </a:rPr>
              <a:t> </a:t>
            </a:r>
            <a:r>
              <a:rPr lang="en" altLang="ko-KR" dirty="0" err="1">
                <a:effectLst/>
                <a:latin typeface="Helvetica" pitchFamily="2" charset="0"/>
              </a:rPr>
              <a:t>i</a:t>
            </a:r>
            <a:r>
              <a:rPr lang="en" altLang="ko-KR" dirty="0">
                <a:effectLst/>
                <a:latin typeface="Helvetica" pitchFamily="2" charset="0"/>
              </a:rPr>
              <a:t> \</a:t>
            </a:r>
            <a:r>
              <a:rPr lang="en" altLang="ko-KR" dirty="0" err="1">
                <a:effectLst/>
                <a:latin typeface="Helvetica" pitchFamily="2" charset="0"/>
              </a:rPr>
              <a:t>neq</a:t>
            </a:r>
            <a:r>
              <a:rPr lang="en" altLang="ko-KR" dirty="0">
                <a:effectLst/>
                <a:latin typeface="Helvetica" pitchFamily="2" charset="0"/>
              </a:rPr>
              <a:t> j 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)</a:t>
            </a:r>
            <a:r>
              <a:rPr lang="ko-KR" altLang="en-US" dirty="0" err="1">
                <a:solidFill>
                  <a:srgbClr val="0E0E0E"/>
                </a:solidFill>
                <a:effectLst/>
                <a:latin typeface=".AppleSystemUIFont"/>
              </a:rPr>
              <a:t>에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 대해 </a:t>
            </a:r>
            <a:r>
              <a:rPr lang="ko-KR" altLang="en-US" dirty="0">
                <a:effectLst/>
                <a:latin typeface="Helvetica" pitchFamily="2" charset="0"/>
              </a:rPr>
              <a:t> </a:t>
            </a:r>
            <a:r>
              <a:rPr lang="en" altLang="ko-KR" dirty="0">
                <a:effectLst/>
                <a:latin typeface="Helvetica" pitchFamily="2" charset="0"/>
              </a:rPr>
              <a:t>q(F_{\text{con}, j} \mid F_{\text{</a:t>
            </a:r>
            <a:r>
              <a:rPr lang="en" altLang="ko-KR" dirty="0" err="1">
                <a:effectLst/>
                <a:latin typeface="Helvetica" pitchFamily="2" charset="0"/>
              </a:rPr>
              <a:t>spk</a:t>
            </a:r>
            <a:r>
              <a:rPr lang="en" altLang="ko-KR" dirty="0">
                <a:effectLst/>
                <a:latin typeface="Helvetica" pitchFamily="2" charset="0"/>
              </a:rPr>
              <a:t>}, </a:t>
            </a:r>
            <a:r>
              <a:rPr lang="en" altLang="ko-KR" dirty="0" err="1">
                <a:effectLst/>
                <a:latin typeface="Helvetica" pitchFamily="2" charset="0"/>
              </a:rPr>
              <a:t>i</a:t>
            </a:r>
            <a:r>
              <a:rPr lang="en" altLang="ko-KR" dirty="0">
                <a:effectLst/>
                <a:latin typeface="Helvetica" pitchFamily="2" charset="0"/>
              </a:rPr>
              <a:t>}) </a:t>
            </a:r>
            <a:r>
              <a:rPr lang="ko-KR" altLang="en-US" dirty="0" err="1">
                <a:solidFill>
                  <a:srgbClr val="0E0E0E"/>
                </a:solidFill>
                <a:effectLst/>
                <a:latin typeface=".AppleSystemUIFont"/>
              </a:rPr>
              <a:t>를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 최소화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• MI</a:t>
            </a:r>
            <a:r>
              <a:rPr lang="ko-KR" altLang="en-US" dirty="0" err="1">
                <a:solidFill>
                  <a:srgbClr val="0E0E0E"/>
                </a:solidFill>
                <a:effectLst/>
                <a:latin typeface=".AppleSystemUIFont"/>
              </a:rPr>
              <a:t>를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 직접 계산하려면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정확한 확률 분포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 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" altLang="ko-KR" dirty="0">
                <a:solidFill>
                  <a:srgbClr val="000000"/>
                </a:solidFill>
                <a:effectLst/>
                <a:latin typeface="Helvetica" pitchFamily="2" charset="0"/>
              </a:rPr>
              <a:t>p(F_{\text{con}}, F_{\text{</a:t>
            </a:r>
            <a:r>
              <a:rPr lang="en" altLang="ko-KR" dirty="0" err="1">
                <a:solidFill>
                  <a:srgbClr val="000000"/>
                </a:solidFill>
                <a:effectLst/>
                <a:latin typeface="Helvetica" pitchFamily="2" charset="0"/>
              </a:rPr>
              <a:t>spk</a:t>
            </a:r>
            <a:r>
              <a:rPr lang="en" altLang="ko-KR" dirty="0">
                <a:solidFill>
                  <a:srgbClr val="000000"/>
                </a:solidFill>
                <a:effectLst/>
                <a:latin typeface="Helvetica" pitchFamily="2" charset="0"/>
              </a:rPr>
              <a:t>}})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가 필요하지만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이는 고차원 데이터에서 계산이 불가능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• **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조건부 확률 </a:t>
            </a:r>
            <a:r>
              <a:rPr lang="ko-KR" altLang="en-US" dirty="0">
                <a:effectLst/>
                <a:latin typeface="Helvetica" pitchFamily="2" charset="0"/>
              </a:rPr>
              <a:t> </a:t>
            </a:r>
            <a:r>
              <a:rPr lang="en" altLang="ko-KR" dirty="0">
                <a:effectLst/>
                <a:latin typeface="Helvetica" pitchFamily="2" charset="0"/>
              </a:rPr>
              <a:t>q(F_{\text{con}} \mid F_{\text{</a:t>
            </a:r>
            <a:r>
              <a:rPr lang="en" altLang="ko-KR" dirty="0" err="1">
                <a:effectLst/>
                <a:latin typeface="Helvetica" pitchFamily="2" charset="0"/>
              </a:rPr>
              <a:t>spk</a:t>
            </a:r>
            <a:r>
              <a:rPr lang="en" altLang="ko-KR" dirty="0">
                <a:effectLst/>
                <a:latin typeface="Helvetica" pitchFamily="2" charset="0"/>
              </a:rPr>
              <a:t>}}) 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**</a:t>
            </a:r>
            <a:r>
              <a:rPr lang="ko-KR" altLang="en-US" dirty="0" err="1">
                <a:solidFill>
                  <a:srgbClr val="0E0E0E"/>
                </a:solidFill>
                <a:effectLst/>
                <a:latin typeface=".AppleSystemUIFont"/>
              </a:rPr>
              <a:t>를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ko-KR" altLang="en-US" dirty="0" err="1">
                <a:solidFill>
                  <a:srgbClr val="0E0E0E"/>
                </a:solidFill>
                <a:effectLst/>
                <a:latin typeface=".AppleSystemUIFont"/>
              </a:rPr>
              <a:t>파라미터화하여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 학습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  <a:endParaRPr lang="ko-KR" altLang="en-US" dirty="0">
              <a:effectLst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9FEEE-8E82-5EC9-72DE-49B54883E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2700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CD0A6-069B-7CCC-EDB6-EDDBD643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0E0E7-FAAE-D642-B01B-EF8B55F1B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2D4FB-84D7-1B8C-C38C-0484A2EA0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82251-CAE5-41AE-66B4-67C4C8836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4247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70635-B821-2AB7-1C24-A9BB3C368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F64C7-2690-C2A5-3B8A-98E7E60D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E4E73-9EDF-C06B-2DA0-7D93687CC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Mode Collapse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의 정의</a:t>
            </a:r>
            <a:endParaRPr lang="ko-KR" altLang="en-US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다양한 입력 데이터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에 대해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모델이 생성하는 출력이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매우 유사하거나 동일한 형태로 수렴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하는 현상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>
              <a:spcBef>
                <a:spcPts val="900"/>
              </a:spcBef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결과적으로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출력 데이터의 다양성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이 사라지고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특정 데이터 모드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(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mode,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패턴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)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만 반복적으로 생성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B3BBB-3BEE-193C-5FFC-295240529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8618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D8DF0-6662-A3C1-D703-A846E5137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EC056-BA58-4937-29B0-F6F8DCEA4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F70AE-129B-E481-4D84-0973BEC30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85F51-428A-332F-4B9E-3CC277473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4163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44E20-CCE8-EE3C-5210-EFFBA2228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4FFBF-4DAA-D08A-0330-3EFAD90AB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CDC85-E43C-0D57-222C-2B32CC498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64E7C-BE6F-9F63-16C0-94F2FE078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5915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8C761-D0A6-2313-E8D0-B1B3C520C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6A344-8F56-A98F-CBD1-47D6F3A39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C2824-A1FD-DB94-7FF6-CD7AED5D6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26A42-514A-EAA4-66F8-78EABAC29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4287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96B2C-3936-DF96-AB26-14B44E11D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DEEE4-61F9-BE09-BE9A-D8942E20F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EAB52-D01F-457C-0B02-ECFDA67A3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Inter: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얼굴 통해서 만들어진 </a:t>
            </a:r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Mel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이랑 그냥 음성 통해 만들어진 </a:t>
            </a:r>
            <a:r>
              <a:rPr lang="en-US" altLang="ko-KR" b="1" dirty="0" err="1">
                <a:solidFill>
                  <a:srgbClr val="0E0E0E"/>
                </a:solidFill>
                <a:effectLst/>
                <a:latin typeface=".AppleSystemUIFont"/>
              </a:rPr>
              <a:t>mel</a:t>
            </a:r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 L2+L1</a:t>
            </a:r>
          </a:p>
          <a:p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Mapping: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음성</a:t>
            </a:r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얼굴 분포 </a:t>
            </a:r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KL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7DEC1-5CB8-2145-4FFB-75FE4DC26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5442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4DDD-0081-3971-688A-DFC83839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BEFF7-D5A1-AFC8-C55B-742DC5030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F91EB-FE9D-58FC-120B-DA3B7CABA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B4B02-C32B-C729-98D6-96589CE34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7933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7930E-2193-D5C4-FB49-BB9DD25F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BFD3A-EF54-BF23-52F5-FABDB0453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8FD2D-CAB9-154B-E296-4DE30576F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word error rate (WER)</a:t>
            </a:r>
          </a:p>
          <a:p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character error rate (CER)</a:t>
            </a:r>
          </a:p>
          <a:p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Calculated by Whisper</a:t>
            </a:r>
          </a:p>
          <a:p>
            <a:endParaRPr lang="en-US" altLang="ko-KR" b="1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en-US" altLang="ko-KR" b="1" dirty="0" err="1">
                <a:solidFill>
                  <a:srgbClr val="0E0E0E"/>
                </a:solidFill>
                <a:effectLst/>
                <a:latin typeface=".AppleSystemUIFont"/>
              </a:rPr>
              <a:t>peaker</a:t>
            </a:r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 encoder cosine similarity (SECS)</a:t>
            </a:r>
          </a:p>
          <a:p>
            <a:endParaRPr lang="en-US" altLang="ko-KR" b="1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speaker embedding consistency (SEC),(different facial angles of the same speaker)</a:t>
            </a:r>
          </a:p>
          <a:p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speaker embedding diversity (SED),(speech outputs from different speakers.)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5F9B9-6563-BA2C-08CD-9F9B30020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1035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ECE8C-940C-F1C3-DBE8-53D4E9FAC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4A8C1-BD62-3374-E3EC-06260FAD4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9F00C-FC12-266D-9815-80FFE9841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1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B4E66-12AE-6946-8E79-2F6838F16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2430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454CC-2AD7-DAAB-B573-727A3825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67F25-2259-0133-08B8-36D19B373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CBB5A2-B76A-AABE-9C96-F5416F0A6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1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2FB3B-A925-B96C-90D5-4CB4C0283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9345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F2555-B3C6-DE5E-E670-6FE85A18B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8EFC7-732C-7148-AEBE-086D9F97A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AB640-DCF1-E1F0-8924-F09EFC40A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1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6F58D-061A-B2A5-D954-9D1ED8ADE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163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7A3B1-5ABE-FC82-8211-87FAB2AF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93E7A-9D22-5CA9-FC54-636AD5777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7C627-57D8-D94D-4BCB-1AEDEC157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8EC49-E7C1-9BD9-3040-11E026362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5023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643A0-9BCF-B497-AFA2-A1A0B6263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C8B7D-6668-2ED7-C36C-3FBDDB8FC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0348F-9834-CC6D-956C-0D2900683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1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5A219-95F7-2DD3-5C0F-388AD0823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750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10EDEE-B3FB-4441-A82B-78B5794C52D0}"/>
              </a:ext>
            </a:extLst>
          </p:cNvPr>
          <p:cNvSpPr/>
          <p:nvPr userDrawn="1"/>
        </p:nvSpPr>
        <p:spPr>
          <a:xfrm>
            <a:off x="0" y="0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395819" y="3272456"/>
            <a:ext cx="540036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8937" y="1904304"/>
            <a:ext cx="10534129" cy="1296144"/>
          </a:xfrm>
        </p:spPr>
        <p:txBody>
          <a:bodyPr>
            <a:normAutofit/>
          </a:bodyPr>
          <a:lstStyle>
            <a:lvl1pPr algn="ctr">
              <a:defRPr sz="4000" spc="-3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/>
          <p:cNvSpPr txBox="1">
            <a:spLocks/>
          </p:cNvSpPr>
          <p:nvPr userDrawn="1"/>
        </p:nvSpPr>
        <p:spPr>
          <a:xfrm>
            <a:off x="3395819" y="3840532"/>
            <a:ext cx="5400363" cy="541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None/>
              <a:defRPr sz="2200" kern="12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4"/>
              </a:buClr>
              <a:buFont typeface="Wingdings 3" panose="050401020108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20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2A7C40-6EDC-5148-B154-A68DF9CCA265}"/>
              </a:ext>
            </a:extLst>
          </p:cNvPr>
          <p:cNvGrpSpPr/>
          <p:nvPr userDrawn="1"/>
        </p:nvGrpSpPr>
        <p:grpSpPr>
          <a:xfrm>
            <a:off x="3868451" y="4221088"/>
            <a:ext cx="3893387" cy="792088"/>
            <a:chOff x="827584" y="5517232"/>
            <a:chExt cx="2920040" cy="79208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2421234D-30E1-C444-9C10-442BAD6E17E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517232"/>
              <a:ext cx="1734462" cy="72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2AD3F52-407F-FD40-997E-699FE28AF26B}"/>
                </a:ext>
              </a:extLst>
            </p:cNvPr>
            <p:cNvSpPr txBox="1"/>
            <p:nvPr userDrawn="1"/>
          </p:nvSpPr>
          <p:spPr>
            <a:xfrm>
              <a:off x="2483768" y="5704026"/>
              <a:ext cx="1263856" cy="605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en-US" sz="40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2000"/>
                </a:lnSpc>
              </a:pPr>
              <a:r>
                <a:rPr lang="en-US" sz="1800" spc="-1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800" spc="-1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2CE214F-ADB8-5846-8B01-50FC3B4C0B4C}"/>
              </a:ext>
            </a:extLst>
          </p:cNvPr>
          <p:cNvSpPr/>
          <p:nvPr userDrawn="1"/>
        </p:nvSpPr>
        <p:spPr>
          <a:xfrm>
            <a:off x="0" y="6237312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</p:spTree>
    <p:extLst>
      <p:ext uri="{BB962C8B-B14F-4D97-AF65-F5344CB8AC3E}">
        <p14:creationId xmlns:p14="http://schemas.microsoft.com/office/powerpoint/2010/main" val="23389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  <a:latin typeface="Corbel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3" name="제목 개체 틀 1"/>
          <p:cNvSpPr>
            <a:spLocks noGrp="1"/>
          </p:cNvSpPr>
          <p:nvPr>
            <p:ph type="title"/>
          </p:nvPr>
        </p:nvSpPr>
        <p:spPr>
          <a:xfrm>
            <a:off x="413908" y="368732"/>
            <a:ext cx="111547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spc="-30" baseline="0">
                <a:solidFill>
                  <a:schemeClr val="tx1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ko-KR" altLang="en-US" dirty="0"/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90C2B4-BF74-6744-A1CC-033C7E9B91ED}"/>
              </a:ext>
            </a:extLst>
          </p:cNvPr>
          <p:cNvGrpSpPr/>
          <p:nvPr userDrawn="1"/>
        </p:nvGrpSpPr>
        <p:grpSpPr>
          <a:xfrm>
            <a:off x="143339" y="6341258"/>
            <a:ext cx="2958254" cy="472118"/>
            <a:chOff x="827584" y="5805264"/>
            <a:chExt cx="2218690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14BE7F3A-ED04-524F-A4F1-9F7573BCDA4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2B9A1C-78C6-5F47-8940-F4E741C02469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800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51838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  <a:latin typeface="Corbel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5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6B7E3B-6136-B440-8BB2-FBC052C1CD0A}"/>
              </a:ext>
            </a:extLst>
          </p:cNvPr>
          <p:cNvGrpSpPr/>
          <p:nvPr userDrawn="1"/>
        </p:nvGrpSpPr>
        <p:grpSpPr>
          <a:xfrm>
            <a:off x="143339" y="6341258"/>
            <a:ext cx="2958254" cy="472118"/>
            <a:chOff x="827584" y="5805264"/>
            <a:chExt cx="2218690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C04B6D2B-8A94-B142-BC47-E1CF62EBCBB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1E585A-7FD4-7F43-A83A-8DA4DD75A304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800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EB2EDCB-2452-B540-8700-E8A8C013A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960442"/>
            <a:ext cx="11472000" cy="5024842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A01032FD-E55F-4943-9EDD-C2B6EE7705AC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8786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A469D99-20DF-4A42-A06A-8AAB1EA1FCF5}"/>
              </a:ext>
            </a:extLst>
          </p:cNvPr>
          <p:cNvGrpSpPr/>
          <p:nvPr userDrawn="1"/>
        </p:nvGrpSpPr>
        <p:grpSpPr>
          <a:xfrm>
            <a:off x="143339" y="6341258"/>
            <a:ext cx="2958254" cy="472118"/>
            <a:chOff x="827584" y="5805264"/>
            <a:chExt cx="2218690" cy="472118"/>
          </a:xfrm>
        </p:grpSpPr>
        <p:pic>
          <p:nvPicPr>
            <p:cNvPr id="10" name="Picture 2" descr="숭실대학교 로고">
              <a:extLst>
                <a:ext uri="{FF2B5EF4-FFF2-40B4-BE49-F238E27FC236}">
                  <a16:creationId xmlns:a16="http://schemas.microsoft.com/office/drawing/2014/main" id="{E6BF0C0C-88A6-B645-9F2F-BE7128B9F5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558D9D-0A52-6348-964A-6E7A56A83A03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800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D19F37D1-40CA-0E40-B900-AA4A5C99C4DD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0780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58254" cy="472118"/>
            <a:chOff x="827584" y="5805264"/>
            <a:chExt cx="2218690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800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157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llustrator for researcher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9" b="-607"/>
          <a:stretch/>
        </p:blipFill>
        <p:spPr bwMode="auto">
          <a:xfrm>
            <a:off x="66544" y="-1984"/>
            <a:ext cx="12097344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4987138" y="6021288"/>
            <a:ext cx="287492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6602" y="4571871"/>
            <a:ext cx="10095995" cy="1296144"/>
          </a:xfrm>
        </p:spPr>
        <p:txBody>
          <a:bodyPr>
            <a:normAutofit/>
          </a:bodyPr>
          <a:lstStyle>
            <a:lvl1pPr algn="ctr">
              <a:defRPr sz="3600" spc="-3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32994A-5376-864D-ABBB-D7619C927A9B}"/>
              </a:ext>
            </a:extLst>
          </p:cNvPr>
          <p:cNvGrpSpPr/>
          <p:nvPr userDrawn="1"/>
        </p:nvGrpSpPr>
        <p:grpSpPr>
          <a:xfrm>
            <a:off x="8208235" y="6016508"/>
            <a:ext cx="3483149" cy="724861"/>
            <a:chOff x="827584" y="5805264"/>
            <a:chExt cx="2158676" cy="43204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9286454C-EB5C-6C43-AD4B-59991888BE8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CECE5B-3D7C-534B-B7FF-5C3A3EF7B589}"/>
                </a:ext>
              </a:extLst>
            </p:cNvPr>
            <p:cNvSpPr txBox="1"/>
            <p:nvPr userDrawn="1"/>
          </p:nvSpPr>
          <p:spPr>
            <a:xfrm>
              <a:off x="2066198" y="5934025"/>
              <a:ext cx="920062" cy="284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6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600" spc="-1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600" spc="-1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3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7383" y="4727433"/>
            <a:ext cx="11139411" cy="1296145"/>
          </a:xfrm>
        </p:spPr>
        <p:txBody>
          <a:bodyPr>
            <a:normAutofit/>
          </a:bodyPr>
          <a:lstStyle>
            <a:lvl1pPr algn="l">
              <a:defRPr sz="3600" spc="-3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527051" y="3850708"/>
            <a:ext cx="11140016" cy="876725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6" name="Picture 2" descr="focus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t="27578" r="1337" b="27578"/>
          <a:stretch/>
        </p:blipFill>
        <p:spPr bwMode="auto">
          <a:xfrm>
            <a:off x="0" y="-27384"/>
            <a:ext cx="12192000" cy="387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4DC9759-2D39-6342-B857-D85A2EAA1634}"/>
              </a:ext>
            </a:extLst>
          </p:cNvPr>
          <p:cNvGrpSpPr/>
          <p:nvPr userDrawn="1"/>
        </p:nvGrpSpPr>
        <p:grpSpPr>
          <a:xfrm>
            <a:off x="143339" y="6093297"/>
            <a:ext cx="3406310" cy="652853"/>
            <a:chOff x="827584" y="5805264"/>
            <a:chExt cx="2343899" cy="43204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7F25E809-A7D8-BC4B-8B0A-5D31768462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BE382B-9EFD-FE4F-8462-C46BA9C4EE03}"/>
                </a:ext>
              </a:extLst>
            </p:cNvPr>
            <p:cNvSpPr txBox="1"/>
            <p:nvPr userDrawn="1"/>
          </p:nvSpPr>
          <p:spPr>
            <a:xfrm>
              <a:off x="2066198" y="5918441"/>
              <a:ext cx="1105285" cy="315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2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4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4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95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Corbel" panose="020B0503020204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b="0" i="0" smtClean="0">
                <a:solidFill>
                  <a:prstClr val="black">
                    <a:tint val="75000"/>
                  </a:prstClr>
                </a:solidFill>
                <a:latin typeface="Corbel" panose="020B0503020204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pPr/>
              <a:t>‹#›</a:t>
            </a:fld>
            <a:r>
              <a:rPr lang="en-US" altLang="ko-KR" sz="1400" b="0" i="0" dirty="0">
                <a:solidFill>
                  <a:prstClr val="black">
                    <a:tint val="75000"/>
                  </a:prstClr>
                </a:solidFill>
                <a:latin typeface="Corbel" panose="020B0503020204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t>/29</a:t>
            </a:r>
          </a:p>
        </p:txBody>
      </p:sp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b="0" i="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85C3FF-8E9C-4D4F-906C-EC39755DF58A}"/>
              </a:ext>
            </a:extLst>
          </p:cNvPr>
          <p:cNvGrpSpPr/>
          <p:nvPr userDrawn="1"/>
        </p:nvGrpSpPr>
        <p:grpSpPr>
          <a:xfrm>
            <a:off x="143339" y="6341258"/>
            <a:ext cx="2958254" cy="472118"/>
            <a:chOff x="827584" y="5805264"/>
            <a:chExt cx="2218690" cy="472118"/>
          </a:xfrm>
        </p:grpSpPr>
        <p:pic>
          <p:nvPicPr>
            <p:cNvPr id="9" name="Picture 2" descr="숭실대학교 로고">
              <a:extLst>
                <a:ext uri="{FF2B5EF4-FFF2-40B4-BE49-F238E27FC236}">
                  <a16:creationId xmlns:a16="http://schemas.microsoft.com/office/drawing/2014/main" id="{C615A142-2D92-D04F-8E99-9AA21DD4452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606131-78BB-6544-8972-DB41BB2696EE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800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4E955C6-C3C0-2D40-921D-8B5751E91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76772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454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 i="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F1A320-D0BB-9B49-87FF-5D14B0314E6C}"/>
              </a:ext>
            </a:extLst>
          </p:cNvPr>
          <p:cNvGrpSpPr/>
          <p:nvPr userDrawn="1"/>
        </p:nvGrpSpPr>
        <p:grpSpPr>
          <a:xfrm>
            <a:off x="143339" y="6341258"/>
            <a:ext cx="2958254" cy="472118"/>
            <a:chOff x="827584" y="5805264"/>
            <a:chExt cx="2218690" cy="47211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C535D48B-8EC0-3C4C-91D5-206A80EFBAC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F3B131-E1C6-8C44-A2AE-8FBAE278ED45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800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11715C41-99E2-B14A-A7D4-65D82428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b="0" i="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214591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58254" cy="472118"/>
            <a:chOff x="827584" y="5805264"/>
            <a:chExt cx="2218690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800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524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153102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332403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72ED0E0-5F71-B3B0-0E8C-49096BF08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53" y="1652630"/>
            <a:ext cx="10375694" cy="191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09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A7CCAA-CDA5-04FE-14BF-8E4A68C7B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Method</a:t>
            </a:r>
          </a:p>
          <a:p>
            <a:pPr lvl="1"/>
            <a:r>
              <a:rPr lang="en-US" dirty="0"/>
              <a:t>ID-Aware Query-based Contrastive Learning</a:t>
            </a:r>
          </a:p>
          <a:p>
            <a:pPr lvl="1"/>
            <a:r>
              <a:rPr lang="en-US" dirty="0"/>
              <a:t>Mutual Information-based Dual Decoupling</a:t>
            </a:r>
          </a:p>
          <a:p>
            <a:pPr lvl="1"/>
            <a:r>
              <a:rPr lang="en-US" dirty="0"/>
              <a:t>Alternative Text-Input with Style Control</a:t>
            </a:r>
          </a:p>
          <a:p>
            <a:pPr lvl="1"/>
            <a:r>
              <a:rPr lang="en-US" dirty="0"/>
              <a:t>Training Loss</a:t>
            </a:r>
          </a:p>
          <a:p>
            <a:r>
              <a:rPr lang="en-US" dirty="0"/>
              <a:t>Experiment and Result</a:t>
            </a:r>
          </a:p>
          <a:p>
            <a:r>
              <a:rPr lang="en-US" dirty="0"/>
              <a:t>Conclusion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D93E95-E5CD-50CE-F7C6-5C596851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73531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8FF4-D9AC-CF0E-EDF1-69A869764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29C4A9-D78E-F47B-7B65-F8770A849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Method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ID-Aware Query-based Contrastive Learning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Mutual Information-based Dual Decoupling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Alternative Text-Input with Style Control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Training Loss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Experiment and Result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E97D9B-554F-6403-31A6-C5C4ED73D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541925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97E29-3555-D16B-0D22-A6DF6D871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308A6D-A5AF-CB52-A678-12CDDD05C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Voice Conversion (VC) aims to change the speaker identity in speech from a source speaker to that of a target speaker, while preserving the linguistic content.</a:t>
            </a:r>
          </a:p>
          <a:p>
            <a:endParaRPr lang="en-US" dirty="0"/>
          </a:p>
          <a:p>
            <a:r>
              <a:rPr lang="en-US" dirty="0">
                <a:solidFill>
                  <a:srgbClr val="FF9500"/>
                </a:solidFill>
              </a:rPr>
              <a:t>Zero-Shot Face-based Voice Conversion</a:t>
            </a:r>
            <a:r>
              <a:rPr lang="en-US" dirty="0"/>
              <a:t> is explored.</a:t>
            </a:r>
          </a:p>
          <a:p>
            <a:endParaRPr lang="en-US" dirty="0"/>
          </a:p>
          <a:p>
            <a:r>
              <a:rPr lang="en-US" dirty="0"/>
              <a:t>Application</a:t>
            </a:r>
          </a:p>
          <a:p>
            <a:pPr lvl="1"/>
            <a:r>
              <a:rPr lang="en-US" dirty="0"/>
              <a:t>Automated film dubbing</a:t>
            </a:r>
          </a:p>
          <a:p>
            <a:pPr lvl="1"/>
            <a:r>
              <a:rPr lang="en-US" dirty="0"/>
              <a:t>Personalized virtual assistants(e.g., </a:t>
            </a:r>
            <a:r>
              <a:rPr lang="en-US" dirty="0" err="1"/>
              <a:t>siri</a:t>
            </a:r>
            <a:r>
              <a:rPr lang="en-US" dirty="0"/>
              <a:t>, </a:t>
            </a:r>
            <a:r>
              <a:rPr lang="en-US" dirty="0" err="1"/>
              <a:t>bixby</a:t>
            </a:r>
            <a:r>
              <a:rPr lang="en-US" dirty="0"/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9688A2-3473-B9BA-0955-C0052ABB1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Face-based Voice Conversion</a:t>
            </a:r>
          </a:p>
        </p:txBody>
      </p:sp>
    </p:spTree>
    <p:extLst>
      <p:ext uri="{BB962C8B-B14F-4D97-AF65-F5344CB8AC3E}">
        <p14:creationId xmlns:p14="http://schemas.microsoft.com/office/powerpoint/2010/main" val="2742324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1FFB7-9FAE-E039-7BC4-43D96C371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56F485-6886-CD98-8CA6-50DF1C6C9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9" y="1304764"/>
            <a:ext cx="11502033" cy="4772814"/>
          </a:xfrm>
        </p:spPr>
        <p:txBody>
          <a:bodyPr>
            <a:normAutofit/>
          </a:bodyPr>
          <a:lstStyle/>
          <a:p>
            <a:r>
              <a:rPr lang="en-US" sz="2200" b="1" dirty="0"/>
              <a:t>The fundamental challenge </a:t>
            </a:r>
            <a:r>
              <a:rPr lang="en-US" sz="2200" dirty="0"/>
              <a:t>is to accurately </a:t>
            </a:r>
            <a:r>
              <a:rPr lang="en-US" sz="2200" dirty="0">
                <a:solidFill>
                  <a:srgbClr val="FF3B30"/>
                </a:solidFill>
              </a:rPr>
              <a:t>map identity information between faces and voices</a:t>
            </a:r>
            <a:r>
              <a:rPr lang="en-US" sz="2200" dirty="0"/>
              <a:t>.</a:t>
            </a:r>
          </a:p>
          <a:p>
            <a:endParaRPr lang="en-US" sz="2200" dirty="0"/>
          </a:p>
          <a:p>
            <a:pPr marL="857250" lvl="1" indent="-457200">
              <a:buFont typeface="+mj-lt"/>
              <a:buAutoNum type="arabicPeriod"/>
            </a:pPr>
            <a:r>
              <a:rPr lang="en-US" b="1" dirty="0">
                <a:solidFill>
                  <a:srgbClr val="0E429D"/>
                </a:solidFill>
              </a:rPr>
              <a:t>Acquisition of facial embeddings</a:t>
            </a:r>
            <a:r>
              <a:rPr lang="en-US" b="1" dirty="0"/>
              <a:t> that are well-aligned with the speaker’s voice identity</a:t>
            </a:r>
          </a:p>
          <a:p>
            <a:pPr marL="1257300" lvl="2" indent="-457200"/>
            <a:r>
              <a:rPr lang="en-US" dirty="0"/>
              <a:t>Now, focus on general facial features rather than speaker-specific features(FVMVC, </a:t>
            </a:r>
            <a:r>
              <a:rPr lang="en-US" dirty="0" err="1"/>
              <a:t>FaceVC</a:t>
            </a:r>
            <a:r>
              <a:rPr lang="en-US" dirty="0"/>
              <a:t>)</a:t>
            </a:r>
          </a:p>
          <a:p>
            <a:pPr marL="1257300" lvl="2" indent="-457200">
              <a:buFont typeface="Wingdings" pitchFamily="2" charset="2"/>
              <a:buChar char="Ø"/>
            </a:pPr>
            <a:r>
              <a:rPr lang="en-US" dirty="0"/>
              <a:t>the models become highly dependent on the training data and lack the ability to locate unique voice characteristics among different speakers</a:t>
            </a:r>
          </a:p>
          <a:p>
            <a:pPr marL="1257300" lvl="2" indent="-457200">
              <a:buFont typeface="Wingdings" pitchFamily="2" charset="2"/>
              <a:buChar char="Ø"/>
            </a:pPr>
            <a:endParaRPr lang="en-US" dirty="0"/>
          </a:p>
          <a:p>
            <a:pPr marL="857250" lvl="1" indent="-457200">
              <a:buFont typeface="+mj-lt"/>
              <a:buAutoNum type="arabicPeriod"/>
            </a:pPr>
            <a:r>
              <a:rPr lang="en-US" b="1" dirty="0">
                <a:solidFill>
                  <a:srgbClr val="0E429D"/>
                </a:solidFill>
              </a:rPr>
              <a:t>Decoupling of content and speaker identity information </a:t>
            </a:r>
            <a:r>
              <a:rPr lang="en-US" b="1" dirty="0"/>
              <a:t>from the audio input</a:t>
            </a:r>
          </a:p>
          <a:p>
            <a:pPr marL="1257300" lvl="2" indent="-457200"/>
            <a:r>
              <a:rPr lang="en-US" dirty="0"/>
              <a:t>FVMVC use mixed supervision strategy</a:t>
            </a:r>
          </a:p>
          <a:p>
            <a:pPr marL="1257300" lvl="2" indent="-457200"/>
            <a:r>
              <a:rPr lang="en-US" dirty="0"/>
              <a:t>However, in practical scenarios, it is often difficult to acquire adequate and balanced supervision</a:t>
            </a:r>
          </a:p>
          <a:p>
            <a:pPr marL="1257300" lvl="2" indent="-457200">
              <a:buFont typeface="Wingdings" pitchFamily="2" charset="2"/>
              <a:buChar char="Ø"/>
            </a:pPr>
            <a:r>
              <a:rPr lang="en-US" dirty="0"/>
              <a:t>Lead to suboptimal decoupling performance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33A404-4160-9136-89F3-27CFB5518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</p:spTree>
    <p:extLst>
      <p:ext uri="{BB962C8B-B14F-4D97-AF65-F5344CB8AC3E}">
        <p14:creationId xmlns:p14="http://schemas.microsoft.com/office/powerpoint/2010/main" val="2859498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E2844-E2C6-30D1-3CB9-25146609A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638D58-FA9C-56E1-67AA-6FD38E58E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232425"/>
                </a:solidFill>
              </a:rPr>
              <a:t>We design </a:t>
            </a:r>
            <a:r>
              <a:rPr lang="en-US" b="1" dirty="0">
                <a:solidFill>
                  <a:srgbClr val="232425"/>
                </a:solidFill>
              </a:rPr>
              <a:t>an Identity-Aware Query-based Contrastive Learning (IAQ-CL) module </a:t>
            </a:r>
          </a:p>
          <a:p>
            <a:pPr lvl="1"/>
            <a:r>
              <a:rPr lang="en-US" dirty="0">
                <a:solidFill>
                  <a:srgbClr val="232425"/>
                </a:solidFill>
              </a:rPr>
              <a:t>Instead of adopting static encoding methods</a:t>
            </a:r>
          </a:p>
          <a:p>
            <a:pPr lvl="1"/>
            <a:r>
              <a:rPr lang="en-US" dirty="0">
                <a:solidFill>
                  <a:srgbClr val="232425"/>
                </a:solidFill>
              </a:rPr>
              <a:t>Precisely extract the most identity-relevant facial features.</a:t>
            </a:r>
          </a:p>
          <a:p>
            <a:endParaRPr lang="en-US" dirty="0">
              <a:solidFill>
                <a:srgbClr val="232425"/>
              </a:solidFill>
              <a:effectLst/>
            </a:endParaRPr>
          </a:p>
          <a:p>
            <a:r>
              <a:rPr lang="en-US" b="1" dirty="0">
                <a:solidFill>
                  <a:srgbClr val="232425"/>
                </a:solidFill>
                <a:effectLst/>
              </a:rPr>
              <a:t>Identity-Aware Query-based Contrastive Learning (IAQ-CL) Module</a:t>
            </a:r>
          </a:p>
          <a:p>
            <a:pPr lvl="1">
              <a:lnSpc>
                <a:spcPts val="2100"/>
              </a:lnSpc>
              <a:spcBef>
                <a:spcPts val="600"/>
              </a:spcBef>
              <a:spcAft>
                <a:spcPts val="900"/>
              </a:spcAft>
            </a:pPr>
            <a:r>
              <a:rPr lang="en-US" b="1" dirty="0">
                <a:solidFill>
                  <a:srgbClr val="232425"/>
                </a:solidFill>
                <a:effectLst/>
              </a:rPr>
              <a:t>Self-Adaptive Face-Prompted </a:t>
            </a:r>
            <a:r>
              <a:rPr lang="en-US" b="1" dirty="0" err="1">
                <a:solidFill>
                  <a:srgbClr val="232425"/>
                </a:solidFill>
                <a:effectLst/>
              </a:rPr>
              <a:t>QFormer</a:t>
            </a:r>
            <a:r>
              <a:rPr lang="en-US" b="1" dirty="0">
                <a:solidFill>
                  <a:srgbClr val="232425"/>
                </a:solidFill>
                <a:effectLst/>
              </a:rPr>
              <a:t> (SAFPQ)</a:t>
            </a:r>
          </a:p>
          <a:p>
            <a:pPr lvl="2" indent="-2857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232425"/>
                </a:solidFill>
                <a:effectLst/>
              </a:rPr>
              <a:t>Employs learnable self-adaptive face prompts.</a:t>
            </a:r>
          </a:p>
          <a:p>
            <a:pPr lvl="2" indent="-2857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232425"/>
                </a:solidFill>
                <a:effectLst/>
              </a:rPr>
              <a:t>Queries identity-relevant features from a frozen CLIP visual encoder (Radford et al., 2021).</a:t>
            </a:r>
          </a:p>
          <a:p>
            <a:pPr lvl="1">
              <a:lnSpc>
                <a:spcPts val="2100"/>
              </a:lnSpc>
              <a:spcBef>
                <a:spcPts val="600"/>
              </a:spcBef>
              <a:spcAft>
                <a:spcPts val="900"/>
              </a:spcAft>
            </a:pPr>
            <a:r>
              <a:rPr lang="en-US" b="1" dirty="0">
                <a:solidFill>
                  <a:srgbClr val="232425"/>
                </a:solidFill>
                <a:effectLst/>
              </a:rPr>
              <a:t>Contrastive Learning</a:t>
            </a:r>
            <a:r>
              <a:rPr lang="en-US" dirty="0">
                <a:solidFill>
                  <a:srgbClr val="232425"/>
                </a:solidFill>
                <a:effectLst/>
              </a:rPr>
              <a:t> with identity features extracted from audio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258361-B0C9-CA89-CB76-47CC841C5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Address Challenge 1</a:t>
            </a:r>
          </a:p>
        </p:txBody>
      </p:sp>
    </p:spTree>
    <p:extLst>
      <p:ext uri="{BB962C8B-B14F-4D97-AF65-F5344CB8AC3E}">
        <p14:creationId xmlns:p14="http://schemas.microsoft.com/office/powerpoint/2010/main" val="2628548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CD802-05CE-8474-18D1-AECDCCDB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6423E3-5D9E-7630-C5A3-24C19A811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E0E0E"/>
                </a:solidFill>
                <a:effectLst/>
              </a:rPr>
              <a:t>We propose a novel </a:t>
            </a:r>
            <a:r>
              <a:rPr lang="en-US" b="1" dirty="0">
                <a:solidFill>
                  <a:srgbClr val="0E0E0E"/>
                </a:solidFill>
                <a:effectLst/>
              </a:rPr>
              <a:t>Mutual Information-based Dual Decoupling (MIDD) module</a:t>
            </a:r>
            <a:r>
              <a:rPr lang="en-US" dirty="0">
                <a:solidFill>
                  <a:srgbClr val="0E0E0E"/>
                </a:solidFill>
                <a:effectLst/>
              </a:rPr>
              <a:t> </a:t>
            </a:r>
          </a:p>
          <a:p>
            <a:pPr lvl="1"/>
            <a:r>
              <a:rPr lang="en-US" dirty="0">
                <a:solidFill>
                  <a:srgbClr val="0E0E0E"/>
                </a:solidFill>
                <a:effectLst/>
              </a:rPr>
              <a:t>Enhance feature purification by addressing overlapping information in speech features.</a:t>
            </a:r>
          </a:p>
          <a:p>
            <a:endParaRPr lang="en-US" dirty="0">
              <a:solidFill>
                <a:srgbClr val="0E0E0E"/>
              </a:solidFill>
            </a:endParaRPr>
          </a:p>
          <a:p>
            <a:r>
              <a:rPr lang="en-US" b="1" dirty="0">
                <a:solidFill>
                  <a:srgbClr val="0E0E0E"/>
                </a:solidFill>
                <a:effectLst/>
              </a:rPr>
              <a:t>Mutual Information-based Dual Decoupling (MIDD)</a:t>
            </a:r>
          </a:p>
          <a:p>
            <a:pPr lvl="1">
              <a:spcBef>
                <a:spcPts val="900"/>
              </a:spcBef>
            </a:pPr>
            <a:r>
              <a:rPr lang="en-US" b="1" dirty="0">
                <a:solidFill>
                  <a:srgbClr val="0E0E0E"/>
                </a:solidFill>
                <a:effectLst/>
              </a:rPr>
              <a:t>Speech Feature Decoupling</a:t>
            </a:r>
          </a:p>
          <a:p>
            <a:pPr lvl="2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</a:rPr>
              <a:t>D</a:t>
            </a:r>
            <a:r>
              <a:rPr lang="en-US" dirty="0">
                <a:solidFill>
                  <a:srgbClr val="0E0E0E"/>
                </a:solidFill>
                <a:effectLst/>
              </a:rPr>
              <a:t>ecomposes speech into subspaces representing different attributes.</a:t>
            </a:r>
          </a:p>
          <a:p>
            <a:pPr lvl="2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Minimizes overlap between the speaker identity and content features by Mutual Information (MI).</a:t>
            </a:r>
          </a:p>
          <a:p>
            <a:pPr lvl="1">
              <a:spcBef>
                <a:spcPts val="900"/>
              </a:spcBef>
            </a:pPr>
            <a:r>
              <a:rPr lang="en-US" b="1" dirty="0">
                <a:solidFill>
                  <a:srgbClr val="0E0E0E"/>
                </a:solidFill>
                <a:effectLst/>
              </a:rPr>
              <a:t>Fine-Grained Speaker Supervision</a:t>
            </a:r>
          </a:p>
          <a:p>
            <a:pPr lvl="2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Emphasizes subtle speaker distinctions.</a:t>
            </a:r>
          </a:p>
          <a:p>
            <a:pPr lvl="2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Prevents model collapse by leveraging speaker identity.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2FE22D-C538-D899-A9B6-06F794C18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Address Challenge </a:t>
            </a:r>
            <a:r>
              <a:rPr lang="en-US" altLang="ko-KR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501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ABF90-CA01-137B-1065-7639205A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A57D64-F612-D5AC-4CF6-B4BDBE7E4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E0E0E"/>
                </a:solidFill>
                <a:effectLst/>
              </a:rPr>
              <a:t>Additional Problem with Previous Approaches</a:t>
            </a:r>
          </a:p>
          <a:p>
            <a:pPr lvl="1"/>
            <a:r>
              <a:rPr lang="en-US" b="1" dirty="0">
                <a:solidFill>
                  <a:srgbClr val="0E0E0E"/>
                </a:solidFill>
                <a:effectLst/>
              </a:rPr>
              <a:t>Voice Input-Based Models</a:t>
            </a:r>
          </a:p>
          <a:p>
            <a:pPr lvl="2"/>
            <a:r>
              <a:rPr lang="en-US" dirty="0">
                <a:solidFill>
                  <a:srgbClr val="0E0E0E"/>
                </a:solidFill>
                <a:effectLst/>
              </a:rPr>
              <a:t>Reference audio is </a:t>
            </a:r>
            <a:r>
              <a:rPr lang="en-US" dirty="0">
                <a:solidFill>
                  <a:srgbClr val="FF0000"/>
                </a:solidFill>
                <a:effectLst/>
              </a:rPr>
              <a:t>not always available</a:t>
            </a:r>
            <a:r>
              <a:rPr lang="en-US" b="1" dirty="0">
                <a:solidFill>
                  <a:srgbClr val="0E0E0E"/>
                </a:solidFill>
                <a:effectLst/>
              </a:rPr>
              <a:t> </a:t>
            </a:r>
            <a:r>
              <a:rPr lang="en-US" dirty="0">
                <a:solidFill>
                  <a:srgbClr val="0E0E0E"/>
                </a:solidFill>
                <a:effectLst/>
              </a:rPr>
              <a:t>in practical scenarios.</a:t>
            </a:r>
          </a:p>
          <a:p>
            <a:pPr lvl="2"/>
            <a:r>
              <a:rPr lang="en-US" dirty="0">
                <a:solidFill>
                  <a:srgbClr val="0E0E0E"/>
                </a:solidFill>
                <a:effectLst/>
              </a:rPr>
              <a:t>e.g., digital humans, historical figures</a:t>
            </a:r>
          </a:p>
          <a:p>
            <a:pPr lvl="1"/>
            <a:r>
              <a:rPr lang="en-US" b="1" dirty="0">
                <a:solidFill>
                  <a:srgbClr val="0E0E0E"/>
                </a:solidFill>
                <a:effectLst/>
              </a:rPr>
              <a:t>Text Input-Based Models</a:t>
            </a:r>
          </a:p>
          <a:p>
            <a:pPr lvl="2"/>
            <a:r>
              <a:rPr lang="en-US" dirty="0">
                <a:solidFill>
                  <a:srgbClr val="0E0E0E"/>
                </a:solidFill>
                <a:effectLst/>
              </a:rPr>
              <a:t>Lack the flexibility to manipulate speech style</a:t>
            </a:r>
            <a:endParaRPr lang="en-US" dirty="0">
              <a:solidFill>
                <a:srgbClr val="0E0E0E"/>
              </a:solidFill>
            </a:endParaRPr>
          </a:p>
          <a:p>
            <a:pPr lvl="2"/>
            <a:r>
              <a:rPr lang="en-US" dirty="0">
                <a:solidFill>
                  <a:srgbClr val="0E0E0E"/>
                </a:solidFill>
                <a:effectLst/>
              </a:rPr>
              <a:t>Often produce speech in a “</a:t>
            </a:r>
            <a:r>
              <a:rPr lang="en-US" dirty="0">
                <a:solidFill>
                  <a:srgbClr val="FF0000"/>
                </a:solidFill>
                <a:effectLst/>
              </a:rPr>
              <a:t>machine</a:t>
            </a:r>
            <a:r>
              <a:rPr lang="en-US" dirty="0">
                <a:solidFill>
                  <a:srgbClr val="0E0E0E"/>
                </a:solidFill>
                <a:effectLst/>
              </a:rPr>
              <a:t>” manner</a:t>
            </a:r>
          </a:p>
          <a:p>
            <a:pPr lvl="1"/>
            <a:endParaRPr lang="en-US" dirty="0">
              <a:solidFill>
                <a:srgbClr val="0E0E0E"/>
              </a:solidFill>
              <a:effectLst/>
            </a:endParaRPr>
          </a:p>
          <a:p>
            <a:r>
              <a:rPr lang="en-US" b="1" dirty="0">
                <a:solidFill>
                  <a:srgbClr val="0E0E0E"/>
                </a:solidFill>
                <a:effectLst/>
              </a:rPr>
              <a:t>Contribution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</a:rPr>
              <a:t>I</a:t>
            </a:r>
            <a:r>
              <a:rPr lang="en-US" dirty="0">
                <a:solidFill>
                  <a:srgbClr val="0E0E0E"/>
                </a:solidFill>
                <a:effectLst/>
              </a:rPr>
              <a:t>ncorporate </a:t>
            </a:r>
            <a:r>
              <a:rPr lang="en-US" b="1" dirty="0">
                <a:solidFill>
                  <a:srgbClr val="0E0E0E"/>
                </a:solidFill>
              </a:rPr>
              <a:t>t</a:t>
            </a:r>
            <a:r>
              <a:rPr lang="en-US" b="1" dirty="0">
                <a:solidFill>
                  <a:srgbClr val="0E0E0E"/>
                </a:solidFill>
                <a:effectLst/>
              </a:rPr>
              <a:t>ext as an alternative </a:t>
            </a:r>
            <a:r>
              <a:rPr lang="en-US" b="1" dirty="0">
                <a:solidFill>
                  <a:srgbClr val="0E0E0E"/>
                </a:solidFill>
              </a:rPr>
              <a:t>m</a:t>
            </a:r>
            <a:r>
              <a:rPr lang="en-US" b="1" dirty="0">
                <a:solidFill>
                  <a:srgbClr val="0E0E0E"/>
                </a:solidFill>
                <a:effectLst/>
              </a:rPr>
              <a:t>odality</a:t>
            </a:r>
            <a:r>
              <a:rPr lang="en-US" b="1" dirty="0">
                <a:solidFill>
                  <a:srgbClr val="0E0E0E"/>
                </a:solidFill>
              </a:rPr>
              <a:t> </a:t>
            </a:r>
            <a:r>
              <a:rPr lang="en-US" dirty="0">
                <a:solidFill>
                  <a:srgbClr val="0E0E0E"/>
                </a:solidFill>
                <a:effectLst/>
              </a:rPr>
              <a:t>during the inference stage.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Propose </a:t>
            </a:r>
            <a:r>
              <a:rPr lang="en-US" b="1" dirty="0">
                <a:solidFill>
                  <a:srgbClr val="0E0E0E"/>
                </a:solidFill>
                <a:effectLst/>
              </a:rPr>
              <a:t>a style-controllable </a:t>
            </a:r>
            <a:r>
              <a:rPr lang="en-US" b="1" dirty="0">
                <a:solidFill>
                  <a:srgbClr val="0E0E0E"/>
                </a:solidFill>
              </a:rPr>
              <a:t>s</a:t>
            </a:r>
            <a:r>
              <a:rPr lang="en-US" b="1" dirty="0">
                <a:solidFill>
                  <a:srgbClr val="0E0E0E"/>
                </a:solidFill>
                <a:effectLst/>
              </a:rPr>
              <a:t>trategy</a:t>
            </a:r>
            <a:r>
              <a:rPr lang="en-US" b="1" dirty="0">
                <a:solidFill>
                  <a:srgbClr val="0E0E0E"/>
                </a:solidFill>
              </a:rPr>
              <a:t> </a:t>
            </a:r>
            <a:r>
              <a:rPr lang="en-US" dirty="0">
                <a:solidFill>
                  <a:srgbClr val="0E0E0E"/>
                </a:solidFill>
              </a:rPr>
              <a:t>to c</a:t>
            </a:r>
            <a:r>
              <a:rPr lang="en-US" dirty="0">
                <a:solidFill>
                  <a:srgbClr val="0E0E0E"/>
                </a:solidFill>
                <a:effectLst/>
              </a:rPr>
              <a:t>ontrol over </a:t>
            </a:r>
            <a:r>
              <a:rPr lang="en-US" b="1" dirty="0">
                <a:solidFill>
                  <a:srgbClr val="0E0E0E"/>
                </a:solidFill>
                <a:effectLst/>
              </a:rPr>
              <a:t>emotion</a:t>
            </a:r>
            <a:r>
              <a:rPr lang="en-US" dirty="0">
                <a:solidFill>
                  <a:srgbClr val="0E0E0E"/>
                </a:solidFill>
                <a:effectLst/>
              </a:rPr>
              <a:t> and </a:t>
            </a:r>
            <a:r>
              <a:rPr lang="en-US" b="1" dirty="0">
                <a:solidFill>
                  <a:srgbClr val="0E0E0E"/>
                </a:solidFill>
                <a:effectLst/>
              </a:rPr>
              <a:t>speed of speech</a:t>
            </a:r>
            <a:r>
              <a:rPr lang="en-US" dirty="0">
                <a:solidFill>
                  <a:srgbClr val="0E0E0E"/>
                </a:solidFill>
                <a:effectLst/>
              </a:rPr>
              <a:t>.</a:t>
            </a:r>
          </a:p>
          <a:p>
            <a:pPr lvl="1">
              <a:spcBef>
                <a:spcPts val="900"/>
              </a:spcBef>
              <a:buFont typeface="Wingdings" pitchFamily="2" charset="2"/>
              <a:buChar char="Ø"/>
            </a:pPr>
            <a:r>
              <a:rPr lang="en-US" dirty="0">
                <a:solidFill>
                  <a:srgbClr val="0E0E0E"/>
                </a:solidFill>
                <a:effectLst/>
              </a:rPr>
              <a:t>Enables the </a:t>
            </a:r>
            <a:r>
              <a:rPr lang="en-US" b="1" dirty="0">
                <a:solidFill>
                  <a:srgbClr val="0E429D"/>
                </a:solidFill>
                <a:effectLst/>
              </a:rPr>
              <a:t>generation of natural, rhythmical, and controllable speech </a:t>
            </a:r>
            <a:r>
              <a:rPr lang="en-US" dirty="0">
                <a:solidFill>
                  <a:srgbClr val="0E0E0E"/>
                </a:solidFill>
                <a:effectLst/>
              </a:rPr>
              <a:t>from text.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22CF67-5E7F-84A1-89E2-7EE880830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E0E0E"/>
                </a:solidFill>
                <a:effectLst/>
              </a:rPr>
              <a:t>Text-Based Speech Generation with Style Control</a:t>
            </a:r>
          </a:p>
        </p:txBody>
      </p:sp>
    </p:spTree>
    <p:extLst>
      <p:ext uri="{BB962C8B-B14F-4D97-AF65-F5344CB8AC3E}">
        <p14:creationId xmlns:p14="http://schemas.microsoft.com/office/powerpoint/2010/main" val="1401877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37ECD-C94A-A884-4620-51F62D3B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DBE81D-31EA-B031-6A40-FB67BB520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dirty="0"/>
              <a:t>Method</a:t>
            </a:r>
          </a:p>
          <a:p>
            <a:pPr lvl="1"/>
            <a:r>
              <a:rPr lang="en-US" dirty="0"/>
              <a:t>ID-Aware Query-based Contrastive Learning</a:t>
            </a:r>
          </a:p>
          <a:p>
            <a:pPr lvl="1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Mutual Information-based Dual Decoupling</a:t>
            </a:r>
            <a:endParaRPr lang="en-US" dirty="0"/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Alternative Text-Input with Style Control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Training Loss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Experiment and Result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0D95B-4F8A-2D58-9723-63EF2281E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673821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E3F7E-15EB-1B4E-EB2C-78BD4292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103045-A4CB-1253-E4BC-1B18EB808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E0E0E"/>
                </a:solidFill>
                <a:effectLst/>
              </a:rPr>
              <a:t>ID-</a:t>
            </a:r>
            <a:r>
              <a:rPr lang="en-US" dirty="0" err="1">
                <a:solidFill>
                  <a:srgbClr val="0E0E0E"/>
                </a:solidFill>
                <a:effectLst/>
              </a:rPr>
              <a:t>FaceVC</a:t>
            </a:r>
            <a:r>
              <a:rPr lang="en-US" dirty="0">
                <a:solidFill>
                  <a:srgbClr val="0E0E0E"/>
                </a:solidFill>
                <a:effectLst/>
              </a:rPr>
              <a:t> employs an </a:t>
            </a:r>
            <a:r>
              <a:rPr lang="en-US" b="1" dirty="0">
                <a:solidFill>
                  <a:srgbClr val="0E0E0E"/>
                </a:solidFill>
                <a:effectLst/>
              </a:rPr>
              <a:t>end-to-end training </a:t>
            </a:r>
            <a:r>
              <a:rPr lang="en-US" dirty="0">
                <a:solidFill>
                  <a:srgbClr val="0E0E0E"/>
                </a:solidFill>
                <a:effectLst/>
              </a:rPr>
              <a:t>approach</a:t>
            </a:r>
            <a:r>
              <a:rPr lang="en-US" altLang="ko-KR" dirty="0">
                <a:solidFill>
                  <a:srgbClr val="0E0E0E"/>
                </a:solidFill>
                <a:effectLst/>
              </a:rPr>
              <a:t>.</a:t>
            </a:r>
            <a:endParaRPr lang="en-US" dirty="0">
              <a:solidFill>
                <a:srgbClr val="0E0E0E"/>
              </a:solidFill>
              <a:effectLst/>
            </a:endParaRPr>
          </a:p>
          <a:p>
            <a:endParaRPr lang="en-US" dirty="0"/>
          </a:p>
          <a:p>
            <a:r>
              <a:rPr lang="en-US" b="1" dirty="0">
                <a:solidFill>
                  <a:srgbClr val="0E0E0E"/>
                </a:solidFill>
                <a:effectLst/>
              </a:rPr>
              <a:t>Main Components</a:t>
            </a:r>
          </a:p>
          <a:p>
            <a:pPr marL="857250" lvl="1" indent="-457200">
              <a:spcBef>
                <a:spcPts val="9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E0E0E"/>
                </a:solidFill>
                <a:effectLst/>
              </a:rPr>
              <a:t>ID-Aware Query-based Contrastive Learning Module</a:t>
            </a:r>
          </a:p>
          <a:p>
            <a:pPr marL="1257300" lvl="2" indent="-457200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Aligns facial features with voice identity.</a:t>
            </a:r>
          </a:p>
          <a:p>
            <a:pPr marL="857250" lvl="1" indent="-457200">
              <a:spcBef>
                <a:spcPts val="9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E0E0E"/>
                </a:solidFill>
                <a:effectLst/>
              </a:rPr>
              <a:t>Mutual Information-based Dual Decoupling Module</a:t>
            </a:r>
          </a:p>
          <a:p>
            <a:pPr marL="1257300" lvl="2" indent="-457200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Separates content and speaker identity in audio input.</a:t>
            </a:r>
          </a:p>
          <a:p>
            <a:pPr marL="857250" lvl="1" indent="-457200">
              <a:spcBef>
                <a:spcPts val="9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E0E0E"/>
                </a:solidFill>
                <a:effectLst/>
              </a:rPr>
              <a:t>Alternative Text-Input with Style Control Module</a:t>
            </a:r>
          </a:p>
          <a:p>
            <a:pPr marL="1257300" lvl="2" indent="-457200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Allows text-based input with emotion and speed control.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08520A-7A94-1F50-B14E-EAC4F123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3177486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033EE-E4DA-F738-4122-8F80119C7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26503D-6B43-892A-5FA9-817CEB5D6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>
              <a:solidFill>
                <a:srgbClr val="0E0E0E"/>
              </a:solidFill>
              <a:effectLst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6D5393-3E83-F5F7-9B1F-A5258F1FE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E0E0E"/>
                </a:solidFill>
                <a:effectLst/>
              </a:rPr>
              <a:t>Architecture of the proposed ID-</a:t>
            </a:r>
            <a:r>
              <a:rPr lang="en-US" dirty="0" err="1">
                <a:solidFill>
                  <a:srgbClr val="0E0E0E"/>
                </a:solidFill>
                <a:effectLst/>
              </a:rPr>
              <a:t>FaceVC</a:t>
            </a:r>
            <a:endParaRPr lang="en-US" dirty="0">
              <a:solidFill>
                <a:srgbClr val="0E0E0E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711CEC-47F6-F0EA-43EC-4BA995137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22" y="1304764"/>
            <a:ext cx="10703156" cy="4772814"/>
          </a:xfrm>
          <a:prstGeom prst="rect">
            <a:avLst/>
          </a:prstGeom>
        </p:spPr>
      </p:pic>
      <p:sp>
        <p:nvSpPr>
          <p:cNvPr id="9" name="直線コネクタ 8">
            <a:extLst>
              <a:ext uri="{FF2B5EF4-FFF2-40B4-BE49-F238E27FC236}">
                <a16:creationId xmlns:a16="http://schemas.microsoft.com/office/drawing/2014/main" id="{15B03C3C-A855-4744-BD13-1A326BE0A92C}"/>
              </a:ext>
            </a:extLst>
          </p:cNvPr>
          <p:cNvSpPr/>
          <p:nvPr/>
        </p:nvSpPr>
        <p:spPr>
          <a:xfrm>
            <a:off x="5371070" y="5640660"/>
            <a:ext cx="5601729" cy="0"/>
          </a:xfrm>
          <a:prstGeom prst="line">
            <a:avLst/>
          </a:prstGeom>
          <a:solidFill>
            <a:srgbClr val="FFFC00">
              <a:alpha val="5000"/>
            </a:srgbClr>
          </a:solidFill>
          <a:ln w="177800" cap="sq">
            <a:solidFill>
              <a:srgbClr val="FFFC00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zh-CN" altLang="en-US">
              <a:solidFill>
                <a:srgbClr val="FFFC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26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D4E81-41EA-AB90-4489-817876BC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5D92DC-D67E-0240-C85E-654194C99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E0E0E"/>
                </a:solidFill>
                <a:effectLst/>
              </a:rPr>
              <a:t>Purpose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Extract </a:t>
            </a:r>
            <a:r>
              <a:rPr lang="en-US" dirty="0">
                <a:solidFill>
                  <a:srgbClr val="FF9500"/>
                </a:solidFill>
                <a:effectLst/>
              </a:rPr>
              <a:t>facial features </a:t>
            </a:r>
            <a:r>
              <a:rPr lang="en-US" dirty="0">
                <a:solidFill>
                  <a:srgbClr val="0E0E0E"/>
                </a:solidFill>
                <a:effectLst/>
              </a:rPr>
              <a:t>aligned with the </a:t>
            </a:r>
            <a:r>
              <a:rPr lang="en-US" dirty="0">
                <a:solidFill>
                  <a:srgbClr val="FF9500"/>
                </a:solidFill>
                <a:effectLst/>
              </a:rPr>
              <a:t>speaker’s voice identity</a:t>
            </a:r>
            <a:r>
              <a:rPr lang="en-US" dirty="0">
                <a:solidFill>
                  <a:srgbClr val="0E0E0E"/>
                </a:solidFill>
                <a:effectLst/>
              </a:rPr>
              <a:t>.</a:t>
            </a:r>
          </a:p>
          <a:p>
            <a:endParaRPr lang="en-US" dirty="0">
              <a:solidFill>
                <a:srgbClr val="0E0E0E"/>
              </a:solidFill>
              <a:effectLst/>
            </a:endParaRPr>
          </a:p>
          <a:p>
            <a:r>
              <a:rPr lang="en-US" b="1" dirty="0">
                <a:solidFill>
                  <a:srgbClr val="0E0E0E"/>
                </a:solidFill>
                <a:effectLst/>
              </a:rPr>
              <a:t>Key Components</a:t>
            </a:r>
          </a:p>
          <a:p>
            <a:pPr marL="857250" lvl="1" indent="-457200">
              <a:spcBef>
                <a:spcPts val="9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E0E0E"/>
                </a:solidFill>
                <a:effectLst/>
              </a:rPr>
              <a:t>Self-Adaptive Face-Prompted </a:t>
            </a:r>
            <a:r>
              <a:rPr lang="en-US" b="1" dirty="0" err="1">
                <a:solidFill>
                  <a:srgbClr val="0E0E0E"/>
                </a:solidFill>
                <a:effectLst/>
              </a:rPr>
              <a:t>QFormer</a:t>
            </a:r>
            <a:endParaRPr lang="en-US" b="1" dirty="0">
              <a:solidFill>
                <a:srgbClr val="0E0E0E"/>
              </a:solidFill>
            </a:endParaRPr>
          </a:p>
          <a:p>
            <a:pPr lvl="2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Adapts facial features dynamically for better voice identity alignment.</a:t>
            </a:r>
          </a:p>
          <a:p>
            <a:pPr marL="857250" lvl="1" indent="-457200">
              <a:spcBef>
                <a:spcPts val="9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E0E0E"/>
                </a:solidFill>
                <a:effectLst/>
              </a:rPr>
              <a:t>Face-Related Speaker Identity Supervision</a:t>
            </a:r>
          </a:p>
          <a:p>
            <a:pPr lvl="2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Ensures accurate mapping between facial features and speaker identity.</a:t>
            </a:r>
          </a:p>
          <a:p>
            <a:endParaRPr lang="en-US" dirty="0">
              <a:solidFill>
                <a:srgbClr val="0E0E0E"/>
              </a:solidFill>
            </a:endParaRPr>
          </a:p>
          <a:p>
            <a:r>
              <a:rPr lang="en-US" b="1" dirty="0">
                <a:solidFill>
                  <a:srgbClr val="0E0E0E"/>
                </a:solidFill>
                <a:effectLst/>
              </a:rPr>
              <a:t>Outcome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Enhanced feature alignment for natural and accurate voice conversion.</a:t>
            </a:r>
          </a:p>
          <a:p>
            <a:endParaRPr lang="en-US" dirty="0">
              <a:solidFill>
                <a:srgbClr val="0E0E0E"/>
              </a:solidFill>
              <a:effectLst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4EF8BC-4352-FA4F-B12C-F4D9B957A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E0E0E"/>
                </a:solidFill>
                <a:effectLst/>
              </a:rPr>
              <a:t>ID-Aware Query-based Contrastive Learning</a:t>
            </a:r>
          </a:p>
        </p:txBody>
      </p:sp>
    </p:spTree>
    <p:extLst>
      <p:ext uri="{BB962C8B-B14F-4D97-AF65-F5344CB8AC3E}">
        <p14:creationId xmlns:p14="http://schemas.microsoft.com/office/powerpoint/2010/main" val="3842612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FE614-18D8-6B5E-AC09-4FD622F21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7CC8FC-9A89-833E-D23F-C6E888722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US" b="1" dirty="0">
                <a:solidFill>
                  <a:srgbClr val="0E0E0E"/>
                </a:solidFill>
                <a:effectLst/>
              </a:rPr>
              <a:t>CNN-based Limitations</a:t>
            </a:r>
            <a:r>
              <a:rPr lang="en-US" dirty="0">
                <a:solidFill>
                  <a:srgbClr val="0E0E0E"/>
                </a:solidFill>
                <a:effectLst/>
              </a:rPr>
              <a:t>: Struggles with the diversity of facial features.</a:t>
            </a:r>
          </a:p>
          <a:p>
            <a:pPr>
              <a:spcBef>
                <a:spcPts val="900"/>
              </a:spcBef>
            </a:pPr>
            <a:endParaRPr lang="en-US" dirty="0">
              <a:solidFill>
                <a:srgbClr val="0E0E0E"/>
              </a:solidFill>
            </a:endParaRPr>
          </a:p>
          <a:p>
            <a:r>
              <a:rPr lang="en-US" b="1" dirty="0">
                <a:solidFill>
                  <a:srgbClr val="0E0E0E"/>
                </a:solidFill>
                <a:effectLst/>
              </a:rPr>
              <a:t>Approach</a:t>
            </a:r>
          </a:p>
          <a:p>
            <a:pPr marL="857250" lvl="1" indent="-457200">
              <a:spcBef>
                <a:spcPts val="9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E0E0E"/>
                </a:solidFill>
                <a:effectLst/>
              </a:rPr>
              <a:t>Frozen CLIP Visual Encoder</a:t>
            </a:r>
          </a:p>
          <a:p>
            <a:pPr lvl="2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Uses a pretrained CLIP (Radford et al. 2021) model to extract robust facial features.</a:t>
            </a:r>
          </a:p>
          <a:p>
            <a:pPr marL="857250" lvl="1" indent="-457200">
              <a:spcBef>
                <a:spcPts val="9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E0E0E"/>
                </a:solidFill>
                <a:effectLst/>
              </a:rPr>
              <a:t>Frame-wise Visual Embedding Averaging</a:t>
            </a:r>
          </a:p>
          <a:p>
            <a:pPr lvl="2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Computes the arithmetic mean of embeddings across frames.</a:t>
            </a:r>
          </a:p>
          <a:p>
            <a:pPr lvl="2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Avoids sampling bias by eliminating dependence on a single frame.</a:t>
            </a:r>
          </a:p>
          <a:p>
            <a:pPr>
              <a:spcBef>
                <a:spcPts val="900"/>
              </a:spcBef>
            </a:pPr>
            <a:endParaRPr lang="en-US" dirty="0">
              <a:solidFill>
                <a:srgbClr val="0E0E0E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776662-EF8D-7611-14E4-AF9FC81CB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E0E0E"/>
                </a:solidFill>
              </a:rPr>
              <a:t>Using CLIP as Face Encoder</a:t>
            </a:r>
            <a:endParaRPr lang="en-US" dirty="0">
              <a:solidFill>
                <a:srgbClr val="0E0E0E"/>
              </a:solidFill>
              <a:effectLst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6CD57CA-97E0-94FE-560C-B328FC6A76FE}"/>
              </a:ext>
            </a:extLst>
          </p:cNvPr>
          <p:cNvGrpSpPr/>
          <p:nvPr/>
        </p:nvGrpSpPr>
        <p:grpSpPr>
          <a:xfrm>
            <a:off x="9510055" y="1529274"/>
            <a:ext cx="2058553" cy="3797023"/>
            <a:chOff x="9510055" y="1529274"/>
            <a:chExt cx="2058553" cy="3797023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08A21D9-E59C-95E3-0E4C-08476C57B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510055" y="2145461"/>
              <a:ext cx="2058553" cy="318083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C142251-6794-01EC-C524-A6A385791C2C}"/>
                    </a:ext>
                  </a:extLst>
                </p:cNvPr>
                <p:cNvSpPr txBox="1"/>
                <p:nvPr/>
              </p:nvSpPr>
              <p:spPr>
                <a:xfrm>
                  <a:off x="9834424" y="1529274"/>
                  <a:ext cx="1409814" cy="6842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𝑎𝑣𝑔</m:t>
                            </m:r>
                          </m:sup>
                        </m:sSubSup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C142251-6794-01EC-C524-A6A385791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4424" y="1529274"/>
                  <a:ext cx="1409814" cy="684226"/>
                </a:xfrm>
                <a:prstGeom prst="rect">
                  <a:avLst/>
                </a:prstGeom>
                <a:blipFill>
                  <a:blip r:embed="rId4"/>
                  <a:stretch>
                    <a:fillRect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F3C3376-758C-9896-ECD0-D744E20E2545}"/>
                    </a:ext>
                  </a:extLst>
                </p:cNvPr>
                <p:cNvSpPr txBox="1"/>
                <p:nvPr/>
              </p:nvSpPr>
              <p:spPr>
                <a:xfrm>
                  <a:off x="10098173" y="3144099"/>
                  <a:ext cx="88231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𝐶𝐿𝐼𝑃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  <a:latin typeface="Corbel" panose="020B0503020204020204" pitchFamily="34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F3C3376-758C-9896-ECD0-D744E20E25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98173" y="3144099"/>
                  <a:ext cx="882316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B9A5947-F2D9-88E9-6222-ED25B63B1BB5}"/>
                </a:ext>
              </a:extLst>
            </p:cNvPr>
            <p:cNvSpPr/>
            <p:nvPr/>
          </p:nvSpPr>
          <p:spPr>
            <a:xfrm>
              <a:off x="10980489" y="2143032"/>
              <a:ext cx="588119" cy="5241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D89EB03-CC13-D8B7-21D2-A64A1D97DC3F}"/>
                </a:ext>
              </a:extLst>
            </p:cNvPr>
            <p:cNvSpPr/>
            <p:nvPr/>
          </p:nvSpPr>
          <p:spPr>
            <a:xfrm>
              <a:off x="10980489" y="4122852"/>
              <a:ext cx="588119" cy="5241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CD59A79-8F27-2002-B21A-3EF7D10F2441}"/>
                </a:ext>
              </a:extLst>
            </p:cNvPr>
            <p:cNvSpPr/>
            <p:nvPr/>
          </p:nvSpPr>
          <p:spPr>
            <a:xfrm>
              <a:off x="9510055" y="3938337"/>
              <a:ext cx="2058553" cy="1845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9178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35925-1AC7-BC11-C935-B51065D0A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0D5294-9000-D3CD-2E19-47753F740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8335100" cy="477281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E0E0E"/>
                </a:solidFill>
                <a:effectLst/>
              </a:rPr>
              <a:t>CLIP Visual Features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High-dimensional and redundant.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Include </a:t>
            </a:r>
            <a:r>
              <a:rPr lang="en-US" b="1" dirty="0">
                <a:solidFill>
                  <a:srgbClr val="0E0E0E"/>
                </a:solidFill>
                <a:effectLst/>
              </a:rPr>
              <a:t>unnecessary information</a:t>
            </a:r>
            <a:r>
              <a:rPr lang="en-US" altLang="ko-KR" dirty="0">
                <a:solidFill>
                  <a:srgbClr val="0E0E0E"/>
                </a:solidFill>
              </a:rPr>
              <a:t>.</a:t>
            </a:r>
            <a:r>
              <a:rPr lang="en-US" dirty="0">
                <a:solidFill>
                  <a:srgbClr val="0E0E0E"/>
                </a:solidFill>
                <a:effectLst/>
              </a:rPr>
              <a:t> 				                 (e.g., facial expressions, head poses, backgrounds)</a:t>
            </a:r>
          </a:p>
          <a:p>
            <a:pPr lvl="1">
              <a:spcBef>
                <a:spcPts val="900"/>
              </a:spcBef>
            </a:pPr>
            <a:r>
              <a:rPr lang="en-US" b="1" dirty="0">
                <a:solidFill>
                  <a:srgbClr val="0E0E0E"/>
                </a:solidFill>
                <a:effectLst/>
              </a:rPr>
              <a:t>Small portion </a:t>
            </a:r>
            <a:r>
              <a:rPr lang="en-US" dirty="0">
                <a:solidFill>
                  <a:srgbClr val="0E0E0E"/>
                </a:solidFill>
                <a:effectLst/>
              </a:rPr>
              <a:t>related to speaker style.</a:t>
            </a:r>
          </a:p>
          <a:p>
            <a:pPr lvl="1">
              <a:spcBef>
                <a:spcPts val="900"/>
              </a:spcBef>
            </a:pPr>
            <a:endParaRPr lang="en-US" dirty="0">
              <a:solidFill>
                <a:srgbClr val="0E0E0E"/>
              </a:solidFill>
            </a:endParaRPr>
          </a:p>
          <a:p>
            <a:pPr>
              <a:spcBef>
                <a:spcPts val="900"/>
              </a:spcBef>
            </a:pPr>
            <a:r>
              <a:rPr lang="en-US" b="1" dirty="0">
                <a:solidFill>
                  <a:srgbClr val="0E0E0E"/>
                </a:solidFill>
                <a:effectLst/>
              </a:rPr>
              <a:t>Self-Adaptive Face-Prompted </a:t>
            </a:r>
            <a:r>
              <a:rPr lang="en-US" b="1" dirty="0" err="1">
                <a:solidFill>
                  <a:srgbClr val="0E0E0E"/>
                </a:solidFill>
                <a:effectLst/>
              </a:rPr>
              <a:t>QFormer</a:t>
            </a:r>
            <a:r>
              <a:rPr lang="en-US" b="1" dirty="0">
                <a:solidFill>
                  <a:srgbClr val="0E0E0E"/>
                </a:solidFill>
                <a:effectLst/>
              </a:rPr>
              <a:t> (SAFPQ)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Filters speech-relevant features from facial embeddings.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Acts as an information bottleneck, eliminating redundancy.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Enhances identity integration across face and voice domains.</a:t>
            </a:r>
          </a:p>
          <a:p>
            <a:pPr lvl="1">
              <a:spcBef>
                <a:spcPts val="900"/>
              </a:spcBef>
            </a:pPr>
            <a:endParaRPr lang="en-US" sz="100" dirty="0">
              <a:solidFill>
                <a:srgbClr val="0E0E0E"/>
              </a:solidFill>
            </a:endParaRPr>
          </a:p>
          <a:p>
            <a:pPr marL="0" indent="0">
              <a:spcBef>
                <a:spcPts val="900"/>
              </a:spcBef>
              <a:buNone/>
            </a:pPr>
            <a:r>
              <a:rPr lang="ko-KR" altLang="en-US" sz="1500" dirty="0">
                <a:solidFill>
                  <a:srgbClr val="0E0E0E"/>
                </a:solidFill>
                <a:effectLst/>
              </a:rPr>
              <a:t>*</a:t>
            </a:r>
            <a:r>
              <a:rPr lang="en-US" altLang="ko-KR" sz="1500" dirty="0">
                <a:solidFill>
                  <a:srgbClr val="0E0E0E"/>
                </a:solidFill>
                <a:effectLst/>
              </a:rPr>
              <a:t>information bottleneck: process of selectively passing on the important information and reducing the unnecessary.</a:t>
            </a:r>
            <a:endParaRPr lang="en-US" sz="1500" dirty="0">
              <a:solidFill>
                <a:srgbClr val="0E0E0E"/>
              </a:solidFill>
              <a:effectLst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35CBA7-CD03-4B9A-B5AF-8757FD753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E0E0E"/>
                </a:solidFill>
                <a:effectLst/>
              </a:rPr>
              <a:t>Self-Adaptive Face-Prompted </a:t>
            </a:r>
            <a:r>
              <a:rPr lang="en-US" dirty="0" err="1">
                <a:solidFill>
                  <a:srgbClr val="0E0E0E"/>
                </a:solidFill>
                <a:effectLst/>
              </a:rPr>
              <a:t>QFormer</a:t>
            </a:r>
            <a:endParaRPr lang="en-US" dirty="0">
              <a:solidFill>
                <a:srgbClr val="0E0E0E"/>
              </a:solidFill>
              <a:effectLst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87D263-683D-82C0-BF9F-7ADBE5C97023}"/>
              </a:ext>
            </a:extLst>
          </p:cNvPr>
          <p:cNvGrpSpPr/>
          <p:nvPr/>
        </p:nvGrpSpPr>
        <p:grpSpPr>
          <a:xfrm>
            <a:off x="8914450" y="1070242"/>
            <a:ext cx="2716848" cy="5157323"/>
            <a:chOff x="8914450" y="1070242"/>
            <a:chExt cx="2716848" cy="515732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3EA844E-4B9B-848E-4EFD-0D3A0660EA9D}"/>
                </a:ext>
              </a:extLst>
            </p:cNvPr>
            <p:cNvGrpSpPr/>
            <p:nvPr/>
          </p:nvGrpSpPr>
          <p:grpSpPr>
            <a:xfrm>
              <a:off x="9278608" y="3340130"/>
              <a:ext cx="1867246" cy="2887435"/>
              <a:chOff x="9510055" y="2143032"/>
              <a:chExt cx="2058553" cy="3183265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AA9DC546-855C-598E-CD10-23761AE161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510055" y="2145461"/>
                <a:ext cx="2058553" cy="318083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FA270FF0-0175-E0A3-5BFB-39D34242A459}"/>
                      </a:ext>
                    </a:extLst>
                  </p:cNvPr>
                  <p:cNvSpPr txBox="1"/>
                  <p:nvPr/>
                </p:nvSpPr>
                <p:spPr>
                  <a:xfrm>
                    <a:off x="10098173" y="3144099"/>
                    <a:ext cx="88231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𝐶𝐿𝐼𝑃</m:t>
                          </m:r>
                        </m:oMath>
                      </m:oMathPara>
                    </a14:m>
                    <a:endParaRPr lang="en-US" sz="2000" dirty="0">
                      <a:solidFill>
                        <a:schemeClr val="tx1"/>
                      </a:solidFill>
                      <a:latin typeface="Corbel" panose="020B0503020204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FA270FF0-0175-E0A3-5BFB-39D34242A4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98173" y="3144099"/>
                    <a:ext cx="882316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34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E79D527-0D52-3ADA-6A18-9C007C792BA8}"/>
                  </a:ext>
                </a:extLst>
              </p:cNvPr>
              <p:cNvSpPr/>
              <p:nvPr/>
            </p:nvSpPr>
            <p:spPr>
              <a:xfrm>
                <a:off x="10980489" y="2143032"/>
                <a:ext cx="588119" cy="524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735EFD-C903-FD49-480B-99A742914972}"/>
                  </a:ext>
                </a:extLst>
              </p:cNvPr>
              <p:cNvSpPr/>
              <p:nvPr/>
            </p:nvSpPr>
            <p:spPr>
              <a:xfrm>
                <a:off x="10980489" y="4122852"/>
                <a:ext cx="588119" cy="524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8292121-D173-886A-3161-8E7E7622A1BD}"/>
                  </a:ext>
                </a:extLst>
              </p:cNvPr>
              <p:cNvSpPr/>
              <p:nvPr/>
            </p:nvSpPr>
            <p:spPr>
              <a:xfrm>
                <a:off x="9510055" y="3938337"/>
                <a:ext cx="2058553" cy="1845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419251A-61D6-DD47-58AC-49474356E1B7}"/>
                </a:ext>
              </a:extLst>
            </p:cNvPr>
            <p:cNvGrpSpPr/>
            <p:nvPr/>
          </p:nvGrpSpPr>
          <p:grpSpPr>
            <a:xfrm rot="16200000">
              <a:off x="9208786" y="918721"/>
              <a:ext cx="2128175" cy="2716848"/>
              <a:chOff x="8012155" y="1548639"/>
              <a:chExt cx="3136902" cy="4004597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2CCB1BA5-9CFD-9EC3-BCE1-0FA54B2823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12155" y="1755936"/>
                <a:ext cx="3136900" cy="3797300"/>
              </a:xfrm>
              <a:prstGeom prst="rect">
                <a:avLst/>
              </a:prstGeom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99C13A0-3E90-491C-F730-5075EB602350}"/>
                  </a:ext>
                </a:extLst>
              </p:cNvPr>
              <p:cNvSpPr/>
              <p:nvPr/>
            </p:nvSpPr>
            <p:spPr>
              <a:xfrm>
                <a:off x="9965669" y="1755936"/>
                <a:ext cx="1183386" cy="1468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3B5FAD6-17FE-EE2C-ADA4-6FCB3E98AF93}"/>
                  </a:ext>
                </a:extLst>
              </p:cNvPr>
              <p:cNvSpPr/>
              <p:nvPr/>
            </p:nvSpPr>
            <p:spPr>
              <a:xfrm>
                <a:off x="10231245" y="1548639"/>
                <a:ext cx="917812" cy="87675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042A966-F2B6-0148-5FC5-5192719E9359}"/>
                  </a:ext>
                </a:extLst>
              </p:cNvPr>
              <p:cNvSpPr/>
              <p:nvPr/>
            </p:nvSpPr>
            <p:spPr>
              <a:xfrm>
                <a:off x="10493298" y="2425389"/>
                <a:ext cx="655757" cy="28268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CC3FCDD-670E-A0AD-F46E-1A07361C4C18}"/>
                </a:ext>
              </a:extLst>
            </p:cNvPr>
            <p:cNvGrpSpPr/>
            <p:nvPr/>
          </p:nvGrpSpPr>
          <p:grpSpPr>
            <a:xfrm>
              <a:off x="9519158" y="1070242"/>
              <a:ext cx="1309264" cy="587704"/>
              <a:chOff x="9226572" y="780422"/>
              <a:chExt cx="1894435" cy="850376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5119D1F9-4FB4-45B8-1945-583D423E76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11165"/>
              <a:stretch/>
            </p:blipFill>
            <p:spPr>
              <a:xfrm>
                <a:off x="9331480" y="780422"/>
                <a:ext cx="1612766" cy="798222"/>
              </a:xfrm>
              <a:prstGeom prst="rect">
                <a:avLst/>
              </a:prstGeom>
            </p:spPr>
          </p:pic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8F29902-0CA7-7F15-8FCD-CBB83DB5F3E0}"/>
                  </a:ext>
                </a:extLst>
              </p:cNvPr>
              <p:cNvSpPr/>
              <p:nvPr/>
            </p:nvSpPr>
            <p:spPr>
              <a:xfrm>
                <a:off x="9226572" y="1155398"/>
                <a:ext cx="594816" cy="475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B3ED990-ACC2-518B-F04D-DDEB2732B827}"/>
                  </a:ext>
                </a:extLst>
              </p:cNvPr>
              <p:cNvSpPr/>
              <p:nvPr/>
            </p:nvSpPr>
            <p:spPr>
              <a:xfrm>
                <a:off x="10526191" y="1155398"/>
                <a:ext cx="594816" cy="475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09A0B19-5E4B-1C21-D563-BA05871F56D0}"/>
                </a:ext>
              </a:extLst>
            </p:cNvPr>
            <p:cNvSpPr/>
            <p:nvPr/>
          </p:nvSpPr>
          <p:spPr>
            <a:xfrm>
              <a:off x="8922470" y="1750597"/>
              <a:ext cx="594816" cy="17113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8479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956B07-A882-51FB-100E-12D85438C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E0E0E"/>
                </a:solidFill>
                <a:effectLst/>
              </a:rPr>
              <a:t>Key Features</a:t>
            </a:r>
          </a:p>
          <a:p>
            <a:pPr marL="857250" lvl="1" indent="-457200">
              <a:spcBef>
                <a:spcPts val="9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E0E0E"/>
                </a:solidFill>
                <a:effectLst/>
              </a:rPr>
              <a:t>Enhanced Feature Filtering</a:t>
            </a:r>
          </a:p>
          <a:p>
            <a:pPr lvl="2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Extracts only identity-relevant features from facial embeddings.</a:t>
            </a:r>
          </a:p>
          <a:p>
            <a:pPr marL="857250" lvl="1" indent="-457200">
              <a:spcBef>
                <a:spcPts val="9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E0E0E"/>
                </a:solidFill>
                <a:effectLst/>
              </a:rPr>
              <a:t>Identity Cohesion</a:t>
            </a:r>
          </a:p>
          <a:p>
            <a:pPr lvl="2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Combines identity information from face and voice domains.</a:t>
            </a:r>
          </a:p>
          <a:p>
            <a:pPr lvl="2">
              <a:spcBef>
                <a:spcPts val="900"/>
              </a:spcBef>
            </a:pPr>
            <a:endParaRPr lang="en-US" dirty="0">
              <a:solidFill>
                <a:srgbClr val="0E0E0E"/>
              </a:solidFill>
            </a:endParaRPr>
          </a:p>
          <a:p>
            <a:r>
              <a:rPr lang="en-US" b="1" dirty="0">
                <a:solidFill>
                  <a:srgbClr val="0E0E0E"/>
                </a:solidFill>
                <a:effectLst/>
              </a:rPr>
              <a:t>Inference Stage</a:t>
            </a:r>
          </a:p>
          <a:p>
            <a:pPr lvl="1">
              <a:spcBef>
                <a:spcPts val="900"/>
              </a:spcBef>
            </a:pPr>
            <a:r>
              <a:rPr lang="en-US" b="1" dirty="0">
                <a:solidFill>
                  <a:srgbClr val="0E0E0E"/>
                </a:solidFill>
                <a:effectLst/>
              </a:rPr>
              <a:t>Self-Adaptive Face Prompts (SAFP)</a:t>
            </a:r>
          </a:p>
          <a:p>
            <a:pPr lvl="2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Dynamically retrieve identity-relevant features.</a:t>
            </a:r>
          </a:p>
          <a:p>
            <a:pPr lvl="2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</a:rPr>
              <a:t>Facilitate prediction of speaker’s style from unseen facial images.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DB2310-960D-A217-AB54-9D8D786FA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158" y="405701"/>
            <a:ext cx="11154700" cy="648000"/>
          </a:xfrm>
        </p:spPr>
        <p:txBody>
          <a:bodyPr/>
          <a:lstStyle/>
          <a:p>
            <a:r>
              <a:rPr lang="en-US" dirty="0">
                <a:solidFill>
                  <a:srgbClr val="0E0E0E"/>
                </a:solidFill>
                <a:effectLst/>
              </a:rPr>
              <a:t>Self-Adaptive Face-Prompted </a:t>
            </a:r>
            <a:r>
              <a:rPr lang="en-US" dirty="0" err="1">
                <a:solidFill>
                  <a:srgbClr val="0E0E0E"/>
                </a:solidFill>
                <a:effectLst/>
              </a:rPr>
              <a:t>QFormer</a:t>
            </a:r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4C2847E-7708-95CE-C8C4-92C06E9B252A}"/>
              </a:ext>
            </a:extLst>
          </p:cNvPr>
          <p:cNvGrpSpPr/>
          <p:nvPr/>
        </p:nvGrpSpPr>
        <p:grpSpPr>
          <a:xfrm>
            <a:off x="8922470" y="1070242"/>
            <a:ext cx="2708828" cy="5157323"/>
            <a:chOff x="8922470" y="1070242"/>
            <a:chExt cx="2708828" cy="515732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835CD35-FC12-1B4F-4AFB-73B59C1BD7F8}"/>
                </a:ext>
              </a:extLst>
            </p:cNvPr>
            <p:cNvGrpSpPr/>
            <p:nvPr/>
          </p:nvGrpSpPr>
          <p:grpSpPr>
            <a:xfrm>
              <a:off x="9278608" y="3340130"/>
              <a:ext cx="1867246" cy="2887435"/>
              <a:chOff x="9510055" y="2143032"/>
              <a:chExt cx="2058553" cy="3183265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DCADDA4D-E536-372C-4FD8-5DD4F4EC66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510055" y="2145461"/>
                <a:ext cx="2058553" cy="318083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32D7EB8-BCDA-A814-CD4A-FC1619A632CA}"/>
                      </a:ext>
                    </a:extLst>
                  </p:cNvPr>
                  <p:cNvSpPr txBox="1"/>
                  <p:nvPr/>
                </p:nvSpPr>
                <p:spPr>
                  <a:xfrm>
                    <a:off x="10098173" y="3144099"/>
                    <a:ext cx="88231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𝐶𝐿𝐼𝑃</m:t>
                          </m:r>
                        </m:oMath>
                      </m:oMathPara>
                    </a14:m>
                    <a:endParaRPr lang="en-US" sz="2000" dirty="0">
                      <a:solidFill>
                        <a:schemeClr val="tx1"/>
                      </a:solidFill>
                      <a:latin typeface="Corbel" panose="020B0503020204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32D7EB8-BCDA-A814-CD4A-FC1619A632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98173" y="3144099"/>
                    <a:ext cx="882316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34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C900072-3DA6-FB1E-0DCC-9F91347462EC}"/>
                  </a:ext>
                </a:extLst>
              </p:cNvPr>
              <p:cNvSpPr/>
              <p:nvPr/>
            </p:nvSpPr>
            <p:spPr>
              <a:xfrm>
                <a:off x="10980489" y="2143032"/>
                <a:ext cx="588119" cy="524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3DBA769-1395-6253-7326-881B134D12F8}"/>
                  </a:ext>
                </a:extLst>
              </p:cNvPr>
              <p:cNvSpPr/>
              <p:nvPr/>
            </p:nvSpPr>
            <p:spPr>
              <a:xfrm>
                <a:off x="10980489" y="4122852"/>
                <a:ext cx="588119" cy="524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1C960E6-C6D8-4A9E-6450-2FF579DBE28B}"/>
                  </a:ext>
                </a:extLst>
              </p:cNvPr>
              <p:cNvSpPr/>
              <p:nvPr/>
            </p:nvSpPr>
            <p:spPr>
              <a:xfrm>
                <a:off x="9510055" y="3938337"/>
                <a:ext cx="2058553" cy="1845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8D672E8-4969-FA2D-8EA9-185EC914BBEA}"/>
                </a:ext>
              </a:extLst>
            </p:cNvPr>
            <p:cNvGrpSpPr/>
            <p:nvPr/>
          </p:nvGrpSpPr>
          <p:grpSpPr>
            <a:xfrm rot="16200000">
              <a:off x="9279104" y="989038"/>
              <a:ext cx="2128176" cy="2576212"/>
              <a:chOff x="8012155" y="1755935"/>
              <a:chExt cx="3136903" cy="3797301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73765B3C-A4B0-AE66-056F-8F1DFEC2C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12155" y="1755936"/>
                <a:ext cx="3136900" cy="3797300"/>
              </a:xfrm>
              <a:prstGeom prst="rect">
                <a:avLst/>
              </a:prstGeom>
            </p:spPr>
          </p:pic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CCB0E9E-3FC7-5BBB-F79E-9215BD483937}"/>
                  </a:ext>
                </a:extLst>
              </p:cNvPr>
              <p:cNvSpPr/>
              <p:nvPr/>
            </p:nvSpPr>
            <p:spPr>
              <a:xfrm>
                <a:off x="9965669" y="1755936"/>
                <a:ext cx="1183386" cy="1468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F1629C3-C48E-99BB-4982-0087CD6753D9}"/>
                  </a:ext>
                </a:extLst>
              </p:cNvPr>
              <p:cNvSpPr/>
              <p:nvPr/>
            </p:nvSpPr>
            <p:spPr>
              <a:xfrm>
                <a:off x="10231246" y="1755935"/>
                <a:ext cx="917812" cy="6694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DA73FA0-4767-4739-37FB-F5FCA578BADA}"/>
                  </a:ext>
                </a:extLst>
              </p:cNvPr>
              <p:cNvSpPr/>
              <p:nvPr/>
            </p:nvSpPr>
            <p:spPr>
              <a:xfrm>
                <a:off x="10493298" y="2425389"/>
                <a:ext cx="655757" cy="28268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40620E6-E69E-D7C8-4EFD-57F120422AFF}"/>
                </a:ext>
              </a:extLst>
            </p:cNvPr>
            <p:cNvGrpSpPr/>
            <p:nvPr/>
          </p:nvGrpSpPr>
          <p:grpSpPr>
            <a:xfrm>
              <a:off x="9519158" y="1070242"/>
              <a:ext cx="1309264" cy="587704"/>
              <a:chOff x="9226572" y="780422"/>
              <a:chExt cx="1894435" cy="850376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BEC63A5C-4E0B-E35D-11B3-F1C95038C4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11165"/>
              <a:stretch/>
            </p:blipFill>
            <p:spPr>
              <a:xfrm>
                <a:off x="9331480" y="780422"/>
                <a:ext cx="1612766" cy="798222"/>
              </a:xfrm>
              <a:prstGeom prst="rect">
                <a:avLst/>
              </a:prstGeom>
            </p:spPr>
          </p:pic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48E98DE-6928-B918-D496-1A3118D65F90}"/>
                  </a:ext>
                </a:extLst>
              </p:cNvPr>
              <p:cNvSpPr/>
              <p:nvPr/>
            </p:nvSpPr>
            <p:spPr>
              <a:xfrm>
                <a:off x="9226572" y="1155398"/>
                <a:ext cx="594816" cy="475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F6F447-BEA0-DF32-A63A-7855D20B6572}"/>
                  </a:ext>
                </a:extLst>
              </p:cNvPr>
              <p:cNvSpPr/>
              <p:nvPr/>
            </p:nvSpPr>
            <p:spPr>
              <a:xfrm>
                <a:off x="10526191" y="1155398"/>
                <a:ext cx="594816" cy="475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BF5E62B-FE5F-142F-5AD9-64C76C710378}"/>
                </a:ext>
              </a:extLst>
            </p:cNvPr>
            <p:cNvSpPr/>
            <p:nvPr/>
          </p:nvSpPr>
          <p:spPr>
            <a:xfrm>
              <a:off x="8922470" y="1750597"/>
              <a:ext cx="594816" cy="17113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85229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C35E7-7A25-EADA-829A-1316AB199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8EED30-5689-E453-FE14-D7B242840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7874100" cy="4772814"/>
          </a:xfrm>
        </p:spPr>
        <p:txBody>
          <a:bodyPr>
            <a:normAutofit/>
          </a:bodyPr>
          <a:lstStyle/>
          <a:p>
            <a:pPr latinLnBrk="0"/>
            <a:r>
              <a:rPr lang="en-US" b="1" dirty="0">
                <a:solidFill>
                  <a:srgbClr val="0E0E0E"/>
                </a:solidFill>
                <a:effectLst/>
              </a:rPr>
              <a:t>Workflow Overview</a:t>
            </a:r>
          </a:p>
          <a:p>
            <a:pPr marL="914400" lvl="1" indent="-457200" latinLnBrk="0">
              <a:spcBef>
                <a:spcPts val="9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E0E0E"/>
                </a:solidFill>
                <a:effectLst/>
              </a:rPr>
              <a:t>Initialize SAFP</a:t>
            </a:r>
            <a:r>
              <a:rPr lang="en-US" dirty="0">
                <a:solidFill>
                  <a:srgbClr val="0E0E0E"/>
                </a:solidFill>
                <a:effectLst/>
              </a:rPr>
              <a:t>: Learnable prompts are established and updated through self-attention.</a:t>
            </a:r>
          </a:p>
          <a:p>
            <a:pPr marL="914400" lvl="1" indent="-457200" latinLnBrk="0">
              <a:spcBef>
                <a:spcPts val="9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E0E0E"/>
                </a:solidFill>
                <a:effectLst/>
              </a:rPr>
              <a:t>Self-Attention</a:t>
            </a:r>
            <a:r>
              <a:rPr lang="en-US" dirty="0">
                <a:solidFill>
                  <a:srgbClr val="0E0E0E"/>
                </a:solidFill>
                <a:effectLst/>
              </a:rPr>
              <a:t>: The most informative prompts are highlighted from global perspective.</a:t>
            </a:r>
          </a:p>
          <a:p>
            <a:pPr marL="914400" lvl="1" indent="-457200" latinLnBrk="0">
              <a:spcBef>
                <a:spcPts val="9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E0E0E"/>
                </a:solidFill>
                <a:effectLst/>
              </a:rPr>
              <a:t>Cross-Attention</a:t>
            </a:r>
            <a:r>
              <a:rPr lang="en-US" dirty="0">
                <a:solidFill>
                  <a:srgbClr val="0E0E0E"/>
                </a:solidFill>
                <a:effectLst/>
              </a:rPr>
              <a:t>: SAFP retrieves identity-relevant features by interacting with facial embeddings</a:t>
            </a:r>
            <a:r>
              <a:rPr lang="en-US" altLang="ko-KR" dirty="0">
                <a:solidFill>
                  <a:srgbClr val="0E0E0E"/>
                </a:solidFill>
                <a:effectLst/>
              </a:rPr>
              <a:t>.</a:t>
            </a:r>
            <a:endParaRPr lang="en-US" dirty="0">
              <a:solidFill>
                <a:srgbClr val="0E0E0E"/>
              </a:solidFill>
              <a:effectLst/>
            </a:endParaRPr>
          </a:p>
          <a:p>
            <a:pPr marL="914400" lvl="1" indent="-457200" latinLnBrk="0">
              <a:spcBef>
                <a:spcPts val="9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E0E0E"/>
                </a:solidFill>
                <a:effectLst/>
              </a:rPr>
              <a:t>Fully </a:t>
            </a:r>
            <a:r>
              <a:rPr lang="en-US" b="1" dirty="0">
                <a:solidFill>
                  <a:srgbClr val="0E0E0E"/>
                </a:solidFill>
              </a:rPr>
              <a:t>C</a:t>
            </a:r>
            <a:r>
              <a:rPr lang="en-US" b="1" dirty="0">
                <a:solidFill>
                  <a:srgbClr val="0E0E0E"/>
                </a:solidFill>
                <a:effectLst/>
              </a:rPr>
              <a:t>onnected Layers</a:t>
            </a:r>
            <a:r>
              <a:rPr lang="en-US" dirty="0">
                <a:solidFill>
                  <a:srgbClr val="0E0E0E"/>
                </a:solidFill>
                <a:effectLst/>
              </a:rPr>
              <a:t>: FFN fuses the retrieved features for final representation.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1714B2-E1C6-4D68-4E63-D988B4921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158" y="405701"/>
            <a:ext cx="11154700" cy="648000"/>
          </a:xfrm>
        </p:spPr>
        <p:txBody>
          <a:bodyPr/>
          <a:lstStyle/>
          <a:p>
            <a:r>
              <a:rPr lang="en-US" dirty="0">
                <a:solidFill>
                  <a:srgbClr val="0E0E0E"/>
                </a:solidFill>
                <a:effectLst/>
              </a:rPr>
              <a:t>SAFPQ Workflow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E5844C4-15B2-8147-78A9-A2ED1113F7C2}"/>
              </a:ext>
            </a:extLst>
          </p:cNvPr>
          <p:cNvGrpSpPr/>
          <p:nvPr/>
        </p:nvGrpSpPr>
        <p:grpSpPr>
          <a:xfrm>
            <a:off x="8234100" y="1671556"/>
            <a:ext cx="3336758" cy="4039230"/>
            <a:chOff x="8012155" y="1755936"/>
            <a:chExt cx="3136900" cy="37973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C28CD9C-4072-93E9-6F13-8ED75D8D9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12155" y="1755936"/>
              <a:ext cx="3136900" cy="37973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559D08C-937F-A2E1-8E1B-08B279CF3E0B}"/>
                </a:ext>
              </a:extLst>
            </p:cNvPr>
            <p:cNvSpPr/>
            <p:nvPr/>
          </p:nvSpPr>
          <p:spPr>
            <a:xfrm>
              <a:off x="9965669" y="1755936"/>
              <a:ext cx="1183386" cy="1468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2CD26E0-D6A3-843C-CC56-92AC5C9E87A9}"/>
                </a:ext>
              </a:extLst>
            </p:cNvPr>
            <p:cNvSpPr/>
            <p:nvPr/>
          </p:nvSpPr>
          <p:spPr>
            <a:xfrm>
              <a:off x="10231244" y="1901282"/>
              <a:ext cx="917811" cy="5241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360A441-9920-16CA-EC5B-2C8F0E242DD5}"/>
                </a:ext>
              </a:extLst>
            </p:cNvPr>
            <p:cNvSpPr/>
            <p:nvPr/>
          </p:nvSpPr>
          <p:spPr>
            <a:xfrm>
              <a:off x="10493298" y="2425389"/>
              <a:ext cx="655757" cy="2826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9045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9A015-C16C-318A-99A0-442B7FA4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1A78B92-6340-9C3F-0CEB-B03A4E14F2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7874100" cy="4772814"/>
              </a:xfrm>
            </p:spPr>
            <p:txBody>
              <a:bodyPr>
                <a:normAutofit/>
              </a:bodyPr>
              <a:lstStyle/>
              <a:p>
                <a:pPr latinLnBrk="0"/>
                <a:r>
                  <a:rPr lang="en-US" b="1" dirty="0">
                    <a:solidFill>
                      <a:srgbClr val="0E0E0E"/>
                    </a:solidFill>
                    <a:effectLst/>
                  </a:rPr>
                  <a:t>Self-Attention Mechanism</a:t>
                </a:r>
              </a:p>
              <a:p>
                <a:pPr marL="0" indent="0" algn="ctr" latinLnBrk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𝑠𝑒𝑙𝑓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E0E0E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𝑠𝑒𝑙𝑓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  <m:sSubSup>
                                        <m:sSubSupPr>
                                          <m:ctrlPr>
                                            <a:rPr lang="en-US" i="1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𝑠𝑒𝑙𝑓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b="1" i="1">
                          <a:solidFill>
                            <a:srgbClr val="0E0E0E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𝑠𝑒𝑙𝑓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0E0E0E"/>
                  </a:solidFill>
                  <a:effectLst/>
                </a:endParaRPr>
              </a:p>
              <a:p>
                <a:pPr latinLnBrk="0"/>
                <a:endParaRPr lang="en-US" b="1" dirty="0">
                  <a:solidFill>
                    <a:srgbClr val="0E0E0E"/>
                  </a:solidFill>
                </a:endParaRPr>
              </a:p>
              <a:p>
                <a:pPr latinLnBrk="0"/>
                <a:r>
                  <a:rPr lang="en-US" b="1" dirty="0">
                    <a:solidFill>
                      <a:srgbClr val="0E0E0E"/>
                    </a:solidFill>
                  </a:rPr>
                  <a:t>Components</a:t>
                </a:r>
              </a:p>
              <a:p>
                <a:pPr lvl="1" latinLnBrk="0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𝑠𝑒𝑙𝑓</m:t>
                        </m:r>
                      </m:sup>
                    </m:sSubSup>
                    <m:r>
                      <a:rPr lang="en-US" altLang="ko-KR" b="0" i="1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𝑠𝑒𝑙𝑓</m:t>
                        </m:r>
                      </m:sup>
                    </m:sSubSup>
                    <m:r>
                      <a:rPr lang="en-US" altLang="ko-KR" b="0" i="1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𝑠𝑒𝑙𝑓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E0E0E"/>
                    </a:solidFill>
                  </a:rPr>
                  <a:t>: The learnable weights for the  self-attention</a:t>
                </a:r>
              </a:p>
              <a:p>
                <a:pPr lvl="1" latinLnBrk="0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dirty="0">
                    <a:solidFill>
                      <a:srgbClr val="0E0E0E"/>
                    </a:solidFill>
                  </a:rPr>
                  <a:t>: Self-Adaptive Face Prompts</a:t>
                </a:r>
              </a:p>
              <a:p>
                <a:pPr lvl="1"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E0E0E"/>
                    </a:solidFill>
                  </a:rPr>
                  <a:t>: Dimension of the key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1A78B92-6340-9C3F-0CEB-B03A4E14F2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7874100" cy="4772814"/>
              </a:xfrm>
              <a:blipFill>
                <a:blip r:embed="rId3"/>
                <a:stretch>
                  <a:fillRect l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A928A46-46E0-0AF3-D26E-CE8C6471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158" y="405701"/>
            <a:ext cx="11154700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E0E0E"/>
                </a:solidFill>
                <a:effectLst/>
              </a:rPr>
              <a:t>Mathematical Process of SAFPQ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FF28F8-584B-2F87-24E1-3F5E9BD8D23B}"/>
              </a:ext>
            </a:extLst>
          </p:cNvPr>
          <p:cNvGrpSpPr/>
          <p:nvPr/>
        </p:nvGrpSpPr>
        <p:grpSpPr>
          <a:xfrm>
            <a:off x="8234100" y="1671556"/>
            <a:ext cx="3336758" cy="4039230"/>
            <a:chOff x="8012155" y="1755936"/>
            <a:chExt cx="3136900" cy="37973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94FBA08-5B16-D2D5-D8F8-C035EF21E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12155" y="1755936"/>
              <a:ext cx="3136900" cy="37973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81291D-C727-8DAA-79BC-797C75198410}"/>
                </a:ext>
              </a:extLst>
            </p:cNvPr>
            <p:cNvSpPr/>
            <p:nvPr/>
          </p:nvSpPr>
          <p:spPr>
            <a:xfrm>
              <a:off x="9965669" y="1755936"/>
              <a:ext cx="1183386" cy="1468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C2D456E-5B0F-777C-9ABE-1D4A713BE632}"/>
                </a:ext>
              </a:extLst>
            </p:cNvPr>
            <p:cNvSpPr/>
            <p:nvPr/>
          </p:nvSpPr>
          <p:spPr>
            <a:xfrm>
              <a:off x="10231244" y="1901282"/>
              <a:ext cx="917811" cy="5241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953783-90B7-DAAE-81A8-78BDA65DEFF6}"/>
                </a:ext>
              </a:extLst>
            </p:cNvPr>
            <p:cNvSpPr/>
            <p:nvPr/>
          </p:nvSpPr>
          <p:spPr>
            <a:xfrm>
              <a:off x="10493298" y="2425389"/>
              <a:ext cx="655757" cy="2826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6646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88C0-975B-BD7F-F083-861252260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0C73174-5BFB-D9BA-C514-CD634A048E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9999" y="1304764"/>
                <a:ext cx="7941789" cy="4772814"/>
              </a:xfrm>
            </p:spPr>
            <p:txBody>
              <a:bodyPr>
                <a:normAutofit/>
              </a:bodyPr>
              <a:lstStyle/>
              <a:p>
                <a:pPr latinLnBrk="0"/>
                <a:r>
                  <a:rPr lang="en-US" b="1" dirty="0">
                    <a:solidFill>
                      <a:srgbClr val="0E0E0E"/>
                    </a:solidFill>
                    <a:effectLst/>
                  </a:rPr>
                  <a:t>Cross-Attention Mechanism</a:t>
                </a:r>
              </a:p>
              <a:p>
                <a:pPr marL="0" indent="0" algn="ctr" latinLnBrk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𝑐𝑟𝑜𝑠𝑠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E0E0E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𝑠𝑒𝑙𝑓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𝑐𝑟𝑜𝑠𝑠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i="1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𝑐𝑟𝑜𝑠𝑠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𝑐𝑟𝑜𝑠𝑠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0E0E0E"/>
                  </a:solidFill>
                  <a:effectLst/>
                </a:endParaRPr>
              </a:p>
              <a:p>
                <a:pPr latinLnBrk="0"/>
                <a:endParaRPr lang="en-US" b="1" dirty="0">
                  <a:solidFill>
                    <a:srgbClr val="0E0E0E"/>
                  </a:solidFill>
                </a:endParaRPr>
              </a:p>
              <a:p>
                <a:pPr latinLnBrk="0"/>
                <a:r>
                  <a:rPr lang="en-US" b="1" dirty="0">
                    <a:solidFill>
                      <a:srgbClr val="0E0E0E"/>
                    </a:solidFill>
                  </a:rPr>
                  <a:t>Components</a:t>
                </a:r>
              </a:p>
              <a:p>
                <a:pPr lvl="1" latinLnBrk="0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𝑐𝑟𝑜𝑠𝑠</m:t>
                        </m:r>
                      </m:sup>
                    </m:sSubSup>
                    <m:r>
                      <a:rPr lang="en-US" altLang="ko-KR" b="0" i="1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𝑐𝑟𝑜𝑠𝑠</m:t>
                        </m:r>
                      </m:sup>
                    </m:sSubSup>
                    <m:r>
                      <a:rPr lang="en-US" altLang="ko-KR" b="0" i="1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𝑐𝑟𝑜𝑠𝑠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E0E0E"/>
                    </a:solidFill>
                  </a:rPr>
                  <a:t>: The learnable weights for the  self-attention</a:t>
                </a:r>
              </a:p>
              <a:p>
                <a:pPr lvl="1"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E0E0E"/>
                    </a:solidFill>
                  </a:rPr>
                  <a:t>: The facial embedding extracted by the CLIP</a:t>
                </a:r>
              </a:p>
              <a:p>
                <a:pPr lvl="1" latinLnBrk="0"/>
                <a:endParaRPr lang="en-US" dirty="0">
                  <a:solidFill>
                    <a:srgbClr val="0E0E0E"/>
                  </a:solidFill>
                </a:endParaRP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0C73174-5BFB-D9BA-C514-CD634A048E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9999" y="1304764"/>
                <a:ext cx="7941789" cy="4772814"/>
              </a:xfrm>
              <a:blipFill>
                <a:blip r:embed="rId3"/>
                <a:stretch>
                  <a:fillRect l="-1118" r="-4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2563998-C414-C21B-18D9-6A3FDEF70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158" y="405701"/>
            <a:ext cx="11154700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E0E0E"/>
                </a:solidFill>
                <a:effectLst/>
              </a:rPr>
              <a:t>Mathematical Process of SAFPQ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E04E04E-3FA7-54CD-CEF5-F2EE892C6475}"/>
              </a:ext>
            </a:extLst>
          </p:cNvPr>
          <p:cNvGrpSpPr/>
          <p:nvPr/>
        </p:nvGrpSpPr>
        <p:grpSpPr>
          <a:xfrm>
            <a:off x="8234100" y="1671556"/>
            <a:ext cx="3336758" cy="4039230"/>
            <a:chOff x="8012155" y="1755936"/>
            <a:chExt cx="3136900" cy="37973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D5FDC8-E581-6A4B-5470-549FA7EF5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12155" y="1755936"/>
              <a:ext cx="3136900" cy="37973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AF05DCB-6DD8-FFBA-5504-B1BB24E0E3F0}"/>
                </a:ext>
              </a:extLst>
            </p:cNvPr>
            <p:cNvSpPr/>
            <p:nvPr/>
          </p:nvSpPr>
          <p:spPr>
            <a:xfrm>
              <a:off x="9965669" y="1755936"/>
              <a:ext cx="1183386" cy="1468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C5C68CF-A745-C003-61CE-7D1BBADD42E4}"/>
                </a:ext>
              </a:extLst>
            </p:cNvPr>
            <p:cNvSpPr/>
            <p:nvPr/>
          </p:nvSpPr>
          <p:spPr>
            <a:xfrm>
              <a:off x="10231244" y="1901282"/>
              <a:ext cx="917811" cy="5241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117470E-DF40-14AF-18D4-885AFF8BFBE1}"/>
                </a:ext>
              </a:extLst>
            </p:cNvPr>
            <p:cNvSpPr/>
            <p:nvPr/>
          </p:nvSpPr>
          <p:spPr>
            <a:xfrm>
              <a:off x="10493298" y="2425389"/>
              <a:ext cx="655757" cy="2826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053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D6743-ADB9-D422-1750-E6C3FB6D6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8B9358-E9EA-413A-032A-D913A81AF5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9999" y="1304764"/>
                <a:ext cx="7941789" cy="4772814"/>
              </a:xfrm>
            </p:spPr>
            <p:txBody>
              <a:bodyPr>
                <a:normAutofit/>
              </a:bodyPr>
              <a:lstStyle/>
              <a:p>
                <a:pPr latinLnBrk="0"/>
                <a:r>
                  <a:rPr lang="en-US" b="1" dirty="0">
                    <a:solidFill>
                      <a:srgbClr val="0E0E0E"/>
                    </a:solidFill>
                    <a:effectLst/>
                  </a:rPr>
                  <a:t>Fully Connected Layer</a:t>
                </a:r>
              </a:p>
              <a:p>
                <a:pPr marL="0" indent="0" algn="ctr" latinLnBrk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𝐹𝐹𝑁</m:t>
                      </m:r>
                      <m:r>
                        <a:rPr lang="en-US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𝑐𝑟𝑜𝑠𝑠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E0E0E"/>
                  </a:solidFill>
                  <a:effectLst/>
                </a:endParaRPr>
              </a:p>
              <a:p>
                <a:pPr latinLnBrk="0"/>
                <a:endParaRPr lang="en-US" b="1" dirty="0">
                  <a:solidFill>
                    <a:srgbClr val="0E0E0E"/>
                  </a:solidFill>
                </a:endParaRPr>
              </a:p>
              <a:p>
                <a:pPr latinLnBrk="0"/>
                <a:r>
                  <a:rPr lang="en-US" b="1" dirty="0">
                    <a:solidFill>
                      <a:srgbClr val="0E0E0E"/>
                    </a:solidFill>
                  </a:rPr>
                  <a:t>Components</a:t>
                </a:r>
              </a:p>
              <a:p>
                <a:pPr lvl="1"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𝑞𝑢𝑒𝑟𝑦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E0E0E"/>
                    </a:solidFill>
                  </a:rPr>
                  <a:t>: The final queried facial features</a:t>
                </a:r>
              </a:p>
              <a:p>
                <a:pPr marL="0" indent="0" latinLnBrk="0">
                  <a:buNone/>
                </a:pPr>
                <a:endParaRPr lang="en-US" dirty="0">
                  <a:solidFill>
                    <a:srgbClr val="0E0E0E"/>
                  </a:solidFill>
                </a:endParaRPr>
              </a:p>
              <a:p>
                <a:pPr latinLnBrk="0">
                  <a:buFont typeface="Wingdings" pitchFamily="2" charset="2"/>
                  <a:buChar char="Ø"/>
                </a:pPr>
                <a:r>
                  <a:rPr lang="en-US" dirty="0">
                    <a:solidFill>
                      <a:srgbClr val="0E0E0E"/>
                    </a:solidFill>
                  </a:rPr>
                  <a:t>Extract facial features that are well-aligned with the speaker’s voice identity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8B9358-E9EA-413A-032A-D913A81AF5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9999" y="1304764"/>
                <a:ext cx="7941789" cy="4772814"/>
              </a:xfrm>
              <a:blipFill>
                <a:blip r:embed="rId3"/>
                <a:stretch>
                  <a:fillRect l="-11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339114F-D094-C4F2-87E9-71C68B70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158" y="405701"/>
            <a:ext cx="11154700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E0E0E"/>
                </a:solidFill>
                <a:effectLst/>
              </a:rPr>
              <a:t>Mathematical Process of SAFPQ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30EC79-B531-952C-92E4-0D7FE3794AF9}"/>
              </a:ext>
            </a:extLst>
          </p:cNvPr>
          <p:cNvGrpSpPr/>
          <p:nvPr/>
        </p:nvGrpSpPr>
        <p:grpSpPr>
          <a:xfrm>
            <a:off x="8234100" y="1671556"/>
            <a:ext cx="3336758" cy="4039230"/>
            <a:chOff x="8012155" y="1755936"/>
            <a:chExt cx="3136900" cy="37973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B85B75E-0551-0C39-4BBC-38A15310B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12155" y="1755936"/>
              <a:ext cx="3136900" cy="37973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F196D1-9DFC-1830-5B77-53E878A97ADB}"/>
                </a:ext>
              </a:extLst>
            </p:cNvPr>
            <p:cNvSpPr/>
            <p:nvPr/>
          </p:nvSpPr>
          <p:spPr>
            <a:xfrm>
              <a:off x="9965669" y="1755936"/>
              <a:ext cx="1183386" cy="1468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C1DAC5-6EC4-1C07-94FF-659808D5ABCD}"/>
                </a:ext>
              </a:extLst>
            </p:cNvPr>
            <p:cNvSpPr/>
            <p:nvPr/>
          </p:nvSpPr>
          <p:spPr>
            <a:xfrm>
              <a:off x="10231244" y="1901282"/>
              <a:ext cx="917811" cy="5241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9F4FD-72F1-BC03-4B46-96FD320F12CE}"/>
                </a:ext>
              </a:extLst>
            </p:cNvPr>
            <p:cNvSpPr/>
            <p:nvPr/>
          </p:nvSpPr>
          <p:spPr>
            <a:xfrm>
              <a:off x="10493298" y="2425389"/>
              <a:ext cx="655757" cy="2826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4796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06E7E-926C-285D-7FC8-35C72F5A5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2CE9DDC-64D6-CC7C-8A6C-4BAED4CA2B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atinLnBrk="0"/>
                <a:r>
                  <a:rPr lang="en-US" b="1" dirty="0">
                    <a:solidFill>
                      <a:srgbClr val="0E0E0E"/>
                    </a:solidFill>
                    <a:effectLst/>
                  </a:rPr>
                  <a:t>Construction Loss</a:t>
                </a:r>
              </a:p>
              <a:p>
                <a:pPr marL="0" indent="0" algn="ctr" latinLnBrk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𝑐𝑜𝑛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b="0" i="1" smtClean="0">
                                  <a:solidFill>
                                    <a:srgbClr val="0E0E0E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solidFill>
                                    <a:srgbClr val="0E0E0E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b="0" i="1" smtClean="0">
                                  <a:solidFill>
                                    <a:srgbClr val="0E0E0E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solidFill>
                                    <a:srgbClr val="0E0E0E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rgbClr val="0E0E0E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rgbClr val="0E0E0E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rgbClr val="0E0E0E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b="0" i="1" smtClean="0">
                                      <a:solidFill>
                                        <a:srgbClr val="0E0E0E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b="0" i="1" smtClean="0">
                                      <a:solidFill>
                                        <a:srgbClr val="0E0E0E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ko-KR" b="0" i="1" smtClean="0">
                                      <a:solidFill>
                                        <a:srgbClr val="0E0E0E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solidFill>
                                        <a:srgbClr val="0E0E0E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solidFill>
                                            <a:srgbClr val="0E0E0E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ko-KR" b="0" i="1" smtClean="0">
                                              <a:solidFill>
                                                <a:srgbClr val="0E0E0E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func>
                                            <m:funcPr>
                                              <m:ctrlPr>
                                                <a:rPr lang="en-US" altLang="ko-KR" b="0" i="1" smtClean="0">
                                                  <a:solidFill>
                                                    <a:srgbClr val="0E0E0E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b="0" i="0" smtClean="0">
                                                  <a:solidFill>
                                                    <a:srgbClr val="0E0E0E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exp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altLang="ko-KR" b="0" i="1" smtClean="0">
                                                      <a:solidFill>
                                                        <a:srgbClr val="0E0E0E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ko-KR" b="0" i="1" smtClean="0">
                                                      <a:solidFill>
                                                        <a:srgbClr val="0E0E0E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</a:rPr>
                                                    <m:t>𝑠𝑖𝑚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altLang="ko-KR" b="0" i="1" smtClean="0">
                                                          <a:solidFill>
                                                            <a:srgbClr val="0E0E0E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altLang="ko-KR" b="0" i="1" smtClean="0">
                                                          <a:solidFill>
                                                            <a:srgbClr val="0E0E0E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  <m:r>
                                                        <a:rPr lang="en-US" altLang="ko-KR" b="0" i="1" smtClean="0">
                                                          <a:solidFill>
                                                            <a:srgbClr val="0E0E0E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lang="en-US" altLang="ko-KR" b="0" i="1" smtClean="0">
                                                          <a:solidFill>
                                                            <a:srgbClr val="0E0E0E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altLang="ko-KR" i="1">
                                                      <a:solidFill>
                                                        <a:srgbClr val="0E0E0E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/</m:t>
                                                  </m:r>
                                                  <m:r>
                                                    <a:rPr lang="en-US" altLang="ko-KR" i="1">
                                                      <a:solidFill>
                                                        <a:srgbClr val="0E0E0E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𝜏</m:t>
                                                  </m:r>
                                                </m:e>
                                              </m:d>
                                            </m:e>
                                          </m:func>
                                        </m:num>
                                        <m:den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altLang="ko-KR" b="0" i="1" smtClean="0">
                                                  <a:solidFill>
                                                    <a:srgbClr val="0E0E0E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altLang="ko-KR" b="0" i="1" smtClean="0">
                                                  <a:solidFill>
                                                    <a:srgbClr val="0E0E0E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altLang="ko-KR" b="0" i="1" smtClean="0">
                                                  <a:solidFill>
                                                    <a:srgbClr val="0E0E0E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ko-KR" b="0" i="1" smtClean="0">
                                                  <a:solidFill>
                                                    <a:srgbClr val="0E0E0E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sup>
                                            <m:e>
                                              <m:func>
                                                <m:funcPr>
                                                  <m:ctrlPr>
                                                    <a:rPr lang="en-US" altLang="ko-KR" i="1">
                                                      <a:solidFill>
                                                        <a:srgbClr val="0E0E0E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>
                                                      <a:solidFill>
                                                        <a:srgbClr val="0E0E0E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exp</m:t>
                                                  </m:r>
                                                </m:fNam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altLang="ko-KR" i="1">
                                                          <a:solidFill>
                                                            <a:srgbClr val="0E0E0E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altLang="ko-KR" i="1">
                                                          <a:solidFill>
                                                            <a:srgbClr val="0E0E0E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𝑠𝑖𝑚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altLang="ko-KR" i="1">
                                                              <a:solidFill>
                                                                <a:srgbClr val="0E0E0E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altLang="ko-KR" i="1">
                                                              <a:solidFill>
                                                                <a:srgbClr val="0E0E0E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  <m:r>
                                                            <a:rPr lang="en-US" altLang="ko-KR" i="1">
                                                              <a:solidFill>
                                                                <a:srgbClr val="0E0E0E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r>
                                                            <a:rPr lang="en-US" altLang="ko-KR" b="0" i="1" smtClean="0">
                                                              <a:solidFill>
                                                                <a:srgbClr val="0E0E0E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</m:e>
                                                      </m:d>
                                                      <m:r>
                                                        <a:rPr lang="en-US" altLang="ko-KR" i="1">
                                                          <a:solidFill>
                                                            <a:srgbClr val="0E0E0E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/</m:t>
                                                      </m:r>
                                                      <m:r>
                                                        <a:rPr lang="en-US" altLang="ko-KR" i="1">
                                                          <a:solidFill>
                                                            <a:srgbClr val="0E0E0E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𝜏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func>
                                            </m:e>
                                          </m:nary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b="1" dirty="0">
                  <a:solidFill>
                    <a:srgbClr val="0E0E0E"/>
                  </a:solidFill>
                </a:endParaRPr>
              </a:p>
              <a:p>
                <a:pPr latinLnBrk="0"/>
                <a:r>
                  <a:rPr lang="en-US" b="1" dirty="0">
                    <a:solidFill>
                      <a:srgbClr val="0E0E0E"/>
                    </a:solidFill>
                  </a:rPr>
                  <a:t>Components</a:t>
                </a:r>
              </a:p>
              <a:p>
                <a:pPr lvl="1" latinLnBrk="0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solidFill>
                      <a:srgbClr val="0E0E0E"/>
                    </a:solidFill>
                  </a:rPr>
                  <a:t>: The number of samples in a batch</a:t>
                </a:r>
              </a:p>
              <a:p>
                <a:pPr lvl="1" latinLnBrk="0"/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E0E0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>
                    <a:solidFill>
                      <a:srgbClr val="0E0E0E"/>
                    </a:solidFill>
                  </a:rPr>
                  <a:t>: Temperature hyperparameter</a:t>
                </a:r>
              </a:p>
              <a:p>
                <a:pPr lvl="1" latinLnBrk="0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0E0E0E"/>
                    </a:solidFill>
                  </a:rPr>
                  <a:t>: fixed index for facial embeddings</a:t>
                </a:r>
              </a:p>
              <a:p>
                <a:pPr lvl="1" latinLnBrk="0"/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b="0" i="1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rgbClr val="0E0E0E"/>
                    </a:solidFill>
                  </a:rPr>
                  <a:t>: speech embeddings</a:t>
                </a:r>
              </a:p>
              <a:p>
                <a:pPr lvl="1"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E0E0E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E0E0E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E0E0E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solidFill>
                              <a:srgbClr val="0E0E0E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solidFill>
                              <a:srgbClr val="0E0E0E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E0E0E"/>
                    </a:solidFill>
                  </a:rPr>
                  <a:t>: indicator function</a:t>
                </a:r>
              </a:p>
              <a:p>
                <a:pPr lvl="2" latinLnBrk="0"/>
                <a:r>
                  <a:rPr lang="en-US" dirty="0">
                    <a:solidFill>
                      <a:srgbClr val="0E0E0E"/>
                    </a:solidFill>
                  </a:rPr>
                  <a:t>If samples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0E0E0E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solidFill>
                      <a:srgbClr val="0E0E0E"/>
                    </a:solidFill>
                  </a:rPr>
                  <a:t> belong to the same speaker,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rgbClr val="0E0E0E"/>
                    </a:solidFill>
                  </a:rPr>
                  <a:t>; otherwise,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rgbClr val="0E0E0E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2CE9DDC-64D6-CC7C-8A6C-4BAED4CA2B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t="-111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3B28FFD-909B-1F29-C21C-0989AB3D7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E0E0E"/>
                </a:solidFill>
                <a:effectLst/>
              </a:rPr>
              <a:t>Loss of SAFPQ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528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8A5F1-AB88-3ECA-8F0C-D82E73CA7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E86FC9-EA84-D254-250F-6A4E5A055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Objective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 Enhance the model’s ability to differentiate facial features between speakers.</a:t>
            </a:r>
          </a:p>
          <a:p>
            <a:pPr>
              <a:spcBef>
                <a:spcPts val="900"/>
              </a:spcBef>
            </a:pPr>
            <a:endParaRPr lang="en" altLang="ko-KR" b="1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Mechanism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1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Consistency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: Ensures facial features remain stable for the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same speaker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lvl="1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Diversity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: Promotes clear differentiation for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different speakers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latinLnBrk="0"/>
            <a:endParaRPr lang="en-US" dirty="0">
              <a:solidFill>
                <a:srgbClr val="0E0E0E"/>
              </a:solidFill>
            </a:endParaRPr>
          </a:p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Goal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1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Consistency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: Generate similar speech styles for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different images of the same speaker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lvl="1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Diversity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: Create distinct speech styles for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different speakers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EB824A-7A95-F223-655F-4BE050A8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Face-related Speaker-identity Supervision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1009208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6767D-B230-747F-9C87-E2CA257FB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D58E2AF-984D-7476-407D-52995B35CA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atinLnBrk="0"/>
                <a:r>
                  <a:rPr lang="en-US" altLang="ko-KR" b="1" dirty="0">
                    <a:solidFill>
                      <a:srgbClr val="0E0E0E"/>
                    </a:solidFill>
                  </a:rPr>
                  <a:t>Loss</a:t>
                </a:r>
              </a:p>
              <a:p>
                <a:pPr marL="0" indent="0" latinLnBrk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𝑖𝑑</m:t>
                          </m:r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0E0E0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solidFill>
                            <a:srgbClr val="0E0E0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b="0" i="1" smtClean="0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altLang="ko-KR" b="0" i="1" smtClean="0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ko-KR" dirty="0">
                  <a:solidFill>
                    <a:srgbClr val="0E0E0E"/>
                  </a:solidFill>
                </a:endParaRPr>
              </a:p>
              <a:p>
                <a:pPr marL="0" indent="0" latinLnBrk="0">
                  <a:buNone/>
                </a:pPr>
                <a:endParaRPr lang="en-US" altLang="ko-KR" dirty="0">
                  <a:solidFill>
                    <a:srgbClr val="0E0E0E"/>
                  </a:solidFill>
                </a:endParaRPr>
              </a:p>
              <a:p>
                <a:pPr latinLnBrk="0"/>
                <a:r>
                  <a:rPr lang="en-US" altLang="ko-KR" b="1" dirty="0">
                    <a:solidFill>
                      <a:srgbClr val="0E0E0E"/>
                    </a:solidFill>
                  </a:rPr>
                  <a:t>Components</a:t>
                </a:r>
              </a:p>
              <a:p>
                <a:pPr lvl="1" latinLnBrk="0"/>
                <a14:m>
                  <m:oMath xmlns:m="http://schemas.openxmlformats.org/officeDocument/2006/math">
                    <m:r>
                      <a:rPr lang="en-US" altLang="ko-KR" i="1" dirty="0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dirty="0">
                    <a:solidFill>
                      <a:srgbClr val="0E0E0E"/>
                    </a:solidFill>
                  </a:rPr>
                  <a:t>: The number of distinct speakers</a:t>
                </a:r>
              </a:p>
              <a:p>
                <a:pPr lvl="1"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𝑛𝑖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E0E0E"/>
                    </a:solidFill>
                  </a:rPr>
                  <a:t>: The one-hot encoded target label for the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dirty="0">
                    <a:solidFill>
                      <a:srgbClr val="0E0E0E"/>
                    </a:solidFill>
                  </a:rPr>
                  <a:t>-</a:t>
                </a:r>
                <a:r>
                  <a:rPr lang="en-US" altLang="ko-KR" dirty="0" err="1">
                    <a:solidFill>
                      <a:srgbClr val="0E0E0E"/>
                    </a:solidFill>
                  </a:rPr>
                  <a:t>th</a:t>
                </a:r>
                <a:r>
                  <a:rPr lang="en-US" altLang="ko-KR" dirty="0">
                    <a:solidFill>
                      <a:srgbClr val="0E0E0E"/>
                    </a:solidFill>
                  </a:rPr>
                  <a:t> sample</a:t>
                </a:r>
              </a:p>
              <a:p>
                <a:pPr lvl="1"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𝑛𝑖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E0E0E"/>
                    </a:solidFill>
                  </a:rPr>
                  <a:t>: The </a:t>
                </a:r>
                <a:r>
                  <a:rPr lang="en-US" altLang="ko-KR" dirty="0" err="1">
                    <a:solidFill>
                      <a:srgbClr val="0E0E0E"/>
                    </a:solidFill>
                  </a:rPr>
                  <a:t>softmax</a:t>
                </a:r>
                <a:r>
                  <a:rPr lang="en-US" altLang="ko-KR" dirty="0">
                    <a:solidFill>
                      <a:srgbClr val="0E0E0E"/>
                    </a:solidFill>
                  </a:rPr>
                  <a:t> probabilities that the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dirty="0">
                    <a:solidFill>
                      <a:srgbClr val="0E0E0E"/>
                    </a:solidFill>
                  </a:rPr>
                  <a:t>-</a:t>
                </a:r>
                <a:r>
                  <a:rPr lang="en-US" altLang="ko-KR" dirty="0" err="1">
                    <a:solidFill>
                      <a:srgbClr val="0E0E0E"/>
                    </a:solidFill>
                  </a:rPr>
                  <a:t>th</a:t>
                </a:r>
                <a:r>
                  <a:rPr lang="en-US" altLang="ko-KR" dirty="0">
                    <a:solidFill>
                      <a:srgbClr val="0E0E0E"/>
                    </a:solidFill>
                  </a:rPr>
                  <a:t> sample’s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𝑞𝑢𝑒𝑟𝑦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E0E0E"/>
                    </a:solidFill>
                  </a:rPr>
                  <a:t> belong to the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dirty="0" err="1">
                    <a:solidFill>
                      <a:srgbClr val="0E0E0E"/>
                    </a:solidFill>
                  </a:rPr>
                  <a:t>-th</a:t>
                </a:r>
                <a:r>
                  <a:rPr lang="en-US" altLang="ko-KR" dirty="0">
                    <a:solidFill>
                      <a:srgbClr val="0E0E0E"/>
                    </a:solidFill>
                  </a:rPr>
                  <a:t> speaker</a:t>
                </a:r>
              </a:p>
              <a:p>
                <a:pPr marL="0" indent="0" latinLnBrk="0">
                  <a:buNone/>
                </a:pPr>
                <a:endParaRPr lang="en-US" altLang="ko-KR" dirty="0">
                  <a:solidFill>
                    <a:srgbClr val="0E0E0E"/>
                  </a:solidFill>
                </a:endParaRP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D58E2AF-984D-7476-407D-52995B35CA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t="-108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B3EED75-5CB0-18CF-E780-D43A437E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Face-related Speaker-identity Supervision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2999830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F3A8F-42C7-2809-79D1-AD8482131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2C5C10-3E91-E7CA-11BE-387BF752E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dirty="0"/>
              <a:t>Method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ID-Aware Query-based Contrastive Learning</a:t>
            </a:r>
          </a:p>
          <a:p>
            <a:pPr lvl="1"/>
            <a:r>
              <a:rPr lang="en-US" altLang="ko-KR" dirty="0"/>
              <a:t>Mutual Information-based Dual Decoupling</a:t>
            </a:r>
            <a:endParaRPr lang="en-US" dirty="0"/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Alternative Text-Input with Style Control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Training Loss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Experiment and Result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9938EC-7A71-33B4-616B-8FAFCE3D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8259553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0BB63-CD96-D347-66E1-BA52201B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35E3F9-2052-0A98-DF1E-EB88E8E04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Purpose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1">
              <a:spcBef>
                <a:spcPts val="900"/>
              </a:spcBef>
            </a:pP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Precisely represent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disentangled latent spaces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lvl="1">
              <a:spcBef>
                <a:spcPts val="900"/>
              </a:spcBef>
            </a:pP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Purify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speech content information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lvl="1">
              <a:spcBef>
                <a:spcPts val="900"/>
              </a:spcBef>
            </a:pP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Key Components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1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Disentangled Latent Space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1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Mutual Information-based Decoupling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marL="0" indent="0" latinLnBrk="0">
              <a:buNone/>
            </a:pPr>
            <a:endParaRPr lang="en-US" dirty="0">
              <a:solidFill>
                <a:srgbClr val="0E0E0E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9F56BE-9683-8CD9-E882-BB2C8BB4D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Mutual Information-based Dual Decoupling (MIDD)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2712500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5B831-B6EC-E4DB-7BBB-1C771B701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90F29F2-87DA-E0F5-EEF1-DA1F039BC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spcBef>
                    <a:spcPts val="900"/>
                  </a:spcBef>
                </a:pP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Objective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: Achieve robust content representation by </a:t>
                </a: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removing non-content-related features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.</a:t>
                </a:r>
              </a:p>
              <a:p>
                <a:pPr>
                  <a:spcBef>
                    <a:spcPts val="900"/>
                  </a:spcBef>
                </a:pPr>
                <a:endParaRPr lang="en" altLang="ko-KR" dirty="0">
                  <a:solidFill>
                    <a:srgbClr val="0E0E0E"/>
                  </a:solidFill>
                  <a:effectLst/>
                  <a:latin typeface=".AppleSystemUIFont"/>
                </a:endParaRPr>
              </a:p>
              <a:p>
                <a:pPr>
                  <a:spcBef>
                    <a:spcPts val="900"/>
                  </a:spcBef>
                </a:pP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Approach</a:t>
                </a:r>
                <a:endParaRPr lang="en" altLang="ko-KR" dirty="0">
                  <a:solidFill>
                    <a:srgbClr val="0E0E0E"/>
                  </a:solidFill>
                  <a:effectLst/>
                  <a:latin typeface=".AppleSystemUIFont"/>
                </a:endParaRPr>
              </a:p>
              <a:p>
                <a:pPr lvl="1">
                  <a:spcBef>
                    <a:spcPts val="900"/>
                  </a:spcBef>
                </a:pP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Decomposition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: Split speech into subspaces for </a:t>
                </a: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speaker style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b="1" i="1" dirty="0" smtClean="0">
                            <a:solidFill>
                              <a:srgbClr val="0E0E0E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b="1" i="1" dirty="0" smtClean="0">
                            <a:solidFill>
                              <a:srgbClr val="0E0E0E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" altLang="ko-KR" b="1" i="1" dirty="0" smtClean="0">
                            <a:solidFill>
                              <a:srgbClr val="0E0E0E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𝒔𝒑𝒌</m:t>
                        </m:r>
                      </m:sub>
                    </m:sSub>
                  </m:oMath>
                </a14:m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)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 and </a:t>
                </a: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content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b="1" i="1" dirty="0" smtClean="0">
                            <a:solidFill>
                              <a:srgbClr val="0E0E0E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b="1" i="1" dirty="0" smtClean="0">
                            <a:solidFill>
                              <a:srgbClr val="0E0E0E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" altLang="ko-KR" b="1" i="1" dirty="0" smtClean="0">
                            <a:solidFill>
                              <a:srgbClr val="0E0E0E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𝒄𝒐𝒏</m:t>
                        </m:r>
                      </m:sub>
                    </m:sSub>
                  </m:oMath>
                </a14:m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)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.</a:t>
                </a:r>
              </a:p>
              <a:p>
                <a:pPr lvl="1">
                  <a:spcBef>
                    <a:spcPts val="900"/>
                  </a:spcBef>
                </a:pP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Speaker Style Encoder</a:t>
                </a:r>
                <a:endParaRPr lang="en" altLang="ko-KR" dirty="0">
                  <a:solidFill>
                    <a:srgbClr val="0E0E0E"/>
                  </a:solidFill>
                  <a:effectLst/>
                  <a:latin typeface=".AppleSystemUIFont"/>
                </a:endParaRPr>
              </a:p>
              <a:p>
                <a:pPr lvl="2">
                  <a:spcBef>
                    <a:spcPts val="900"/>
                  </a:spcBef>
                </a:pP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Utilizes </a:t>
                </a: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Contrastive Language-Audio Pretraining (CLAP)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 (Wu et al., 2023).</a:t>
                </a:r>
              </a:p>
              <a:p>
                <a:pPr lvl="2">
                  <a:spcBef>
                    <a:spcPts val="900"/>
                  </a:spcBef>
                </a:pP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Processes features through </a:t>
                </a: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SAFPQ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 (similar to facial embedding handling).</a:t>
                </a:r>
              </a:p>
              <a:p>
                <a:pPr lvl="1">
                  <a:spcBef>
                    <a:spcPts val="900"/>
                  </a:spcBef>
                </a:pP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Content Encoder</a:t>
                </a:r>
                <a:endParaRPr lang="en" altLang="ko-KR" dirty="0">
                  <a:solidFill>
                    <a:srgbClr val="0E0E0E"/>
                  </a:solidFill>
                  <a:effectLst/>
                  <a:latin typeface=".AppleSystemUIFont"/>
                </a:endParaRPr>
              </a:p>
              <a:p>
                <a:pPr lvl="2">
                  <a:spcBef>
                    <a:spcPts val="900"/>
                  </a:spcBef>
                </a:pP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Combines </a:t>
                </a: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vector quantization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 (Bitton et al., 2020) and </a:t>
                </a: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contrastive predictive coding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 (Oord et al., 2018).</a:t>
                </a:r>
              </a:p>
              <a:p>
                <a:pPr>
                  <a:spcBef>
                    <a:spcPts val="900"/>
                  </a:spcBef>
                </a:pP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Tools Used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:</a:t>
                </a:r>
              </a:p>
              <a:p>
                <a:pPr lvl="1">
                  <a:spcBef>
                    <a:spcPts val="900"/>
                  </a:spcBef>
                </a:pP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CLAP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 for speaker encoding.</a:t>
                </a:r>
              </a:p>
              <a:p>
                <a:pPr lvl="1">
                  <a:spcBef>
                    <a:spcPts val="900"/>
                  </a:spcBef>
                </a:pP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SAFPQ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 for feature processing (without cross-attention).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90F29F2-87DA-E0F5-EEF1-DA1F039BC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42" t="-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54E518B-36C0-56C1-3F09-F5F531614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Disentangled Latent Space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1135240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7CB7-7CEA-032F-923F-E2C44511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525A58-DECE-3FD3-A648-F3D08FA6E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Tools Used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1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CLAP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 for speaker encoding.</a:t>
            </a:r>
          </a:p>
          <a:p>
            <a:pPr lvl="1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SAFPQ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 for feature processing (without cross-attention).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606B75-6967-9878-0855-D1C0C765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Disentangled Latent Space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12F8BCB-BF01-AFC7-F051-C1EE7088A092}"/>
              </a:ext>
            </a:extLst>
          </p:cNvPr>
          <p:cNvGrpSpPr/>
          <p:nvPr/>
        </p:nvGrpSpPr>
        <p:grpSpPr>
          <a:xfrm>
            <a:off x="1023033" y="2807579"/>
            <a:ext cx="10145934" cy="3911600"/>
            <a:chOff x="976587" y="2807579"/>
            <a:chExt cx="10145934" cy="391160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EAB3FED-B1AD-19B8-3C8F-74D1846F1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4309" y="2914982"/>
              <a:ext cx="6418212" cy="3696794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60A7492-7D8E-71B6-E0B2-C5FCCABE8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6587" y="2807579"/>
              <a:ext cx="3302000" cy="391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7221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D48E8-2E21-5243-1299-98162E155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1DD81-ADFB-EAEA-F8A5-215674DB2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Challenge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1">
              <a:spcBef>
                <a:spcPts val="900"/>
              </a:spcBef>
            </a:pP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Simply separating latent spaces for speaker and content embeddings does not guarantee sufficient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feature decoupling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lvl="1">
              <a:spcBef>
                <a:spcPts val="900"/>
              </a:spcBef>
            </a:pP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Previous methods (e.g., inter-speaker supervision) suffer from overlapping features.</a:t>
            </a:r>
          </a:p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Solution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1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Mutual Information (MI)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: Measures dependency between variables, capturing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linear and non-linear relationships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lvl="1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Estimation Approach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2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Challenge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: Direct MI calculation is impractical due to high dimensionality and unknown distributions.</a:t>
            </a:r>
          </a:p>
          <a:p>
            <a:pPr lvl="2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Technique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3">
              <a:spcBef>
                <a:spcPts val="900"/>
              </a:spcBef>
            </a:pP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Use a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variational upper bound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 (Cheng et al., 2020) to approximate MI.</a:t>
            </a:r>
          </a:p>
          <a:p>
            <a:pPr lvl="3">
              <a:spcBef>
                <a:spcPts val="900"/>
              </a:spcBef>
            </a:pP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Introduce parameterized conditional distributions for efficient estimation and minimization.</a:t>
            </a:r>
          </a:p>
          <a:p>
            <a:pPr>
              <a:spcBef>
                <a:spcPts val="900"/>
              </a:spcBef>
            </a:pP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AA1EF9-67C4-9857-6F0C-A6C055F5F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Mutual Information-based Decoupling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1839310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58904-F7E4-8714-C290-2577EA73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9D83CA-AF3A-873A-7D29-9ACDEF082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Challenge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1">
              <a:spcBef>
                <a:spcPts val="900"/>
              </a:spcBef>
            </a:pP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Simply separating latent spaces for speaker and content embeddings does not guarantee sufficient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feature decoupling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lvl="1">
              <a:spcBef>
                <a:spcPts val="900"/>
              </a:spcBef>
            </a:pP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Previous methods (e.g., inter-speaker supervision) suffer from overlapping features.</a:t>
            </a:r>
          </a:p>
          <a:p>
            <a:pPr lvl="1">
              <a:spcBef>
                <a:spcPts val="900"/>
              </a:spcBef>
            </a:pP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Solution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1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Mutual Information (MI)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: Measures dependency between variables, capturing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linear and non-linear relationships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7BA311-6017-8D41-90B8-9DB86A24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Mutual Information-based Decoupling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2885297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ED6C9-F451-F855-B078-AC26469D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9B2159-AC36-F60E-102F-A199BD292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Challenge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: Direct MI calculation is impractical due to high dimensionality and unknown distributions.</a:t>
            </a:r>
          </a:p>
          <a:p>
            <a:pPr>
              <a:spcBef>
                <a:spcPts val="900"/>
              </a:spcBef>
            </a:pP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Solution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1">
              <a:spcBef>
                <a:spcPts val="900"/>
              </a:spcBef>
            </a:pP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Use a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variational upper bound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 (Cheng et al., 2020) to approximate MI.</a:t>
            </a:r>
          </a:p>
          <a:p>
            <a:pPr lvl="1">
              <a:spcBef>
                <a:spcPts val="900"/>
              </a:spcBef>
            </a:pP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Introduce parameterized conditional distributions for efficient estimation and minimization.</a:t>
            </a:r>
          </a:p>
          <a:p>
            <a:pPr marL="457200" lvl="1" indent="0">
              <a:spcBef>
                <a:spcPts val="900"/>
              </a:spcBef>
              <a:buNone/>
            </a:pPr>
            <a:endParaRPr lang="en" altLang="ko-KR" dirty="0">
              <a:solidFill>
                <a:srgbClr val="0E0E0E"/>
              </a:solidFill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Minimizing the overlap information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 between the extracted style features and content features</a:t>
            </a:r>
          </a:p>
          <a:p>
            <a:pPr>
              <a:spcBef>
                <a:spcPts val="900"/>
              </a:spcBef>
              <a:buFont typeface="Wingdings" pitchFamily="2" charset="2"/>
              <a:buChar char="Ø"/>
            </a:pP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Successfully establish a speaker style space related to identity and a content space associated with semantics.</a:t>
            </a:r>
          </a:p>
          <a:p>
            <a:pPr>
              <a:spcBef>
                <a:spcPts val="900"/>
              </a:spcBef>
            </a:pPr>
            <a:endParaRPr lang="en" altLang="ko-KR" dirty="0">
              <a:solidFill>
                <a:srgbClr val="0E0E0E"/>
              </a:solidFill>
              <a:latin typeface=".AppleSystemUIFon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1428D7-3645-69E9-2D3C-3B856B55C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Estimation Approach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1890299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92304-161C-F995-B1E5-6B0E4B9C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89F7514-B8AF-E844-7EF4-20AC26203B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900"/>
                  </a:spcBef>
                </a:pP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Formula</a:t>
                </a:r>
                <a:endParaRPr lang="en" altLang="ko-KR" dirty="0">
                  <a:solidFill>
                    <a:srgbClr val="0E0E0E"/>
                  </a:solidFill>
                  <a:latin typeface=".AppleSystemUIFont"/>
                </a:endParaRPr>
              </a:p>
              <a:p>
                <a:pPr marL="0" indent="0" algn="ctr">
                  <a:spcBef>
                    <a:spcPts val="9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𝑐𝑜𝑛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E0E0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b="0" i="1" smtClean="0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ko-KR" i="1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ko-KR" b="0" i="1" smtClean="0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altLang="ko-KR" b="0" i="1" smtClean="0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d>
                                            <m:dPr>
                                              <m:endChr m:val="|"/>
                                              <m:ctrlPr>
                                                <a:rPr lang="en-US" altLang="ko-KR" b="0" i="1" smtClean="0">
                                                  <a:solidFill>
                                                    <a:srgbClr val="0E0E0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b="0" i="1" smtClean="0">
                                                      <a:solidFill>
                                                        <a:srgbClr val="0E0E0E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b="0" i="1" smtClean="0">
                                                      <a:solidFill>
                                                        <a:srgbClr val="0E0E0E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𝐹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b="0" i="1" smtClean="0">
                                                      <a:solidFill>
                                                        <a:srgbClr val="0E0E0E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𝑐𝑜𝑛</m:t>
                                                  </m:r>
                                                  <m:r>
                                                    <a:rPr lang="en-US" altLang="ko-KR" b="0" i="1" smtClean="0">
                                                      <a:solidFill>
                                                        <a:srgbClr val="0E0E0E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altLang="ko-KR" b="0" i="1" smtClean="0">
                                                      <a:solidFill>
                                                        <a:srgbClr val="0E0E0E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b="0" i="1" smtClean="0">
                                                  <a:solidFill>
                                                    <a:srgbClr val="0E0E0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ko-KR" b="0" i="1" smtClean="0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i="1">
                                                  <a:solidFill>
                                                    <a:srgbClr val="0E0E0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i="1">
                                                  <a:solidFill>
                                                    <a:srgbClr val="0E0E0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b="0" i="1" smtClean="0">
                                                  <a:solidFill>
                                                    <a:srgbClr val="0E0E0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𝑠𝑝𝑘</m:t>
                                              </m:r>
                                              <m:r>
                                                <a:rPr lang="en-US" altLang="ko-KR" i="1">
                                                  <a:solidFill>
                                                    <a:srgbClr val="0E0E0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ko-KR" i="1">
                                                  <a:solidFill>
                                                    <a:srgbClr val="0E0E0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b="0" i="1" smtClean="0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r>
                                            <a:rPr lang="en-US" altLang="ko-KR" i="1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altLang="ko-KR" i="1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d>
                                            <m:dPr>
                                              <m:endChr m:val="|"/>
                                              <m:ctrlPr>
                                                <a:rPr lang="en-US" altLang="ko-KR" i="1">
                                                  <a:solidFill>
                                                    <a:srgbClr val="0E0E0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i="1">
                                                      <a:solidFill>
                                                        <a:srgbClr val="0E0E0E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i="1">
                                                      <a:solidFill>
                                                        <a:srgbClr val="0E0E0E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𝐹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i="1">
                                                      <a:solidFill>
                                                        <a:srgbClr val="0E0E0E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𝑐𝑜𝑛</m:t>
                                                  </m:r>
                                                  <m:r>
                                                    <a:rPr lang="en-US" altLang="ko-KR" i="1">
                                                      <a:solidFill>
                                                        <a:srgbClr val="0E0E0E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altLang="ko-KR" b="0" i="1" smtClean="0">
                                                      <a:solidFill>
                                                        <a:srgbClr val="0E0E0E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i="1">
                                                  <a:solidFill>
                                                    <a:srgbClr val="0E0E0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ko-KR" i="1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i="1">
                                                  <a:solidFill>
                                                    <a:srgbClr val="0E0E0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i="1">
                                                  <a:solidFill>
                                                    <a:srgbClr val="0E0E0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i="1">
                                                  <a:solidFill>
                                                    <a:srgbClr val="0E0E0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𝑠𝑝𝑘</m:t>
                                              </m:r>
                                              <m:r>
                                                <a:rPr lang="en-US" altLang="ko-KR" i="1">
                                                  <a:solidFill>
                                                    <a:srgbClr val="0E0E0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ko-KR" b="0" i="1" smtClean="0">
                                                  <a:solidFill>
                                                    <a:srgbClr val="0E0E0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i="1">
                                              <a:solidFill>
                                                <a:srgbClr val="0E0E0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altLang="ko-KR" b="1" dirty="0">
                  <a:solidFill>
                    <a:srgbClr val="0E0E0E"/>
                  </a:solidFill>
                </a:endParaRPr>
              </a:p>
              <a:p>
                <a:pPr marL="0" indent="0" algn="ctr">
                  <a:spcBef>
                    <a:spcPts val="900"/>
                  </a:spcBef>
                  <a:buNone/>
                </a:pPr>
                <a:endParaRPr lang="en" altLang="ko-KR" dirty="0">
                  <a:solidFill>
                    <a:srgbClr val="0E0E0E"/>
                  </a:solidFill>
                  <a:effectLst/>
                  <a:latin typeface=".AppleSystemUIFont"/>
                </a:endParaRPr>
              </a:p>
              <a:p>
                <a:pPr>
                  <a:spcBef>
                    <a:spcPts val="900"/>
                  </a:spcBef>
                </a:pPr>
                <a:r>
                  <a:rPr lang="en" altLang="ko-KR" b="1" dirty="0">
                    <a:solidFill>
                      <a:srgbClr val="0E0E0E"/>
                    </a:solidFill>
                    <a:latin typeface=".AppleSystemUIFont"/>
                  </a:rPr>
                  <a:t>Components</a:t>
                </a:r>
              </a:p>
              <a:p>
                <a:pPr lvl="1">
                  <a:spcBef>
                    <a:spcPts val="9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𝑠𝑝𝑘</m:t>
                        </m:r>
                        <m: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" altLang="ko-KR" dirty="0">
                    <a:solidFill>
                      <a:srgbClr val="0E0E0E"/>
                    </a:solidFill>
                    <a:latin typeface=".AppleSystemUIFont"/>
                  </a:rPr>
                  <a:t>: The speaker style embeddings for the </a:t>
                </a:r>
                <a14:m>
                  <m:oMath xmlns:m="http://schemas.openxmlformats.org/officeDocument/2006/math">
                    <m:r>
                      <a:rPr lang="en" altLang="ko-KR" i="1" dirty="0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" altLang="ko-KR" dirty="0">
                    <a:solidFill>
                      <a:srgbClr val="0E0E0E"/>
                    </a:solidFill>
                    <a:latin typeface=".AppleSystemUIFont"/>
                  </a:rPr>
                  <a:t>-</a:t>
                </a:r>
                <a:r>
                  <a:rPr lang="en" altLang="ko-KR" dirty="0" err="1">
                    <a:solidFill>
                      <a:srgbClr val="0E0E0E"/>
                    </a:solidFill>
                    <a:latin typeface=".AppleSystemUIFont"/>
                  </a:rPr>
                  <a:t>th</a:t>
                </a:r>
                <a:r>
                  <a:rPr lang="en" altLang="ko-KR" dirty="0">
                    <a:solidFill>
                      <a:srgbClr val="0E0E0E"/>
                    </a:solidFill>
                    <a:latin typeface=".AppleSystemUIFont"/>
                  </a:rPr>
                  <a:t> sample</a:t>
                </a:r>
              </a:p>
              <a:p>
                <a:pPr lvl="1">
                  <a:spcBef>
                    <a:spcPts val="9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𝑐𝑜𝑛</m:t>
                        </m:r>
                        <m:r>
                          <a:rPr lang="en-US" altLang="ko-KR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𝑐𝑜𝑛</m:t>
                        </m:r>
                        <m:r>
                          <a:rPr lang="en-US" altLang="ko-KR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" altLang="ko-KR" dirty="0">
                    <a:solidFill>
                      <a:srgbClr val="0E0E0E"/>
                    </a:solidFill>
                    <a:latin typeface=".AppleSystemUIFont"/>
                  </a:rPr>
                  <a:t>: The content embeddings for the </a:t>
                </a:r>
                <a14:m>
                  <m:oMath xmlns:m="http://schemas.openxmlformats.org/officeDocument/2006/math">
                    <m:r>
                      <a:rPr lang="en" altLang="ko-KR" i="1" dirty="0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" altLang="ko-KR" dirty="0" err="1">
                    <a:solidFill>
                      <a:srgbClr val="0E0E0E"/>
                    </a:solidFill>
                    <a:latin typeface=".AppleSystemUIFont"/>
                  </a:rPr>
                  <a:t>-th</a:t>
                </a:r>
                <a:r>
                  <a:rPr lang="en" altLang="ko-KR" dirty="0">
                    <a:solidFill>
                      <a:srgbClr val="0E0E0E"/>
                    </a:solidFill>
                    <a:latin typeface=".AppleSystemUIFont"/>
                  </a:rPr>
                  <a:t> and </a:t>
                </a:r>
                <a14:m>
                  <m:oMath xmlns:m="http://schemas.openxmlformats.org/officeDocument/2006/math">
                    <m:r>
                      <a:rPr lang="en" altLang="ko-KR" i="1" dirty="0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" altLang="ko-KR" dirty="0">
                    <a:solidFill>
                      <a:srgbClr val="0E0E0E"/>
                    </a:solidFill>
                    <a:latin typeface=".AppleSystemUIFont"/>
                  </a:rPr>
                  <a:t>-</a:t>
                </a:r>
                <a:r>
                  <a:rPr lang="en" altLang="ko-KR" dirty="0" err="1">
                    <a:solidFill>
                      <a:srgbClr val="0E0E0E"/>
                    </a:solidFill>
                    <a:latin typeface=".AppleSystemUIFont"/>
                  </a:rPr>
                  <a:t>th</a:t>
                </a:r>
                <a:r>
                  <a:rPr lang="en" altLang="ko-KR" dirty="0">
                    <a:solidFill>
                      <a:srgbClr val="0E0E0E"/>
                    </a:solidFill>
                    <a:latin typeface=".AppleSystemUIFont"/>
                  </a:rPr>
                  <a:t> samples</a:t>
                </a:r>
              </a:p>
              <a:p>
                <a:pPr lvl="1">
                  <a:spcBef>
                    <a:spcPts val="900"/>
                  </a:spcBef>
                </a:pPr>
                <a:endParaRPr lang="en" altLang="ko-KR" dirty="0">
                  <a:solidFill>
                    <a:srgbClr val="0E0E0E"/>
                  </a:solidFill>
                  <a:effectLst/>
                  <a:latin typeface=".AppleSystemUIFont"/>
                </a:endParaRPr>
              </a:p>
              <a:p>
                <a:pPr lvl="1">
                  <a:spcBef>
                    <a:spcPts val="900"/>
                  </a:spcBef>
                </a:pPr>
                <a:endParaRPr lang="en" altLang="ko-KR" dirty="0">
                  <a:solidFill>
                    <a:srgbClr val="0E0E0E"/>
                  </a:solidFill>
                  <a:effectLst/>
                  <a:latin typeface=".AppleSystemUIFont"/>
                </a:endParaRP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89F7514-B8AF-E844-7EF4-20AC26203B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t="-106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7F5A6B7-2D76-ECDA-BC6D-BD54879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Estimation Approach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A83061-2F9B-3498-6953-14CC4D3C6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100" y="5816168"/>
            <a:ext cx="4241800" cy="673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98C05A-3961-E80E-E14F-3E99DE044416}"/>
              </a:ext>
            </a:extLst>
          </p:cNvPr>
          <p:cNvSpPr txBox="1"/>
          <p:nvPr/>
        </p:nvSpPr>
        <p:spPr>
          <a:xfrm>
            <a:off x="3877129" y="6489268"/>
            <a:ext cx="9380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>
                    <a:lumMod val="75000"/>
                  </a:schemeClr>
                </a:solidFill>
              </a:rPr>
              <a:t>원래 </a:t>
            </a:r>
            <a:r>
              <a:rPr kumimoji="1" lang="en-US" altLang="ko-KR" sz="1200" dirty="0">
                <a:solidFill>
                  <a:schemeClr val="bg1">
                    <a:lumMod val="75000"/>
                  </a:schemeClr>
                </a:solidFill>
              </a:rPr>
              <a:t>MI </a:t>
            </a:r>
            <a:r>
              <a:rPr kumimoji="1" lang="ko-KR" altLang="en-US" sz="1200" dirty="0">
                <a:solidFill>
                  <a:schemeClr val="bg1">
                    <a:lumMod val="75000"/>
                  </a:schemeClr>
                </a:solidFill>
              </a:rPr>
              <a:t>식</a:t>
            </a:r>
          </a:p>
        </p:txBody>
      </p:sp>
    </p:spTree>
    <p:extLst>
      <p:ext uri="{BB962C8B-B14F-4D97-AF65-F5344CB8AC3E}">
        <p14:creationId xmlns:p14="http://schemas.microsoft.com/office/powerpoint/2010/main" val="12390742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E6F9C-301B-1B7A-4F47-F23701F50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AC9DEFC-66C6-2FC8-AD80-AFECC13A9C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900"/>
                  </a:spcBef>
                </a:pP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Formula</a:t>
                </a:r>
                <a:endParaRPr lang="en" altLang="ko-KR" dirty="0">
                  <a:solidFill>
                    <a:srgbClr val="0E0E0E"/>
                  </a:solidFill>
                  <a:latin typeface=".AppleSystemUIFont"/>
                </a:endParaRPr>
              </a:p>
              <a:p>
                <a:pPr marL="0" indent="0" latinLnBrk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𝑖𝑑</m:t>
                          </m:r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E0E0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solidFill>
                            <a:srgbClr val="0E0E0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ko-KR" dirty="0">
                  <a:solidFill>
                    <a:srgbClr val="0E0E0E"/>
                  </a:solidFill>
                </a:endParaRPr>
              </a:p>
              <a:p>
                <a:pPr marL="0" indent="0" algn="ctr">
                  <a:spcBef>
                    <a:spcPts val="900"/>
                  </a:spcBef>
                  <a:buNone/>
                </a:pPr>
                <a:endParaRPr lang="en" altLang="ko-KR" dirty="0">
                  <a:solidFill>
                    <a:srgbClr val="0E0E0E"/>
                  </a:solidFill>
                  <a:effectLst/>
                  <a:latin typeface=".AppleSystemUIFont"/>
                </a:endParaRPr>
              </a:p>
              <a:p>
                <a:pPr latinLnBrk="0"/>
                <a:r>
                  <a:rPr lang="en-US" altLang="ko-KR" b="1" dirty="0">
                    <a:solidFill>
                      <a:srgbClr val="0E0E0E"/>
                    </a:solidFill>
                  </a:rPr>
                  <a:t>Components</a:t>
                </a:r>
              </a:p>
              <a:p>
                <a:pPr lvl="1" latinLnBrk="0"/>
                <a14:m>
                  <m:oMath xmlns:m="http://schemas.openxmlformats.org/officeDocument/2006/math">
                    <m:r>
                      <a:rPr lang="en-US" altLang="ko-KR" i="1" dirty="0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dirty="0">
                    <a:solidFill>
                      <a:srgbClr val="0E0E0E"/>
                    </a:solidFill>
                  </a:rPr>
                  <a:t>: The number of distinct speakers</a:t>
                </a:r>
              </a:p>
              <a:p>
                <a:pPr lvl="1"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𝑛𝑖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E0E0E"/>
                    </a:solidFill>
                  </a:rPr>
                  <a:t>: The one-hot encoded target label for the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dirty="0">
                    <a:solidFill>
                      <a:srgbClr val="0E0E0E"/>
                    </a:solidFill>
                  </a:rPr>
                  <a:t>-</a:t>
                </a:r>
                <a:r>
                  <a:rPr lang="en-US" altLang="ko-KR" dirty="0" err="1">
                    <a:solidFill>
                      <a:srgbClr val="0E0E0E"/>
                    </a:solidFill>
                  </a:rPr>
                  <a:t>th</a:t>
                </a:r>
                <a:r>
                  <a:rPr lang="en-US" altLang="ko-KR" dirty="0">
                    <a:solidFill>
                      <a:srgbClr val="0E0E0E"/>
                    </a:solidFill>
                  </a:rPr>
                  <a:t> sample</a:t>
                </a:r>
              </a:p>
              <a:p>
                <a:pPr lvl="1"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𝑛𝑖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E0E0E"/>
                    </a:solidFill>
                  </a:rPr>
                  <a:t>: The </a:t>
                </a:r>
                <a:r>
                  <a:rPr lang="en-US" altLang="ko-KR" dirty="0" err="1">
                    <a:solidFill>
                      <a:srgbClr val="0E0E0E"/>
                    </a:solidFill>
                  </a:rPr>
                  <a:t>softmax</a:t>
                </a:r>
                <a:r>
                  <a:rPr lang="en-US" altLang="ko-KR" dirty="0">
                    <a:solidFill>
                      <a:srgbClr val="0E0E0E"/>
                    </a:solidFill>
                  </a:rPr>
                  <a:t> probabilities that the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dirty="0">
                    <a:solidFill>
                      <a:srgbClr val="0E0E0E"/>
                    </a:solidFill>
                  </a:rPr>
                  <a:t>-</a:t>
                </a:r>
                <a:r>
                  <a:rPr lang="en-US" altLang="ko-KR" dirty="0" err="1">
                    <a:solidFill>
                      <a:srgbClr val="0E0E0E"/>
                    </a:solidFill>
                  </a:rPr>
                  <a:t>th</a:t>
                </a:r>
                <a:r>
                  <a:rPr lang="en-US" altLang="ko-KR" dirty="0">
                    <a:solidFill>
                      <a:srgbClr val="0E0E0E"/>
                    </a:solidFill>
                  </a:rPr>
                  <a:t> sample’s the speaker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𝑠𝑝𝑘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E0E0E"/>
                    </a:solidFill>
                  </a:rPr>
                  <a:t> belong to the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dirty="0" err="1">
                    <a:solidFill>
                      <a:srgbClr val="0E0E0E"/>
                    </a:solidFill>
                  </a:rPr>
                  <a:t>-th</a:t>
                </a:r>
                <a:r>
                  <a:rPr lang="en-US" altLang="ko-KR" dirty="0">
                    <a:solidFill>
                      <a:srgbClr val="0E0E0E"/>
                    </a:solidFill>
                  </a:rPr>
                  <a:t> speaker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AC9DEFC-66C6-2FC8-AD80-AFECC13A9C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t="-108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68357A0-8F3A-7883-0518-B0372D34E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Speech-related Speaker-Identity Supervision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3902169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9B899-3D5C-B347-3436-BF308C006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294AB03-9B3A-098D-7E3C-9012E2005D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spcBef>
                    <a:spcPts val="900"/>
                  </a:spcBef>
                </a:pP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Formula</a:t>
                </a:r>
                <a:endParaRPr lang="en" altLang="ko-KR" dirty="0">
                  <a:solidFill>
                    <a:srgbClr val="0E0E0E"/>
                  </a:solidFill>
                  <a:latin typeface=".AppleSystemUIFont"/>
                </a:endParaRPr>
              </a:p>
              <a:p>
                <a:pPr marL="0" indent="0" latinLnBrk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𝑖𝑑</m:t>
                          </m:r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E0E0E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ko-KR" dirty="0">
                  <a:solidFill>
                    <a:srgbClr val="0E0E0E"/>
                  </a:solidFill>
                </a:endParaRPr>
              </a:p>
              <a:p>
                <a:pPr marL="0" indent="0" algn="ctr">
                  <a:spcBef>
                    <a:spcPts val="900"/>
                  </a:spcBef>
                  <a:buNone/>
                </a:pPr>
                <a:endParaRPr lang="en" altLang="ko-KR" dirty="0">
                  <a:solidFill>
                    <a:srgbClr val="0E0E0E"/>
                  </a:solidFill>
                  <a:effectLst/>
                  <a:latin typeface=".AppleSystemUIFont"/>
                </a:endParaRPr>
              </a:p>
              <a:p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Objective</a:t>
                </a:r>
                <a:endParaRPr lang="en" altLang="ko-KR" dirty="0">
                  <a:solidFill>
                    <a:srgbClr val="0E0E0E"/>
                  </a:solidFill>
                  <a:effectLst/>
                  <a:latin typeface=".AppleSystemUIFont"/>
                </a:endParaRPr>
              </a:p>
              <a:p>
                <a:pPr lvl="1">
                  <a:spcBef>
                    <a:spcPts val="900"/>
                  </a:spcBef>
                </a:pP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Enforce </a:t>
                </a: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identity consistency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 for the </a:t>
                </a: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same speaker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.</a:t>
                </a:r>
              </a:p>
              <a:p>
                <a:pPr lvl="1">
                  <a:spcBef>
                    <a:spcPts val="900"/>
                  </a:spcBef>
                </a:pP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Promote </a:t>
                </a: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identity diversity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 across </a:t>
                </a: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different speakers</a:t>
                </a:r>
                <a:r>
                  <a:rPr lang="en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.</a:t>
                </a:r>
              </a:p>
              <a:p>
                <a:pPr lvl="1">
                  <a:spcBef>
                    <a:spcPts val="900"/>
                  </a:spcBef>
                </a:pPr>
                <a:endParaRPr lang="en" altLang="ko-KR" dirty="0">
                  <a:solidFill>
                    <a:srgbClr val="0E0E0E"/>
                  </a:solidFill>
                  <a:latin typeface=".AppleSystemUIFont"/>
                </a:endParaRPr>
              </a:p>
              <a:p>
                <a:pPr>
                  <a:spcBef>
                    <a:spcPts val="900"/>
                  </a:spcBef>
                </a:pPr>
                <a:r>
                  <a:rPr lang="en" altLang="ko-KR" dirty="0">
                    <a:solidFill>
                      <a:srgbClr val="0E0E0E"/>
                    </a:solidFill>
                    <a:latin typeface=".AppleSystemUIFont"/>
                  </a:rPr>
                  <a:t>These two loss functions prevent the generation of overly similar outputs.</a:t>
                </a:r>
              </a:p>
              <a:p>
                <a:pPr>
                  <a:spcBef>
                    <a:spcPts val="900"/>
                  </a:spcBef>
                  <a:buFont typeface="Wingdings" pitchFamily="2" charset="2"/>
                  <a:buChar char="Ø"/>
                </a:pPr>
                <a:r>
                  <a:rPr lang="en" altLang="ko-KR" dirty="0">
                    <a:solidFill>
                      <a:srgbClr val="0E0E0E"/>
                    </a:solidFill>
                    <a:latin typeface=".AppleSystemUIFont"/>
                  </a:rPr>
                  <a:t>Protecting against </a:t>
                </a:r>
                <a:r>
                  <a:rPr lang="en" altLang="ko-KR" b="1" dirty="0">
                    <a:solidFill>
                      <a:srgbClr val="0E0E0E"/>
                    </a:solidFill>
                    <a:latin typeface=".AppleSystemUIFont"/>
                  </a:rPr>
                  <a:t>mode collapse</a:t>
                </a:r>
                <a:r>
                  <a:rPr lang="en" altLang="ko-KR" dirty="0">
                    <a:solidFill>
                      <a:srgbClr val="0E0E0E"/>
                    </a:solidFill>
                    <a:latin typeface=".AppleSystemUIFont"/>
                  </a:rPr>
                  <a:t>.</a:t>
                </a:r>
              </a:p>
              <a:p>
                <a:pPr>
                  <a:spcBef>
                    <a:spcPts val="900"/>
                  </a:spcBef>
                </a:pPr>
                <a:endParaRPr lang="en" altLang="ko-KR" dirty="0">
                  <a:solidFill>
                    <a:srgbClr val="0E0E0E"/>
                  </a:solidFill>
                  <a:effectLst/>
                  <a:latin typeface=".AppleSystemUIFont"/>
                </a:endParaRP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294AB03-9B3A-098D-7E3C-9012E2005D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53" t="-111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F9C8C36-6394-80E4-2AFA-9CFB78A0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Speech-related Speaker-Identity Supervision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2564661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69AE5-90BE-C8CA-E88E-0CF53CE0D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68F9EB-140C-1DBE-D5D7-B2B6EECDE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dirty="0"/>
              <a:t>Method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ID-Aware Query-based Contrastive Learning</a:t>
            </a:r>
          </a:p>
          <a:p>
            <a:pPr lvl="1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Mutual Information-based Dual Decoupling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en-US" dirty="0"/>
              <a:t>Alternative Text-Input with Style Control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Training Loss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Experiment and Result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3A1375-E047-CE0A-5458-C9E83A43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8049246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89976-3EA6-9F21-9EDB-C10FC93D2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729221E-2AA1-612E-2C10-CFEEC29FF2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3950" y="1316037"/>
            <a:ext cx="7404100" cy="47498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94343D-8815-A0C4-9E53-259DDAB6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Alternative Text-Input with Style Control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15946088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938C1-2006-6EEE-6724-FD5EF5FD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437727-D958-C077-0568-CA62BE40D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dirty="0"/>
              <a:t>Method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ID-Aware Query-based Contrastive Learning</a:t>
            </a:r>
          </a:p>
          <a:p>
            <a:pPr lvl="1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Mutual Information-based Dual Decoupling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Alternative Text-Input with Style Control</a:t>
            </a:r>
          </a:p>
          <a:p>
            <a:pPr lvl="1"/>
            <a:r>
              <a:rPr lang="en-US" dirty="0"/>
              <a:t>Training Loss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Experiment and Result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B7E83D-81FD-1C39-D7B8-6A4310DA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634143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46B6-4295-7170-2816-92CAD0AF0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AD8499-3479-4BF5-D9BD-032C10FCD5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900"/>
                  </a:spcBef>
                </a:pPr>
                <a:r>
                  <a:rPr lang="en" altLang="ko-KR" b="1" dirty="0">
                    <a:solidFill>
                      <a:srgbClr val="0E0E0E"/>
                    </a:solidFill>
                    <a:effectLst/>
                    <a:latin typeface=".AppleSystemUIFont"/>
                  </a:rPr>
                  <a:t>Formula</a:t>
                </a:r>
                <a:endParaRPr lang="en" altLang="ko-KR" dirty="0">
                  <a:solidFill>
                    <a:srgbClr val="0E0E0E"/>
                  </a:solidFill>
                  <a:latin typeface=".AppleSystemUIFont"/>
                </a:endParaRPr>
              </a:p>
              <a:p>
                <a:pPr marL="0" indent="0" latinLnBrk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𝑟𝑒𝑐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E0E0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i="1" smtClean="0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𝑀𝑒𝑙</m:t>
                              </m:r>
                              <m:r>
                                <a:rPr lang="en-US" altLang="ko-KR" b="0" i="1" smtClean="0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ko-KR" b="0" i="1" smtClean="0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1" smtClean="0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𝑀𝑒𝑙</m:t>
                                  </m:r>
                                </m:e>
                              </m:acc>
                            </m:e>
                          </m:d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ko-KR" b="0" dirty="0">
                  <a:solidFill>
                    <a:srgbClr val="0E0E0E"/>
                  </a:solidFill>
                  <a:latin typeface=".AppleSystemUIFont"/>
                </a:endParaRPr>
              </a:p>
              <a:p>
                <a:pPr marL="0" indent="0" latinLnBrk="0">
                  <a:buNone/>
                </a:pPr>
                <a:endParaRPr lang="en" altLang="ko-KR" dirty="0">
                  <a:solidFill>
                    <a:srgbClr val="0E0E0E"/>
                  </a:solidFill>
                  <a:effectLst/>
                  <a:latin typeface=".AppleSystemUIFont"/>
                </a:endParaRPr>
              </a:p>
              <a:p>
                <a:pPr marL="0" indent="0" algn="ctr" latinLnBrk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𝑟𝑒𝑐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𝑐𝑜𝑛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𝑀𝐼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𝑖𝑑</m:t>
                          </m:r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0E0E0E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𝑖𝑑</m:t>
                          </m:r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0E0E0E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E0E0E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" altLang="ko-KR" dirty="0">
                  <a:solidFill>
                    <a:srgbClr val="0E0E0E"/>
                  </a:solidFill>
                  <a:effectLst/>
                  <a:latin typeface=".AppleSystemUIFont"/>
                </a:endParaRPr>
              </a:p>
              <a:p>
                <a:pPr marL="0" indent="0" algn="ctr" latinLnBrk="0">
                  <a:buNone/>
                </a:pPr>
                <a:endParaRPr lang="en" altLang="ko-KR" dirty="0">
                  <a:solidFill>
                    <a:srgbClr val="0E0E0E"/>
                  </a:solidFill>
                  <a:latin typeface=".AppleSystemUIFont"/>
                </a:endParaRPr>
              </a:p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E0E0E"/>
                    </a:solidFill>
                    <a:effectLst/>
                    <a:latin typeface=".AppleSystemUIFont"/>
                  </a:rPr>
                  <a:t>:</a:t>
                </a:r>
                <a:r>
                  <a:rPr lang="ko-KR" altLang="en-US" dirty="0">
                    <a:solidFill>
                      <a:srgbClr val="0E0E0E"/>
                    </a:solidFill>
                    <a:effectLst/>
                    <a:latin typeface=".AppleSystemUIFont"/>
                  </a:rPr>
                  <a:t> </a:t>
                </a:r>
                <a:r>
                  <a:rPr lang="en" altLang="ko-KR" dirty="0"/>
                  <a:t>Inter-speaker Supervision Loss</a:t>
                </a:r>
                <a:r>
                  <a:rPr lang="ko-KR" altLang="en-US" dirty="0">
                    <a:solidFill>
                      <a:srgbClr val="0E0E0E"/>
                    </a:solidFill>
                    <a:latin typeface=".AppleSystemUIFont"/>
                  </a:rPr>
                  <a:t> </a:t>
                </a:r>
                <a:r>
                  <a:rPr lang="en-US" altLang="ko-KR" dirty="0">
                    <a:solidFill>
                      <a:srgbClr val="0E0E0E"/>
                    </a:solidFill>
                    <a:latin typeface=".AppleSystemUIFont"/>
                  </a:rPr>
                  <a:t>+</a:t>
                </a:r>
                <a:r>
                  <a:rPr lang="ko-KR" altLang="en-US" dirty="0">
                    <a:solidFill>
                      <a:srgbClr val="0E0E0E"/>
                    </a:solidFill>
                    <a:latin typeface=".AppleSystemUIFont"/>
                  </a:rPr>
                  <a:t> </a:t>
                </a:r>
                <a:r>
                  <a:rPr lang="en" altLang="ko-KR" dirty="0"/>
                  <a:t>Face-Voice Mapping Loss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in FVMVC</a:t>
                </a:r>
                <a:endParaRPr lang="en" altLang="ko-KR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AD8499-3479-4BF5-D9BD-032C10FCD5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3416A3D-487D-BD9D-1086-73618FBB3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Training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Loss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30858246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CACDA-60CA-6569-1F76-7C13656D9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202DB9-17D5-F1B3-48C8-86F11DBEC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Method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ID-Aware Query-based Contrastive Learning</a:t>
            </a:r>
          </a:p>
          <a:p>
            <a:pPr lvl="1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Mutual Information-based Dual Decoupling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Alternative Text-Input with Style Control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Training Loss</a:t>
            </a:r>
          </a:p>
          <a:p>
            <a:r>
              <a:rPr lang="en-US" dirty="0"/>
              <a:t>Experiment and Result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D9F89C-C039-166E-D4C2-CFBCB6D5E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740251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A41FD-D988-19CB-B648-5D931912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9B98EA1-188F-3572-F2CA-445D24A8AE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0363" y="1507789"/>
            <a:ext cx="11471275" cy="436629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9F122FA-B0A3-6AF1-BAC0-CDD5D876B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Experiment and Result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16267510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9B284-640E-8C4B-C8B5-78F7A2E7F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C919FA-0EEE-335F-6864-7C32DEEFE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Experiment and Result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30C040A-CC64-1012-218E-B61977CAD9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0363" y="2388924"/>
            <a:ext cx="11471275" cy="260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533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3319F-107B-1442-8D69-C5BC9329C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4E475A-5792-96B4-F115-71577B45F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Experiment and Result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2E0BC08-D09D-F534-FBDA-A34F7A0E8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E8368C0-D066-4634-28EF-DBF5FB51D262}"/>
              </a:ext>
            </a:extLst>
          </p:cNvPr>
          <p:cNvGrpSpPr/>
          <p:nvPr/>
        </p:nvGrpSpPr>
        <p:grpSpPr>
          <a:xfrm>
            <a:off x="502967" y="1828800"/>
            <a:ext cx="11186066" cy="3724742"/>
            <a:chOff x="-1708150" y="1016732"/>
            <a:chExt cx="15027308" cy="500380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72ED0D53-0617-5AC8-AC4A-3033559D2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708150" y="1016732"/>
              <a:ext cx="7226300" cy="5003800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C6D13D9-DBBC-DEAA-5133-6B0669B9B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1258" y="1931132"/>
              <a:ext cx="7327900" cy="3175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06032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42836-6F13-02C7-80EB-04D92D02A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4745A6-8014-D250-9B01-7339BB221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0E0E0E"/>
                </a:solidFill>
                <a:effectLst/>
                <a:latin typeface=".AppleSystemUIFont"/>
              </a:rPr>
              <a:t>Experiment and Result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ABCEE65-287B-E432-244E-16E606D18A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22316" y="1304925"/>
            <a:ext cx="6147368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304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11C23-4E82-A38D-B65E-D290E3608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A43594-E2FA-2C07-9EDA-0F940E1B2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Method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ID-Aware Query-based Contrastive Learning</a:t>
            </a:r>
          </a:p>
          <a:p>
            <a:pPr lvl="1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Mutual Information-based Dual Decoupling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Alternative Text-Input with Style Control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Training Loss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Experiment and Result</a:t>
            </a:r>
          </a:p>
          <a:p>
            <a:r>
              <a:rPr lang="en-US" dirty="0"/>
              <a:t>Conclusion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1FCF69-51CC-758F-F8E5-9A92D4ED9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5902819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D014C-0CBF-132C-43CF-6A3060EED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524E32-412B-2161-33A9-024BED083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Conclusion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B6832E-F120-D3B8-B339-2121C7A97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Framework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1">
              <a:spcBef>
                <a:spcPts val="900"/>
              </a:spcBef>
            </a:pP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Introduced the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ID-</a:t>
            </a:r>
            <a:r>
              <a:rPr lang="en" altLang="ko-KR" b="1" dirty="0" err="1">
                <a:solidFill>
                  <a:srgbClr val="0E0E0E"/>
                </a:solidFill>
                <a:effectLst/>
                <a:latin typeface=".AppleSystemUIFont"/>
              </a:rPr>
              <a:t>FaceVC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 framework to generate speech aligned with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facial identity features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lvl="1">
              <a:spcBef>
                <a:spcPts val="900"/>
              </a:spcBef>
            </a:pP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Key Components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1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IAQ-CL Module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: Maps facial features to speech.</a:t>
            </a:r>
          </a:p>
          <a:p>
            <a:pPr lvl="1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MIDD Module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: Enhances feature disentanglement for precise mapping.</a:t>
            </a:r>
          </a:p>
          <a:p>
            <a:pPr lvl="1"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Text Modality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: Enables control over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speech content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, ensuring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naturalness, rhythm, and controllability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lvl="1">
              <a:spcBef>
                <a:spcPts val="900"/>
              </a:spcBef>
            </a:pP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Future Directions</a:t>
            </a:r>
            <a:endParaRPr lang="en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1">
              <a:spcBef>
                <a:spcPts val="900"/>
              </a:spcBef>
            </a:pP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Extend beyond audio generation to include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expressive facial animations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, making the output both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audible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 and </a:t>
            </a:r>
            <a:r>
              <a:rPr lang="en" altLang="ko-KR" b="1" dirty="0">
                <a:solidFill>
                  <a:srgbClr val="0E0E0E"/>
                </a:solidFill>
                <a:effectLst/>
                <a:latin typeface=".AppleSystemUIFont"/>
              </a:rPr>
              <a:t>visible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41148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749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18880</TotalTime>
  <Words>2307</Words>
  <Application>Microsoft Macintosh PowerPoint</Application>
  <PresentationFormat>와이드스크린</PresentationFormat>
  <Paragraphs>420</Paragraphs>
  <Slides>44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44</vt:i4>
      </vt:variant>
    </vt:vector>
  </HeadingPairs>
  <TitlesOfParts>
    <vt:vector size="56" baseType="lpstr">
      <vt:lpstr>.AppleSystemUIFont</vt:lpstr>
      <vt:lpstr>Arial</vt:lpstr>
      <vt:lpstr>Helvetica</vt:lpstr>
      <vt:lpstr>Times New Roman</vt:lpstr>
      <vt:lpstr>Cambria Math</vt:lpstr>
      <vt:lpstr>Wingdings 3</vt:lpstr>
      <vt:lpstr>Wingdings</vt:lpstr>
      <vt:lpstr>Candara</vt:lpstr>
      <vt:lpstr>Corbel</vt:lpstr>
      <vt:lpstr>맑은 고딕</vt:lpstr>
      <vt:lpstr>Office 테마</vt:lpstr>
      <vt:lpstr>1_Office 테마</vt:lpstr>
      <vt:lpstr>PowerPoint 프레젠테이션</vt:lpstr>
      <vt:lpstr>Table of Contents</vt:lpstr>
      <vt:lpstr>Table of Contents</vt:lpstr>
      <vt:lpstr>Face-based Voice Conversion</vt:lpstr>
      <vt:lpstr>Challenge</vt:lpstr>
      <vt:lpstr>To Address Challenge 1</vt:lpstr>
      <vt:lpstr>To Address Challenge 2</vt:lpstr>
      <vt:lpstr>Text-Based Speech Generation with Style Control</vt:lpstr>
      <vt:lpstr>Table of Contents</vt:lpstr>
      <vt:lpstr>Method</vt:lpstr>
      <vt:lpstr>Architecture of the proposed ID-FaceVC</vt:lpstr>
      <vt:lpstr>ID-Aware Query-based Contrastive Learning</vt:lpstr>
      <vt:lpstr>Using CLIP as Face Encoder</vt:lpstr>
      <vt:lpstr>Self-Adaptive Face-Prompted QFormer</vt:lpstr>
      <vt:lpstr>Self-Adaptive Face-Prompted QFormer</vt:lpstr>
      <vt:lpstr>SAFPQ Workflow</vt:lpstr>
      <vt:lpstr>Mathematical Process of SAFPQ</vt:lpstr>
      <vt:lpstr>Mathematical Process of SAFPQ</vt:lpstr>
      <vt:lpstr>Mathematical Process of SAFPQ</vt:lpstr>
      <vt:lpstr>Loss of SAFPQ</vt:lpstr>
      <vt:lpstr>Face-related Speaker-identity Supervision</vt:lpstr>
      <vt:lpstr>Face-related Speaker-identity Supervision</vt:lpstr>
      <vt:lpstr>Table of Contents</vt:lpstr>
      <vt:lpstr>Mutual Information-based Dual Decoupling (MIDD)</vt:lpstr>
      <vt:lpstr>Disentangled Latent Space</vt:lpstr>
      <vt:lpstr>Disentangled Latent Space</vt:lpstr>
      <vt:lpstr>Mutual Information-based Decoupling</vt:lpstr>
      <vt:lpstr>Mutual Information-based Decoupling</vt:lpstr>
      <vt:lpstr>Estimation Approach</vt:lpstr>
      <vt:lpstr>Estimation Approach</vt:lpstr>
      <vt:lpstr>Speech-related Speaker-Identity Supervision</vt:lpstr>
      <vt:lpstr>Speech-related Speaker-Identity Supervision</vt:lpstr>
      <vt:lpstr>Table of Contents</vt:lpstr>
      <vt:lpstr>Alternative Text-Input with Style Control</vt:lpstr>
      <vt:lpstr>Table of Contents</vt:lpstr>
      <vt:lpstr>Training Loss</vt:lpstr>
      <vt:lpstr>Table of Contents</vt:lpstr>
      <vt:lpstr>Experiment and Result</vt:lpstr>
      <vt:lpstr>Experiment and Result</vt:lpstr>
      <vt:lpstr>Experiment and Result</vt:lpstr>
      <vt:lpstr>Experiment and Result</vt:lpstr>
      <vt:lpstr>Table of Contents</vt:lpstr>
      <vt:lpstr>Conclusion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Taehoon Lee</dc:creator>
  <cp:lastModifiedBy>강현오</cp:lastModifiedBy>
  <cp:revision>2633</cp:revision>
  <dcterms:created xsi:type="dcterms:W3CDTF">2013-05-08T06:38:33Z</dcterms:created>
  <dcterms:modified xsi:type="dcterms:W3CDTF">2025-01-06T02:13:07Z</dcterms:modified>
</cp:coreProperties>
</file>