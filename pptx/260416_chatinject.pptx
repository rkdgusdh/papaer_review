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16"/>
  </p:notesMasterIdLst>
  <p:handoutMasterIdLst>
    <p:handoutMasterId r:id="rId17"/>
  </p:handoutMasterIdLst>
  <p:sldIdLst>
    <p:sldId id="394" r:id="rId3"/>
    <p:sldId id="395" r:id="rId4"/>
    <p:sldId id="396" r:id="rId5"/>
    <p:sldId id="397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275" r:id="rId15"/>
  </p:sldIdLst>
  <p:sldSz cx="12192000" cy="6858000"/>
  <p:notesSz cx="9928225" cy="6797675"/>
  <p:embeddedFontLst>
    <p:embeddedFont>
      <p:font typeface="맑은 고딕" panose="020B0503020000020004" pitchFamily="34" charset="-127"/>
      <p:regular r:id="rId18"/>
      <p:bold r:id="rId19"/>
    </p:embeddedFont>
    <p:embeddedFont>
      <p:font typeface="Candara" panose="020E0502030303020204" pitchFamily="34" charset="0"/>
      <p:regular r:id="rId20"/>
      <p:bold r:id="rId21"/>
      <p:italic r:id="rId22"/>
      <p:boldItalic r:id="rId23"/>
    </p:embeddedFont>
    <p:embeddedFont>
      <p:font typeface="Corbel" panose="020B0503020204020204" pitchFamily="34" charset="0"/>
      <p:regular r:id="rId24"/>
      <p:bold r:id="rId25"/>
      <p:italic r:id="rId26"/>
      <p:boldItalic r:id="rId27"/>
    </p:embeddedFont>
    <p:embeddedFont>
      <p:font typeface="Wingdings 3" pitchFamily="2" charset="2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05" autoAdjust="0"/>
    <p:restoredTop sz="82721" autoAdjust="0"/>
  </p:normalViewPr>
  <p:slideViewPr>
    <p:cSldViewPr>
      <p:cViewPr varScale="1">
        <p:scale>
          <a:sx n="100" d="100"/>
          <a:sy n="100" d="100"/>
        </p:scale>
        <p:origin x="528" y="176"/>
      </p:cViewPr>
      <p:guideLst>
        <p:guide orient="horz" pos="2160"/>
        <p:guide pos="3837"/>
      </p:guideLst>
    </p:cSldViewPr>
  </p:slideViewPr>
  <p:outlineViewPr>
    <p:cViewPr>
      <p:scale>
        <a:sx n="33" d="100"/>
        <a:sy n="33" d="100"/>
      </p:scale>
      <p:origin x="0" y="-4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3552" y="7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2026. 4. 16.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03:36:43.1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1 206,'95'0,"1"0,-2 0,0 0,-27 0,0 0,1 0,29 0,-1 0,-7 0,-2 0,-4 0,-4 0,-14 0,-3 0,-8 0,-2 0,36 0,-7 0,6 0,5 0,6-2,-4-1,-14-3,-10-3,-2 0,10-6,16-2,-42 8,-1 0,-1-1,-1 1,40-8,-14 1,-13 4,-11 6,-12 3,-7 3,-2-1,6-2,10 0,8 0,5 0,1-2,2-1,-2-2,-4 2,-7 1,-14-1,-9 4,-8 0,-6 2,4 0,0 0,3 0,-3 0,-1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03:36:51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0 132,'64'0,"0"0,2 0,6 0,6 0,4 0,6 0,4 0,2 0,-8 0,3 0,2 0,0 0,0 0,0 0,2 0,-1 0,-1 0,-2 0,11 0,0 0,-4 0,-3 0,11 0,-6 0,-4 0,-16 0,-4 0,-3 0,24 0,-5 0,-18 0,-5 0,-13 0,-4 0,27-3,-20-2,-11-4,-7-1,-9 0,-7 2,-7 1,-6 1,2-5,3-1,8 0,3 2,6 2,2 1,-2 1,-5 1,-7 3,-6 2,1 0,0 4,0-3,2 3,0-4,-1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2C7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2C7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A452CCE-B678-CC60-8B42-5C29DA78C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99166" y="4112385"/>
            <a:ext cx="335326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3AA08C-F22A-4B00-84B6-DF3FE08CC7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DC6D30-05A9-CB79-5DEB-8F8B1E498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3AF0EE-46D0-8789-6920-E3D5E0B76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F5B913A-7BFE-FC3F-5723-364740509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7BE6D7-73B9-12F2-F48D-B37255BA37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88288" y="6013518"/>
            <a:ext cx="2577283" cy="72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917F6C-29AB-DE66-320E-CC4D620C4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023579"/>
            <a:ext cx="2527161" cy="71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8D08EF-D95D-7D3D-58D8-457BF4AA31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712C36-7A30-55EE-A1F7-F457CAF996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B5C717B-BA75-EE44-8215-72B58E4626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34E5-20A8-67A4-AF35-857CEA1F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E58A493-A795-AC90-2E29-E0E621C73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154002"/>
            <a:ext cx="5400363" cy="541736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ICLR 2026 poster</a:t>
            </a:r>
            <a:endParaRPr lang="en-KR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6ED65-6E7D-1F21-F0D5-4D67FE9D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35" y="1976312"/>
            <a:ext cx="10534129" cy="1296144"/>
          </a:xfrm>
        </p:spPr>
        <p:txBody>
          <a:bodyPr>
            <a:normAutofit fontScale="90000"/>
          </a:bodyPr>
          <a:lstStyle/>
          <a:p>
            <a:r>
              <a:rPr lang="en" altLang="ko-KR" b="1" dirty="0"/>
              <a:t>CHATINJECT: ABUSING CHAT TEMPLATES FOR PROMPT INJECTION IN LLM AGENTS</a:t>
            </a:r>
            <a:endParaRPr lang="en-KR" b="1" dirty="0"/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45D2C854-68CA-8C0A-F9DF-3B17E9749022}"/>
              </a:ext>
            </a:extLst>
          </p:cNvPr>
          <p:cNvSpPr txBox="1">
            <a:spLocks/>
          </p:cNvSpPr>
          <p:nvPr/>
        </p:nvSpPr>
        <p:spPr>
          <a:xfrm>
            <a:off x="3395819" y="3577285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Hyunoh Kang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8287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D8B508C-B991-FAC5-0FD1-B31BBA734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76C996-FED5-749E-2811-C67F791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A7D536-B16C-FA9C-B9AF-3127093D5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48" y="1337424"/>
            <a:ext cx="8136904" cy="470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4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8B1D-E467-7A38-C8D9-BE340984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55C2900-3406-BA91-62A1-7735A78D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8C7BDA-335E-A9BE-DEC6-74DC99AC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46C34F-7011-D27F-1FB8-1DB80E5F4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4971" y="1304765"/>
            <a:ext cx="9462058" cy="47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8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FA91-0828-7ADA-7E33-02F16A47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5A532FA-7B2F-06AB-ECC8-5C16252B0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63BC91-06EF-0C8D-3E61-0AD386E3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0BF90D-1CC9-13F4-E527-31655AA4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1664" y="1195588"/>
            <a:ext cx="6048672" cy="566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7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F62C-5FA1-F860-0A01-5C7BA31D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B750C67-C2BB-476E-4A23-2B793280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283FC6-9D50-8C09-99A8-4F0D6ACD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B16C6C-0577-51F5-875C-D2EE76EBF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6902" y="1220631"/>
            <a:ext cx="6048672" cy="561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5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C8E0-1319-710D-986A-4831D6B9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C81E9D4-F7D6-A3CF-7EEE-7D5EF6284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2788CF8-373D-BB1E-8EAF-82D0402F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D74E4CD3-8681-2880-9F68-81B474CBC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997" y="1304925"/>
            <a:ext cx="9070007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8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BD03-17ED-7618-ED8B-35DE27A0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295A6B5-C49A-A530-2F63-FC9AEC6AF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lang="en-US" altLang="ko-KR" dirty="0"/>
              <a:t>Contribution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ko-KR" dirty="0" err="1"/>
              <a:t>ChatInject</a:t>
            </a:r>
            <a:r>
              <a:rPr lang="en" altLang="ko-KR" dirty="0"/>
              <a:t> and its variants consistently achieve significantly higher Attack Success Rates (ASR) compared to standard plain-text injection methods 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ko-KR" dirty="0"/>
              <a:t>Template-based attacks exhibit strong transferability; a payload crafted with one model’s template can successfully compromise another, including closed-source models with unknown template structures. We also introduce a mixture-of-templates approach that proves effective even when the attacker has no knowledge of the target agent’s underlying model 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ko-KR" dirty="0"/>
              <a:t>Existing prompt-based defenses are largely ineffective against this attack approach, and the attack remains robust even under template perturbations that would defeat rule-based parsing.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22B2868-B804-CE03-2FCE-06BD42A6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340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C072-7C09-FAE7-B5ED-54723B1A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D6F9F5-D340-1AB6-1A05-213D28682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 err="1"/>
              <a:t>Chatinject</a:t>
            </a:r>
            <a:r>
              <a:rPr lang="ko-KR" altLang="en-US" dirty="0"/>
              <a:t>가 효과가 있는 이유가 구체적으로 무엇인가</a:t>
            </a:r>
            <a:r>
              <a:rPr lang="en-US" altLang="ko-KR" dirty="0"/>
              <a:t>?</a:t>
            </a:r>
          </a:p>
          <a:p>
            <a:pPr marL="857250" lvl="1" indent="-457200"/>
            <a:r>
              <a:rPr lang="ko-KR" altLang="en-US" dirty="0"/>
              <a:t>논문에서는 권위를 복원 했기 때문이라고 말함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2C33F67-C4C9-FA3B-2646-48B5297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927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9DF-6D7C-0F40-F2C0-ADA414E9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9F6373-E147-9433-C52D-587A7030E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ko-KR" dirty="0"/>
              <a:t>Multi-turn</a:t>
            </a:r>
            <a:r>
              <a:rPr lang="ko-KR" altLang="en-US" dirty="0"/>
              <a:t>에서 모델은 왜 더 취약한가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37A6249-C0C7-263C-D7C1-0DCEAF69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084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8491-FBF1-4465-B771-3F88DABB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3D41C5F-F562-57BC-8E45-EDE9CD500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ko-KR" dirty="0"/>
              <a:t>Transferability</a:t>
            </a:r>
            <a:r>
              <a:rPr lang="ko-KR" altLang="en-US" dirty="0"/>
              <a:t>가 </a:t>
            </a:r>
            <a:r>
              <a:rPr lang="ko-KR" altLang="en-US" dirty="0" err="1"/>
              <a:t>있는걸로</a:t>
            </a:r>
            <a:r>
              <a:rPr lang="ko-KR" altLang="en-US" dirty="0"/>
              <a:t> </a:t>
            </a:r>
            <a:r>
              <a:rPr lang="ko-KR" altLang="en-US" dirty="0" err="1"/>
              <a:t>봤을때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&lt;</a:t>
            </a:r>
            <a:r>
              <a:rPr lang="en-US" altLang="ko-KR" dirty="0" err="1"/>
              <a:t>templete</a:t>
            </a:r>
            <a:r>
              <a:rPr lang="en-US" altLang="ko-KR" dirty="0"/>
              <a:t>&gt;</a:t>
            </a:r>
            <a:r>
              <a:rPr lang="ko-KR" altLang="en-US" dirty="0"/>
              <a:t>보다 더 강력한 단어가 있지 않을까</a:t>
            </a:r>
            <a:r>
              <a:rPr lang="en-US" altLang="ko-KR" dirty="0"/>
              <a:t>?   + </a:t>
            </a:r>
            <a:r>
              <a:rPr lang="ko-KR" altLang="en-US" dirty="0"/>
              <a:t>정말 </a:t>
            </a:r>
            <a:r>
              <a:rPr lang="en-US" altLang="ko-KR" dirty="0" err="1"/>
              <a:t>templete</a:t>
            </a:r>
            <a:r>
              <a:rPr lang="ko-KR" altLang="en-US" dirty="0"/>
              <a:t>이 비슷해서 전염되는가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0064D30-CD3A-810F-77C8-2B1D5CDC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43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BE91-08E8-232D-4AD0-3C098B07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E988333-C3A3-2106-B638-D6E74607D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ko-KR" altLang="en-US" dirty="0"/>
              <a:t>방어 방법</a:t>
            </a:r>
            <a:r>
              <a:rPr lang="en-US" altLang="ko-KR" dirty="0"/>
              <a:t>,</a:t>
            </a:r>
            <a:r>
              <a:rPr lang="ko-KR" altLang="en-US" dirty="0"/>
              <a:t> 위치는 어떻게 되야 하는가</a:t>
            </a:r>
            <a:r>
              <a:rPr lang="en-US" altLang="ko-KR" dirty="0"/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9E02E5-2A08-8ACF-4A8B-94E7BC38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961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0D5B-C88C-605C-A6D3-E4588FC2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ED4410-5E59-8190-C5A4-0978F5310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altLang="ko-KR" dirty="0"/>
              <a:t>Mixture-of-</a:t>
            </a:r>
            <a:r>
              <a:rPr lang="en-US" altLang="ko-KR" dirty="0" err="1"/>
              <a:t>templete</a:t>
            </a:r>
            <a:r>
              <a:rPr lang="ko-KR" altLang="en-US" dirty="0" err="1"/>
              <a:t>를</a:t>
            </a:r>
            <a:r>
              <a:rPr lang="ko-KR" altLang="en-US" dirty="0"/>
              <a:t> 왜 저렇게 했는지</a:t>
            </a:r>
            <a:r>
              <a:rPr lang="en-US" altLang="ko-KR" dirty="0"/>
              <a:t>+</a:t>
            </a:r>
            <a:r>
              <a:rPr lang="ko-KR" altLang="en-US" dirty="0"/>
              <a:t>그래프 </a:t>
            </a:r>
            <a:r>
              <a:rPr lang="ko-KR" altLang="en-US" dirty="0" err="1"/>
              <a:t>이해안됨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AAB4E91-5C51-E979-9A69-8251544A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6AC3D-5DCD-C84A-3681-4F7792A11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50" y="1844824"/>
            <a:ext cx="6994300" cy="2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441A51-30E4-E90C-C690-79C9A2895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600" y="4287259"/>
            <a:ext cx="7140800" cy="2374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CB5F370-1C23-8033-5090-EB3FE1BA3C3A}"/>
                  </a:ext>
                </a:extLst>
              </p14:cNvPr>
              <p14:cNvContentPartPr/>
              <p14:nvPr/>
            </p14:nvContentPartPr>
            <p14:xfrm>
              <a:off x="2771160" y="2141600"/>
              <a:ext cx="1269360" cy="741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CB5F370-1C23-8033-5090-EB3FE1BA3C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7520" y="2033960"/>
                <a:ext cx="13770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B389F88-90C4-B371-E1B2-882C046DA0FC}"/>
                  </a:ext>
                </a:extLst>
              </p14:cNvPr>
              <p14:cNvContentPartPr/>
              <p14:nvPr/>
            </p14:nvContentPartPr>
            <p14:xfrm>
              <a:off x="2774400" y="3647480"/>
              <a:ext cx="1290960" cy="478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B389F88-90C4-B371-E1B2-882C046DA0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0400" y="3539840"/>
                <a:ext cx="1398600" cy="26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3466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1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47252</TotalTime>
  <Words>187</Words>
  <Application>Microsoft Macintosh PowerPoint</Application>
  <PresentationFormat>와이드스크린</PresentationFormat>
  <Paragraphs>24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Candara</vt:lpstr>
      <vt:lpstr>Wingdings</vt:lpstr>
      <vt:lpstr>맑은 고딕</vt:lpstr>
      <vt:lpstr>Corbel</vt:lpstr>
      <vt:lpstr>Yoon 윤고딕 115_TT</vt:lpstr>
      <vt:lpstr>Arial</vt:lpstr>
      <vt:lpstr>Wingdings 3</vt:lpstr>
      <vt:lpstr>Office 테마</vt:lpstr>
      <vt:lpstr>1_Office 테마</vt:lpstr>
      <vt:lpstr>CHATINJECT: ABUSING CHAT TEMPLATES FOR PROMPT INJECTION IN LLM AGENTS</vt:lpstr>
      <vt:lpstr>Paper Review</vt:lpstr>
      <vt:lpstr>Paper Review</vt:lpstr>
      <vt:lpstr>Paper Review</vt:lpstr>
      <vt:lpstr>Paper Review</vt:lpstr>
      <vt:lpstr>Paper Review</vt:lpstr>
      <vt:lpstr>Paper Review</vt:lpstr>
      <vt:lpstr>Discussion</vt:lpstr>
      <vt:lpstr>Discussion</vt:lpstr>
      <vt:lpstr>Discussion</vt:lpstr>
      <vt:lpstr>Discussion</vt:lpstr>
      <vt:lpstr>Discussion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4222</cp:revision>
  <dcterms:created xsi:type="dcterms:W3CDTF">2013-05-08T06:38:33Z</dcterms:created>
  <dcterms:modified xsi:type="dcterms:W3CDTF">2026-04-16T03:40:20Z</dcterms:modified>
</cp:coreProperties>
</file>