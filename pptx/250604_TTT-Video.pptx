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5" r:id="rId2"/>
  </p:sldMasterIdLst>
  <p:notesMasterIdLst>
    <p:notesMasterId r:id="rId25"/>
  </p:notesMasterIdLst>
  <p:handoutMasterIdLst>
    <p:handoutMasterId r:id="rId26"/>
  </p:handoutMasterIdLst>
  <p:sldIdLst>
    <p:sldId id="257" r:id="rId3"/>
    <p:sldId id="412" r:id="rId4"/>
    <p:sldId id="432" r:id="rId5"/>
    <p:sldId id="413" r:id="rId6"/>
    <p:sldId id="414" r:id="rId7"/>
    <p:sldId id="415" r:id="rId8"/>
    <p:sldId id="416" r:id="rId9"/>
    <p:sldId id="417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260" r:id="rId24"/>
  </p:sldIdLst>
  <p:sldSz cx="12192000" cy="6858000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1" autoAdjust="0"/>
    <p:restoredTop sz="84814" autoAdjust="0"/>
  </p:normalViewPr>
  <p:slideViewPr>
    <p:cSldViewPr snapToGrid="0">
      <p:cViewPr varScale="1">
        <p:scale>
          <a:sx n="106" d="100"/>
          <a:sy n="106" d="100"/>
        </p:scale>
        <p:origin x="108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2025. 6. 3.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2025. 6. 3.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FD2F-9C1D-C416-FF38-3FDAAF79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B112AC-9046-6CB4-7BC3-85E365F9F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7E156B-EBF0-2BA4-CC02-4DCF01E97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CF107-1035-AB83-FD9B-2D879822F0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95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B0C3A-EC49-557F-D275-7D4A7AFB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92CD58-DFDD-C4D1-9545-ACDA35A48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0AEC16-B4B9-FDFD-1702-32C27C5EE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BC3F8-31D7-8E59-D946-5E313BA25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60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539A-74FA-0030-9D45-BD23597B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E43E0C-F1F7-4F43-F54B-A6415C567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386BF6-28BF-8107-29D4-9A9CCE665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B77676-8728-947C-7763-CDF212BAE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442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0AC7-16EE-D661-31EC-9B212CD2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BE4E4-6B14-2F6C-DA18-D6F9CAC3C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0918D3-49D1-9F5D-EDB6-61222C459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0F8BE-EE15-3EAE-EAB0-71A1DC370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12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3625-563C-AE74-7C48-E40FAF784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8A62E6-5A71-5718-1F83-897B74B96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FAFBBA-880D-3612-8CE4-84C5B67C0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90056-4ED3-1A31-A4D2-9000E638D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180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371E-2F75-0749-E931-C5EA91E7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EFE85D-83DD-B445-CC6E-B0AB20A97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8D8C61-8F94-78A4-AA8C-10C2D1ECA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+ 256 H100 50</a:t>
            </a:r>
            <a:r>
              <a:rPr kumimoji="1" lang="ko-KR" altLang="en-US" dirty="0"/>
              <a:t>시간 학습</a:t>
            </a:r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6B5E41-6500-2717-4245-018E013DB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143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FECCF-0319-F114-C38A-DF9D59DF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39E7C9-5A5E-65F6-5B1F-25586813A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D73CF2-499F-D70E-3835-673005DE7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그렇다고 </a:t>
            </a:r>
            <a:r>
              <a:rPr kumimoji="1" lang="en-US" altLang="ko-KR" dirty="0"/>
              <a:t>RNN</a:t>
            </a:r>
            <a:r>
              <a:rPr kumimoji="1" lang="ko-KR" altLang="en-US" dirty="0"/>
              <a:t>기반을 </a:t>
            </a:r>
            <a:r>
              <a:rPr kumimoji="1" lang="ko-KR" altLang="en-US" dirty="0" err="1"/>
              <a:t>사용하겠다는건</a:t>
            </a:r>
            <a:r>
              <a:rPr kumimoji="1" lang="ko-KR" altLang="en-US" dirty="0"/>
              <a:t> 아니고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트랜스포머를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805381-EA62-98D0-2339-61DC7B83D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320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D28D-EB9A-843C-21F9-D11484EA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F3DEA1-734C-E81B-891C-9CC972A26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3A3058-E94F-975F-B47C-2116113A8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SSL</a:t>
            </a:r>
            <a:r>
              <a:rPr kumimoji="1" lang="ko-KR" altLang="en-US" dirty="0"/>
              <a:t>을 왜 쓰는가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31F52F-9F7D-E20D-715B-6506F34D8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04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67F9-BD62-3401-A4BF-0932FA6E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DCFAA-8D71-EA41-04E8-CB17C0AA9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2655A6-9334-4523-F520-68BA5D67A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오직 추론때만 업데이트</a:t>
            </a:r>
            <a:r>
              <a:rPr kumimoji="1" lang="en-US" altLang="ko-KR" dirty="0"/>
              <a:t>+denoising</a:t>
            </a:r>
            <a:r>
              <a:rPr kumimoji="1" lang="ko-KR" altLang="en-US" dirty="0" err="1"/>
              <a:t>떄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생성때</a:t>
            </a:r>
            <a:r>
              <a:rPr kumimoji="1" lang="en-US" altLang="ko-KR" dirty="0"/>
              <a:t>)</a:t>
            </a:r>
            <a:r>
              <a:rPr kumimoji="1" lang="ko-KR" altLang="en-US" dirty="0"/>
              <a:t> 사용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간단한 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자세한건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다음슬라에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로스는 </a:t>
            </a:r>
            <a:r>
              <a:rPr kumimoji="1" lang="en-US" altLang="ko-KR" dirty="0"/>
              <a:t>SSL</a:t>
            </a:r>
            <a:r>
              <a:rPr kumimoji="1" lang="ko-KR" altLang="en-US" dirty="0"/>
              <a:t>의 대표적인 </a:t>
            </a:r>
            <a:r>
              <a:rPr kumimoji="1" lang="en-US" altLang="ko-KR" dirty="0"/>
              <a:t>recon</a:t>
            </a:r>
            <a:r>
              <a:rPr kumimoji="1" lang="ko-KR" altLang="en-US" dirty="0"/>
              <a:t>을 사용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이를 위해 </a:t>
            </a:r>
            <a:r>
              <a:rPr kumimoji="1" lang="en-US" altLang="ko-KR" dirty="0" err="1"/>
              <a:t>x_t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살짝 </a:t>
            </a:r>
            <a:r>
              <a:rPr kumimoji="1" lang="en-US" altLang="ko-KR" dirty="0"/>
              <a:t>corruption (</a:t>
            </a:r>
            <a:r>
              <a:rPr kumimoji="1" lang="ko-KR" altLang="en-US" dirty="0"/>
              <a:t>그래야 복원하는 행동을 </a:t>
            </a:r>
            <a:r>
              <a:rPr kumimoji="1" lang="en-US" altLang="ko-KR" dirty="0"/>
              <a:t>f</a:t>
            </a:r>
            <a:r>
              <a:rPr kumimoji="1" lang="ko-KR" altLang="en-US" dirty="0"/>
              <a:t>가 배우니까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그렇다고 </a:t>
            </a:r>
            <a:r>
              <a:rPr kumimoji="1" lang="en-US" altLang="ko-KR" dirty="0"/>
              <a:t>f</a:t>
            </a:r>
            <a:r>
              <a:rPr kumimoji="1" lang="ko-KR" altLang="en-US" dirty="0"/>
              <a:t>의 역할이 인풋을 복원하는 역할은 아니고</a:t>
            </a:r>
            <a:r>
              <a:rPr kumimoji="1" lang="en-US" altLang="ko-KR" dirty="0"/>
              <a:t>, </a:t>
            </a:r>
          </a:p>
          <a:p>
            <a:r>
              <a:rPr kumimoji="1" lang="ko-KR" altLang="en-US" dirty="0"/>
              <a:t>서론에 말했듯이 </a:t>
            </a:r>
            <a:r>
              <a:rPr kumimoji="1" lang="en-US" altLang="ko-KR" dirty="0"/>
              <a:t>hidden state</a:t>
            </a:r>
            <a:r>
              <a:rPr kumimoji="1" lang="ko-KR" altLang="en-US" dirty="0"/>
              <a:t>의 역할이다</a:t>
            </a:r>
            <a:endParaRPr kumimoji="1" lang="en-US" altLang="ko-KR" dirty="0"/>
          </a:p>
          <a:p>
            <a:r>
              <a:rPr kumimoji="1" lang="ko-KR" altLang="en-US" dirty="0"/>
              <a:t>그냥 </a:t>
            </a:r>
            <a:r>
              <a:rPr kumimoji="1" lang="en-US" altLang="ko-KR" dirty="0"/>
              <a:t>recon</a:t>
            </a:r>
            <a:r>
              <a:rPr kumimoji="1" lang="ko-KR" altLang="en-US" dirty="0"/>
              <a:t> 을 통해 </a:t>
            </a:r>
            <a:r>
              <a:rPr kumimoji="1" lang="en-US" altLang="ko-KR" dirty="0"/>
              <a:t>SSL</a:t>
            </a:r>
            <a:r>
              <a:rPr kumimoji="1" lang="ko-KR" altLang="en-US" dirty="0"/>
              <a:t>을 해 기능적으로 학습하고자 저렇게 </a:t>
            </a:r>
            <a:r>
              <a:rPr kumimoji="1" lang="ko-KR" altLang="en-US" dirty="0" err="1"/>
              <a:t>하는거임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정확히 어떻게 학습되는지도 다음 </a:t>
            </a:r>
            <a:r>
              <a:rPr kumimoji="1" lang="ko-KR" altLang="en-US" dirty="0" err="1"/>
              <a:t>슬라에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1FFCF-88B3-AC47-4AAC-29E6B31D4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090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153D9-6802-F8E0-C4C3-B38D26D4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3852BE-E8CF-98D1-78A2-AA28A6E66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2741C9-5DA8-B27C-3BB8-1074F9B5E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Handcraft </a:t>
            </a:r>
            <a:r>
              <a:rPr kumimoji="1" lang="ko-KR" altLang="en-US" dirty="0"/>
              <a:t>예</a:t>
            </a:r>
            <a:r>
              <a:rPr kumimoji="1" lang="en-US" altLang="ko-KR" dirty="0"/>
              <a:t>:</a:t>
            </a:r>
            <a:r>
              <a:rPr kumimoji="1" lang="ko-KR" altLang="en-US" dirty="0"/>
              <a:t> 손상된 이미지에서 원래 픽셀 회복</a:t>
            </a:r>
            <a:r>
              <a:rPr kumimoji="1" lang="en-US" altLang="ko-KR" dirty="0"/>
              <a:t>,</a:t>
            </a:r>
            <a:r>
              <a:rPr kumimoji="1" lang="ko-KR" altLang="en-US" dirty="0"/>
              <a:t> 문장 일부 </a:t>
            </a:r>
            <a:r>
              <a:rPr kumimoji="1" lang="ko-KR" altLang="en-US" dirty="0" err="1"/>
              <a:t>마스킹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원래대로</a:t>
            </a:r>
            <a:endParaRPr kumimoji="1" lang="en-US" altLang="ko-KR" dirty="0"/>
          </a:p>
          <a:p>
            <a:r>
              <a:rPr lang="en-US" altLang="ko-KR" dirty="0"/>
              <a:t>=&gt;</a:t>
            </a:r>
            <a:r>
              <a:rPr lang="ko-KR" altLang="en-US" dirty="0"/>
              <a:t> 사람이 고안한 손상</a:t>
            </a:r>
            <a:r>
              <a:rPr lang="en-US" altLang="ko-KR" dirty="0"/>
              <a:t>/</a:t>
            </a:r>
            <a:r>
              <a:rPr lang="ko-KR" altLang="en-US" dirty="0"/>
              <a:t>복원 규칙이 모델의 구조나 데이터 분포와 완전히 맞아떨어지지 않을 수 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Task</a:t>
            </a:r>
            <a:r>
              <a:rPr lang="ko-KR" altLang="en-US" dirty="0"/>
              <a:t>자체를 모델 파라미터로 두고</a:t>
            </a:r>
            <a:r>
              <a:rPr lang="en-US" altLang="ko-KR" dirty="0"/>
              <a:t>,</a:t>
            </a:r>
            <a:r>
              <a:rPr lang="ko-KR" altLang="en-US" dirty="0"/>
              <a:t> 학습으로 최적화된 파라미터들을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로스를 보시면 식을 저렇게 수정하였는데</a:t>
            </a:r>
            <a:r>
              <a:rPr lang="en-US" altLang="ko-KR" dirty="0"/>
              <a:t>,</a:t>
            </a:r>
            <a:r>
              <a:rPr lang="ko-KR" altLang="en-US" dirty="0"/>
              <a:t> 저게 가능한 이유는 이제 </a:t>
            </a:r>
            <a:r>
              <a:rPr lang="en-US" altLang="ko-KR" dirty="0"/>
              <a:t>QKV</a:t>
            </a:r>
            <a:r>
              <a:rPr lang="ko-KR" altLang="en-US" dirty="0"/>
              <a:t>의 역할을 다시 생각해보시면 이해가능</a:t>
            </a:r>
            <a:endParaRPr lang="en-US" altLang="ko-KR" dirty="0"/>
          </a:p>
          <a:p>
            <a:r>
              <a:rPr lang="en-US" altLang="ko-KR" dirty="0"/>
              <a:t>K</a:t>
            </a:r>
            <a:r>
              <a:rPr lang="ko-KR" altLang="en-US" dirty="0" err="1"/>
              <a:t>를</a:t>
            </a:r>
            <a:r>
              <a:rPr lang="ko-KR" altLang="en-US" dirty="0"/>
              <a:t> 통해 </a:t>
            </a:r>
            <a:r>
              <a:rPr lang="en-US" altLang="ko-KR" dirty="0"/>
              <a:t>v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맵핑하는데</a:t>
            </a:r>
            <a:r>
              <a:rPr lang="en-US" altLang="ko-KR" dirty="0"/>
              <a:t>,</a:t>
            </a:r>
            <a:r>
              <a:rPr lang="ko-KR" altLang="en-US" dirty="0"/>
              <a:t> 이를 </a:t>
            </a:r>
            <a:r>
              <a:rPr lang="en-US" altLang="ko-KR" dirty="0"/>
              <a:t>f</a:t>
            </a:r>
            <a:r>
              <a:rPr lang="ko-KR" altLang="en-US" dirty="0" err="1"/>
              <a:t>를</a:t>
            </a:r>
            <a:r>
              <a:rPr lang="ko-KR" altLang="en-US" dirty="0"/>
              <a:t> 해시함수로 해서 학습시킨다고 생각하면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근데 이게 왜 </a:t>
            </a:r>
            <a:r>
              <a:rPr lang="en-US" altLang="ko-KR" dirty="0"/>
              <a:t>f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context</a:t>
            </a:r>
            <a:r>
              <a:rPr lang="ko-KR" altLang="en-US" dirty="0"/>
              <a:t>가 잘 저장된 </a:t>
            </a:r>
            <a:r>
              <a:rPr lang="en-US" altLang="ko-KR" dirty="0"/>
              <a:t>hidden state</a:t>
            </a:r>
            <a:r>
              <a:rPr lang="ko-KR" altLang="en-US" dirty="0"/>
              <a:t>로 </a:t>
            </a:r>
            <a:r>
              <a:rPr lang="ko-KR" altLang="en-US" dirty="0" err="1"/>
              <a:t>학습케하는가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위 </a:t>
            </a:r>
            <a:r>
              <a:rPr lang="en-US" altLang="ko-KR" dirty="0"/>
              <a:t>recon</a:t>
            </a:r>
            <a:r>
              <a:rPr lang="ko-KR" altLang="en-US" dirty="0"/>
              <a:t>을 잘하려면 </a:t>
            </a:r>
            <a:r>
              <a:rPr lang="en-US" altLang="ko-KR" dirty="0"/>
              <a:t>f</a:t>
            </a:r>
            <a:r>
              <a:rPr lang="ko-KR" altLang="en-US" dirty="0"/>
              <a:t>는 </a:t>
            </a:r>
            <a:r>
              <a:rPr lang="en-US" altLang="ko-KR" dirty="0"/>
              <a:t>x</a:t>
            </a:r>
            <a:r>
              <a:rPr lang="ko-KR" altLang="en-US" dirty="0" err="1"/>
              <a:t>에</a:t>
            </a:r>
            <a:r>
              <a:rPr lang="ko-KR" altLang="en-US" dirty="0"/>
              <a:t> 담긴 문맥정보를 잘 파악하고 보존해서 </a:t>
            </a:r>
            <a:r>
              <a:rPr lang="en-US" altLang="ko-KR" dirty="0"/>
              <a:t>value</a:t>
            </a:r>
            <a:r>
              <a:rPr lang="ko-KR" altLang="en-US" dirty="0"/>
              <a:t>로 </a:t>
            </a:r>
            <a:r>
              <a:rPr lang="ko-KR" altLang="en-US" dirty="0" err="1"/>
              <a:t>변화시켜야함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우리가 원하는 역할로 학습이 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실제 인풋은 </a:t>
            </a:r>
            <a:r>
              <a:rPr lang="en-US" altLang="ko-KR" dirty="0"/>
              <a:t>QKV</a:t>
            </a:r>
            <a:r>
              <a:rPr lang="ko-KR" altLang="en-US" dirty="0"/>
              <a:t> 가중치에 역할에 따라 </a:t>
            </a:r>
            <a:r>
              <a:rPr lang="en-US" altLang="ko-KR" dirty="0"/>
              <a:t>query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넣어줌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E79EC-4716-1FB3-4DD5-187DFC347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729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2EC9-F18C-39B8-F715-753B6A8E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3F1C26-99D7-AE83-54CE-C68C3FC02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05549-CEAB-71C8-5F91-7F9202541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r>
              <a:rPr lang="ko-KR" altLang="en-US" dirty="0"/>
              <a:t> 때 학습될 내부 모델 </a:t>
            </a:r>
            <a:r>
              <a:rPr lang="en-US" altLang="ko-KR" dirty="0"/>
              <a:t>f</a:t>
            </a:r>
            <a:r>
              <a:rPr lang="ko-KR" altLang="en-US" dirty="0" err="1"/>
              <a:t>를</a:t>
            </a:r>
            <a:r>
              <a:rPr lang="ko-KR" altLang="en-US" dirty="0"/>
              <a:t> 다음과 같이 정의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사실상 </a:t>
            </a:r>
            <a:r>
              <a:rPr lang="en-US" altLang="ko-KR" dirty="0"/>
              <a:t>TTT-layer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4D9D5-9290-CFCC-E588-B559AE04B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224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66D6-7452-8031-EBDF-E3937A10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6DF36B-1504-65DA-71F6-B9E7A3E57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11E5EE-A940-3654-7611-2D4828AE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AF9BD-1163-05B2-DA3F-46199BE1B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1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3335C-19C1-1FAC-DE53-6CCBF14E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53D639-08DA-2603-0F2E-B560D2C88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E44EF8-6315-FBC0-014D-9EF4949D4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C040C-558E-A3A2-DCA1-BCB283CB2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755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EE67-AFAB-9F5E-3EE7-9DF98F7EC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DA87DB-1C37-2144-B6A5-D9C1E3404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BCE57-4430-2224-7184-49C70BC1D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Diffusion</a:t>
            </a:r>
            <a:r>
              <a:rPr lang="ko-KR" altLang="en-US" dirty="0"/>
              <a:t>은 </a:t>
            </a:r>
            <a:r>
              <a:rPr lang="en-US" altLang="ko-KR" dirty="0"/>
              <a:t>causal(1</a:t>
            </a:r>
            <a:r>
              <a:rPr lang="ko-KR" altLang="en-US" dirty="0" err="1"/>
              <a:t>번생성</a:t>
            </a:r>
            <a:r>
              <a:rPr lang="en-US" altLang="ko-KR" dirty="0"/>
              <a:t>-&gt;</a:t>
            </a:r>
            <a:r>
              <a:rPr lang="ko-KR" altLang="en-US" dirty="0" err="1"/>
              <a:t>그걸기반으로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번 생성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근데 </a:t>
            </a:r>
            <a:r>
              <a:rPr lang="en-US" altLang="ko-KR" dirty="0"/>
              <a:t>diffusion</a:t>
            </a:r>
            <a:r>
              <a:rPr lang="ko-KR" altLang="en-US" dirty="0"/>
              <a:t>은 </a:t>
            </a:r>
            <a:r>
              <a:rPr lang="en-US" altLang="ko-KR" dirty="0"/>
              <a:t>1~T</a:t>
            </a:r>
            <a:r>
              <a:rPr lang="ko-KR" altLang="en-US" dirty="0"/>
              <a:t>까지 </a:t>
            </a:r>
            <a:r>
              <a:rPr lang="ko-KR" altLang="en-US" dirty="0" err="1"/>
              <a:t>한번에봐서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이걸위해</a:t>
            </a:r>
            <a:r>
              <a:rPr lang="ko-KR" altLang="en-US" dirty="0"/>
              <a:t> 뒤집어서 </a:t>
            </a:r>
            <a:r>
              <a:rPr lang="ko-KR" altLang="en-US" dirty="0" err="1"/>
              <a:t>한번줌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간단하게 </a:t>
            </a:r>
            <a:r>
              <a:rPr lang="en-US" altLang="ko-KR" dirty="0"/>
              <a:t>1-T</a:t>
            </a:r>
            <a:r>
              <a:rPr lang="ko-KR" altLang="en-US" dirty="0"/>
              <a:t>까지 다 보게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FEF2A8-EFD1-2CEE-E672-6573FF087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331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444A-30F6-B61E-0E37-D4159A76A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9482EF-9A03-DAB0-5B09-1363228CB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4CA0A2-3C3F-C0FE-65D3-B60945333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가장작은단위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초 </a:t>
            </a:r>
            <a:r>
              <a:rPr lang="en-US" altLang="ko-KR" dirty="0"/>
              <a:t>-&gt;</a:t>
            </a:r>
            <a:r>
              <a:rPr lang="ko-KR" altLang="en-US" dirty="0"/>
              <a:t> 기존 모델이 </a:t>
            </a:r>
            <a:r>
              <a:rPr lang="en-US" altLang="ko-KR" dirty="0"/>
              <a:t>3</a:t>
            </a:r>
            <a:r>
              <a:rPr lang="ko-KR" altLang="en-US" dirty="0" err="1"/>
              <a:t>초생성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톰제리가</a:t>
            </a:r>
            <a:r>
              <a:rPr lang="ko-KR" altLang="en-US" dirty="0"/>
              <a:t> 적어도 </a:t>
            </a:r>
            <a:r>
              <a:rPr lang="en-US" altLang="ko-KR" dirty="0"/>
              <a:t>3</a:t>
            </a:r>
            <a:r>
              <a:rPr lang="ko-KR" altLang="en-US" dirty="0"/>
              <a:t>초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31F22-E371-AEF6-8034-DE1DBBBEA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2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8495-1ECE-9837-C554-3E91F9C6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CF2B3C-4B44-D234-1719-919534502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412E2A-5A94-001E-3AD8-C27DA99AE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2FDDC-FCC7-03D6-2E83-C0E9C55FF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45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AC00-A0B4-2CD4-0C6A-60643161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01866-6944-0644-21D4-6478573F6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D329C-7A07-1DDA-3F35-77750153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48141-149E-F54D-114E-9076CAE21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42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8041-CD24-8D07-0AB2-DE00357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F2B42E-2BF3-0EA2-3B7E-83DAB21A6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801148-8462-0848-7821-F7BA1041E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57A59D-77D6-1E18-018A-39F7644DD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383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CE73-6336-1F1B-691E-B10EE78D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8DD6DF-C792-4856-DA0E-726B1B286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7BE0D1-C7D5-C9DA-FF50-99EFB339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1BC000-E1FA-1E48-FE1A-8A5EE9546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081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26BC-6405-6899-1C0C-0BB2BA2CF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4D0254-6DA9-C28E-E29E-385D7A817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2FAFD6-2607-CE86-DC3B-CC32A0ABD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FB0314-8156-4B81-3231-5CDFBCF80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794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5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" altLang="ko-KR" b="1" dirty="0"/>
              <a:t>One-Minute Video Generation with Test-Time Training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720925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>
                <a:cs typeface="Times New Roman" panose="02020603050405020304" pitchFamily="18" charset="0"/>
              </a:rPr>
              <a:t>CVPR 2025 / </a:t>
            </a:r>
            <a:r>
              <a:rPr lang="en-US" altLang="ko-KR" sz="2000" dirty="0">
                <a:cs typeface="Times New Roman" panose="02020603050405020304" pitchFamily="18" charset="0"/>
              </a:rPr>
              <a:t>6</a:t>
            </a:r>
            <a:r>
              <a:rPr lang="en-US" sz="2000" dirty="0">
                <a:cs typeface="Times New Roman" panose="02020603050405020304" pitchFamily="18" charset="0"/>
              </a:rPr>
              <a:t> citations (~</a:t>
            </a:r>
            <a:r>
              <a:rPr lang="en-US" altLang="ko-KR" sz="2000" dirty="0">
                <a:cs typeface="Times New Roman" panose="02020603050405020304" pitchFamily="18" charset="0"/>
              </a:rPr>
              <a:t>6/2</a:t>
            </a:r>
            <a:r>
              <a:rPr lang="en-US" sz="2000" dirty="0">
                <a:cs typeface="Times New Roman" panose="02020603050405020304" pitchFamily="18" charset="0"/>
              </a:rPr>
              <a:t>)</a:t>
            </a:r>
            <a:endParaRPr lang="en-KR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22F3-D07F-29E5-A4C3-AC9CCCC0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B73D54-1208-4099-3C3D-C67489346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913946"/>
            <a:ext cx="11471275" cy="3553983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857A6B51-1F1E-7B6B-B418-145709C5A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D1FDF-2208-1B7C-0412-5BD65AE67954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Decoding Mamba: The Next Big Leap in AI Sequence Modeling | by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|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labs | Medium</a:t>
            </a:r>
          </a:p>
        </p:txBody>
      </p:sp>
    </p:spTree>
    <p:extLst>
      <p:ext uri="{BB962C8B-B14F-4D97-AF65-F5344CB8AC3E}">
        <p14:creationId xmlns:p14="http://schemas.microsoft.com/office/powerpoint/2010/main" val="147442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A159-58D0-FDD2-D5AB-434F1DBB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A21105A-4687-C908-4398-BC0B22CE1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</a:p>
          <a:p>
            <a:pPr marL="857250" lvl="1" indent="-457200">
              <a:buFont typeface="+mj-lt"/>
              <a:buAutoNum type="arabicPeriod"/>
            </a:pPr>
            <a:r>
              <a:rPr kumimoji="1" lang="en-US" altLang="ko-KR" dirty="0"/>
              <a:t>Can make only short clips</a:t>
            </a:r>
          </a:p>
          <a:p>
            <a:pPr marL="857250" lvl="1" indent="-457200">
              <a:buFont typeface="+mj-lt"/>
              <a:buAutoNum type="arabicPeriod"/>
            </a:pPr>
            <a:endParaRPr kumimoji="1" lang="en-US" altLang="ko-KR" dirty="0"/>
          </a:p>
          <a:p>
            <a:pPr lvl="1"/>
            <a:r>
              <a:rPr kumimoji="1" lang="en-US" altLang="ko-KR" dirty="0"/>
              <a:t>T</a:t>
            </a:r>
            <a:r>
              <a:rPr kumimoji="1" lang="en" altLang="ko-KR" dirty="0"/>
              <a:t>he maximum length of public APIs for video generation</a:t>
            </a:r>
          </a:p>
          <a:p>
            <a:pPr lvl="2"/>
            <a:r>
              <a:rPr kumimoji="1" lang="en" altLang="ko-KR" dirty="0"/>
              <a:t>Sora (OpenAI): 20 secs</a:t>
            </a:r>
          </a:p>
          <a:p>
            <a:pPr lvl="2"/>
            <a:r>
              <a:rPr kumimoji="1" lang="en" altLang="ko-KR" dirty="0" err="1"/>
              <a:t>MovieGen</a:t>
            </a:r>
            <a:r>
              <a:rPr kumimoji="1" lang="en" altLang="ko-KR" dirty="0"/>
              <a:t> (Meta): 16 secs</a:t>
            </a:r>
          </a:p>
          <a:p>
            <a:pPr lvl="2"/>
            <a:r>
              <a:rPr kumimoji="1" lang="en" altLang="ko-KR" dirty="0"/>
              <a:t>Ray 2 (Luma): 10 secs</a:t>
            </a:r>
          </a:p>
          <a:p>
            <a:pPr lvl="2"/>
            <a:r>
              <a:rPr kumimoji="1" lang="en" altLang="ko-KR" dirty="0"/>
              <a:t>Veo2 (Google): 8 secs</a:t>
            </a:r>
          </a:p>
          <a:p>
            <a:pPr lvl="2"/>
            <a:endParaRPr kumimoji="1" lang="en" altLang="ko-KR" dirty="0"/>
          </a:p>
          <a:p>
            <a:pPr marL="857250" lvl="1" indent="-457200">
              <a:buFont typeface="+mj-lt"/>
              <a:buAutoNum type="arabicPeriod" startAt="2"/>
            </a:pPr>
            <a:r>
              <a:rPr kumimoji="1" lang="en-US" altLang="ko-KR" dirty="0"/>
              <a:t>Can make only single scenes without complex stories(~March 2025)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D8DC78-9546-5E37-AB4E-E6B0D072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EE411-9A4C-E6F8-09CF-3D57A69AB1CD}"/>
              </a:ext>
            </a:extLst>
          </p:cNvPr>
          <p:cNvSpPr txBox="1"/>
          <p:nvPr/>
        </p:nvSpPr>
        <p:spPr>
          <a:xfrm>
            <a:off x="3467100" y="6489268"/>
            <a:ext cx="525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Decoding Mamba: The Next Big Leap in AI Sequence Modeling | by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| </a:t>
            </a:r>
            <a:r>
              <a:rPr kumimoji="1" lang="en-US" altLang="ko-KR" sz="1000" dirty="0" err="1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azhar</a:t>
            </a:r>
            <a:r>
              <a:rPr kumimoji="1" lang="en-US" altLang="ko-KR" sz="1000" dirty="0">
                <a:solidFill>
                  <a:schemeClr val="bg1">
                    <a:lumMod val="65000"/>
                  </a:schemeClr>
                </a:solidFill>
                <a:latin typeface="Corbel" panose="020B0503020204020204" pitchFamily="34" charset="0"/>
              </a:rPr>
              <a:t> labs | Medium</a:t>
            </a:r>
          </a:p>
        </p:txBody>
      </p:sp>
    </p:spTree>
    <p:extLst>
      <p:ext uri="{BB962C8B-B14F-4D97-AF65-F5344CB8AC3E}">
        <p14:creationId xmlns:p14="http://schemas.microsoft.com/office/powerpoint/2010/main" val="416279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E21B-4581-6446-4DC4-4394AB40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4F1A0C9-0638-3FA0-1ABD-9BB1C133C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/>
              <a:t>Limitations</a:t>
            </a:r>
          </a:p>
          <a:p>
            <a:pPr lvl="1"/>
            <a:r>
              <a:rPr kumimoji="1" lang="en" altLang="ko-KR" dirty="0"/>
              <a:t>one-minute videos requires over 300k tokens in context</a:t>
            </a:r>
          </a:p>
          <a:p>
            <a:pPr lvl="1"/>
            <a:r>
              <a:rPr kumimoji="1" lang="en" altLang="ko-KR" dirty="0"/>
              <a:t>Transformers increases quadratically (actually linear with KV cache) with context length</a:t>
            </a:r>
          </a:p>
          <a:p>
            <a:pPr lvl="1"/>
            <a:r>
              <a:rPr kumimoji="1" lang="en" altLang="ko-KR" dirty="0"/>
              <a:t>generating a one-minute video</a:t>
            </a:r>
          </a:p>
          <a:p>
            <a:pPr lvl="2"/>
            <a:r>
              <a:rPr kumimoji="1" lang="en" altLang="ko-KR" dirty="0"/>
              <a:t>11× longer than generating 20 videos of 3 seconds each</a:t>
            </a:r>
          </a:p>
          <a:p>
            <a:pPr lvl="2"/>
            <a:r>
              <a:rPr kumimoji="1" lang="en" altLang="ko-KR" dirty="0"/>
              <a:t>training would have taken 12× longer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BFE911-CD05-CCF0-EBB0-EAB08BD96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457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25B9-F26E-B40C-A4B7-1E0164A9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87347A4-3AD9-7B65-A965-3A5469401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/>
              <a:t>Limitations</a:t>
            </a:r>
          </a:p>
          <a:p>
            <a:pPr lvl="1"/>
            <a:r>
              <a:rPr kumimoji="1" lang="en" altLang="ko-KR" dirty="0"/>
              <a:t>one-minute videos requires over 300k tokens in context</a:t>
            </a:r>
          </a:p>
          <a:p>
            <a:pPr lvl="1"/>
            <a:r>
              <a:rPr kumimoji="1" lang="en" altLang="ko-KR" dirty="0"/>
              <a:t>Transformers increases quadratically (actually linear with KV cache) with context length</a:t>
            </a:r>
          </a:p>
          <a:p>
            <a:pPr lvl="1"/>
            <a:r>
              <a:rPr kumimoji="1" lang="en" altLang="ko-KR" dirty="0"/>
              <a:t>generating a one-minute video</a:t>
            </a:r>
          </a:p>
          <a:p>
            <a:pPr lvl="2"/>
            <a:r>
              <a:rPr kumimoji="1" lang="en" altLang="ko-KR" dirty="0"/>
              <a:t>11× longer than generating 20 videos of 3 seconds each</a:t>
            </a:r>
          </a:p>
          <a:p>
            <a:pPr lvl="2"/>
            <a:r>
              <a:rPr kumimoji="1" lang="en" altLang="ko-KR" dirty="0"/>
              <a:t>training would have taken 12× longer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5AD5B66-FF50-A554-150B-E78C4BDD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23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E917-631F-95EE-3B22-1D3A3779C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4D3E69E-9046-A62B-6588-8458CD3CE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/>
              <a:t>Solution</a:t>
            </a:r>
          </a:p>
          <a:p>
            <a:pPr lvl="1"/>
            <a:r>
              <a:rPr kumimoji="1" lang="en" altLang="ko-KR" dirty="0"/>
              <a:t>To address this prob, using RNN (especially linear attention) as alternative</a:t>
            </a:r>
          </a:p>
          <a:p>
            <a:pPr lvl="2"/>
            <a:r>
              <a:rPr kumimoji="1" lang="en" altLang="ko-KR" dirty="0"/>
              <a:t>E.g. mamba, </a:t>
            </a:r>
            <a:r>
              <a:rPr kumimoji="1" lang="en" altLang="ko-KR" dirty="0" err="1"/>
              <a:t>DeltaNet</a:t>
            </a:r>
            <a:endParaRPr kumimoji="1" lang="en" altLang="ko-KR" dirty="0"/>
          </a:p>
          <a:p>
            <a:pPr lvl="1"/>
            <a:r>
              <a:rPr kumimoji="1" lang="en" altLang="ko-KR" dirty="0"/>
              <a:t>But contain only single scenes, slow motion and simple stories</a:t>
            </a:r>
          </a:p>
          <a:p>
            <a:pPr lvl="1"/>
            <a:endParaRPr kumimoji="1" lang="en" altLang="ko-KR" dirty="0"/>
          </a:p>
          <a:p>
            <a:pPr lvl="1"/>
            <a:r>
              <a:rPr kumimoji="1" lang="en" altLang="ko-KR" dirty="0"/>
              <a:t>Because RNN architecture has less expressive (fixed) hidden states</a:t>
            </a:r>
          </a:p>
          <a:p>
            <a:pPr lvl="2"/>
            <a:r>
              <a:rPr kumimoji="1" lang="en" altLang="ko-KR" dirty="0"/>
              <a:t>E.g. cell state, A matrix</a:t>
            </a:r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Replace linear (matrix) to </a:t>
            </a:r>
            <a:r>
              <a:rPr kumimoji="1" lang="en-US" altLang="ko-KR" dirty="0">
                <a:solidFill>
                  <a:srgbClr val="FF0000"/>
                </a:solidFill>
              </a:rPr>
              <a:t>two-layer MLP with 2× more hidden cells </a:t>
            </a:r>
            <a:r>
              <a:rPr kumimoji="1" lang="en-US" altLang="ko-KR" dirty="0"/>
              <a:t>(=&gt; 4 x hidden, richer nonlinearities)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80B41A-C816-F33F-287F-B2851251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414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FE43-6E52-D575-852E-FC8BEA74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10B2141-E1B3-BB7C-A8F5-76F8B886E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W -&gt; MLP * 2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98CD92-184F-C0FC-8972-451026B5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483DB8-409E-B5F6-AD55-0ECBA40CC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40" y="1889091"/>
            <a:ext cx="10608320" cy="221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67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A264-F477-4FFA-D2EE-0AF2F2DB0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EC40BAA-B0AE-1836-1972-D4FEC58DD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Base model: </a:t>
            </a:r>
            <a:r>
              <a:rPr kumimoji="1" lang="en-US" altLang="ko-KR" dirty="0" err="1"/>
              <a:t>CogVideo</a:t>
            </a:r>
            <a:r>
              <a:rPr kumimoji="1" lang="en-US" altLang="ko-KR" dirty="0"/>
              <a:t>-X 5B (</a:t>
            </a:r>
            <a:r>
              <a:rPr kumimoji="1" lang="en-US" altLang="ko-KR" dirty="0" err="1"/>
              <a:t>DiT</a:t>
            </a:r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Add TTT-layer -&gt; use as long term memory like RNN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+ </a:t>
            </a:r>
            <a:r>
              <a:rPr kumimoji="1" lang="en-US" altLang="ko-KR" dirty="0" err="1"/>
              <a:t>Trainig</a:t>
            </a:r>
            <a:r>
              <a:rPr kumimoji="1" lang="en-US" altLang="ko-KR" dirty="0"/>
              <a:t> env: 50 hour 256 H100..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6A4A926-E6A9-4E8A-73D8-738B6413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7F734B-43F4-221B-87B2-A9505F3C7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635" y="780422"/>
            <a:ext cx="3897993" cy="477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8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09E9-B793-AC2D-64FC-381D9919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7F289BF-FC9F-C576-52DF-8BB92B90E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We will use self-supervised learning to compress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-US" altLang="ko-KR" dirty="0"/>
                  <a:t> into a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r>
                  <a:rPr kumimoji="1" lang="en-US" altLang="ko-KR" dirty="0"/>
                  <a:t>Why SSL?</a:t>
                </a:r>
              </a:p>
              <a:p>
                <a:pPr lvl="1"/>
                <a:r>
                  <a:rPr lang="en" altLang="ko-KR" dirty="0"/>
                  <a:t>Storing contexts as a large buffer is neither space nor computationally feasible</a:t>
                </a: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So, see context as unlabeled dataset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kumimoji="1" lang="en-US" altLang="ko-KR" dirty="0"/>
                  <a:t>Can`t use supervised -&gt; use SSL</a:t>
                </a:r>
              </a:p>
              <a:p>
                <a:pPr lvl="1">
                  <a:buFont typeface="Wingdings" pitchFamily="2" charset="2"/>
                  <a:buChar char="Ø"/>
                </a:pPr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Also, can train even at test time by using unlabeled dataset</a:t>
                </a:r>
              </a:p>
              <a:p>
                <a:pPr lvl="1">
                  <a:buFont typeface="Wingdings" pitchFamily="2" charset="2"/>
                  <a:buChar char="Ø"/>
                </a:pPr>
                <a:endParaRPr kumimoji="1"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27F289BF-FC9F-C576-52DF-8BB92B90E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3D6DB555-603A-94D3-92EF-15FDF7A4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TTT as Updating a Hidden State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683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D7B5-7616-2648-B4C9-17996019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BC0FE5-7AB8-AFF0-941A-9D42F116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TTT-layer can be trained only at test time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A16F1C-C2A1-9820-EBEA-B340F025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TTT as Updating a Hidden State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53606E-9116-EB1E-3CA8-7A7693485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417"/>
          <a:stretch>
            <a:fillRect/>
          </a:stretch>
        </p:blipFill>
        <p:spPr>
          <a:xfrm>
            <a:off x="792982" y="1972680"/>
            <a:ext cx="4964723" cy="47187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14DDDF-99CA-377A-61D9-09E0B00B24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175"/>
          <a:stretch>
            <a:fillRect/>
          </a:stretch>
        </p:blipFill>
        <p:spPr>
          <a:xfrm>
            <a:off x="792982" y="3547674"/>
            <a:ext cx="2176303" cy="5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65DC17-517D-4CC6-15DB-3422A1DC9C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991"/>
          <a:stretch>
            <a:fillRect/>
          </a:stretch>
        </p:blipFill>
        <p:spPr>
          <a:xfrm>
            <a:off x="792982" y="2760177"/>
            <a:ext cx="4492866" cy="47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6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D37C-2483-375C-F9A4-AB81F7E4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47DC47E-26C2-7E9A-8A7E-1D2C88AF7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7668633" cy="4772814"/>
          </a:xfrm>
        </p:spPr>
        <p:txBody>
          <a:bodyPr/>
          <a:lstStyle/>
          <a:p>
            <a:r>
              <a:rPr kumimoji="1" lang="en-US" altLang="ko-KR" dirty="0"/>
              <a:t>Instead of handcrafting a SS task from human priors</a:t>
            </a:r>
          </a:p>
          <a:p>
            <a:r>
              <a:rPr kumimoji="1" lang="en-US" altLang="ko-KR" dirty="0"/>
              <a:t>more end-to-end approach, learning it as part of train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3B899FA-ED1A-85AF-091C-AD9E1C44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Learning a Self-Supervised Task for TTT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FB9FE2-9661-64E1-C628-8BD42C33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175"/>
          <a:stretch>
            <a:fillRect/>
          </a:stretch>
        </p:blipFill>
        <p:spPr>
          <a:xfrm>
            <a:off x="792982" y="4904444"/>
            <a:ext cx="2176303" cy="5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E73A47-45B7-51F4-2D18-E7674DED21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991"/>
          <a:stretch>
            <a:fillRect/>
          </a:stretch>
        </p:blipFill>
        <p:spPr>
          <a:xfrm>
            <a:off x="792982" y="3327420"/>
            <a:ext cx="4492866" cy="4718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4997BC-F072-8F5B-CF51-E0E0AC11F0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27"/>
          <a:stretch>
            <a:fillRect/>
          </a:stretch>
        </p:blipFill>
        <p:spPr>
          <a:xfrm>
            <a:off x="792982" y="2539277"/>
            <a:ext cx="1881979" cy="4718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0E3A25-4A7A-A371-0022-2DB3B2C1D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82" y="4114271"/>
            <a:ext cx="4465914" cy="475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E26E39-E184-9E09-E7AF-7B05544B3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82" y="5759417"/>
            <a:ext cx="2427373" cy="475200"/>
          </a:xfrm>
          <a:prstGeom prst="rect">
            <a:avLst/>
          </a:prstGeom>
        </p:spPr>
      </p:pic>
      <p:sp>
        <p:nvSpPr>
          <p:cNvPr id="12" name="아래쪽 화살표[D] 11">
            <a:extLst>
              <a:ext uri="{FF2B5EF4-FFF2-40B4-BE49-F238E27FC236}">
                <a16:creationId xmlns:a16="http://schemas.microsoft.com/office/drawing/2014/main" id="{7857015D-9A1C-8771-D3E5-0139A48FC40D}"/>
              </a:ext>
            </a:extLst>
          </p:cNvPr>
          <p:cNvSpPr/>
          <p:nvPr/>
        </p:nvSpPr>
        <p:spPr>
          <a:xfrm>
            <a:off x="3455469" y="3799298"/>
            <a:ext cx="240632" cy="3149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아래쪽 화살표[D] 12">
            <a:extLst>
              <a:ext uri="{FF2B5EF4-FFF2-40B4-BE49-F238E27FC236}">
                <a16:creationId xmlns:a16="http://schemas.microsoft.com/office/drawing/2014/main" id="{438EA68F-C326-9986-4CB6-144BE2E5BF35}"/>
              </a:ext>
            </a:extLst>
          </p:cNvPr>
          <p:cNvSpPr/>
          <p:nvPr/>
        </p:nvSpPr>
        <p:spPr>
          <a:xfrm>
            <a:off x="2107932" y="5444444"/>
            <a:ext cx="240632" cy="3149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977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159F-F343-846A-3FC0-59A3B2A11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20DD3CB-4273-1B6B-5CC8-55139AF2C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0728303" cy="4772814"/>
          </a:xfrm>
        </p:spPr>
        <p:txBody>
          <a:bodyPr/>
          <a:lstStyle/>
          <a:p>
            <a:r>
              <a:rPr kumimoji="1" lang="en-US" altLang="ko-KR" dirty="0"/>
              <a:t>f(x) is called TTT-MLP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 err="1"/>
              <a:t>f_MLP</a:t>
            </a:r>
            <a:r>
              <a:rPr kumimoji="1" lang="en-US" altLang="ko-KR" dirty="0"/>
              <a:t>(x): a two-layer MLP (hidden dimension is 4× the input dimension)</a:t>
            </a:r>
          </a:p>
          <a:p>
            <a:r>
              <a:rPr kumimoji="1" lang="en-US" altLang="ko-KR" dirty="0"/>
              <a:t>Use GELU as activation function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D6F0665-7AFC-70BF-9AE6-8741F8D5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TTT-MLP Instantiation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063716-79A5-84AD-D645-CFBE5331C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14" y="2152431"/>
            <a:ext cx="5094972" cy="7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2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FD3C1-65C0-BE43-FB22-E151EE8A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BCFDA22-6947-8156-655B-56EA5ED90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Architecture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E812E049-4CF6-B1A0-8075-BFFE8FFD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kumimoji="1" lang="en-US" altLang="ko-KR" dirty="0"/>
              <a:t>Overview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402715-3DDA-D999-B925-8D5E6512B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34" y="2160106"/>
            <a:ext cx="11641332" cy="339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64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A3BB-3C63-ED36-3372-BD03522BF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BDAA560-027F-0E64-8693-E8660288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TTT layer with a learnable gate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BCC248FD-41AF-F20F-751F-C98B63DCFF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/>
              <a:lstStyle/>
              <a:p>
                <a:r>
                  <a:rPr kumimoji="1" lang="en-US" altLang="ko-KR" dirty="0"/>
                  <a:t>Gating</a:t>
                </a:r>
              </a:p>
              <a:p>
                <a:r>
                  <a:rPr kumimoji="1" lang="en-US" altLang="ko-KR" dirty="0"/>
                  <a:t>Input sequence: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en-US" altLang="ko-KR" dirty="0"/>
              </a:p>
              <a:p>
                <a:r>
                  <a:rPr kumimoji="1" lang="en-US" altLang="ko-KR" dirty="0"/>
                  <a:t>Output Sequence: </a:t>
                </a:r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ko-KR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𝑇𝑇𝑇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14:m>
                  <m:oMath xmlns:m="http://schemas.openxmlformats.org/officeDocument/2006/math"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𝑔𝑎𝑡𝑒</m:t>
                    </m:r>
                    <m:d>
                      <m:d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𝑇𝑇𝑇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kumimoji="1"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i="0" dirty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nary>
                      <m:naryPr>
                        <m:chr m:val="⨂"/>
                        <m:subHide m:val="on"/>
                        <m:supHide m:val="on"/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kumimoji="1" lang="en-US" altLang="ko-KR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TTT</m:t>
                        </m:r>
                        <m:d>
                          <m:dPr>
                            <m:ctrlP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nary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kumimoji="1" lang="en-US" altLang="ko-KR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BCC248FD-41AF-F20F-751F-C98B63DCFF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41F02D8C-B89B-F04B-D5AD-64792239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470"/>
          <a:stretch>
            <a:fillRect/>
          </a:stretch>
        </p:blipFill>
        <p:spPr>
          <a:xfrm>
            <a:off x="8111887" y="1304763"/>
            <a:ext cx="3624708" cy="490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89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C3B83-8D99-8F92-1F6F-E2337E60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E005579-7711-ABCF-2143-85E04010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TTT layer with a learnable gate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15178988-6F01-1C58-73E2-EC4209B84B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altLang="ko-KR" b="0" i="1" dirty="0" smtClean="0">
                        <a:latin typeface="Cambria Math" panose="02040503050406030204" pitchFamily="18" charset="0"/>
                      </a:rPr>
                      <m:t>𝑎𝑡𝑡𝑛</m:t>
                    </m:r>
                    <m:d>
                      <m:d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𝐿𝑁</m:t>
                        </m:r>
                        <m:d>
                          <m:dPr>
                            <m:ctrlP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kumimoji="1" lang="en-US" altLang="ko-KR" dirty="0"/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𝑔𝑎𝑡𝑒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TTT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kumimoji="1" lang="en-US" altLang="ko-KR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𝑔𝑎𝑡𝑒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TT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kumimoji="1" lang="en-US" altLang="ko-KR" b="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TT</m:t>
                        </m:r>
                        <m:sSup>
                          <m:sSup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𝑟𝑒𝑣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TTT</m:t>
                            </m:r>
                            <m:d>
                              <m:d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𝑟𝑒𝑣</m:t>
                                </m:r>
                                <m:d>
                                  <m:d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𝑟𝑒𝑣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kumimoji="1" lang="en-US" altLang="ko-KR" b="0" dirty="0"/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5" name="내용 개체 틀 1">
                <a:extLst>
                  <a:ext uri="{FF2B5EF4-FFF2-40B4-BE49-F238E27FC236}">
                    <a16:creationId xmlns:a16="http://schemas.microsoft.com/office/drawing/2014/main" id="{15178988-6F01-1C58-73E2-EC4209B84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F064ACE-1479-873B-4474-F4E4D13F59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470"/>
          <a:stretch>
            <a:fillRect/>
          </a:stretch>
        </p:blipFill>
        <p:spPr>
          <a:xfrm>
            <a:off x="8111887" y="1304763"/>
            <a:ext cx="3624708" cy="490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09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5746-756F-96C4-CCF3-CC679AAF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6BF060A-4897-DF0A-A45D-18D25498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Sequence Example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8AF2ABD5-42B0-0E83-4AF5-25BED4EB3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1B3EAC-4314-7A35-71E0-7EED6F129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47" y="1414045"/>
            <a:ext cx="4622800" cy="444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51556AB-A4EC-84BF-F3C6-5D199A9F9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47" y="2051259"/>
            <a:ext cx="4597400" cy="406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414D5D5-9AD8-1D28-5A0D-652D763E4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47" y="2650373"/>
            <a:ext cx="2882900" cy="431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0BC96E-97FE-94F6-48B4-200925878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47" y="3274887"/>
            <a:ext cx="3683000" cy="431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8FAD307-5ECD-C1DC-5979-5728BB3111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47" y="3899401"/>
            <a:ext cx="2921000" cy="444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3498CE6-BE62-9545-1C57-EB27DA48C8D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0454"/>
          <a:stretch>
            <a:fillRect/>
          </a:stretch>
        </p:blipFill>
        <p:spPr>
          <a:xfrm>
            <a:off x="678447" y="4536615"/>
            <a:ext cx="3759200" cy="4445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F2F1E6-56DE-95C8-4222-A2E548AEE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547" y="5280730"/>
            <a:ext cx="6134100" cy="5207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D3D64CF-A632-655C-7138-EE60C9A22E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447" y="5173829"/>
            <a:ext cx="6159500" cy="5715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27DBC9B-951C-4470-0236-A101649BA52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1217"/>
          <a:stretch>
            <a:fillRect/>
          </a:stretch>
        </p:blipFill>
        <p:spPr>
          <a:xfrm>
            <a:off x="678447" y="5938045"/>
            <a:ext cx="531929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65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094A-DFAD-B0A9-104D-42CCEE95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FE02F73-F27D-548A-69E3-395C9B25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Fine-Tuning Recipe and Dataset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8FB67BD6-AF19-8AA5-9DF5-30F725B34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kumimoji="1" lang="en-US" altLang="ko-KR" dirty="0"/>
              <a:t>Multi-stage context extension</a:t>
            </a:r>
          </a:p>
          <a:p>
            <a:pPr lvl="1"/>
            <a:r>
              <a:rPr kumimoji="1" lang="en-US" altLang="ko-KR" dirty="0"/>
              <a:t>First stage: full-tuning(adaptation), 3 secs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The others: TTT layers and gates, </a:t>
            </a:r>
            <a:r>
              <a:rPr kumimoji="1" lang="ko-KR" altLang="en-US" dirty="0"/>
              <a:t> </a:t>
            </a:r>
            <a:r>
              <a:rPr kumimoji="1" lang="en-US" altLang="ko-KR" dirty="0"/>
              <a:t>9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18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30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486033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F39C-9252-0290-F376-346B0594A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DD38DA-889E-B76B-B811-AB6FB7C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99C3EBC2-58E6-D536-D41C-69D4D152E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endParaRPr kumimoji="1"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201CD8A-D295-F6F3-7F1F-BE30A0D7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1205"/>
          <a:stretch>
            <a:fillRect/>
          </a:stretch>
        </p:blipFill>
        <p:spPr>
          <a:xfrm>
            <a:off x="1957952" y="1304764"/>
            <a:ext cx="8182480" cy="47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60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D872-9D08-BEB3-CA12-DFFBC2622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D776563-0BAA-F1B8-5252-DF0E1030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99C6CCE3-C66B-FE8A-7708-99A2D35D5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549F74-0CFA-5426-E5A0-DC54C13C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1" y="1920239"/>
            <a:ext cx="10731998" cy="301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8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D319-BA13-454E-F8E7-777CCBE7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2AD5DFD-1196-3A80-6E29-3E0DF393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447DFD9C-D350-F5D6-C548-5A4B4175D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endParaRPr kumimoji="1"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C5AD839-41DC-84CB-E567-856EFDE81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95" y="1221516"/>
            <a:ext cx="9650810" cy="485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63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F90C-63A3-EA6C-AB93-3AF761CB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50C6645-DC38-1B75-8F87-4E7CED4C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Limitations</a:t>
            </a:r>
            <a:endParaRPr kumimoji="1" lang="ko-KR" altLang="en-US" dirty="0"/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C933F70-ECBE-52FD-AD91-C31A93318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kumimoji="1" lang="en-US" altLang="ko-KR" dirty="0"/>
              <a:t>Short context</a:t>
            </a:r>
          </a:p>
          <a:p>
            <a:pPr lvl="1"/>
            <a:r>
              <a:rPr kumimoji="1" lang="en-US" altLang="ko-KR" dirty="0"/>
              <a:t>TTT-Linear &gt; TTT-MLP for 18 secs</a:t>
            </a:r>
          </a:p>
          <a:p>
            <a:pPr lvl="1"/>
            <a:endParaRPr kumimoji="1" lang="en-US" altLang="ko-KR" dirty="0"/>
          </a:p>
          <a:p>
            <a:r>
              <a:rPr kumimoji="1" lang="en-US" altLang="ko-KR" dirty="0"/>
              <a:t>Wall-clock time</a:t>
            </a:r>
          </a:p>
          <a:p>
            <a:pPr lvl="1"/>
            <a:r>
              <a:rPr kumimoji="1" lang="en-US" altLang="ko-KR" dirty="0"/>
              <a:t>inference and training with TTT-MLP are 1.4× and 2.1× slower than with Gated </a:t>
            </a:r>
            <a:r>
              <a:rPr kumimoji="1" lang="en-US" altLang="ko-KR" dirty="0" err="1"/>
              <a:t>DeltaNet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Video artifacts</a:t>
            </a:r>
          </a:p>
          <a:p>
            <a:pPr lvl="1"/>
            <a:r>
              <a:rPr kumimoji="1" lang="en-US" altLang="ko-KR" dirty="0"/>
              <a:t>still contain notable artifacts, especially in motion naturalness and aesthetics.</a:t>
            </a:r>
          </a:p>
          <a:p>
            <a:pPr lvl="1"/>
            <a:r>
              <a:rPr kumimoji="1" lang="en-US" altLang="ko-KR" dirty="0" err="1"/>
              <a:t>CogVideo</a:t>
            </a:r>
            <a:r>
              <a:rPr kumimoji="1" lang="en-US" altLang="ko-KR" dirty="0"/>
              <a:t>-X also seem to have limited motion naturalness and aesthetics</a:t>
            </a:r>
          </a:p>
        </p:txBody>
      </p:sp>
    </p:spTree>
    <p:extLst>
      <p:ext uri="{BB962C8B-B14F-4D97-AF65-F5344CB8AC3E}">
        <p14:creationId xmlns:p14="http://schemas.microsoft.com/office/powerpoint/2010/main" val="1640047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15389</TotalTime>
  <Words>886</Words>
  <Application>Microsoft Macintosh PowerPoint</Application>
  <PresentationFormat>와이드스크린</PresentationFormat>
  <Paragraphs>154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3" baseType="lpstr">
      <vt:lpstr>맑은 고딕</vt:lpstr>
      <vt:lpstr>Yoon 윤고딕 115_TT</vt:lpstr>
      <vt:lpstr>Arial</vt:lpstr>
      <vt:lpstr>Cambria Math</vt:lpstr>
      <vt:lpstr>Candara</vt:lpstr>
      <vt:lpstr>Corbel</vt:lpstr>
      <vt:lpstr>Times New Roman</vt:lpstr>
      <vt:lpstr>Wingdings</vt:lpstr>
      <vt:lpstr>Wingdings 3</vt:lpstr>
      <vt:lpstr>Office 테마</vt:lpstr>
      <vt:lpstr>1_Office 테마</vt:lpstr>
      <vt:lpstr>One-Minute Video Generation with Test-Time Training</vt:lpstr>
      <vt:lpstr>PowerPoint 프레젠테이션</vt:lpstr>
      <vt:lpstr>Introduction</vt:lpstr>
      <vt:lpstr>Introduction</vt:lpstr>
      <vt:lpstr>Introduction</vt:lpstr>
      <vt:lpstr>Introduction</vt:lpstr>
      <vt:lpstr>Introduction</vt:lpstr>
      <vt:lpstr>Introduction</vt:lpstr>
      <vt:lpstr>TTT as Updating a Hidden State</vt:lpstr>
      <vt:lpstr>TTT as Updating a Hidden State</vt:lpstr>
      <vt:lpstr>Learning a Self-Supervised Task for TTT</vt:lpstr>
      <vt:lpstr>TTT-MLP Instantiation</vt:lpstr>
      <vt:lpstr>Architecture</vt:lpstr>
      <vt:lpstr>TTT layer with a learnable gate</vt:lpstr>
      <vt:lpstr>TTT layer with a learnable gate</vt:lpstr>
      <vt:lpstr>Sequence Example</vt:lpstr>
      <vt:lpstr>Fine-Tuning Recipe and Dataset</vt:lpstr>
      <vt:lpstr>Experiments</vt:lpstr>
      <vt:lpstr>Experiments</vt:lpstr>
      <vt:lpstr>Experiments</vt:lpstr>
      <vt:lpstr>Limitations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3038</cp:revision>
  <dcterms:created xsi:type="dcterms:W3CDTF">2013-05-08T06:38:33Z</dcterms:created>
  <dcterms:modified xsi:type="dcterms:W3CDTF">2025-06-03T14:18:34Z</dcterms:modified>
</cp:coreProperties>
</file>